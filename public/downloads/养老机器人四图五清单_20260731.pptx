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9"/>
  </p:handoutMasterIdLst>
  <p:sldIdLst>
    <p:sldId id="273" r:id="rId3"/>
    <p:sldId id="278" r:id="rId5"/>
    <p:sldId id="279" r:id="rId6"/>
    <p:sldId id="274" r:id="rId7"/>
    <p:sldId id="256" r:id="rId8"/>
    <p:sldId id="257" r:id="rId9"/>
    <p:sldId id="258" r:id="rId10"/>
    <p:sldId id="259" r:id="rId11"/>
    <p:sldId id="260" r:id="rId12"/>
    <p:sldId id="261" r:id="rId13"/>
    <p:sldId id="262" r:id="rId14"/>
    <p:sldId id="263" r:id="rId15"/>
    <p:sldId id="280" r:id="rId16"/>
    <p:sldId id="275" r:id="rId17"/>
    <p:sldId id="276" r:id="rId18"/>
    <p:sldId id="277" r:id="rId19"/>
    <p:sldId id="264" r:id="rId20"/>
    <p:sldId id="265" r:id="rId21"/>
    <p:sldId id="266" r:id="rId22"/>
    <p:sldId id="267" r:id="rId23"/>
    <p:sldId id="268" r:id="rId24"/>
    <p:sldId id="269" r:id="rId25"/>
    <p:sldId id="270" r:id="rId26"/>
    <p:sldId id="271" r:id="rId27"/>
    <p:sldId id="272" r:id="rId2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Lenovo" initials="L"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封面页无外部数据与外部视觉素材。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养老机器人产业四图五清单_增强基础数据库_20260727(3).xlsx：产业链环节、重点产品、核心技术、区域及产业集群。</a:t>
            </a:r>
          </a:p>
          <a:p>
            <a:r>
              <a:t>- 四图的分析逻辑、核心判断与串联关系为基于数据库的研究归纳。</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养老机器人产业四图五清单_增强基础数据库_20260727(3).xlsx：产业链环节、重点产品、核心技术、重点企业。</a:t>
            </a:r>
          </a:p>
          <a:p>
            <a:r>
              <a:t>- 工业和信息化部等：智能养老服务机器人结对攻关与场景应用试点通知，https://www.ncsti.gov.cn/kjdt/tzgg/202506/t20250610_207396.html</a:t>
            </a:r>
          </a:p>
          <a:p>
            <a:r>
              <a:t>- 国家药品监督管理局：医疗器械分类、注册检验与临床评价相关公开资料，https://www.nmpa.gov.cn/</a:t>
            </a:r>
          </a:p>
          <a:p/>
          <a:p/>
          <a:p>
            <a:r>
              <a:rPr lang="en-US" altLang="zh-CN"/>
              <a:t>“RaaS”：</a:t>
            </a:r>
            <a:r>
              <a:rPr lang="zh-CN" altLang="en-US"/>
              <a:t>“机器人租赁运营服务”；</a:t>
            </a:r>
            <a:endParaRPr lang="zh-CN" altLang="en-US"/>
          </a:p>
          <a:p>
            <a:r>
              <a:rPr lang="zh-CN" altLang="en-US"/>
              <a:t>“边缘计算”</a:t>
            </a:r>
            <a:r>
              <a:rPr lang="en-US" altLang="zh-CN"/>
              <a:t>：</a:t>
            </a:r>
            <a:r>
              <a:rPr lang="zh-CN" altLang="en-US"/>
              <a:t>“设备端就近计算”；</a:t>
            </a:r>
            <a:endParaRPr lang="zh-CN" altLang="en-US"/>
          </a:p>
          <a:p>
            <a:r>
              <a:rPr lang="zh-CN" altLang="en-US"/>
              <a:t>“六维力”</a:t>
            </a:r>
            <a:r>
              <a:rPr lang="en-US" altLang="zh-CN"/>
              <a:t>：</a:t>
            </a:r>
            <a:r>
              <a:rPr lang="zh-CN" altLang="en-US"/>
              <a:t>“同时检测三个方向的力和三个方向的力矩”</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国际机器人联合会（IFR），World Robotics 2025—Service Robots：2024年专业服务机器人近20万台、医疗机器人约1.67万台（+91%）、康复及非侵入治疗机器人（+106%）、RaaS机队（+31%）。https://ifr.org/ifr-press-releases/news/service-robots-see-global-growth-boom</a:t>
            </a:r>
          </a:p>
          <a:p>
            <a:r>
              <a:t>- 武汉市人民政府：以武汉为核心串联五城，“机器人谷”蔚然成型；公开报道武汉机器人产业链企业300余家。https://3g.wuhan.gov.cn/sy/whyw/202506/t20250623_2598697.shtml</a:t>
            </a:r>
          </a:p>
          <a:p>
            <a:r>
              <a:t>- 国家医疗保障局，2024年全国医疗保障事业发展统计公报：长期护理保险参保1.8786亿人、待遇享受146.25万人。https://www.nhsa.gov.cn/art/2025/7/14/art_7_17248.html</a:t>
            </a:r>
          </a:p>
          <a:p>
            <a:r>
              <a:t>- 养老机器人产业四图五清单_增强基础数据库_20260727(3).xlsx：市场规模及盈利能力、企业及项目综合评分、产业链环节。</a:t>
            </a:r>
          </a:p>
          <a:p>
            <a:r>
              <a:t>- 需求/景气指数为基于数据库中的需求刚性、市场增速、技术成熟度、商业化与支付闭环形成的研究比较指数，仅用于相对排序。</a:t>
            </a:r>
          </a:p>
          <a:p/>
          <a:p>
            <a:r>
              <a:rPr lang="zh-CN" altLang="en-US"/>
              <a:t>武汉机器人产业链企业</a:t>
            </a:r>
            <a:r>
              <a:rPr lang="en-US" altLang="zh-CN"/>
              <a:t>300+</a:t>
            </a:r>
            <a:r>
              <a:rPr lang="zh-CN" altLang="en-US"/>
              <a:t>数据来源</a:t>
            </a:r>
            <a:r>
              <a:rPr lang="en-US" altLang="zh-CN"/>
              <a:t>：https://3g.wuhan.gov.cn/sy/whyw/202502/t20250206_2528999.shtml</a:t>
            </a:r>
            <a:endParaRPr lang="en-US" altLang="zh-CN"/>
          </a:p>
          <a:p>
            <a:r>
              <a:rPr lang="zh-CN" altLang="en-US"/>
              <a:t>我国智能机器人产业企业数量超45万家</a:t>
            </a:r>
            <a:r>
              <a:rPr lang="en-US" altLang="zh-CN"/>
              <a:t>：https://www.samr.gov.cn/xw/mtjj/art/2025/art_da5ee47c52b646b5a54927db35802a63.html</a:t>
            </a:r>
            <a:endParaRPr lang="en-US" altLang="zh-CN"/>
          </a:p>
          <a:p>
            <a:r>
              <a:rPr lang="zh-CN" altLang="en-US"/>
              <a:t>“机器人即服务</a:t>
            </a:r>
            <a:r>
              <a:rPr lang="en-US" altLang="zh-CN"/>
              <a:t>RaaS”：</a:t>
            </a:r>
            <a:r>
              <a:rPr lang="zh-CN" altLang="en-US"/>
              <a:t>“机器人租赁运营服务”</a:t>
            </a:r>
            <a:endParaRPr lang="zh-CN" altLang="en-US"/>
          </a:p>
          <a:p>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养老机器人产业四图五清单_增强基础数据库_20260727(3).xlsx：重点产品、产业链环节、核心技术、场景ROI测算。</a:t>
            </a:r>
          </a:p>
          <a:p>
            <a:r>
              <a:t>- 工业和信息化部等：智能养老服务机器人结对攻关与场景应用试点通知，https://www.ncsti.gov.cn/kjdt/tzgg/202506/t20250610_207396.html</a:t>
            </a:r>
          </a:p>
          <a:p>
            <a:r>
              <a:t>- 国家药品监督管理局，医疗器械监管公开信息，https://www.nmpa.gov.cn/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国家统计局：2025年60岁及以上人口32338万人，占全国人口23.0%。https://www.stats.gov.cn/xxgk/sjfb/tjgb2020/202602/t20260228_1962662.html</a:t>
            </a:r>
          </a:p>
          <a:p>
            <a:r>
              <a:t>- 国家医疗保障局，2024年全国医疗保障事业发展统计公报：长期护理保险参保18786.34万人。https://www.nhsa.gov.cn/art/2025/7/14/art_7_17248.html</a:t>
            </a:r>
          </a:p>
          <a:p>
            <a:r>
              <a:t>- 武汉市财政局：武汉城投公开简介，公开确认养老床位1368张。https://czj.wuhan.gov.cn/FBJD/XXGKML/CZGK/dftzgs/202509/t20250903_2643258.html</a:t>
            </a:r>
          </a:p>
          <a:p>
            <a:r>
              <a:t>- 养老机器人产业四图五清单_增强基础数据库_20260727(3).xlsx：重点产品45条、企业及项目综合评分、场景ROI测算。</a:t>
            </a:r>
          </a:p>
          <a:p>
            <a:r>
              <a:t>- 样本结构仅反映数据库收录产品；综合评分为研究评分；回收期为数据库基准情景测算，均不代表全行业实际值。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养老机器人产业四图五清单_增强基础数据库_20260727(3).xlsx：核心技术TC001—TC030、产业链环节、重点产品。</a:t>
            </a:r>
          </a:p>
          <a:p>
            <a:r>
              <a:t>- 工业和信息化部等：智能养老服务机器人结对攻关与场景应用试点通知，https://www.ncsti.gov.cn/kjdt/tzgg/202506/t20250610_207396.html</a:t>
            </a:r>
          </a:p>
          <a:p>
            <a:r>
              <a:t>- 国家药品监督管理局：医疗器械注册和监管公开信息，https://www.nmpa.gov.cn/</a:t>
            </a:r>
          </a:p>
          <a:p>
            <a:r>
              <a:t>- 武汉市科技创新局、武汉市经济和信息化局关于人形机器人创新中心与产业发展的公开资料。</a:t>
            </a:r>
          </a:p>
          <a:p/>
          <a:p>
            <a:r>
              <a:rPr lang="en-US" altLang="zh-CN"/>
              <a:t>| ------- | -------------------------------- |</a:t>
            </a:r>
            <a:endParaRPr lang="en-US" altLang="zh-CN"/>
          </a:p>
          <a:p>
            <a:r>
              <a:rPr lang="en-US" altLang="zh-CN"/>
              <a:t>| VLA</a:t>
            </a:r>
            <a:r>
              <a:rPr lang="zh-CN" altLang="en-US"/>
              <a:t>具身模型 | 视觉—语言—动作一体化模型，即让机器人根据所见和指令直接规划动作 |</a:t>
            </a:r>
            <a:endParaRPr lang="zh-CN" altLang="en-US"/>
          </a:p>
          <a:p>
            <a:r>
              <a:rPr lang="zh-CN" altLang="en-US"/>
              <a:t>| 数字孪生    | 建立与真实设备、机构同步的虚拟运行模型              |</a:t>
            </a:r>
            <a:endParaRPr lang="zh-CN" altLang="en-US"/>
          </a:p>
          <a:p>
            <a:r>
              <a:rPr lang="zh-CN" altLang="en-US"/>
              <a:t>| 云边协同    | 云端平台与机器人本地计算协同                   |</a:t>
            </a:r>
            <a:endParaRPr lang="zh-CN" altLang="en-US"/>
          </a:p>
          <a:p>
            <a:r>
              <a:rPr lang="zh-CN" altLang="en-US"/>
              <a:t>| 柔顺控制    | 机器人与人体接触时能够自动调节力度                |</a:t>
            </a:r>
            <a:endParaRPr lang="zh-CN" altLang="en-US"/>
          </a:p>
          <a:p>
            <a:r>
              <a:rPr lang="zh-CN" altLang="en-US"/>
              <a:t>| 任务泛化    | 将已学会的能力应用到不同老人和不同环境              |</a:t>
            </a:r>
            <a:endParaRPr lang="zh-CN" altLang="en-US"/>
          </a:p>
          <a:p>
            <a:r>
              <a:rPr lang="zh-CN" altLang="en-US"/>
              <a:t>| 多模态交互   | 综合运用语音、图像、动作等方式进行交互              |</a:t>
            </a:r>
            <a:endParaRPr lang="zh-CN" altLang="en-US"/>
          </a:p>
          <a:p>
            <a:r>
              <a:rPr lang="zh-CN" altLang="en-US"/>
              <a:t>| 毫米波监测   | 利用无线电信号非接触监测呼吸、动作和跌倒             |</a:t>
            </a:r>
            <a:endParaRPr lang="zh-CN" altLang="en-US"/>
          </a:p>
          <a:p>
            <a:r>
              <a:rPr lang="zh-CN" altLang="en-US"/>
              <a:t>| 肌电意图识别  | 根据人体肌肉电信号判断动作意图                  |</a:t>
            </a:r>
            <a:endParaRPr lang="zh-CN" altLang="en-US"/>
          </a:p>
          <a:p>
            <a:r>
              <a:rPr lang="zh-CN" altLang="en-US"/>
              <a:t>| 真实世界证据  | 在医院、养老机构等实际使用中形成的效果和安全数据         |</a:t>
            </a:r>
            <a:endParaRPr lang="zh-CN" altLang="en-US"/>
          </a:p>
          <a:p>
            <a:r>
              <a:rPr lang="zh-CN" altLang="en-US"/>
              <a:t>| 冗余制动    | 设置两套以上制动或保护机制，避免单点故障             |</a:t>
            </a:r>
            <a:endParaRPr lang="zh-CN" altLang="en-US"/>
          </a:p>
          <a:p>
            <a:r>
              <a:rPr lang="zh-CN" altLang="en-US"/>
              <a:t>| 人因长期使用  | 老人长期使用时的舒适性、安全性和接受度              |</a:t>
            </a:r>
            <a:endParaRPr lang="zh-CN" altLang="en-US"/>
          </a:p>
          <a:p>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养老机器人产业四图五清单_增强基础数据库_20260727(3).xlsx：核心技术表中的TRL、当前渗透、主流时间、瓶颈和建议动作。</a:t>
            </a:r>
          </a:p>
          <a:p>
            <a:r>
              <a:t>- 工业和信息化部等：智能养老服务机器人结对攻关与场景应用试点通知，https://www.ncsti.gov.cn/kjdt/tzgg/202506/t20250610_207396.html</a:t>
            </a:r>
          </a:p>
          <a:p>
            <a:r>
              <a:t>- 图中技术位置为研究判断，用于相对排序，不代表监管认证或确定的商业化年份。</a:t>
            </a:r>
          </a:p>
          <a:p/>
          <a:p>
            <a:r>
              <a:rPr lang="en-US" altLang="zh-CN">
                <a:sym typeface="+mn-ea"/>
              </a:rPr>
              <a:t>| ------- | -------------------------------- |</a:t>
            </a:r>
            <a:endParaRPr lang="en-US" altLang="zh-CN"/>
          </a:p>
          <a:p>
            <a:r>
              <a:rPr lang="en-US" altLang="zh-CN">
                <a:sym typeface="+mn-ea"/>
              </a:rPr>
              <a:t>| VLA</a:t>
            </a:r>
            <a:r>
              <a:rPr lang="zh-CN" altLang="en-US">
                <a:sym typeface="+mn-ea"/>
              </a:rPr>
              <a:t>具身模型 | 视觉—语言—动作一体化模型，即让机器人根据所见和指令直接规划动作 |</a:t>
            </a:r>
            <a:endParaRPr lang="zh-CN" altLang="en-US"/>
          </a:p>
          <a:p>
            <a:r>
              <a:rPr lang="zh-CN" altLang="en-US">
                <a:sym typeface="+mn-ea"/>
              </a:rPr>
              <a:t>| 数字孪生    | 建立与真实设备、机构同步的虚拟运行模型              |</a:t>
            </a:r>
            <a:endParaRPr lang="zh-CN" altLang="en-US"/>
          </a:p>
          <a:p>
            <a:r>
              <a:rPr lang="zh-CN" altLang="en-US">
                <a:sym typeface="+mn-ea"/>
              </a:rPr>
              <a:t>| 云边协同    | 云端平台与机器人本地计算协同                   |</a:t>
            </a:r>
            <a:endParaRPr lang="zh-CN" altLang="en-US"/>
          </a:p>
          <a:p>
            <a:r>
              <a:rPr lang="zh-CN" altLang="en-US">
                <a:sym typeface="+mn-ea"/>
              </a:rPr>
              <a:t>| 柔顺控制    | 机器人与人体接触时能够自动调节力度                |</a:t>
            </a:r>
            <a:endParaRPr lang="zh-CN" altLang="en-US"/>
          </a:p>
          <a:p>
            <a:r>
              <a:rPr lang="zh-CN" altLang="en-US">
                <a:sym typeface="+mn-ea"/>
              </a:rPr>
              <a:t>| 任务泛化    | 将已学会的能力应用到不同老人和不同环境              |</a:t>
            </a:r>
            <a:endParaRPr lang="zh-CN" altLang="en-US"/>
          </a:p>
          <a:p>
            <a:r>
              <a:rPr lang="zh-CN" altLang="en-US">
                <a:sym typeface="+mn-ea"/>
              </a:rPr>
              <a:t>| 多模态交互   | 综合运用语音、图像、动作等方式进行交互              |</a:t>
            </a:r>
            <a:endParaRPr lang="zh-CN" altLang="en-US"/>
          </a:p>
          <a:p>
            <a:r>
              <a:rPr lang="zh-CN" altLang="en-US">
                <a:sym typeface="+mn-ea"/>
              </a:rPr>
              <a:t>| 毫米波监测   | 利用无线电信号非接触监测呼吸、动作和跌倒             |</a:t>
            </a:r>
            <a:endParaRPr lang="zh-CN" altLang="en-US"/>
          </a:p>
          <a:p>
            <a:r>
              <a:rPr lang="zh-CN" altLang="en-US">
                <a:sym typeface="+mn-ea"/>
              </a:rPr>
              <a:t>| 肌电意图识别  | 根据人体肌肉电信号判断动作意图                  |</a:t>
            </a:r>
            <a:endParaRPr lang="zh-CN" altLang="en-US"/>
          </a:p>
          <a:p>
            <a:r>
              <a:rPr lang="zh-CN" altLang="en-US">
                <a:sym typeface="+mn-ea"/>
              </a:rPr>
              <a:t>| 真实世界证据  | 在医院、养老机构等实际使用中形成的效果和安全数据         |</a:t>
            </a:r>
            <a:endParaRPr lang="zh-CN" altLang="en-US"/>
          </a:p>
          <a:p>
            <a:r>
              <a:rPr lang="zh-CN" altLang="en-US">
                <a:sym typeface="+mn-ea"/>
              </a:rPr>
              <a:t>| 冗余制动    | 设置两套以上制动或保护机制，避免单点故障             |</a:t>
            </a:r>
            <a:endParaRPr lang="zh-CN" altLang="en-US"/>
          </a:p>
          <a:p>
            <a:r>
              <a:rPr lang="zh-CN" altLang="en-US">
                <a:sym typeface="+mn-ea"/>
              </a:rPr>
              <a:t>| 人因长期使用  | 老人长期使用时的舒适性、安全性和接受度              |</a:t>
            </a:r>
            <a:endParaRPr lang="zh-CN" altLang="en-US"/>
          </a:p>
          <a:p>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养老机器人产业四图五清单_增强基础数据库_20260727(3).xlsx：核心技术TC002—TC030、重点企业、场景ROI测算。</a:t>
            </a:r>
          </a:p>
          <a:p>
            <a:r>
              <a:t>- 奥比中光、傅利叶智能、程天科技、司羿智能、伟思医疗、普渡机器人、擎朗智能、优必选等官网及公开披露，链接详见数据库“数据来源索引”。</a:t>
            </a:r>
          </a:p>
          <a:p>
            <a:r>
              <a:t>- 武汉市科技创新局、湖北省科学技术厅关于人形机器人创新中心、电子皮肤和相关成果的公开资料。</a:t>
            </a:r>
          </a:p>
          <a:p>
            <a:r>
              <a:t>- 三条路线的阶段年份为研究判断，实际进度取决于注册、试点、临床证据和场景利用率。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养老机器人产业四图五清单_增强基础数据库_20260727(3).xlsx：区域及产业集群RG001—RG022、重点企业、核心技术。</a:t>
            </a:r>
          </a:p>
          <a:p>
            <a:r>
              <a:t>- 武汉市人民政府：以武汉为核心串联五城，“机器人谷”蔚然成型，https://3g.wuhan.gov.cn/sy/whyw/202506/t20250623_2598697.shtml</a:t>
            </a:r>
          </a:p>
          <a:p>
            <a:r>
              <a:t>- 湖北省经济和信息化厅、武汉市投资促进局及相关企业公开资料，链接详见数据库“数据来源索引”。</a:t>
            </a:r>
          </a:p>
          <a:p>
            <a:r>
              <a:t>- 地图底图：Wikimedia Commons, China blank province map.svg，公共领域，https://commons.wikimedia.org/wiki/File:China_blank_province_map.svg</a:t>
            </a:r>
          </a:p>
          <a:p>
            <a:r>
              <a:t>- 图中着色和节点为产业协同示意，不代表企业数量或市场份额。</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养老机器人产业四图五清单_增强基础数据库_20260727(3).xlsx：区域及产业集群22条、政策清单46项、重点企业66家、重点项目及融资事件54项、产业问题24项。</a:t>
            </a:r>
          </a:p>
          <a:p>
            <a:r>
              <a:t>- 数量按唯一记录ID（RG、PO、A、P、IS）统计。</a:t>
            </a:r>
          </a:p>
          <a:p>
            <a:r>
              <a:t>- 五清单的管理用途与闭环关系为基于数据库的研究归纳。</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养老机器人产业四图五清单_增强基础数据库_20260727(3).xlsx：重点企业、武汉城投公开资源、区域及产业集群。</a:t>
            </a:r>
          </a:p>
          <a:p>
            <a:r>
              <a:t>- 武汉市人民政府：以武汉为核心串联五城，“机器人谷”蔚然成型，https://3g.wuhan.gov.cn/sy/whyw/202506/t20250623_2598697.shtml</a:t>
            </a:r>
          </a:p>
          <a:p>
            <a:r>
              <a:t>- 湖北省经济和信息化厅：湖北人形机器人创新中心相关公开信息，https://jxt.hubei.gov.cn/bmdt/rdjj/202506/t20250605_5680578.shtml</a:t>
            </a:r>
          </a:p>
          <a:p>
            <a:r>
              <a:t>- 武汉城市建设集团：康养产业公开介绍，https://www.zgwhct.cn/hxgn6/</a:t>
            </a:r>
          </a:p>
          <a:p>
            <a:r>
              <a:t>- “建议共建评测平台”“合作招引池”为基于数据库能力缺口的规划建议，并非已建或已落地。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养老机器人产业四图五清单_增强基础数据库_20260727(3).xlsx：区域及产业集群RG001—RG011、重点企业、武汉城投公开资源。</a:t>
            </a:r>
          </a:p>
          <a:p>
            <a:r>
              <a:t>- 武汉市人民政府：以武汉为核心串联五城，“机器人谷”蔚然成型，https://3g.wuhan.gov.cn/sy/whyw/202506/t20250623_2598697.shtml</a:t>
            </a:r>
          </a:p>
          <a:p>
            <a:r>
              <a:t>- 湖北省经济和信息化厅：湖北人形机器人创新中心，https://jxt.hubei.gov.cn/bmdt/rdjj/202506/t20250605_5680578.shtml</a:t>
            </a:r>
          </a:p>
          <a:p>
            <a:r>
              <a:t>- 武汉城市建设集团：康养产业公开介绍，https://www.zgwhct.cn/hxgn6/</a:t>
            </a:r>
          </a:p>
          <a:p>
            <a:r>
              <a:t>- 右栏为规划建议；企业名称用于能力匹配与潜在合作方向，不表示已经落户、签约或被招引。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养老机器人产业四图五清单_增强基础数据库_20260727(3).xlsx：政策清单PO013—PO043、数据来源索引。</a:t>
            </a:r>
          </a:p>
          <a:p>
            <a:r>
              <a:t>- 国务院：“十四五”国家老龄事业发展和养老服务体系规划，https://www.gov.cn/zhengce/content/2022-02/21/content_5674844.htm</a:t>
            </a:r>
          </a:p>
          <a:p>
            <a:r>
              <a:t>- 工业和信息化部等17部门：“机器人+”应用行动实施方案，https://www.gov.cn/zhengce/zhengceku/2023-01/19/5738112/files/61a45b6de7f34f4197c4d6fe1b9106fb.pdf</a:t>
            </a:r>
          </a:p>
          <a:p>
            <a:r>
              <a:t>- 国务院办公厅：关于发展银发经济增进老年人福祉的意见，https://chinajob.mohrss.gov.cn/h5/c/2024-01-16/394987.shtml</a:t>
            </a:r>
          </a:p>
          <a:p>
            <a:r>
              <a:t>- 工业和信息化部、民政部：智能养老服务机器人结对攻关与场景应用试点，https://www.ncsti.gov.cn/kjdt/tzgg/202506/t20250610_207396.html</a:t>
            </a:r>
          </a:p>
          <a:p>
            <a:r>
              <a:t>- 湖北省人民政府：多元化养老服务体系实施方案，https://gdj.hubei.gov.cn/zfxxgk/fdzdgknr/gysyjs/ggwhfw/zcwj/202508/t20250812_5744582.shtml</a:t>
            </a:r>
          </a:p>
          <a:p>
            <a:r>
              <a:t>- 武汉市相关政策：https://kjt.hubei.gov.cn/kjdt/sxkj/wh/202506/t20250617_5694588.shtml ; https://www.wuhan.gov.cn/zwgk/xxgk/zfwj/bgtwj/202603/t20260323_2743481.shtml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养老机器人产业四图五清单_增强基础数据库_20260727(3).xlsx：政策清单、武汉城投公开资源。</a:t>
            </a:r>
          </a:p>
          <a:p>
            <a:r>
              <a:t>- 工业和信息化部、民政部：智能养老服务机器人结对攻关与场景应用试点，https://www.ncsti.gov.cn/kjdt/tzgg/202506/t20250610_207396.html</a:t>
            </a:r>
          </a:p>
          <a:p>
            <a:r>
              <a:t>- 工业和信息化部、民政部：国家试点项目名单（32项），https://www.miit.gov.cn/jgsj/zbys/wjfb/art/2025/art_cabcb5c6939e49d2b11eadd6c160d1c1.html</a:t>
            </a:r>
          </a:p>
          <a:p>
            <a:r>
              <a:t>- 国家发展改革委等：促进普惠养老服务高质量发展相关通知，https://www.ndrc.gov.cn/xxgk/zcfb/tz/202502/t20250228_1396346.html</a:t>
            </a:r>
          </a:p>
          <a:p>
            <a:r>
              <a:t>- 国家医疗保障局等八部门：加快建立长期护理保险制度实施方案，https://www.nhsa.gov.cn/art/2026/3/26/art_53_20040.html</a:t>
            </a:r>
          </a:p>
          <a:p>
            <a:r>
              <a:t>- 武汉市科技创新局：人形机器人产业行动方案及政策措施，https://kjt.hubei.gov.cn/kjdt/sxkj/wh/202506/t20250617_5694588.shtml</a:t>
            </a:r>
          </a:p>
          <a:p>
            <a:r>
              <a:t>- “四类政策工具”“城投抓手”和行动建议为基于政策文本及武汉城投资源的研究归纳，不是政策原文。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养老机器人产业四图五清单_增强基础数据库_20260727(3).xlsx：重点企业A01—A66、重点产品、数据来源索引。</a:t>
            </a:r>
          </a:p>
          <a:p>
            <a:r>
              <a:t>- 工业和信息化部、民政部：智能养老服务机器人结对攻关与场景应用试点项目名单（32项），https://www.miit.gov.cn/cms_files/filemanager/1226211233/attach/20259/9abb9844496942e9bbd91b411b5b38ff.pdf</a:t>
            </a:r>
          </a:p>
          <a:p>
            <a:r>
              <a:t>- 企业分类与合作方式为基于公开产品、资质、商业进展和武汉协同资源的研究归纳；不构成投资建议。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养老机器人产业四图五清单_增强基础数据库_20260727(3).xlsx：重点企业A01—A66，含产品、商业进展、资质、合作方式和尽调事项。</a:t>
            </a:r>
          </a:p>
          <a:p>
            <a:r>
              <a:t>- 傅利叶智能，https://www.fftai.cn/products-rehabilitation</a:t>
            </a:r>
          </a:p>
          <a:p>
            <a:r>
              <a:t>- 翔宇医疗2025年年度报告，https://money.finance.sina.com.cn/corp/view/vCB_AllBulletinDetail.php?id=12170111&amp;stockid=688626</a:t>
            </a:r>
          </a:p>
          <a:p>
            <a:r>
              <a:t>- 奥比中光2025年年度报告，https://big5.sse.com.cn/site/cht/www.sse.com.cn/disclosure/listedinfo/announcement/c/new/2026-04-20/688322_20260420_BAVZ.pdf</a:t>
            </a:r>
          </a:p>
          <a:p>
            <a:r>
              <a:t>- 工业和信息化部、民政部：国家养老机器人试点名单，https://www.miit.gov.cn/cms_files/filemanager/1226211233/attach/20259/9abb9844496942e9bbd91b411b5b38ff.pdf</a:t>
            </a:r>
          </a:p>
          <a:p>
            <a:r>
              <a:t>- 企业分级和当前判断为研究建议，不构成投资承诺；非上市公司经营数据、融资估值和证照均需专项尽调。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养老机器人产业四图五清单_增强基础数据库_20260727(3).xlsx：重点项目及融资事件P01—P54。</a:t>
            </a:r>
          </a:p>
          <a:p>
            <a:r>
              <a:t>- 工业和信息化部、民政部：32项智能养老服务机器人试点名单，https://www.miit.gov.cn/cms_files/filemanager/1226211233/attach/20259/9abb9844496942e9bbd91b411b5b38ff.pdf</a:t>
            </a:r>
          </a:p>
          <a:p>
            <a:r>
              <a:t>- 项目分类、优先级及资金纪律为研究归纳；研究建议金额均为情景值，不构成立项或投资承诺。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养老机器人产业四图五清单_增强基础数据库_20260727(3).xlsx：重点项目及融资事件P01—P54。</a:t>
            </a:r>
          </a:p>
          <a:p>
            <a:r>
              <a:t>- 工业和信息化部、民政部：国家养老机器人试点名单，https://www.miit.gov.cn/cms_files/filemanager/1226211233/attach/20259/9abb9844496942e9bbd91b411b5b38ff.pdf</a:t>
            </a:r>
          </a:p>
          <a:p>
            <a:r>
              <a:t>- 湖北人形机器人创新中心，https://jxt.hubei.gov.cn/bmdt/rdjj/202506/t20250605_5680578.shtml</a:t>
            </a:r>
          </a:p>
          <a:p>
            <a:r>
              <a:t>- 表内项目优先级、合作方式和资金需求为研究建议；实际金额须经专项可研、估值和合规程序。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养老机器人产业四图五清单_增强基础数据库_20260727(3).xlsx：产业问题IS001—IS024。</a:t>
            </a:r>
          </a:p>
          <a:p>
            <a:r>
              <a:t>- 工业和信息化部、民政部：智能养老服务机器人结对攻关与场景应用试点，https://www.ncsti.gov.cn/kjdt/tzgg/202506/t20250610_207396.html</a:t>
            </a:r>
          </a:p>
          <a:p>
            <a:r>
              <a:t>- 国家药品监督管理局医疗器械分类公共服务，https://zwfw.nmpa.gov.cn/web/taskview/11100000MB0341032Y100207202300001</a:t>
            </a:r>
          </a:p>
          <a:p>
            <a:r>
              <a:t>- 卡点、堵点、断点分类为研究归纳。</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养老机器人产业四图五清单_增强基础数据库_20260727(3).xlsx：产业问题IS001—IS024、武汉城投公开资源。</a:t>
            </a:r>
          </a:p>
          <a:p>
            <a:r>
              <a:t>- 国家医疗保障局等八部门：长期护理保险制度实施方案，https://www.nhsa.gov.cn/art/2026/3/26/art_53_20040.html</a:t>
            </a:r>
          </a:p>
          <a:p>
            <a:r>
              <a:t>- 湖北人形机器人创新中心，https://jxt.hubei.gov.cn/bmdt/rdjj/202506/t20250605_5680578.shtml</a:t>
            </a:r>
          </a:p>
          <a:p>
            <a:r>
              <a:t>- 原因归纳、策略选择和责任主体为研究建议，不是政策原文。</a:t>
            </a:r>
          </a:p>
          <a:p/>
          <a:p>
            <a:r>
              <a:rPr lang="zh-CN"/>
              <a:t>服务</a:t>
            </a:r>
            <a:r>
              <a:rPr lang="en-US" altLang="zh-CN"/>
              <a:t>SLA：</a:t>
            </a:r>
            <a:r>
              <a:rPr lang="zh-CN" altLang="en-US"/>
              <a:t>指供应商承诺达到的售后服务标准。</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养老机器人产业四图五清单_增强基础数据库_20260727(3).xlsx：产业问题IS001—IS024、重点项目P01—P12、企业及项目综合评分、场景ROI测算。</a:t>
            </a:r>
          </a:p>
          <a:p>
            <a:r>
              <a:t>- 工业和信息化部等：智能养老服务机器人结对攻关与场景应用试点，https://www.ncsti.gov.cn/kjdt/tzgg/202506/t20250610_207396.html</a:t>
            </a:r>
          </a:p>
          <a:p>
            <a:r>
              <a:t>- 武汉市财政局、武汉市民政局：安养链平台公开资料，https://czj.wuhan.gov.cn/FBJD/XXGKML/CZGK/dftzgs/202509/t20250903_2643258.html</a:t>
            </a:r>
          </a:p>
          <a:p>
            <a:r>
              <a:t>- 页面中的阶段、任务、成果指标与责任机制为基于数据库的研究建议。</a:t>
            </a:r>
          </a:p>
          <a:p/>
          <a:p>
            <a:r>
              <a:rPr lang="zh-CN" altLang="en-US"/>
              <a:t>服务</a:t>
            </a:r>
            <a:r>
              <a:rPr lang="en-US" altLang="zh-CN"/>
              <a:t>SLA：</a:t>
            </a:r>
            <a:r>
              <a:rPr lang="zh-CN" altLang="en-US"/>
              <a:t>指供应商承诺达到的售后服务标准。</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 name="图片 1"/>
          <p:cNvPicPr>
            <a:picLocks noChangeAspect="1"/>
          </p:cNvPicPr>
          <p:nvPr/>
        </p:nvPicPr>
        <p:blipFill>
          <a:blip r:embed="rId1">
            <a:alphaModFix amt="4000"/>
          </a:blip>
          <a:srcRect l="3804" t="4490" r="2897" b="8146"/>
          <a:stretch>
            <a:fillRect/>
          </a:stretch>
        </p:blipFill>
        <p:spPr>
          <a:xfrm>
            <a:off x="4808538" y="0"/>
            <a:ext cx="7383145" cy="6858000"/>
          </a:xfrm>
          <a:prstGeom prst="rect">
            <a:avLst/>
          </a:prstGeom>
          <a:ln>
            <a:noFill/>
          </a:ln>
        </p:spPr>
      </p:pic>
      <p:sp>
        <p:nvSpPr>
          <p:cNvPr id="2" name="矩形 1"/>
          <p:cNvSpPr>
            <a:spLocks noGrp="1"/>
          </p:cNvSpPr>
          <p:nvPr/>
        </p:nvSpPr>
        <p:spPr>
          <a:xfrm>
            <a:off x="0" y="0"/>
            <a:ext cx="209550" cy="6858000"/>
          </a:xfrm>
          <a:prstGeom prst="rect">
            <a:avLst/>
          </a:prstGeom>
          <a:solidFill>
            <a:srgbClr val="D00914"/>
          </a:solidFill>
          <a:ln w="0">
            <a:noFill/>
            <a:prstDash val="solid"/>
          </a:ln>
        </p:spPr>
      </p:sp>
      <p:sp>
        <p:nvSpPr>
          <p:cNvPr id="3" name="矩形 2"/>
          <p:cNvSpPr>
            <a:spLocks noGrp="1"/>
          </p:cNvSpPr>
          <p:nvPr/>
        </p:nvSpPr>
        <p:spPr>
          <a:xfrm>
            <a:off x="209550" y="0"/>
            <a:ext cx="66675" cy="6858000"/>
          </a:xfrm>
          <a:prstGeom prst="rect">
            <a:avLst/>
          </a:prstGeom>
          <a:solidFill>
            <a:srgbClr val="971018"/>
          </a:solidFill>
          <a:ln w="0">
            <a:noFill/>
            <a:prstDash val="solid"/>
          </a:ln>
        </p:spPr>
      </p:sp>
      <p:sp>
        <p:nvSpPr>
          <p:cNvPr id="4" name="矩形 3"/>
          <p:cNvSpPr>
            <a:spLocks noGrp="1"/>
          </p:cNvSpPr>
          <p:nvPr/>
        </p:nvSpPr>
        <p:spPr>
          <a:xfrm>
            <a:off x="0" y="5619750"/>
            <a:ext cx="12192000" cy="1238250"/>
          </a:xfrm>
          <a:prstGeom prst="rect">
            <a:avLst/>
          </a:prstGeom>
          <a:solidFill>
            <a:srgbClr val="FCF5F4"/>
          </a:solidFill>
          <a:ln w="0">
            <a:noFill/>
            <a:prstDash val="solid"/>
          </a:ln>
        </p:spPr>
      </p:sp>
      <p:sp>
        <p:nvSpPr>
          <p:cNvPr id="5" name="矩形 4"/>
          <p:cNvSpPr>
            <a:spLocks noGrp="1"/>
          </p:cNvSpPr>
          <p:nvPr/>
        </p:nvSpPr>
        <p:spPr>
          <a:xfrm>
            <a:off x="685800" y="1205865"/>
            <a:ext cx="57150" cy="781050"/>
          </a:xfrm>
          <a:prstGeom prst="rect">
            <a:avLst/>
          </a:prstGeom>
          <a:solidFill>
            <a:srgbClr val="D00914"/>
          </a:solidFill>
          <a:ln w="0">
            <a:noFill/>
            <a:prstDash val="solid"/>
          </a:ln>
        </p:spPr>
      </p:sp>
      <p:sp>
        <p:nvSpPr>
          <p:cNvPr id="6" name="矩形 5"/>
          <p:cNvSpPr>
            <a:spLocks noGrp="1"/>
          </p:cNvSpPr>
          <p:nvPr/>
        </p:nvSpPr>
        <p:spPr>
          <a:xfrm>
            <a:off x="781050" y="1205865"/>
            <a:ext cx="19050" cy="781050"/>
          </a:xfrm>
          <a:prstGeom prst="rect">
            <a:avLst/>
          </a:prstGeom>
          <a:solidFill>
            <a:srgbClr val="F8E7E6"/>
          </a:solidFill>
          <a:ln w="0">
            <a:noFill/>
            <a:prstDash val="solid"/>
          </a:ln>
        </p:spPr>
      </p:sp>
      <p:sp>
        <p:nvSpPr>
          <p:cNvPr id="9" name="矩形 8"/>
          <p:cNvSpPr>
            <a:spLocks noGrp="1"/>
          </p:cNvSpPr>
          <p:nvPr/>
        </p:nvSpPr>
        <p:spPr>
          <a:xfrm>
            <a:off x="8524875" y="3876675"/>
            <a:ext cx="2857500" cy="19050"/>
          </a:xfrm>
          <a:prstGeom prst="rect">
            <a:avLst/>
          </a:prstGeom>
          <a:solidFill>
            <a:srgbClr val="D9D1CE"/>
          </a:solidFill>
          <a:ln w="0">
            <a:noFill/>
            <a:prstDash val="solid"/>
          </a:ln>
        </p:spPr>
      </p:sp>
      <p:sp>
        <p:nvSpPr>
          <p:cNvPr id="10" name="矩形 9"/>
          <p:cNvSpPr>
            <a:spLocks noGrp="1"/>
          </p:cNvSpPr>
          <p:nvPr/>
        </p:nvSpPr>
        <p:spPr>
          <a:xfrm>
            <a:off x="8524875" y="4038600"/>
            <a:ext cx="2857500" cy="323850"/>
          </a:xfrm>
          <a:prstGeom prst="rect">
            <a:avLst/>
          </a:prstGeom>
          <a:noFill/>
          <a:ln w="0">
            <a:noFill/>
            <a:prstDash val="solid"/>
          </a:ln>
        </p:spPr>
        <p:txBody>
          <a:bodyPr wrap="square" lIns="0" tIns="0" rIns="0" bIns="0" anchor="ctr">
            <a:normAutofit/>
          </a:bodyPr>
          <a:lstStyle/>
          <a:p>
            <a:pPr algn="r">
              <a:defRPr sz="1125" b="1">
                <a:solidFill>
                  <a:srgbClr val="77716E"/>
                </a:solidFill>
                <a:latin typeface="Noto Sans Hans"/>
                <a:ea typeface="Noto Sans Hans"/>
                <a:cs typeface="Noto Sans Hans"/>
              </a:defRPr>
            </a:pPr>
            <a:r>
              <a:rPr sz="1125" b="1">
                <a:solidFill>
                  <a:srgbClr val="77716E"/>
                </a:solidFill>
                <a:latin typeface="Noto Sans Hans"/>
                <a:ea typeface="Noto Sans Hans"/>
                <a:cs typeface="Noto Sans Hans"/>
              </a:rPr>
              <a:t>产业全景  ·  关键清单  ·  行动方案</a:t>
            </a:r>
            <a:endParaRPr sz="1125" b="1">
              <a:solidFill>
                <a:srgbClr val="77716E"/>
              </a:solidFill>
              <a:latin typeface="Noto Sans Hans"/>
              <a:ea typeface="Noto Sans Hans"/>
              <a:cs typeface="Noto Sans Hans"/>
            </a:endParaRPr>
          </a:p>
        </p:txBody>
      </p:sp>
      <p:sp>
        <p:nvSpPr>
          <p:cNvPr id="11" name="圆角矩形 10"/>
          <p:cNvSpPr>
            <a:spLocks noGrp="1"/>
          </p:cNvSpPr>
          <p:nvPr/>
        </p:nvSpPr>
        <p:spPr>
          <a:xfrm>
            <a:off x="8686800" y="4686300"/>
            <a:ext cx="304800" cy="304800"/>
          </a:xfrm>
          <a:prstGeom prst="roundRect">
            <a:avLst>
              <a:gd name="adj" fmla="val 6250"/>
            </a:avLst>
          </a:prstGeom>
          <a:solidFill>
            <a:srgbClr val="D00914"/>
          </a:solidFill>
          <a:ln w="0">
            <a:noFill/>
            <a:prstDash val="solid"/>
          </a:ln>
        </p:spPr>
      </p:sp>
      <p:sp>
        <p:nvSpPr>
          <p:cNvPr id="12" name="圆角矩形 11"/>
          <p:cNvSpPr>
            <a:spLocks noGrp="1"/>
          </p:cNvSpPr>
          <p:nvPr/>
        </p:nvSpPr>
        <p:spPr>
          <a:xfrm>
            <a:off x="9182100" y="4686300"/>
            <a:ext cx="304800" cy="304800"/>
          </a:xfrm>
          <a:prstGeom prst="roundRect">
            <a:avLst>
              <a:gd name="adj" fmla="val 6250"/>
            </a:avLst>
          </a:prstGeom>
          <a:solidFill>
            <a:srgbClr val="EAB4B4"/>
          </a:solidFill>
          <a:ln w="0">
            <a:noFill/>
            <a:prstDash val="solid"/>
          </a:ln>
        </p:spPr>
      </p:sp>
      <p:sp>
        <p:nvSpPr>
          <p:cNvPr id="13" name="圆角矩形 12"/>
          <p:cNvSpPr>
            <a:spLocks noGrp="1"/>
          </p:cNvSpPr>
          <p:nvPr/>
        </p:nvSpPr>
        <p:spPr>
          <a:xfrm>
            <a:off x="9677400" y="4686300"/>
            <a:ext cx="304800" cy="304800"/>
          </a:xfrm>
          <a:prstGeom prst="roundRect">
            <a:avLst>
              <a:gd name="adj" fmla="val 6250"/>
            </a:avLst>
          </a:prstGeom>
          <a:solidFill>
            <a:srgbClr val="EAB4B4"/>
          </a:solidFill>
          <a:ln w="0">
            <a:noFill/>
            <a:prstDash val="solid"/>
          </a:ln>
        </p:spPr>
      </p:sp>
      <p:sp>
        <p:nvSpPr>
          <p:cNvPr id="14" name="圆角矩形 13"/>
          <p:cNvSpPr>
            <a:spLocks noGrp="1"/>
          </p:cNvSpPr>
          <p:nvPr/>
        </p:nvSpPr>
        <p:spPr>
          <a:xfrm>
            <a:off x="10172700" y="4686300"/>
            <a:ext cx="304800" cy="304800"/>
          </a:xfrm>
          <a:prstGeom prst="roundRect">
            <a:avLst>
              <a:gd name="adj" fmla="val 6250"/>
            </a:avLst>
          </a:prstGeom>
          <a:solidFill>
            <a:srgbClr val="EAB4B4"/>
          </a:solidFill>
          <a:ln w="0">
            <a:noFill/>
            <a:prstDash val="solid"/>
          </a:ln>
        </p:spPr>
      </p:sp>
      <p:sp>
        <p:nvSpPr>
          <p:cNvPr id="15" name="圆角矩形 14"/>
          <p:cNvSpPr>
            <a:spLocks noGrp="1"/>
          </p:cNvSpPr>
          <p:nvPr/>
        </p:nvSpPr>
        <p:spPr>
          <a:xfrm>
            <a:off x="8439150" y="5162550"/>
            <a:ext cx="333375" cy="95250"/>
          </a:xfrm>
          <a:prstGeom prst="roundRect">
            <a:avLst>
              <a:gd name="adj" fmla="val 20000"/>
            </a:avLst>
          </a:prstGeom>
          <a:solidFill>
            <a:srgbClr val="971018"/>
          </a:solidFill>
          <a:ln w="0">
            <a:noFill/>
            <a:prstDash val="solid"/>
          </a:ln>
        </p:spPr>
      </p:sp>
      <p:sp>
        <p:nvSpPr>
          <p:cNvPr id="16" name="圆角矩形 15"/>
          <p:cNvSpPr>
            <a:spLocks noGrp="1"/>
          </p:cNvSpPr>
          <p:nvPr/>
        </p:nvSpPr>
        <p:spPr>
          <a:xfrm>
            <a:off x="8963025" y="5162550"/>
            <a:ext cx="333375" cy="95250"/>
          </a:xfrm>
          <a:prstGeom prst="roundRect">
            <a:avLst>
              <a:gd name="adj" fmla="val 20000"/>
            </a:avLst>
          </a:prstGeom>
          <a:solidFill>
            <a:srgbClr val="971018"/>
          </a:solidFill>
          <a:ln w="0">
            <a:noFill/>
            <a:prstDash val="solid"/>
          </a:ln>
        </p:spPr>
      </p:sp>
      <p:sp>
        <p:nvSpPr>
          <p:cNvPr id="17" name="圆角矩形 16"/>
          <p:cNvSpPr>
            <a:spLocks noGrp="1"/>
          </p:cNvSpPr>
          <p:nvPr/>
        </p:nvSpPr>
        <p:spPr>
          <a:xfrm>
            <a:off x="9486900" y="5162550"/>
            <a:ext cx="333375" cy="95250"/>
          </a:xfrm>
          <a:prstGeom prst="roundRect">
            <a:avLst>
              <a:gd name="adj" fmla="val 20000"/>
            </a:avLst>
          </a:prstGeom>
          <a:solidFill>
            <a:srgbClr val="E9C5C3"/>
          </a:solidFill>
          <a:ln w="0">
            <a:noFill/>
            <a:prstDash val="solid"/>
          </a:ln>
        </p:spPr>
      </p:sp>
      <p:sp>
        <p:nvSpPr>
          <p:cNvPr id="18" name="圆角矩形 17"/>
          <p:cNvSpPr>
            <a:spLocks noGrp="1"/>
          </p:cNvSpPr>
          <p:nvPr/>
        </p:nvSpPr>
        <p:spPr>
          <a:xfrm>
            <a:off x="10010775" y="5162550"/>
            <a:ext cx="333375" cy="95250"/>
          </a:xfrm>
          <a:prstGeom prst="roundRect">
            <a:avLst>
              <a:gd name="adj" fmla="val 20000"/>
            </a:avLst>
          </a:prstGeom>
          <a:solidFill>
            <a:srgbClr val="E9C5C3"/>
          </a:solidFill>
          <a:ln w="0">
            <a:noFill/>
            <a:prstDash val="solid"/>
          </a:ln>
        </p:spPr>
      </p:sp>
      <p:sp>
        <p:nvSpPr>
          <p:cNvPr id="19" name="圆角矩形 18"/>
          <p:cNvSpPr>
            <a:spLocks noGrp="1"/>
          </p:cNvSpPr>
          <p:nvPr/>
        </p:nvSpPr>
        <p:spPr>
          <a:xfrm>
            <a:off x="10534650" y="5162550"/>
            <a:ext cx="333375" cy="95250"/>
          </a:xfrm>
          <a:prstGeom prst="roundRect">
            <a:avLst>
              <a:gd name="adj" fmla="val 20000"/>
            </a:avLst>
          </a:prstGeom>
          <a:solidFill>
            <a:srgbClr val="E9C5C3"/>
          </a:solidFill>
          <a:ln w="0">
            <a:noFill/>
            <a:prstDash val="solid"/>
          </a:ln>
        </p:spPr>
      </p:sp>
      <p:sp>
        <p:nvSpPr>
          <p:cNvPr id="20" name="矩形 19"/>
          <p:cNvSpPr>
            <a:spLocks noGrp="1"/>
          </p:cNvSpPr>
          <p:nvPr/>
        </p:nvSpPr>
        <p:spPr>
          <a:xfrm>
            <a:off x="1066800" y="1310005"/>
            <a:ext cx="6477000" cy="619125"/>
          </a:xfrm>
          <a:prstGeom prst="rect">
            <a:avLst/>
          </a:prstGeom>
          <a:noFill/>
          <a:ln w="0">
            <a:noFill/>
            <a:prstDash val="solid"/>
          </a:ln>
        </p:spPr>
        <p:txBody>
          <a:bodyPr wrap="square" lIns="0" tIns="0" rIns="0" bIns="0" anchor="ctr">
            <a:noAutofit/>
          </a:bodyPr>
          <a:lstStyle/>
          <a:p>
            <a:pPr algn="l">
              <a:defRPr sz="3150" b="1">
                <a:solidFill>
                  <a:srgbClr val="D00914"/>
                </a:solidFill>
                <a:latin typeface="Noto Sans Hans"/>
                <a:ea typeface="Noto Sans Hans"/>
                <a:cs typeface="Noto Sans Hans"/>
              </a:defRPr>
            </a:pPr>
            <a:r>
              <a:rPr sz="4800" b="1">
                <a:solidFill>
                  <a:srgbClr val="D00914"/>
                </a:solidFill>
                <a:latin typeface="Noto Sans Hans"/>
                <a:ea typeface="Noto Sans Hans"/>
                <a:cs typeface="Noto Sans Hans"/>
              </a:rPr>
              <a:t>养老机器人</a:t>
            </a:r>
            <a:endParaRPr sz="4800" b="1">
              <a:solidFill>
                <a:srgbClr val="D00914"/>
              </a:solidFill>
              <a:latin typeface="Noto Sans Hans"/>
              <a:ea typeface="Noto Sans Hans"/>
              <a:cs typeface="Noto Sans Hans"/>
            </a:endParaRPr>
          </a:p>
        </p:txBody>
      </p:sp>
      <p:sp>
        <p:nvSpPr>
          <p:cNvPr id="21" name="矩形 20"/>
          <p:cNvSpPr>
            <a:spLocks noGrp="1"/>
          </p:cNvSpPr>
          <p:nvPr/>
        </p:nvSpPr>
        <p:spPr>
          <a:xfrm>
            <a:off x="1066800" y="2024380"/>
            <a:ext cx="6667500" cy="914400"/>
          </a:xfrm>
          <a:prstGeom prst="rect">
            <a:avLst/>
          </a:prstGeom>
          <a:noFill/>
          <a:ln w="0">
            <a:noFill/>
            <a:prstDash val="solid"/>
          </a:ln>
        </p:spPr>
        <p:txBody>
          <a:bodyPr wrap="square" lIns="0" tIns="0" rIns="0" bIns="0" anchor="ctr">
            <a:normAutofit/>
          </a:bodyPr>
          <a:lstStyle/>
          <a:p>
            <a:pPr algn="l">
              <a:defRPr sz="4500" b="1">
                <a:solidFill>
                  <a:srgbClr val="383332"/>
                </a:solidFill>
                <a:latin typeface="Noto Sans Hans"/>
                <a:ea typeface="Noto Sans Hans"/>
                <a:cs typeface="Noto Sans Hans"/>
              </a:defRPr>
            </a:pPr>
            <a:r>
              <a:rPr sz="5400" b="1">
                <a:solidFill>
                  <a:srgbClr val="383332"/>
                </a:solidFill>
                <a:latin typeface="Noto Sans Hans"/>
                <a:ea typeface="Noto Sans Hans"/>
                <a:cs typeface="Noto Sans Hans"/>
              </a:rPr>
              <a:t>四图五清单分析</a:t>
            </a:r>
            <a:endParaRPr sz="5400" b="1">
              <a:solidFill>
                <a:srgbClr val="383332"/>
              </a:solidFill>
              <a:latin typeface="Noto Sans Hans"/>
              <a:ea typeface="Noto Sans Hans"/>
              <a:cs typeface="Noto Sans Hans"/>
            </a:endParaRPr>
          </a:p>
        </p:txBody>
      </p:sp>
      <p:sp>
        <p:nvSpPr>
          <p:cNvPr id="22" name="矩形 21"/>
          <p:cNvSpPr>
            <a:spLocks noGrp="1"/>
          </p:cNvSpPr>
          <p:nvPr/>
        </p:nvSpPr>
        <p:spPr>
          <a:xfrm>
            <a:off x="1066800" y="3176905"/>
            <a:ext cx="876300" cy="47625"/>
          </a:xfrm>
          <a:prstGeom prst="rect">
            <a:avLst/>
          </a:prstGeom>
          <a:solidFill>
            <a:srgbClr val="D00914"/>
          </a:solidFill>
          <a:ln w="0">
            <a:noFill/>
            <a:prstDash val="solid"/>
          </a:ln>
        </p:spPr>
      </p:sp>
      <p:sp>
        <p:nvSpPr>
          <p:cNvPr id="25" name="矩形 24"/>
          <p:cNvSpPr>
            <a:spLocks noGrp="1"/>
          </p:cNvSpPr>
          <p:nvPr/>
        </p:nvSpPr>
        <p:spPr>
          <a:xfrm>
            <a:off x="1066800" y="5695950"/>
            <a:ext cx="4476750" cy="409575"/>
          </a:xfrm>
          <a:prstGeom prst="rect">
            <a:avLst/>
          </a:prstGeom>
          <a:noFill/>
          <a:ln w="0">
            <a:noFill/>
            <a:prstDash val="solid"/>
          </a:ln>
        </p:spPr>
        <p:txBody>
          <a:bodyPr wrap="square" lIns="0" tIns="0" rIns="0" bIns="0" anchor="ctr">
            <a:normAutofit/>
          </a:bodyPr>
          <a:lstStyle/>
          <a:p>
            <a:pPr algn="l">
              <a:defRPr sz="1800" b="1">
                <a:solidFill>
                  <a:srgbClr val="971018"/>
                </a:solidFill>
                <a:latin typeface="Noto Sans Hans"/>
                <a:ea typeface="Noto Sans Hans"/>
                <a:cs typeface="Noto Sans Hans"/>
              </a:defRPr>
            </a:pPr>
            <a:r>
              <a:rPr sz="2000" b="1">
                <a:solidFill>
                  <a:srgbClr val="971018"/>
                </a:solidFill>
                <a:latin typeface="Noto Sans Hans"/>
                <a:ea typeface="Noto Sans Hans"/>
                <a:cs typeface="Noto Sans Hans"/>
              </a:rPr>
              <a:t>武汉城投投资公司</a:t>
            </a:r>
            <a:endParaRPr sz="2000" b="1">
              <a:solidFill>
                <a:srgbClr val="971018"/>
              </a:solidFill>
              <a:latin typeface="Noto Sans Hans"/>
              <a:ea typeface="Noto Sans Hans"/>
              <a:cs typeface="Noto Sans Hans"/>
            </a:endParaRPr>
          </a:p>
        </p:txBody>
      </p:sp>
      <p:sp>
        <p:nvSpPr>
          <p:cNvPr id="26" name="矩形 25"/>
          <p:cNvSpPr>
            <a:spLocks noGrp="1"/>
          </p:cNvSpPr>
          <p:nvPr/>
        </p:nvSpPr>
        <p:spPr>
          <a:xfrm>
            <a:off x="1066800" y="6143625"/>
            <a:ext cx="4476750" cy="266700"/>
          </a:xfrm>
          <a:prstGeom prst="rect">
            <a:avLst/>
          </a:prstGeom>
          <a:noFill/>
          <a:ln w="0">
            <a:noFill/>
            <a:prstDash val="solid"/>
          </a:ln>
        </p:spPr>
        <p:txBody>
          <a:bodyPr wrap="square" lIns="0" tIns="0" rIns="0" bIns="0" anchor="ctr">
            <a:normAutofit/>
          </a:bodyPr>
          <a:lstStyle/>
          <a:p>
            <a:pPr algn="l">
              <a:defRPr sz="1125" b="0">
                <a:solidFill>
                  <a:srgbClr val="77716E"/>
                </a:solidFill>
                <a:latin typeface="Noto Sans Hans"/>
                <a:ea typeface="Noto Sans Hans"/>
                <a:cs typeface="Noto Sans Hans"/>
              </a:defRPr>
            </a:pPr>
            <a:r>
              <a:rPr sz="1200" b="0">
                <a:solidFill>
                  <a:srgbClr val="77716E"/>
                </a:solidFill>
                <a:latin typeface="Noto Sans Hans"/>
                <a:ea typeface="Noto Sans Hans"/>
                <a:cs typeface="Noto Sans Hans"/>
              </a:rPr>
              <a:t>产业研究与投资布局专题汇报</a:t>
            </a:r>
            <a:endParaRPr sz="1200" b="0">
              <a:solidFill>
                <a:srgbClr val="77716E"/>
              </a:solidFill>
              <a:latin typeface="Noto Sans Hans"/>
              <a:ea typeface="Noto Sans Hans"/>
              <a:cs typeface="Noto Sans Hans"/>
            </a:endParaRPr>
          </a:p>
        </p:txBody>
      </p:sp>
      <p:sp>
        <p:nvSpPr>
          <p:cNvPr id="27" name="矩形 26"/>
          <p:cNvSpPr>
            <a:spLocks noGrp="1"/>
          </p:cNvSpPr>
          <p:nvPr/>
        </p:nvSpPr>
        <p:spPr>
          <a:xfrm>
            <a:off x="9525000" y="6029325"/>
            <a:ext cx="1857375" cy="285750"/>
          </a:xfrm>
          <a:prstGeom prst="rect">
            <a:avLst/>
          </a:prstGeom>
          <a:noFill/>
          <a:ln w="0">
            <a:noFill/>
            <a:prstDash val="solid"/>
          </a:ln>
        </p:spPr>
        <p:txBody>
          <a:bodyPr wrap="square" lIns="0" tIns="0" rIns="0" bIns="0" anchor="ctr">
            <a:normAutofit/>
          </a:bodyPr>
          <a:lstStyle/>
          <a:p>
            <a:pPr algn="r">
              <a:defRPr sz="1200" b="0">
                <a:solidFill>
                  <a:srgbClr val="77716E"/>
                </a:solidFill>
                <a:latin typeface="Noto Sans Hans"/>
                <a:ea typeface="Noto Sans Hans"/>
                <a:cs typeface="Noto Sans Hans"/>
              </a:defRPr>
            </a:pPr>
            <a:r>
              <a:rPr sz="1400" b="0">
                <a:solidFill>
                  <a:srgbClr val="77716E"/>
                </a:solidFill>
                <a:latin typeface="Noto Sans Hans"/>
                <a:ea typeface="Noto Sans Hans"/>
                <a:cs typeface="Noto Sans Hans"/>
              </a:rPr>
              <a:t>2026年7月</a:t>
            </a:r>
            <a:endParaRPr sz="1400" b="0">
              <a:solidFill>
                <a:srgbClr val="77716E"/>
              </a:solidFill>
              <a:latin typeface="Noto Sans Hans"/>
              <a:ea typeface="Noto Sans Hans"/>
              <a:cs typeface="Noto Sans Hans"/>
            </a:endParaRPr>
          </a:p>
        </p:txBody>
      </p:sp>
      <p:pic>
        <p:nvPicPr>
          <p:cNvPr id="29" name="图片 9"/>
          <p:cNvPicPr>
            <a:picLocks noChangeAspect="1"/>
          </p:cNvPicPr>
          <p:nvPr/>
        </p:nvPicPr>
        <p:blipFill>
          <a:blip r:embed="rId2"/>
          <a:stretch>
            <a:fillRect/>
          </a:stretch>
        </p:blipFill>
        <p:spPr>
          <a:xfrm>
            <a:off x="9243049" y="193697"/>
            <a:ext cx="2727971" cy="36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0" y="-12065"/>
            <a:ext cx="3057525" cy="6870065"/>
          </a:xfrm>
          <a:prstGeom prst="rect">
            <a:avLst/>
          </a:prstGeom>
          <a:solidFill>
            <a:srgbClr val="FCF5F4"/>
          </a:solidFill>
          <a:ln w="0">
            <a:noFill/>
            <a:prstDash val="solid"/>
          </a:ln>
        </p:spPr>
      </p:sp>
      <p:pic>
        <p:nvPicPr>
          <p:cNvPr id="20" name="图片 1"/>
          <p:cNvPicPr>
            <a:picLocks noChangeAspect="1"/>
          </p:cNvPicPr>
          <p:nvPr/>
        </p:nvPicPr>
        <p:blipFill>
          <a:blip r:embed="rId1">
            <a:alphaModFix amt="4000"/>
          </a:blip>
          <a:srcRect l="3804" t="4490" r="2897" b="8146"/>
          <a:stretch>
            <a:fillRect/>
          </a:stretch>
        </p:blipFill>
        <p:spPr>
          <a:xfrm>
            <a:off x="4808538" y="0"/>
            <a:ext cx="7383145" cy="6858000"/>
          </a:xfrm>
          <a:prstGeom prst="rect">
            <a:avLst/>
          </a:prstGeom>
          <a:ln>
            <a:noFill/>
          </a:ln>
        </p:spPr>
      </p:pic>
      <p:sp>
        <p:nvSpPr>
          <p:cNvPr id="4" name="path 38"/>
          <p:cNvSpPr>
            <a:spLocks noGrp="1"/>
          </p:cNvSpPr>
          <p:nvPr/>
        </p:nvSpPr>
        <p:spPr>
          <a:xfrm>
            <a:off x="0" y="0"/>
            <a:ext cx="255270" cy="6858000"/>
          </a:xfrm>
          <a:custGeom>
            <a:avLst/>
            <a:gdLst/>
            <a:ahLst/>
            <a:cxnLst/>
            <a:rect l="0" t="0" r="0" b="0"/>
            <a:pathLst>
              <a:path w="347" h="1147">
                <a:moveTo>
                  <a:pt x="0" y="0"/>
                </a:moveTo>
                <a:lnTo>
                  <a:pt x="347" y="0"/>
                </a:lnTo>
                <a:lnTo>
                  <a:pt x="347" y="1147"/>
                </a:lnTo>
                <a:lnTo>
                  <a:pt x="0" y="1147"/>
                </a:lnTo>
                <a:lnTo>
                  <a:pt x="0" y="0"/>
                </a:lnTo>
                <a:close/>
              </a:path>
            </a:pathLst>
          </a:custGeom>
          <a:solidFill>
            <a:srgbClr val="C00000"/>
          </a:solidFill>
          <a:ln w="0">
            <a:noFill/>
            <a:prstDash val="solid"/>
          </a:ln>
        </p:spPr>
        <p:txBody>
          <a:bodyPr/>
          <a:lstStyle/>
          <a:p>
            <a:pPr algn="ctr">
              <a:buNone/>
            </a:pPr>
          </a:p>
        </p:txBody>
      </p:sp>
      <p:pic>
        <p:nvPicPr>
          <p:cNvPr id="23" name="图片 9"/>
          <p:cNvPicPr>
            <a:picLocks noChangeAspect="1"/>
          </p:cNvPicPr>
          <p:nvPr/>
        </p:nvPicPr>
        <p:blipFill>
          <a:blip r:embed="rId2"/>
          <a:stretch>
            <a:fillRect/>
          </a:stretch>
        </p:blipFill>
        <p:spPr>
          <a:xfrm>
            <a:off x="9243049" y="193697"/>
            <a:ext cx="2727971" cy="360000"/>
          </a:xfrm>
          <a:prstGeom prst="rect">
            <a:avLst/>
          </a:prstGeom>
        </p:spPr>
      </p:pic>
      <p:sp>
        <p:nvSpPr>
          <p:cNvPr id="5" name="文本框 4"/>
          <p:cNvSpPr>
            <a:spLocks noGrp="1"/>
          </p:cNvSpPr>
          <p:nvPr/>
        </p:nvSpPr>
        <p:spPr>
          <a:xfrm>
            <a:off x="1078230" y="1081405"/>
            <a:ext cx="1802765" cy="706755"/>
          </a:xfrm>
          <a:prstGeom prst="rect">
            <a:avLst/>
          </a:prstGeom>
          <a:noFill/>
        </p:spPr>
        <p:txBody>
          <a:bodyPr wrap="square" anchor="t">
            <a:spAutoFit/>
          </a:bodyPr>
          <a:lstStyle/>
          <a:p>
            <a:pPr algn="r">
              <a:buNone/>
            </a:pPr>
            <a:r>
              <a:rPr lang="zh-CN" sz="4000" b="1">
                <a:solidFill>
                  <a:srgbClr val="C00000"/>
                </a:solidFill>
                <a:latin typeface="微软雅黑"/>
                <a:ea typeface="微软雅黑"/>
                <a:cs typeface="微软雅黑"/>
              </a:rPr>
              <a:t>目录</a:t>
            </a:r>
            <a:endParaRPr sz="4000" b="1">
              <a:solidFill>
                <a:srgbClr val="C00000"/>
              </a:solidFill>
              <a:latin typeface="微软雅黑"/>
              <a:ea typeface="微软雅黑"/>
              <a:cs typeface="微软雅黑"/>
            </a:endParaRPr>
          </a:p>
        </p:txBody>
      </p:sp>
      <p:sp>
        <p:nvSpPr>
          <p:cNvPr id="6" name="文本框 5"/>
          <p:cNvSpPr>
            <a:spLocks noGrp="1"/>
          </p:cNvSpPr>
          <p:nvPr/>
        </p:nvSpPr>
        <p:spPr>
          <a:xfrm>
            <a:off x="1078230" y="2381885"/>
            <a:ext cx="1802765" cy="645160"/>
          </a:xfrm>
          <a:prstGeom prst="rect">
            <a:avLst/>
          </a:prstGeom>
          <a:noFill/>
        </p:spPr>
        <p:txBody>
          <a:bodyPr wrap="square" anchor="t">
            <a:spAutoFit/>
          </a:bodyPr>
          <a:lstStyle/>
          <a:p>
            <a:pPr algn="r">
              <a:buNone/>
            </a:pPr>
            <a:r>
              <a:rPr sz="3600" b="1">
                <a:solidFill>
                  <a:srgbClr val="D00914"/>
                </a:solidFill>
                <a:latin typeface="Noto Sans Hans"/>
                <a:ea typeface="Noto Sans Hans"/>
                <a:cs typeface="Noto Sans Hans"/>
              </a:rPr>
              <a:t>一</a:t>
            </a:r>
            <a:endParaRPr sz="3600" b="1">
              <a:solidFill>
                <a:srgbClr val="D00914"/>
              </a:solidFill>
              <a:latin typeface="Noto Sans Hans"/>
              <a:ea typeface="Noto Sans Hans"/>
              <a:cs typeface="Noto Sans Hans"/>
            </a:endParaRPr>
          </a:p>
        </p:txBody>
      </p:sp>
      <p:sp>
        <p:nvSpPr>
          <p:cNvPr id="14" name="文本框 13"/>
          <p:cNvSpPr>
            <a:spLocks noGrp="1"/>
          </p:cNvSpPr>
          <p:nvPr/>
        </p:nvSpPr>
        <p:spPr>
          <a:xfrm>
            <a:off x="3312160" y="2386330"/>
            <a:ext cx="4288790" cy="645160"/>
          </a:xfrm>
          <a:prstGeom prst="rect">
            <a:avLst/>
          </a:prstGeom>
          <a:noFill/>
        </p:spPr>
        <p:txBody>
          <a:bodyPr wrap="square" lIns="0" rIns="0">
            <a:spAutoFit/>
          </a:bodyPr>
          <a:lstStyle/>
          <a:p>
            <a:r>
              <a:rPr sz="3600" b="1">
                <a:solidFill>
                  <a:schemeClr val="tx1"/>
                </a:solidFill>
                <a:latin typeface="Noto Sans Hans"/>
                <a:ea typeface="Noto Sans Hans"/>
                <a:cs typeface="Noto Sans Hans"/>
              </a:rPr>
              <a:t>四图分析</a:t>
            </a:r>
            <a:endParaRPr sz="3600" b="1">
              <a:solidFill>
                <a:schemeClr val="tx1"/>
              </a:solidFill>
              <a:latin typeface="Noto Sans Hans"/>
              <a:ea typeface="Noto Sans Hans"/>
              <a:cs typeface="Noto Sans Hans"/>
            </a:endParaRPr>
          </a:p>
        </p:txBody>
      </p:sp>
      <p:sp>
        <p:nvSpPr>
          <p:cNvPr id="15" name="文本框 14"/>
          <p:cNvSpPr>
            <a:spLocks noGrp="1"/>
          </p:cNvSpPr>
          <p:nvPr/>
        </p:nvSpPr>
        <p:spPr>
          <a:xfrm>
            <a:off x="3383915" y="3238500"/>
            <a:ext cx="6209030" cy="398780"/>
          </a:xfrm>
          <a:prstGeom prst="rect">
            <a:avLst/>
          </a:prstGeom>
          <a:noFill/>
        </p:spPr>
        <p:txBody>
          <a:bodyPr wrap="square" lIns="0" rIns="0">
            <a:spAutoFit/>
          </a:bodyPr>
          <a:lstStyle/>
          <a:p>
            <a:pPr algn="l">
              <a:defRPr sz="1500" b="0">
                <a:solidFill>
                  <a:srgbClr val="77716E"/>
                </a:solidFill>
                <a:latin typeface="Noto Sans Hans"/>
                <a:ea typeface="Noto Sans Hans"/>
                <a:cs typeface="Noto Sans Hans"/>
              </a:defRPr>
            </a:pPr>
            <a:r>
              <a:rPr sz="2000">
                <a:solidFill>
                  <a:srgbClr val="77716E"/>
                </a:solidFill>
                <a:latin typeface="Noto Sans Hans"/>
                <a:ea typeface="Noto Sans Hans"/>
                <a:cs typeface="Noto Sans Hans"/>
                <a:sym typeface="+mn-ea"/>
              </a:rPr>
              <a:t>产业链图 · 应用领域图 · 技术路线图 · 区域分布图</a:t>
            </a:r>
            <a:endParaRPr lang="zh-CN" altLang="en-US" sz="2000" b="1">
              <a:solidFill>
                <a:srgbClr val="77716E"/>
              </a:solidFill>
              <a:latin typeface="Noto Sans Hans"/>
              <a:ea typeface="Noto Sans Hans"/>
              <a:cs typeface="Noto Sans Hans"/>
              <a:sym typeface="+mn-ea"/>
            </a:endParaRPr>
          </a:p>
        </p:txBody>
      </p:sp>
      <p:sp>
        <p:nvSpPr>
          <p:cNvPr id="2" name="文本框 7"/>
          <p:cNvSpPr>
            <a:spLocks noGrp="1"/>
          </p:cNvSpPr>
          <p:nvPr/>
        </p:nvSpPr>
        <p:spPr>
          <a:xfrm>
            <a:off x="1085215" y="4044315"/>
            <a:ext cx="1802765" cy="645160"/>
          </a:xfrm>
          <a:prstGeom prst="rect">
            <a:avLst/>
          </a:prstGeom>
          <a:noFill/>
        </p:spPr>
        <p:txBody>
          <a:bodyPr wrap="square" anchor="t">
            <a:spAutoFit/>
          </a:bodyPr>
          <a:lstStyle/>
          <a:p>
            <a:pPr algn="r">
              <a:buNone/>
            </a:pPr>
            <a:r>
              <a:rPr sz="3600" b="1">
                <a:solidFill>
                  <a:srgbClr val="D00914"/>
                </a:solidFill>
                <a:latin typeface="Noto Sans Hans"/>
                <a:ea typeface="Noto Sans Hans"/>
                <a:cs typeface="Noto Sans Hans"/>
              </a:rPr>
              <a:t>二</a:t>
            </a:r>
            <a:endParaRPr sz="3600" b="1">
              <a:solidFill>
                <a:srgbClr val="D00914"/>
              </a:solidFill>
              <a:latin typeface="Noto Sans Hans"/>
              <a:ea typeface="Noto Sans Hans"/>
              <a:cs typeface="Noto Sans Hans"/>
            </a:endParaRPr>
          </a:p>
        </p:txBody>
      </p:sp>
      <p:sp>
        <p:nvSpPr>
          <p:cNvPr id="9" name="文本框 15"/>
          <p:cNvSpPr>
            <a:spLocks noGrp="1"/>
          </p:cNvSpPr>
          <p:nvPr/>
        </p:nvSpPr>
        <p:spPr>
          <a:xfrm>
            <a:off x="3319145" y="4039870"/>
            <a:ext cx="6209030" cy="645160"/>
          </a:xfrm>
          <a:prstGeom prst="rect">
            <a:avLst/>
          </a:prstGeom>
          <a:noFill/>
        </p:spPr>
        <p:txBody>
          <a:bodyPr wrap="square" lIns="0" rIns="0">
            <a:spAutoFit/>
          </a:bodyPr>
          <a:lstStyle/>
          <a:p>
            <a:r>
              <a:rPr sz="3600" b="1">
                <a:solidFill>
                  <a:schemeClr val="tx1"/>
                </a:solidFill>
                <a:latin typeface="Noto Sans Hans"/>
                <a:ea typeface="Noto Sans Hans"/>
                <a:cs typeface="Noto Sans Hans"/>
              </a:rPr>
              <a:t>五清单分析</a:t>
            </a:r>
            <a:endParaRPr sz="3600" b="1">
              <a:solidFill>
                <a:schemeClr val="tx1"/>
              </a:solidFill>
              <a:latin typeface="Noto Sans Hans"/>
              <a:ea typeface="Noto Sans Hans"/>
              <a:cs typeface="Noto Sans Hans"/>
            </a:endParaRPr>
          </a:p>
        </p:txBody>
      </p:sp>
      <p:sp>
        <p:nvSpPr>
          <p:cNvPr id="11" name="文本框 14"/>
          <p:cNvSpPr>
            <a:spLocks noGrp="1"/>
          </p:cNvSpPr>
          <p:nvPr/>
        </p:nvSpPr>
        <p:spPr>
          <a:xfrm>
            <a:off x="3359150" y="4942840"/>
            <a:ext cx="6209030" cy="398780"/>
          </a:xfrm>
          <a:prstGeom prst="rect">
            <a:avLst/>
          </a:prstGeom>
          <a:noFill/>
        </p:spPr>
        <p:txBody>
          <a:bodyPr wrap="square" lIns="0" rIns="0">
            <a:spAutoFit/>
          </a:bodyPr>
          <a:lstStyle/>
          <a:p>
            <a:pPr algn="l">
              <a:defRPr sz="1500" b="0">
                <a:solidFill>
                  <a:srgbClr val="77716E"/>
                </a:solidFill>
                <a:latin typeface="Noto Sans Hans"/>
                <a:ea typeface="Noto Sans Hans"/>
                <a:cs typeface="Noto Sans Hans"/>
              </a:defRPr>
            </a:pPr>
            <a:r>
              <a:rPr sz="2000">
                <a:sym typeface="+mn-ea"/>
              </a:rPr>
              <a:t>产业集群 · 政策 · 企业 · 项目 · 问题清单</a:t>
            </a:r>
            <a:endParaRPr lang="zh-CN" altLang="en-US" sz="2000" b="1">
              <a:solidFill>
                <a:srgbClr val="77716E"/>
              </a:solidFill>
              <a:latin typeface="Noto Sans Hans"/>
              <a:ea typeface="Noto Sans Hans"/>
              <a:cs typeface="Noto Sans Han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0" y="3825875"/>
            <a:ext cx="12192000" cy="3032125"/>
          </a:xfrm>
          <a:prstGeom prst="rect">
            <a:avLst/>
          </a:prstGeom>
          <a:solidFill>
            <a:srgbClr val="FCF5F4"/>
          </a:solidFill>
          <a:ln w="0">
            <a:noFill/>
            <a:prstDash val="solid"/>
          </a:ln>
        </p:spPr>
      </p:sp>
      <p:pic>
        <p:nvPicPr>
          <p:cNvPr id="20" name="图片 1"/>
          <p:cNvPicPr>
            <a:picLocks noChangeAspect="1"/>
          </p:cNvPicPr>
          <p:nvPr/>
        </p:nvPicPr>
        <p:blipFill>
          <a:blip r:embed="rId1">
            <a:alphaModFix amt="4000"/>
          </a:blip>
          <a:srcRect l="3804" t="4490" r="2897" b="8146"/>
          <a:stretch>
            <a:fillRect/>
          </a:stretch>
        </p:blipFill>
        <p:spPr>
          <a:xfrm>
            <a:off x="4808538" y="0"/>
            <a:ext cx="7383145" cy="6858000"/>
          </a:xfrm>
          <a:prstGeom prst="rect">
            <a:avLst/>
          </a:prstGeom>
          <a:ln>
            <a:noFill/>
          </a:ln>
        </p:spPr>
      </p:pic>
      <p:sp>
        <p:nvSpPr>
          <p:cNvPr id="4" name="path 38"/>
          <p:cNvSpPr>
            <a:spLocks noGrp="1"/>
          </p:cNvSpPr>
          <p:nvPr/>
        </p:nvSpPr>
        <p:spPr>
          <a:xfrm>
            <a:off x="0" y="0"/>
            <a:ext cx="255270" cy="6858000"/>
          </a:xfrm>
          <a:custGeom>
            <a:avLst/>
            <a:gdLst/>
            <a:ahLst/>
            <a:cxnLst/>
            <a:rect l="0" t="0" r="0" b="0"/>
            <a:pathLst>
              <a:path w="347" h="1147">
                <a:moveTo>
                  <a:pt x="0" y="0"/>
                </a:moveTo>
                <a:lnTo>
                  <a:pt x="347" y="0"/>
                </a:lnTo>
                <a:lnTo>
                  <a:pt x="347" y="1147"/>
                </a:lnTo>
                <a:lnTo>
                  <a:pt x="0" y="1147"/>
                </a:lnTo>
                <a:lnTo>
                  <a:pt x="0" y="0"/>
                </a:lnTo>
                <a:close/>
              </a:path>
            </a:pathLst>
          </a:custGeom>
          <a:solidFill>
            <a:srgbClr val="C00000"/>
          </a:solidFill>
          <a:ln w="0">
            <a:noFill/>
            <a:prstDash val="solid"/>
          </a:ln>
        </p:spPr>
        <p:txBody>
          <a:bodyPr/>
          <a:lstStyle/>
          <a:p>
            <a:pPr algn="ctr">
              <a:buNone/>
            </a:pPr>
          </a:p>
        </p:txBody>
      </p:sp>
      <p:pic>
        <p:nvPicPr>
          <p:cNvPr id="23" name="图片 9"/>
          <p:cNvPicPr>
            <a:picLocks noChangeAspect="1"/>
          </p:cNvPicPr>
          <p:nvPr/>
        </p:nvPicPr>
        <p:blipFill>
          <a:blip r:embed="rId2"/>
          <a:stretch>
            <a:fillRect/>
          </a:stretch>
        </p:blipFill>
        <p:spPr>
          <a:xfrm>
            <a:off x="9243049" y="193697"/>
            <a:ext cx="2727971" cy="360000"/>
          </a:xfrm>
          <a:prstGeom prst="rect">
            <a:avLst/>
          </a:prstGeom>
        </p:spPr>
      </p:pic>
      <p:sp>
        <p:nvSpPr>
          <p:cNvPr id="5" name="文本框 4"/>
          <p:cNvSpPr>
            <a:spLocks noGrp="1"/>
          </p:cNvSpPr>
          <p:nvPr/>
        </p:nvSpPr>
        <p:spPr>
          <a:xfrm>
            <a:off x="763905" y="2660015"/>
            <a:ext cx="5099050" cy="706755"/>
          </a:xfrm>
          <a:prstGeom prst="rect">
            <a:avLst/>
          </a:prstGeom>
          <a:noFill/>
        </p:spPr>
        <p:txBody>
          <a:bodyPr wrap="square" anchor="t">
            <a:spAutoFit/>
          </a:bodyPr>
          <a:lstStyle/>
          <a:p>
            <a:pPr algn="l">
              <a:buNone/>
            </a:pPr>
            <a:r>
              <a:rPr lang="zh-CN" sz="4000" b="1">
                <a:solidFill>
                  <a:srgbClr val="C00000"/>
                </a:solidFill>
                <a:latin typeface="微软雅黑"/>
                <a:ea typeface="微软雅黑"/>
                <a:cs typeface="微软雅黑"/>
              </a:rPr>
              <a:t>第一部分</a:t>
            </a:r>
            <a:r>
              <a:rPr lang="en-US" altLang="zh-CN" sz="4000" b="1">
                <a:solidFill>
                  <a:srgbClr val="C00000"/>
                </a:solidFill>
                <a:latin typeface="微软雅黑"/>
                <a:ea typeface="微软雅黑"/>
                <a:cs typeface="微软雅黑"/>
              </a:rPr>
              <a:t>    </a:t>
            </a:r>
            <a:r>
              <a:rPr lang="zh-CN" altLang="en-US" sz="4000" b="1">
                <a:solidFill>
                  <a:srgbClr val="C00000"/>
                </a:solidFill>
                <a:latin typeface="微软雅黑"/>
                <a:ea typeface="微软雅黑"/>
                <a:cs typeface="微软雅黑"/>
              </a:rPr>
              <a:t>四图</a:t>
            </a:r>
            <a:r>
              <a:rPr lang="zh-CN" altLang="en-US" sz="4000" b="1">
                <a:solidFill>
                  <a:srgbClr val="C00000"/>
                </a:solidFill>
                <a:latin typeface="微软雅黑"/>
                <a:ea typeface="微软雅黑"/>
                <a:cs typeface="微软雅黑"/>
              </a:rPr>
              <a:t>分析</a:t>
            </a:r>
            <a:endParaRPr lang="zh-CN" altLang="en-US" sz="4000" b="1">
              <a:solidFill>
                <a:srgbClr val="C00000"/>
              </a:solidFill>
              <a:latin typeface="微软雅黑"/>
              <a:ea typeface="微软雅黑"/>
              <a:cs typeface="微软雅黑"/>
            </a:endParaRPr>
          </a:p>
        </p:txBody>
      </p:sp>
      <p:sp>
        <p:nvSpPr>
          <p:cNvPr id="15" name="文本框 14"/>
          <p:cNvSpPr>
            <a:spLocks noGrp="1"/>
          </p:cNvSpPr>
          <p:nvPr/>
        </p:nvSpPr>
        <p:spPr>
          <a:xfrm>
            <a:off x="2423795" y="4436745"/>
            <a:ext cx="8410575" cy="521970"/>
          </a:xfrm>
          <a:prstGeom prst="rect">
            <a:avLst/>
          </a:prstGeom>
          <a:noFill/>
        </p:spPr>
        <p:txBody>
          <a:bodyPr wrap="square" lIns="0" rIns="0">
            <a:spAutoFit/>
          </a:bodyPr>
          <a:lstStyle/>
          <a:p>
            <a:pPr algn="l">
              <a:defRPr sz="1500" b="0">
                <a:solidFill>
                  <a:srgbClr val="77716E"/>
                </a:solidFill>
                <a:latin typeface="Noto Sans Hans"/>
                <a:ea typeface="Noto Sans Hans"/>
                <a:cs typeface="Noto Sans Hans"/>
              </a:defRPr>
            </a:pPr>
            <a:r>
              <a:rPr sz="2800">
                <a:solidFill>
                  <a:srgbClr val="77716E"/>
                </a:solidFill>
                <a:latin typeface="Noto Sans Hans"/>
                <a:ea typeface="Noto Sans Hans"/>
                <a:cs typeface="Noto Sans Hans"/>
                <a:sym typeface="+mn-ea"/>
              </a:rPr>
              <a:t>产业链图 · 应用领域图 · 技术路线图 · 区域分布图</a:t>
            </a:r>
            <a:endParaRPr lang="zh-CN" altLang="en-US" sz="2800" b="1">
              <a:solidFill>
                <a:srgbClr val="77716E"/>
              </a:solidFill>
              <a:latin typeface="Noto Sans Hans"/>
              <a:ea typeface="Noto Sans Hans"/>
              <a:cs typeface="Noto Sans Hans"/>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【四图总览】</a:t>
            </a:r>
            <a:r>
              <a:rPr sz="1900" b="1">
                <a:solidFill>
                  <a:srgbClr val="403A38"/>
                </a:solidFill>
                <a:latin typeface="Noto Sans Hans"/>
                <a:ea typeface="Noto Sans Hans"/>
                <a:cs typeface="Noto Sans Hans"/>
              </a:rPr>
              <a:t>四张图从“产业结构、应用价值、技术演进、空间落点”回答养老机器人应投什么、在哪里投</a:t>
            </a:r>
            <a:endParaRPr sz="1900"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产业认知、赛道选择、技术判断与区域布局</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圆角矩形 5"/>
          <p:cNvSpPr>
            <a:spLocks noGrp="1"/>
          </p:cNvSpPr>
          <p:nvPr/>
        </p:nvSpPr>
        <p:spPr>
          <a:xfrm>
            <a:off x="457200" y="1304925"/>
            <a:ext cx="2714625" cy="4695825"/>
          </a:xfrm>
          <a:prstGeom prst="roundRect">
            <a:avLst>
              <a:gd name="adj" fmla="val 702"/>
            </a:avLst>
          </a:prstGeom>
          <a:solidFill>
            <a:srgbClr val="FFFFFF"/>
          </a:solidFill>
          <a:ln w="9525">
            <a:solidFill>
              <a:srgbClr val="D8D1CD"/>
            </a:solidFill>
            <a:prstDash val="solid"/>
          </a:ln>
        </p:spPr>
      </p:sp>
      <p:sp>
        <p:nvSpPr>
          <p:cNvPr id="7" name="圆角矩形 6"/>
          <p:cNvSpPr>
            <a:spLocks noGrp="1"/>
          </p:cNvSpPr>
          <p:nvPr/>
        </p:nvSpPr>
        <p:spPr>
          <a:xfrm>
            <a:off x="457200" y="1304925"/>
            <a:ext cx="2714625" cy="590550"/>
          </a:xfrm>
          <a:prstGeom prst="roundRect">
            <a:avLst>
              <a:gd name="adj" fmla="val 3226"/>
            </a:avLst>
          </a:prstGeom>
          <a:solidFill>
            <a:srgbClr val="164A7B"/>
          </a:solidFill>
          <a:ln w="0">
            <a:noFill/>
            <a:prstDash val="solid"/>
          </a:ln>
        </p:spPr>
      </p:sp>
      <p:sp>
        <p:nvSpPr>
          <p:cNvPr id="8" name="矩形 7"/>
          <p:cNvSpPr>
            <a:spLocks noGrp="1"/>
          </p:cNvSpPr>
          <p:nvPr/>
        </p:nvSpPr>
        <p:spPr>
          <a:xfrm>
            <a:off x="581025" y="1381125"/>
            <a:ext cx="419100" cy="419100"/>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01</a:t>
            </a:r>
            <a:endParaRPr sz="1800" b="1">
              <a:solidFill>
                <a:srgbClr val="FFFFFF"/>
              </a:solidFill>
              <a:latin typeface="Noto Sans Hans"/>
              <a:ea typeface="Noto Sans Hans"/>
              <a:cs typeface="Noto Sans Hans"/>
            </a:endParaRPr>
          </a:p>
        </p:txBody>
      </p:sp>
      <p:sp>
        <p:nvSpPr>
          <p:cNvPr id="9" name="矩形 8"/>
          <p:cNvSpPr>
            <a:spLocks noGrp="1"/>
          </p:cNvSpPr>
          <p:nvPr/>
        </p:nvSpPr>
        <p:spPr>
          <a:xfrm>
            <a:off x="1047750" y="1371600"/>
            <a:ext cx="1238250" cy="257175"/>
          </a:xfrm>
          <a:prstGeom prst="rect">
            <a:avLst/>
          </a:prstGeom>
          <a:noFill/>
          <a:ln w="0">
            <a:noFill/>
            <a:prstDash val="solid"/>
          </a:ln>
        </p:spPr>
        <p:txBody>
          <a:bodyPr wrap="square" lIns="47625" tIns="19050" rIns="47625" bIns="19050" anchor="ctr">
            <a:normAutofit/>
          </a:bodyPr>
          <a:lstStyle/>
          <a:p>
            <a:pPr algn="l">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产业链图</a:t>
            </a:r>
            <a:endParaRPr sz="1400" b="1">
              <a:solidFill>
                <a:srgbClr val="FFFFFF"/>
              </a:solidFill>
              <a:latin typeface="Noto Sans Hans"/>
              <a:ea typeface="Noto Sans Hans"/>
              <a:cs typeface="Noto Sans Hans"/>
            </a:endParaRPr>
          </a:p>
        </p:txBody>
      </p:sp>
      <p:sp>
        <p:nvSpPr>
          <p:cNvPr id="10" name="圆角矩形 9"/>
          <p:cNvSpPr>
            <a:spLocks noGrp="1"/>
          </p:cNvSpPr>
          <p:nvPr/>
        </p:nvSpPr>
        <p:spPr>
          <a:xfrm>
            <a:off x="2352675" y="1476375"/>
            <a:ext cx="685800" cy="238125"/>
          </a:xfrm>
          <a:prstGeom prst="roundRect">
            <a:avLst>
              <a:gd name="adj" fmla="val 8000"/>
            </a:avLst>
          </a:prstGeom>
          <a:solidFill>
            <a:srgbClr val="FFFFFF"/>
          </a:solidFill>
          <a:ln w="0">
            <a:noFill/>
            <a:prstDash val="solid"/>
          </a:ln>
        </p:spPr>
      </p:sp>
      <p:sp>
        <p:nvSpPr>
          <p:cNvPr id="11" name="矩形 10"/>
          <p:cNvSpPr>
            <a:spLocks noGrp="1"/>
          </p:cNvSpPr>
          <p:nvPr/>
        </p:nvSpPr>
        <p:spPr>
          <a:xfrm>
            <a:off x="2381250" y="1495425"/>
            <a:ext cx="628650" cy="200025"/>
          </a:xfrm>
          <a:prstGeom prst="rect">
            <a:avLst/>
          </a:prstGeom>
          <a:noFill/>
          <a:ln w="0">
            <a:noFill/>
            <a:prstDash val="solid"/>
          </a:ln>
        </p:spPr>
        <p:txBody>
          <a:bodyPr wrap="square" lIns="47625" tIns="19050" rIns="47625" bIns="19050" anchor="ctr">
            <a:normAutofit/>
          </a:bodyPr>
          <a:lstStyle/>
          <a:p>
            <a:pPr algn="ctr">
              <a:defRPr sz="765" b="1">
                <a:solidFill>
                  <a:srgbClr val="164A7B"/>
                </a:solidFill>
                <a:latin typeface="Noto Sans Hans"/>
                <a:ea typeface="Noto Sans Hans"/>
                <a:cs typeface="Noto Sans Hans"/>
              </a:defRPr>
            </a:pPr>
            <a:r>
              <a:rPr sz="870" b="1">
                <a:solidFill>
                  <a:srgbClr val="164A7B"/>
                </a:solidFill>
                <a:latin typeface="Noto Sans Hans"/>
                <a:ea typeface="Noto Sans Hans"/>
                <a:cs typeface="Noto Sans Hans"/>
              </a:rPr>
              <a:t>找位置</a:t>
            </a:r>
            <a:endParaRPr sz="870" b="1">
              <a:solidFill>
                <a:srgbClr val="164A7B"/>
              </a:solidFill>
              <a:latin typeface="Noto Sans Hans"/>
              <a:ea typeface="Noto Sans Hans"/>
              <a:cs typeface="Noto Sans Hans"/>
            </a:endParaRPr>
          </a:p>
        </p:txBody>
      </p:sp>
      <p:sp>
        <p:nvSpPr>
          <p:cNvPr id="12" name="矩形 11"/>
          <p:cNvSpPr>
            <a:spLocks noGrp="1"/>
          </p:cNvSpPr>
          <p:nvPr/>
        </p:nvSpPr>
        <p:spPr>
          <a:xfrm>
            <a:off x="581025" y="20383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164A7B"/>
                </a:solidFill>
                <a:latin typeface="Noto Sans Hans"/>
                <a:ea typeface="Noto Sans Hans"/>
                <a:cs typeface="Noto Sans Hans"/>
              </a:defRPr>
            </a:pPr>
            <a:r>
              <a:rPr sz="930" b="1">
                <a:solidFill>
                  <a:srgbClr val="164A7B"/>
                </a:solidFill>
                <a:latin typeface="Noto Sans Hans"/>
                <a:ea typeface="Noto Sans Hans"/>
                <a:cs typeface="Noto Sans Hans"/>
              </a:rPr>
              <a:t>核心问题</a:t>
            </a:r>
            <a:endParaRPr sz="930" b="1">
              <a:solidFill>
                <a:srgbClr val="164A7B"/>
              </a:solidFill>
              <a:latin typeface="Noto Sans Hans"/>
              <a:ea typeface="Noto Sans Hans"/>
              <a:cs typeface="Noto Sans Hans"/>
            </a:endParaRPr>
          </a:p>
        </p:txBody>
      </p:sp>
      <p:sp>
        <p:nvSpPr>
          <p:cNvPr id="13" name="矩形 12"/>
          <p:cNvSpPr>
            <a:spLocks noGrp="1"/>
          </p:cNvSpPr>
          <p:nvPr/>
        </p:nvSpPr>
        <p:spPr>
          <a:xfrm>
            <a:off x="581025" y="2266950"/>
            <a:ext cx="2466975" cy="533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产业由哪些环节构成？</a:t>
            </a:r>
            <a:endParaRPr sz="1100" b="1">
              <a:solidFill>
                <a:srgbClr val="403A38"/>
              </a:solidFill>
              <a:latin typeface="Noto Sans Hans"/>
              <a:ea typeface="Noto Sans Hans"/>
              <a:cs typeface="Noto Sans Hans"/>
            </a:endParaRPr>
          </a:p>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价值和风险集中在哪里？</a:t>
            </a:r>
            <a:endParaRPr sz="1100" b="1">
              <a:solidFill>
                <a:srgbClr val="403A38"/>
              </a:solidFill>
              <a:latin typeface="Noto Sans Hans"/>
              <a:ea typeface="Noto Sans Hans"/>
              <a:cs typeface="Noto Sans Hans"/>
            </a:endParaRPr>
          </a:p>
        </p:txBody>
      </p:sp>
      <p:sp>
        <p:nvSpPr>
          <p:cNvPr id="14" name="矩形 13"/>
          <p:cNvSpPr>
            <a:spLocks noGrp="1"/>
          </p:cNvSpPr>
          <p:nvPr/>
        </p:nvSpPr>
        <p:spPr>
          <a:xfrm>
            <a:off x="581025" y="2886075"/>
            <a:ext cx="2466975" cy="9525"/>
          </a:xfrm>
          <a:prstGeom prst="rect">
            <a:avLst/>
          </a:prstGeom>
          <a:solidFill>
            <a:srgbClr val="D8D1CD"/>
          </a:solidFill>
          <a:ln w="0">
            <a:noFill/>
            <a:prstDash val="solid"/>
          </a:ln>
        </p:spPr>
      </p:sp>
      <p:sp>
        <p:nvSpPr>
          <p:cNvPr id="15" name="矩形 14"/>
          <p:cNvSpPr>
            <a:spLocks noGrp="1"/>
          </p:cNvSpPr>
          <p:nvPr/>
        </p:nvSpPr>
        <p:spPr>
          <a:xfrm>
            <a:off x="581025" y="29908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164A7B"/>
                </a:solidFill>
                <a:latin typeface="Noto Sans Hans"/>
                <a:ea typeface="Noto Sans Hans"/>
                <a:cs typeface="Noto Sans Hans"/>
              </a:defRPr>
            </a:pPr>
            <a:r>
              <a:rPr sz="930" b="1">
                <a:solidFill>
                  <a:srgbClr val="164A7B"/>
                </a:solidFill>
                <a:latin typeface="Noto Sans Hans"/>
                <a:ea typeface="Noto Sans Hans"/>
                <a:cs typeface="Noto Sans Hans"/>
              </a:rPr>
              <a:t>重点观察</a:t>
            </a:r>
            <a:endParaRPr sz="930" b="1">
              <a:solidFill>
                <a:srgbClr val="164A7B"/>
              </a:solidFill>
              <a:latin typeface="Noto Sans Hans"/>
              <a:ea typeface="Noto Sans Hans"/>
              <a:cs typeface="Noto Sans Hans"/>
            </a:endParaRPr>
          </a:p>
        </p:txBody>
      </p:sp>
      <p:sp>
        <p:nvSpPr>
          <p:cNvPr id="16" name="矩形 15"/>
          <p:cNvSpPr>
            <a:spLocks noGrp="1"/>
          </p:cNvSpPr>
          <p:nvPr/>
        </p:nvSpPr>
        <p:spPr>
          <a:xfrm>
            <a:off x="581025" y="32480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上游部件与算力</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中游整机与系统</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下游场景与运营</a:t>
            </a:r>
            <a:endParaRPr sz="1000" b="0">
              <a:solidFill>
                <a:srgbClr val="403A38"/>
              </a:solidFill>
              <a:latin typeface="Noto Sans Hans"/>
              <a:ea typeface="Noto Sans Hans"/>
              <a:cs typeface="Noto Sans Hans"/>
            </a:endParaRPr>
          </a:p>
        </p:txBody>
      </p:sp>
      <p:sp>
        <p:nvSpPr>
          <p:cNvPr id="17" name="矩形 16"/>
          <p:cNvSpPr>
            <a:spLocks noGrp="1"/>
          </p:cNvSpPr>
          <p:nvPr/>
        </p:nvSpPr>
        <p:spPr>
          <a:xfrm>
            <a:off x="581025" y="3952875"/>
            <a:ext cx="2466975" cy="9525"/>
          </a:xfrm>
          <a:prstGeom prst="rect">
            <a:avLst/>
          </a:prstGeom>
          <a:solidFill>
            <a:srgbClr val="D8D1CD"/>
          </a:solidFill>
          <a:ln w="0">
            <a:noFill/>
            <a:prstDash val="solid"/>
          </a:ln>
        </p:spPr>
      </p:sp>
      <p:sp>
        <p:nvSpPr>
          <p:cNvPr id="18" name="矩形 17"/>
          <p:cNvSpPr>
            <a:spLocks noGrp="1"/>
          </p:cNvSpPr>
          <p:nvPr/>
        </p:nvSpPr>
        <p:spPr>
          <a:xfrm>
            <a:off x="581025" y="40576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164A7B"/>
                </a:solidFill>
                <a:latin typeface="Noto Sans Hans"/>
                <a:ea typeface="Noto Sans Hans"/>
                <a:cs typeface="Noto Sans Hans"/>
              </a:defRPr>
            </a:pPr>
            <a:r>
              <a:rPr sz="930" b="1">
                <a:solidFill>
                  <a:srgbClr val="164A7B"/>
                </a:solidFill>
                <a:latin typeface="Noto Sans Hans"/>
                <a:ea typeface="Noto Sans Hans"/>
                <a:cs typeface="Noto Sans Hans"/>
              </a:rPr>
              <a:t>形成成果</a:t>
            </a:r>
            <a:endParaRPr sz="930" b="1">
              <a:solidFill>
                <a:srgbClr val="164A7B"/>
              </a:solidFill>
              <a:latin typeface="Noto Sans Hans"/>
              <a:ea typeface="Noto Sans Hans"/>
              <a:cs typeface="Noto Sans Hans"/>
            </a:endParaRPr>
          </a:p>
        </p:txBody>
      </p:sp>
      <p:sp>
        <p:nvSpPr>
          <p:cNvPr id="19" name="矩形 18"/>
          <p:cNvSpPr>
            <a:spLocks noGrp="1"/>
          </p:cNvSpPr>
          <p:nvPr/>
        </p:nvSpPr>
        <p:spPr>
          <a:xfrm>
            <a:off x="581025" y="43148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产业链全景</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关键环节价值判断</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可切入环节</a:t>
            </a:r>
            <a:endParaRPr sz="1000" b="0">
              <a:solidFill>
                <a:srgbClr val="403A38"/>
              </a:solidFill>
              <a:latin typeface="Noto Sans Hans"/>
              <a:ea typeface="Noto Sans Hans"/>
              <a:cs typeface="Noto Sans Hans"/>
            </a:endParaRPr>
          </a:p>
        </p:txBody>
      </p:sp>
      <p:sp>
        <p:nvSpPr>
          <p:cNvPr id="20" name="圆角矩形 19"/>
          <p:cNvSpPr>
            <a:spLocks noGrp="1"/>
          </p:cNvSpPr>
          <p:nvPr/>
        </p:nvSpPr>
        <p:spPr>
          <a:xfrm>
            <a:off x="581025" y="5029200"/>
            <a:ext cx="2466975" cy="800100"/>
          </a:xfrm>
          <a:prstGeom prst="roundRect">
            <a:avLst>
              <a:gd name="adj" fmla="val 2381"/>
            </a:avLst>
          </a:prstGeom>
          <a:solidFill>
            <a:srgbClr val="EAF1F8"/>
          </a:solidFill>
          <a:ln w="0">
            <a:noFill/>
            <a:prstDash val="solid"/>
          </a:ln>
        </p:spPr>
      </p:sp>
      <p:sp>
        <p:nvSpPr>
          <p:cNvPr id="21" name="矩形 20"/>
          <p:cNvSpPr>
            <a:spLocks noGrp="1"/>
          </p:cNvSpPr>
          <p:nvPr/>
        </p:nvSpPr>
        <p:spPr>
          <a:xfrm>
            <a:off x="666750" y="5095875"/>
            <a:ext cx="2295525" cy="209550"/>
          </a:xfrm>
          <a:prstGeom prst="rect">
            <a:avLst/>
          </a:prstGeom>
          <a:noFill/>
          <a:ln w="0">
            <a:noFill/>
            <a:prstDash val="solid"/>
          </a:ln>
        </p:spPr>
        <p:txBody>
          <a:bodyPr wrap="square" lIns="47625" tIns="19050" rIns="47625" bIns="19050" anchor="ctr">
            <a:normAutofit/>
          </a:bodyPr>
          <a:lstStyle/>
          <a:p>
            <a:pPr algn="l">
              <a:defRPr sz="810" b="1">
                <a:solidFill>
                  <a:srgbClr val="D00914"/>
                </a:solidFill>
                <a:latin typeface="Noto Sans Hans"/>
                <a:ea typeface="Noto Sans Hans"/>
                <a:cs typeface="Noto Sans Hans"/>
              </a:defRPr>
            </a:pPr>
            <a:r>
              <a:rPr sz="910" b="1">
                <a:solidFill>
                  <a:srgbClr val="D00914"/>
                </a:solidFill>
                <a:latin typeface="Noto Sans Hans"/>
                <a:ea typeface="Noto Sans Hans"/>
                <a:cs typeface="Noto Sans Hans"/>
              </a:rPr>
              <a:t>核心判断</a:t>
            </a:r>
            <a:endParaRPr sz="910" b="1">
              <a:solidFill>
                <a:srgbClr val="D00914"/>
              </a:solidFill>
              <a:latin typeface="Noto Sans Hans"/>
              <a:ea typeface="Noto Sans Hans"/>
              <a:cs typeface="Noto Sans Hans"/>
            </a:endParaRPr>
          </a:p>
        </p:txBody>
      </p:sp>
      <p:sp>
        <p:nvSpPr>
          <p:cNvPr id="22" name="矩形 21"/>
          <p:cNvSpPr>
            <a:spLocks noGrp="1"/>
          </p:cNvSpPr>
          <p:nvPr/>
        </p:nvSpPr>
        <p:spPr>
          <a:xfrm>
            <a:off x="666750" y="5314950"/>
            <a:ext cx="2295525" cy="4572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35" b="0">
                <a:solidFill>
                  <a:srgbClr val="403A38"/>
                </a:solidFill>
                <a:latin typeface="Noto Sans Hans"/>
                <a:ea typeface="Noto Sans Hans"/>
                <a:cs typeface="Noto Sans Hans"/>
              </a:defRPr>
            </a:pPr>
            <a:r>
              <a:rPr sz="840" b="0">
                <a:solidFill>
                  <a:srgbClr val="403A38"/>
                </a:solidFill>
                <a:latin typeface="Noto Sans Hans"/>
                <a:ea typeface="Noto Sans Hans"/>
                <a:cs typeface="Noto Sans Hans"/>
              </a:rPr>
              <a:t>平台与场景入口决定产业协同；核心零部件适合补链，整机需结合订单判断</a:t>
            </a:r>
            <a:endParaRPr sz="840" b="0">
              <a:solidFill>
                <a:srgbClr val="403A38"/>
              </a:solidFill>
              <a:latin typeface="Noto Sans Hans"/>
              <a:ea typeface="Noto Sans Hans"/>
              <a:cs typeface="Noto Sans Hans"/>
            </a:endParaRPr>
          </a:p>
        </p:txBody>
      </p:sp>
      <p:sp>
        <p:nvSpPr>
          <p:cNvPr id="23" name="圆角矩形 22"/>
          <p:cNvSpPr>
            <a:spLocks noGrp="1"/>
          </p:cNvSpPr>
          <p:nvPr/>
        </p:nvSpPr>
        <p:spPr>
          <a:xfrm>
            <a:off x="3295650" y="1304925"/>
            <a:ext cx="2714625" cy="4695825"/>
          </a:xfrm>
          <a:prstGeom prst="roundRect">
            <a:avLst>
              <a:gd name="adj" fmla="val 702"/>
            </a:avLst>
          </a:prstGeom>
          <a:solidFill>
            <a:srgbClr val="FFFFFF"/>
          </a:solidFill>
          <a:ln w="9525">
            <a:solidFill>
              <a:srgbClr val="D8D1CD"/>
            </a:solidFill>
            <a:prstDash val="solid"/>
          </a:ln>
        </p:spPr>
      </p:sp>
      <p:sp>
        <p:nvSpPr>
          <p:cNvPr id="24" name="圆角矩形 23"/>
          <p:cNvSpPr>
            <a:spLocks noGrp="1"/>
          </p:cNvSpPr>
          <p:nvPr/>
        </p:nvSpPr>
        <p:spPr>
          <a:xfrm>
            <a:off x="3295650" y="1304925"/>
            <a:ext cx="2714625" cy="590550"/>
          </a:xfrm>
          <a:prstGeom prst="roundRect">
            <a:avLst>
              <a:gd name="adj" fmla="val 3226"/>
            </a:avLst>
          </a:prstGeom>
          <a:solidFill>
            <a:srgbClr val="C94A27"/>
          </a:solidFill>
          <a:ln w="0">
            <a:noFill/>
            <a:prstDash val="solid"/>
          </a:ln>
        </p:spPr>
      </p:sp>
      <p:sp>
        <p:nvSpPr>
          <p:cNvPr id="25" name="矩形 24"/>
          <p:cNvSpPr>
            <a:spLocks noGrp="1"/>
          </p:cNvSpPr>
          <p:nvPr/>
        </p:nvSpPr>
        <p:spPr>
          <a:xfrm>
            <a:off x="3419475" y="1381125"/>
            <a:ext cx="419100" cy="419100"/>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02</a:t>
            </a:r>
            <a:endParaRPr sz="1800" b="1">
              <a:solidFill>
                <a:srgbClr val="FFFFFF"/>
              </a:solidFill>
              <a:latin typeface="Noto Sans Hans"/>
              <a:ea typeface="Noto Sans Hans"/>
              <a:cs typeface="Noto Sans Hans"/>
            </a:endParaRPr>
          </a:p>
        </p:txBody>
      </p:sp>
      <p:sp>
        <p:nvSpPr>
          <p:cNvPr id="26" name="矩形 25"/>
          <p:cNvSpPr>
            <a:spLocks noGrp="1"/>
          </p:cNvSpPr>
          <p:nvPr/>
        </p:nvSpPr>
        <p:spPr>
          <a:xfrm>
            <a:off x="3886200" y="1371600"/>
            <a:ext cx="1238250" cy="257175"/>
          </a:xfrm>
          <a:prstGeom prst="rect">
            <a:avLst/>
          </a:prstGeom>
          <a:noFill/>
          <a:ln w="0">
            <a:noFill/>
            <a:prstDash val="solid"/>
          </a:ln>
        </p:spPr>
        <p:txBody>
          <a:bodyPr wrap="square" lIns="47625" tIns="19050" rIns="47625" bIns="19050" anchor="ctr">
            <a:normAutofit/>
          </a:bodyPr>
          <a:lstStyle/>
          <a:p>
            <a:pPr algn="l">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应用领域图</a:t>
            </a:r>
            <a:endParaRPr sz="1400" b="1">
              <a:solidFill>
                <a:srgbClr val="FFFFFF"/>
              </a:solidFill>
              <a:latin typeface="Noto Sans Hans"/>
              <a:ea typeface="Noto Sans Hans"/>
              <a:cs typeface="Noto Sans Hans"/>
            </a:endParaRPr>
          </a:p>
        </p:txBody>
      </p:sp>
      <p:sp>
        <p:nvSpPr>
          <p:cNvPr id="27" name="圆角矩形 26"/>
          <p:cNvSpPr>
            <a:spLocks noGrp="1"/>
          </p:cNvSpPr>
          <p:nvPr/>
        </p:nvSpPr>
        <p:spPr>
          <a:xfrm>
            <a:off x="5191125" y="1476375"/>
            <a:ext cx="685800" cy="238125"/>
          </a:xfrm>
          <a:prstGeom prst="roundRect">
            <a:avLst>
              <a:gd name="adj" fmla="val 8000"/>
            </a:avLst>
          </a:prstGeom>
          <a:solidFill>
            <a:srgbClr val="FFFFFF"/>
          </a:solidFill>
          <a:ln w="0">
            <a:noFill/>
            <a:prstDash val="solid"/>
          </a:ln>
        </p:spPr>
      </p:sp>
      <p:sp>
        <p:nvSpPr>
          <p:cNvPr id="28" name="矩形 27"/>
          <p:cNvSpPr>
            <a:spLocks noGrp="1"/>
          </p:cNvSpPr>
          <p:nvPr/>
        </p:nvSpPr>
        <p:spPr>
          <a:xfrm>
            <a:off x="5219700" y="1495425"/>
            <a:ext cx="628650" cy="200025"/>
          </a:xfrm>
          <a:prstGeom prst="rect">
            <a:avLst/>
          </a:prstGeom>
          <a:noFill/>
          <a:ln w="0">
            <a:noFill/>
            <a:prstDash val="solid"/>
          </a:ln>
        </p:spPr>
        <p:txBody>
          <a:bodyPr wrap="square" lIns="47625" tIns="19050" rIns="47625" bIns="19050" anchor="ctr">
            <a:normAutofit/>
          </a:bodyPr>
          <a:lstStyle/>
          <a:p>
            <a:pPr algn="ctr">
              <a:defRPr sz="765" b="1">
                <a:solidFill>
                  <a:srgbClr val="C94A27"/>
                </a:solidFill>
                <a:latin typeface="Noto Sans Hans"/>
                <a:ea typeface="Noto Sans Hans"/>
                <a:cs typeface="Noto Sans Hans"/>
              </a:defRPr>
            </a:pPr>
            <a:r>
              <a:rPr sz="870" b="1">
                <a:solidFill>
                  <a:srgbClr val="C94A27"/>
                </a:solidFill>
                <a:latin typeface="Noto Sans Hans"/>
                <a:ea typeface="Noto Sans Hans"/>
                <a:cs typeface="Noto Sans Hans"/>
              </a:rPr>
              <a:t>找场景</a:t>
            </a:r>
            <a:endParaRPr sz="870" b="1">
              <a:solidFill>
                <a:srgbClr val="C94A27"/>
              </a:solidFill>
              <a:latin typeface="Noto Sans Hans"/>
              <a:ea typeface="Noto Sans Hans"/>
              <a:cs typeface="Noto Sans Hans"/>
            </a:endParaRPr>
          </a:p>
        </p:txBody>
      </p:sp>
      <p:sp>
        <p:nvSpPr>
          <p:cNvPr id="29" name="矩形 28"/>
          <p:cNvSpPr>
            <a:spLocks noGrp="1"/>
          </p:cNvSpPr>
          <p:nvPr/>
        </p:nvSpPr>
        <p:spPr>
          <a:xfrm>
            <a:off x="3419475" y="20383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C94A27"/>
                </a:solidFill>
                <a:latin typeface="Noto Sans Hans"/>
                <a:ea typeface="Noto Sans Hans"/>
                <a:cs typeface="Noto Sans Hans"/>
              </a:defRPr>
            </a:pPr>
            <a:r>
              <a:rPr sz="930" b="1">
                <a:solidFill>
                  <a:srgbClr val="C94A27"/>
                </a:solidFill>
                <a:latin typeface="Noto Sans Hans"/>
                <a:ea typeface="Noto Sans Hans"/>
                <a:cs typeface="Noto Sans Hans"/>
              </a:rPr>
              <a:t>核心问题</a:t>
            </a:r>
            <a:endParaRPr sz="930" b="1">
              <a:solidFill>
                <a:srgbClr val="C94A27"/>
              </a:solidFill>
              <a:latin typeface="Noto Sans Hans"/>
              <a:ea typeface="Noto Sans Hans"/>
              <a:cs typeface="Noto Sans Hans"/>
            </a:endParaRPr>
          </a:p>
        </p:txBody>
      </p:sp>
      <p:sp>
        <p:nvSpPr>
          <p:cNvPr id="30" name="矩形 29"/>
          <p:cNvSpPr>
            <a:spLocks noGrp="1"/>
          </p:cNvSpPr>
          <p:nvPr/>
        </p:nvSpPr>
        <p:spPr>
          <a:xfrm>
            <a:off x="3419475" y="2266950"/>
            <a:ext cx="2466975" cy="533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产品解决谁的什么问题？</a:t>
            </a:r>
            <a:endParaRPr sz="1100" b="1">
              <a:solidFill>
                <a:srgbClr val="403A38"/>
              </a:solidFill>
              <a:latin typeface="Noto Sans Hans"/>
              <a:ea typeface="Noto Sans Hans"/>
              <a:cs typeface="Noto Sans Hans"/>
            </a:endParaRPr>
          </a:p>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谁采购、谁使用、谁付费？</a:t>
            </a:r>
            <a:endParaRPr sz="1100" b="1">
              <a:solidFill>
                <a:srgbClr val="403A38"/>
              </a:solidFill>
              <a:latin typeface="Noto Sans Hans"/>
              <a:ea typeface="Noto Sans Hans"/>
              <a:cs typeface="Noto Sans Hans"/>
            </a:endParaRPr>
          </a:p>
        </p:txBody>
      </p:sp>
      <p:sp>
        <p:nvSpPr>
          <p:cNvPr id="31" name="矩形 30"/>
          <p:cNvSpPr>
            <a:spLocks noGrp="1"/>
          </p:cNvSpPr>
          <p:nvPr/>
        </p:nvSpPr>
        <p:spPr>
          <a:xfrm>
            <a:off x="3419475" y="2886075"/>
            <a:ext cx="2466975" cy="9525"/>
          </a:xfrm>
          <a:prstGeom prst="rect">
            <a:avLst/>
          </a:prstGeom>
          <a:solidFill>
            <a:srgbClr val="D8D1CD"/>
          </a:solidFill>
          <a:ln w="0">
            <a:noFill/>
            <a:prstDash val="solid"/>
          </a:ln>
        </p:spPr>
      </p:sp>
      <p:sp>
        <p:nvSpPr>
          <p:cNvPr id="32" name="矩形 31"/>
          <p:cNvSpPr>
            <a:spLocks noGrp="1"/>
          </p:cNvSpPr>
          <p:nvPr/>
        </p:nvSpPr>
        <p:spPr>
          <a:xfrm>
            <a:off x="3419475" y="29908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C94A27"/>
                </a:solidFill>
                <a:latin typeface="Noto Sans Hans"/>
                <a:ea typeface="Noto Sans Hans"/>
                <a:cs typeface="Noto Sans Hans"/>
              </a:defRPr>
            </a:pPr>
            <a:r>
              <a:rPr sz="930" b="1">
                <a:solidFill>
                  <a:srgbClr val="C94A27"/>
                </a:solidFill>
                <a:latin typeface="Noto Sans Hans"/>
                <a:ea typeface="Noto Sans Hans"/>
                <a:cs typeface="Noto Sans Hans"/>
              </a:rPr>
              <a:t>重点观察</a:t>
            </a:r>
            <a:endParaRPr sz="930" b="1">
              <a:solidFill>
                <a:srgbClr val="C94A27"/>
              </a:solidFill>
              <a:latin typeface="Noto Sans Hans"/>
              <a:ea typeface="Noto Sans Hans"/>
              <a:cs typeface="Noto Sans Hans"/>
            </a:endParaRPr>
          </a:p>
        </p:txBody>
      </p:sp>
      <p:sp>
        <p:nvSpPr>
          <p:cNvPr id="33" name="矩形 32"/>
          <p:cNvSpPr>
            <a:spLocks noGrp="1"/>
          </p:cNvSpPr>
          <p:nvPr/>
        </p:nvSpPr>
        <p:spPr>
          <a:xfrm>
            <a:off x="3419475" y="32480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康复训练与助行</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机构护理与运营</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居家陪伴与服务</a:t>
            </a:r>
            <a:endParaRPr sz="1000" b="0">
              <a:solidFill>
                <a:srgbClr val="403A38"/>
              </a:solidFill>
              <a:latin typeface="Noto Sans Hans"/>
              <a:ea typeface="Noto Sans Hans"/>
              <a:cs typeface="Noto Sans Hans"/>
            </a:endParaRPr>
          </a:p>
        </p:txBody>
      </p:sp>
      <p:sp>
        <p:nvSpPr>
          <p:cNvPr id="34" name="矩形 33"/>
          <p:cNvSpPr>
            <a:spLocks noGrp="1"/>
          </p:cNvSpPr>
          <p:nvPr/>
        </p:nvSpPr>
        <p:spPr>
          <a:xfrm>
            <a:off x="3419475" y="3952875"/>
            <a:ext cx="2466975" cy="9525"/>
          </a:xfrm>
          <a:prstGeom prst="rect">
            <a:avLst/>
          </a:prstGeom>
          <a:solidFill>
            <a:srgbClr val="D8D1CD"/>
          </a:solidFill>
          <a:ln w="0">
            <a:noFill/>
            <a:prstDash val="solid"/>
          </a:ln>
        </p:spPr>
      </p:sp>
      <p:sp>
        <p:nvSpPr>
          <p:cNvPr id="35" name="矩形 34"/>
          <p:cNvSpPr>
            <a:spLocks noGrp="1"/>
          </p:cNvSpPr>
          <p:nvPr/>
        </p:nvSpPr>
        <p:spPr>
          <a:xfrm>
            <a:off x="3419475" y="40576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C94A27"/>
                </a:solidFill>
                <a:latin typeface="Noto Sans Hans"/>
                <a:ea typeface="Noto Sans Hans"/>
                <a:cs typeface="Noto Sans Hans"/>
              </a:defRPr>
            </a:pPr>
            <a:r>
              <a:rPr sz="930" b="1">
                <a:solidFill>
                  <a:srgbClr val="C94A27"/>
                </a:solidFill>
                <a:latin typeface="Noto Sans Hans"/>
                <a:ea typeface="Noto Sans Hans"/>
                <a:cs typeface="Noto Sans Hans"/>
              </a:rPr>
              <a:t>形成成果</a:t>
            </a:r>
            <a:endParaRPr sz="930" b="1">
              <a:solidFill>
                <a:srgbClr val="C94A27"/>
              </a:solidFill>
              <a:latin typeface="Noto Sans Hans"/>
              <a:ea typeface="Noto Sans Hans"/>
              <a:cs typeface="Noto Sans Hans"/>
            </a:endParaRPr>
          </a:p>
        </p:txBody>
      </p:sp>
      <p:sp>
        <p:nvSpPr>
          <p:cNvPr id="36" name="矩形 35"/>
          <p:cNvSpPr>
            <a:spLocks noGrp="1"/>
          </p:cNvSpPr>
          <p:nvPr/>
        </p:nvSpPr>
        <p:spPr>
          <a:xfrm>
            <a:off x="3419475" y="43148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任务—用户—产品映射</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付费主体与商业模式</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场景优先级</a:t>
            </a:r>
            <a:endParaRPr sz="1000" b="0">
              <a:solidFill>
                <a:srgbClr val="403A38"/>
              </a:solidFill>
              <a:latin typeface="Noto Sans Hans"/>
              <a:ea typeface="Noto Sans Hans"/>
              <a:cs typeface="Noto Sans Hans"/>
            </a:endParaRPr>
          </a:p>
        </p:txBody>
      </p:sp>
      <p:sp>
        <p:nvSpPr>
          <p:cNvPr id="37" name="圆角矩形 36"/>
          <p:cNvSpPr>
            <a:spLocks noGrp="1"/>
          </p:cNvSpPr>
          <p:nvPr/>
        </p:nvSpPr>
        <p:spPr>
          <a:xfrm>
            <a:off x="3419475" y="5029200"/>
            <a:ext cx="2466975" cy="800100"/>
          </a:xfrm>
          <a:prstGeom prst="roundRect">
            <a:avLst>
              <a:gd name="adj" fmla="val 2381"/>
            </a:avLst>
          </a:prstGeom>
          <a:solidFill>
            <a:srgbClr val="F7F3F1"/>
          </a:solidFill>
          <a:ln w="0">
            <a:noFill/>
            <a:prstDash val="solid"/>
          </a:ln>
        </p:spPr>
      </p:sp>
      <p:sp>
        <p:nvSpPr>
          <p:cNvPr id="38" name="矩形 37"/>
          <p:cNvSpPr>
            <a:spLocks noGrp="1"/>
          </p:cNvSpPr>
          <p:nvPr/>
        </p:nvSpPr>
        <p:spPr>
          <a:xfrm>
            <a:off x="3505200" y="5095875"/>
            <a:ext cx="2295525" cy="209550"/>
          </a:xfrm>
          <a:prstGeom prst="rect">
            <a:avLst/>
          </a:prstGeom>
          <a:noFill/>
          <a:ln w="0">
            <a:noFill/>
            <a:prstDash val="solid"/>
          </a:ln>
        </p:spPr>
        <p:txBody>
          <a:bodyPr wrap="square" lIns="47625" tIns="19050" rIns="47625" bIns="19050" anchor="ctr">
            <a:normAutofit/>
          </a:bodyPr>
          <a:lstStyle/>
          <a:p>
            <a:pPr algn="l">
              <a:defRPr sz="810" b="1">
                <a:solidFill>
                  <a:srgbClr val="D00914"/>
                </a:solidFill>
                <a:latin typeface="Noto Sans Hans"/>
                <a:ea typeface="Noto Sans Hans"/>
                <a:cs typeface="Noto Sans Hans"/>
              </a:defRPr>
            </a:pPr>
            <a:r>
              <a:rPr sz="910" b="1">
                <a:solidFill>
                  <a:srgbClr val="D00914"/>
                </a:solidFill>
                <a:latin typeface="Noto Sans Hans"/>
                <a:ea typeface="Noto Sans Hans"/>
                <a:cs typeface="Noto Sans Hans"/>
              </a:rPr>
              <a:t>核心判断</a:t>
            </a:r>
            <a:endParaRPr sz="910" b="1">
              <a:solidFill>
                <a:srgbClr val="D00914"/>
              </a:solidFill>
              <a:latin typeface="Noto Sans Hans"/>
              <a:ea typeface="Noto Sans Hans"/>
              <a:cs typeface="Noto Sans Hans"/>
            </a:endParaRPr>
          </a:p>
        </p:txBody>
      </p:sp>
      <p:sp>
        <p:nvSpPr>
          <p:cNvPr id="39" name="矩形 38"/>
          <p:cNvSpPr>
            <a:spLocks noGrp="1"/>
          </p:cNvSpPr>
          <p:nvPr/>
        </p:nvSpPr>
        <p:spPr>
          <a:xfrm>
            <a:off x="3505200" y="5314950"/>
            <a:ext cx="2295525" cy="4572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35" b="0">
                <a:solidFill>
                  <a:srgbClr val="403A38"/>
                </a:solidFill>
                <a:latin typeface="Noto Sans Hans"/>
                <a:ea typeface="Noto Sans Hans"/>
                <a:cs typeface="Noto Sans Hans"/>
              </a:defRPr>
            </a:pPr>
            <a:r>
              <a:rPr sz="840" b="0">
                <a:solidFill>
                  <a:srgbClr val="403A38"/>
                </a:solidFill>
                <a:latin typeface="Noto Sans Hans"/>
                <a:ea typeface="Noto Sans Hans"/>
                <a:cs typeface="Noto Sans Hans"/>
              </a:rPr>
              <a:t>康复近期优先；运营型护理可先落地；高接触护理中期培育，陪伴类先验证活跃与续费</a:t>
            </a:r>
            <a:endParaRPr sz="840" b="0">
              <a:solidFill>
                <a:srgbClr val="403A38"/>
              </a:solidFill>
              <a:latin typeface="Noto Sans Hans"/>
              <a:ea typeface="Noto Sans Hans"/>
              <a:cs typeface="Noto Sans Hans"/>
            </a:endParaRPr>
          </a:p>
        </p:txBody>
      </p:sp>
      <p:sp>
        <p:nvSpPr>
          <p:cNvPr id="40" name="圆角矩形 39"/>
          <p:cNvSpPr>
            <a:spLocks noGrp="1"/>
          </p:cNvSpPr>
          <p:nvPr/>
        </p:nvSpPr>
        <p:spPr>
          <a:xfrm>
            <a:off x="6134100" y="1304925"/>
            <a:ext cx="2714625" cy="4695825"/>
          </a:xfrm>
          <a:prstGeom prst="roundRect">
            <a:avLst>
              <a:gd name="adj" fmla="val 702"/>
            </a:avLst>
          </a:prstGeom>
          <a:solidFill>
            <a:srgbClr val="FFFFFF"/>
          </a:solidFill>
          <a:ln w="9525">
            <a:solidFill>
              <a:srgbClr val="D8D1CD"/>
            </a:solidFill>
            <a:prstDash val="solid"/>
          </a:ln>
        </p:spPr>
      </p:sp>
      <p:sp>
        <p:nvSpPr>
          <p:cNvPr id="41" name="圆角矩形 40"/>
          <p:cNvSpPr>
            <a:spLocks noGrp="1"/>
          </p:cNvSpPr>
          <p:nvPr/>
        </p:nvSpPr>
        <p:spPr>
          <a:xfrm>
            <a:off x="6134100" y="1304925"/>
            <a:ext cx="2714625" cy="590550"/>
          </a:xfrm>
          <a:prstGeom prst="roundRect">
            <a:avLst>
              <a:gd name="adj" fmla="val 3226"/>
            </a:avLst>
          </a:prstGeom>
          <a:solidFill>
            <a:srgbClr val="8E1118"/>
          </a:solidFill>
          <a:ln w="0">
            <a:noFill/>
            <a:prstDash val="solid"/>
          </a:ln>
        </p:spPr>
      </p:sp>
      <p:sp>
        <p:nvSpPr>
          <p:cNvPr id="42" name="矩形 41"/>
          <p:cNvSpPr>
            <a:spLocks noGrp="1"/>
          </p:cNvSpPr>
          <p:nvPr/>
        </p:nvSpPr>
        <p:spPr>
          <a:xfrm>
            <a:off x="6257925" y="1381125"/>
            <a:ext cx="419100" cy="419100"/>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03</a:t>
            </a:r>
            <a:endParaRPr sz="1800" b="1">
              <a:solidFill>
                <a:srgbClr val="FFFFFF"/>
              </a:solidFill>
              <a:latin typeface="Noto Sans Hans"/>
              <a:ea typeface="Noto Sans Hans"/>
              <a:cs typeface="Noto Sans Hans"/>
            </a:endParaRPr>
          </a:p>
        </p:txBody>
      </p:sp>
      <p:sp>
        <p:nvSpPr>
          <p:cNvPr id="43" name="矩形 42"/>
          <p:cNvSpPr>
            <a:spLocks noGrp="1"/>
          </p:cNvSpPr>
          <p:nvPr/>
        </p:nvSpPr>
        <p:spPr>
          <a:xfrm>
            <a:off x="6724650" y="1371600"/>
            <a:ext cx="1238250" cy="257175"/>
          </a:xfrm>
          <a:prstGeom prst="rect">
            <a:avLst/>
          </a:prstGeom>
          <a:noFill/>
          <a:ln w="0">
            <a:noFill/>
            <a:prstDash val="solid"/>
          </a:ln>
        </p:spPr>
        <p:txBody>
          <a:bodyPr wrap="square" lIns="47625" tIns="19050" rIns="47625" bIns="19050" anchor="ctr">
            <a:normAutofit/>
          </a:bodyPr>
          <a:lstStyle/>
          <a:p>
            <a:pPr algn="l">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技术路线图</a:t>
            </a:r>
            <a:endParaRPr sz="1400" b="1">
              <a:solidFill>
                <a:srgbClr val="FFFFFF"/>
              </a:solidFill>
              <a:latin typeface="Noto Sans Hans"/>
              <a:ea typeface="Noto Sans Hans"/>
              <a:cs typeface="Noto Sans Hans"/>
            </a:endParaRPr>
          </a:p>
        </p:txBody>
      </p:sp>
      <p:sp>
        <p:nvSpPr>
          <p:cNvPr id="44" name="圆角矩形 43"/>
          <p:cNvSpPr>
            <a:spLocks noGrp="1"/>
          </p:cNvSpPr>
          <p:nvPr/>
        </p:nvSpPr>
        <p:spPr>
          <a:xfrm>
            <a:off x="8029575" y="1476375"/>
            <a:ext cx="685800" cy="238125"/>
          </a:xfrm>
          <a:prstGeom prst="roundRect">
            <a:avLst>
              <a:gd name="adj" fmla="val 8000"/>
            </a:avLst>
          </a:prstGeom>
          <a:solidFill>
            <a:srgbClr val="FFFFFF"/>
          </a:solidFill>
          <a:ln w="0">
            <a:noFill/>
            <a:prstDash val="solid"/>
          </a:ln>
        </p:spPr>
      </p:sp>
      <p:sp>
        <p:nvSpPr>
          <p:cNvPr id="45" name="矩形 44"/>
          <p:cNvSpPr>
            <a:spLocks noGrp="1"/>
          </p:cNvSpPr>
          <p:nvPr/>
        </p:nvSpPr>
        <p:spPr>
          <a:xfrm>
            <a:off x="8058150" y="1495425"/>
            <a:ext cx="628650" cy="200025"/>
          </a:xfrm>
          <a:prstGeom prst="rect">
            <a:avLst/>
          </a:prstGeom>
          <a:noFill/>
          <a:ln w="0">
            <a:noFill/>
            <a:prstDash val="solid"/>
          </a:ln>
        </p:spPr>
        <p:txBody>
          <a:bodyPr wrap="square" lIns="47625" tIns="19050" rIns="47625" bIns="19050" anchor="ctr">
            <a:normAutofit/>
          </a:bodyPr>
          <a:lstStyle/>
          <a:p>
            <a:pPr algn="ctr">
              <a:defRPr sz="765" b="1">
                <a:solidFill>
                  <a:srgbClr val="8E1118"/>
                </a:solidFill>
                <a:latin typeface="Noto Sans Hans"/>
                <a:ea typeface="Noto Sans Hans"/>
                <a:cs typeface="Noto Sans Hans"/>
              </a:defRPr>
            </a:pPr>
            <a:r>
              <a:rPr sz="870" b="1">
                <a:solidFill>
                  <a:srgbClr val="8E1118"/>
                </a:solidFill>
                <a:latin typeface="Noto Sans Hans"/>
                <a:ea typeface="Noto Sans Hans"/>
                <a:cs typeface="Noto Sans Hans"/>
              </a:rPr>
              <a:t>找窗口</a:t>
            </a:r>
            <a:endParaRPr sz="870" b="1">
              <a:solidFill>
                <a:srgbClr val="8E1118"/>
              </a:solidFill>
              <a:latin typeface="Noto Sans Hans"/>
              <a:ea typeface="Noto Sans Hans"/>
              <a:cs typeface="Noto Sans Hans"/>
            </a:endParaRPr>
          </a:p>
        </p:txBody>
      </p:sp>
      <p:sp>
        <p:nvSpPr>
          <p:cNvPr id="46" name="矩形 45"/>
          <p:cNvSpPr>
            <a:spLocks noGrp="1"/>
          </p:cNvSpPr>
          <p:nvPr/>
        </p:nvSpPr>
        <p:spPr>
          <a:xfrm>
            <a:off x="6257925" y="20383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8E1118"/>
                </a:solidFill>
                <a:latin typeface="Noto Sans Hans"/>
                <a:ea typeface="Noto Sans Hans"/>
                <a:cs typeface="Noto Sans Hans"/>
              </a:defRPr>
            </a:pPr>
            <a:r>
              <a:rPr sz="930" b="1">
                <a:solidFill>
                  <a:srgbClr val="8E1118"/>
                </a:solidFill>
                <a:latin typeface="Noto Sans Hans"/>
                <a:ea typeface="Noto Sans Hans"/>
                <a:cs typeface="Noto Sans Hans"/>
              </a:rPr>
              <a:t>核心问题</a:t>
            </a:r>
            <a:endParaRPr sz="930" b="1">
              <a:solidFill>
                <a:srgbClr val="8E1118"/>
              </a:solidFill>
              <a:latin typeface="Noto Sans Hans"/>
              <a:ea typeface="Noto Sans Hans"/>
              <a:cs typeface="Noto Sans Hans"/>
            </a:endParaRPr>
          </a:p>
        </p:txBody>
      </p:sp>
      <p:sp>
        <p:nvSpPr>
          <p:cNvPr id="47" name="矩形 46"/>
          <p:cNvSpPr>
            <a:spLocks noGrp="1"/>
          </p:cNvSpPr>
          <p:nvPr/>
        </p:nvSpPr>
        <p:spPr>
          <a:xfrm>
            <a:off x="6257925" y="2266950"/>
            <a:ext cx="2466975" cy="533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核心技术成熟到什么程度？</a:t>
            </a:r>
            <a:endParaRPr sz="1100" b="1">
              <a:solidFill>
                <a:srgbClr val="403A38"/>
              </a:solidFill>
              <a:latin typeface="Noto Sans Hans"/>
              <a:ea typeface="Noto Sans Hans"/>
              <a:cs typeface="Noto Sans Hans"/>
            </a:endParaRPr>
          </a:p>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何时具备投资与导入条件？</a:t>
            </a:r>
            <a:endParaRPr sz="1100" b="1">
              <a:solidFill>
                <a:srgbClr val="403A38"/>
              </a:solidFill>
              <a:latin typeface="Noto Sans Hans"/>
              <a:ea typeface="Noto Sans Hans"/>
              <a:cs typeface="Noto Sans Hans"/>
            </a:endParaRPr>
          </a:p>
        </p:txBody>
      </p:sp>
      <p:sp>
        <p:nvSpPr>
          <p:cNvPr id="48" name="矩形 47"/>
          <p:cNvSpPr>
            <a:spLocks noGrp="1"/>
          </p:cNvSpPr>
          <p:nvPr/>
        </p:nvSpPr>
        <p:spPr>
          <a:xfrm>
            <a:off x="6257925" y="2886075"/>
            <a:ext cx="2466975" cy="9525"/>
          </a:xfrm>
          <a:prstGeom prst="rect">
            <a:avLst/>
          </a:prstGeom>
          <a:solidFill>
            <a:srgbClr val="D8D1CD"/>
          </a:solidFill>
          <a:ln w="0">
            <a:noFill/>
            <a:prstDash val="solid"/>
          </a:ln>
        </p:spPr>
      </p:sp>
      <p:sp>
        <p:nvSpPr>
          <p:cNvPr id="49" name="矩形 48"/>
          <p:cNvSpPr>
            <a:spLocks noGrp="1"/>
          </p:cNvSpPr>
          <p:nvPr/>
        </p:nvSpPr>
        <p:spPr>
          <a:xfrm>
            <a:off x="6257925" y="29908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8E1118"/>
                </a:solidFill>
                <a:latin typeface="Noto Sans Hans"/>
                <a:ea typeface="Noto Sans Hans"/>
                <a:cs typeface="Noto Sans Hans"/>
              </a:defRPr>
            </a:pPr>
            <a:r>
              <a:rPr sz="930" b="1">
                <a:solidFill>
                  <a:srgbClr val="8E1118"/>
                </a:solidFill>
                <a:latin typeface="Noto Sans Hans"/>
                <a:ea typeface="Noto Sans Hans"/>
                <a:cs typeface="Noto Sans Hans"/>
              </a:rPr>
              <a:t>重点观察</a:t>
            </a:r>
            <a:endParaRPr sz="930" b="1">
              <a:solidFill>
                <a:srgbClr val="8E1118"/>
              </a:solidFill>
              <a:latin typeface="Noto Sans Hans"/>
              <a:ea typeface="Noto Sans Hans"/>
              <a:cs typeface="Noto Sans Hans"/>
            </a:endParaRPr>
          </a:p>
        </p:txBody>
      </p:sp>
      <p:sp>
        <p:nvSpPr>
          <p:cNvPr id="50" name="矩形 49"/>
          <p:cNvSpPr>
            <a:spLocks noGrp="1"/>
          </p:cNvSpPr>
          <p:nvPr/>
        </p:nvSpPr>
        <p:spPr>
          <a:xfrm>
            <a:off x="6257925" y="32480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感知与交互</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运动控制与安全</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多机协同与平台</a:t>
            </a:r>
            <a:endParaRPr sz="1000" b="0">
              <a:solidFill>
                <a:srgbClr val="403A38"/>
              </a:solidFill>
              <a:latin typeface="Noto Sans Hans"/>
              <a:ea typeface="Noto Sans Hans"/>
              <a:cs typeface="Noto Sans Hans"/>
            </a:endParaRPr>
          </a:p>
        </p:txBody>
      </p:sp>
      <p:sp>
        <p:nvSpPr>
          <p:cNvPr id="51" name="矩形 50"/>
          <p:cNvSpPr>
            <a:spLocks noGrp="1"/>
          </p:cNvSpPr>
          <p:nvPr/>
        </p:nvSpPr>
        <p:spPr>
          <a:xfrm>
            <a:off x="6257925" y="3952875"/>
            <a:ext cx="2466975" cy="9525"/>
          </a:xfrm>
          <a:prstGeom prst="rect">
            <a:avLst/>
          </a:prstGeom>
          <a:solidFill>
            <a:srgbClr val="D8D1CD"/>
          </a:solidFill>
          <a:ln w="0">
            <a:noFill/>
            <a:prstDash val="solid"/>
          </a:ln>
        </p:spPr>
      </p:sp>
      <p:sp>
        <p:nvSpPr>
          <p:cNvPr id="52" name="矩形 51"/>
          <p:cNvSpPr>
            <a:spLocks noGrp="1"/>
          </p:cNvSpPr>
          <p:nvPr/>
        </p:nvSpPr>
        <p:spPr>
          <a:xfrm>
            <a:off x="6257925" y="40576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8E1118"/>
                </a:solidFill>
                <a:latin typeface="Noto Sans Hans"/>
                <a:ea typeface="Noto Sans Hans"/>
                <a:cs typeface="Noto Sans Hans"/>
              </a:defRPr>
            </a:pPr>
            <a:r>
              <a:rPr sz="930" b="1">
                <a:solidFill>
                  <a:srgbClr val="8E1118"/>
                </a:solidFill>
                <a:latin typeface="Noto Sans Hans"/>
                <a:ea typeface="Noto Sans Hans"/>
                <a:cs typeface="Noto Sans Hans"/>
              </a:rPr>
              <a:t>形成成果</a:t>
            </a:r>
            <a:endParaRPr sz="930" b="1">
              <a:solidFill>
                <a:srgbClr val="8E1118"/>
              </a:solidFill>
              <a:latin typeface="Noto Sans Hans"/>
              <a:ea typeface="Noto Sans Hans"/>
              <a:cs typeface="Noto Sans Hans"/>
            </a:endParaRPr>
          </a:p>
        </p:txBody>
      </p:sp>
      <p:sp>
        <p:nvSpPr>
          <p:cNvPr id="53" name="矩形 52"/>
          <p:cNvSpPr>
            <a:spLocks noGrp="1"/>
          </p:cNvSpPr>
          <p:nvPr/>
        </p:nvSpPr>
        <p:spPr>
          <a:xfrm>
            <a:off x="6257925" y="43148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技术成熟度判断</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关键瓶颈与里程碑</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研发投入方向</a:t>
            </a:r>
            <a:endParaRPr sz="1000" b="0">
              <a:solidFill>
                <a:srgbClr val="403A38"/>
              </a:solidFill>
              <a:latin typeface="Noto Sans Hans"/>
              <a:ea typeface="Noto Sans Hans"/>
              <a:cs typeface="Noto Sans Hans"/>
            </a:endParaRPr>
          </a:p>
        </p:txBody>
      </p:sp>
      <p:sp>
        <p:nvSpPr>
          <p:cNvPr id="54" name="圆角矩形 53"/>
          <p:cNvSpPr>
            <a:spLocks noGrp="1"/>
          </p:cNvSpPr>
          <p:nvPr/>
        </p:nvSpPr>
        <p:spPr>
          <a:xfrm>
            <a:off x="6257925" y="5029200"/>
            <a:ext cx="2466975" cy="800100"/>
          </a:xfrm>
          <a:prstGeom prst="roundRect">
            <a:avLst>
              <a:gd name="adj" fmla="val 2381"/>
            </a:avLst>
          </a:prstGeom>
          <a:solidFill>
            <a:srgbClr val="EAF1F8"/>
          </a:solidFill>
          <a:ln w="0">
            <a:noFill/>
            <a:prstDash val="solid"/>
          </a:ln>
        </p:spPr>
      </p:sp>
      <p:sp>
        <p:nvSpPr>
          <p:cNvPr id="55" name="矩形 54"/>
          <p:cNvSpPr>
            <a:spLocks noGrp="1"/>
          </p:cNvSpPr>
          <p:nvPr/>
        </p:nvSpPr>
        <p:spPr>
          <a:xfrm>
            <a:off x="6343650" y="5095875"/>
            <a:ext cx="2295525" cy="209550"/>
          </a:xfrm>
          <a:prstGeom prst="rect">
            <a:avLst/>
          </a:prstGeom>
          <a:noFill/>
          <a:ln w="0">
            <a:noFill/>
            <a:prstDash val="solid"/>
          </a:ln>
        </p:spPr>
        <p:txBody>
          <a:bodyPr wrap="square" lIns="47625" tIns="19050" rIns="47625" bIns="19050" anchor="ctr">
            <a:normAutofit/>
          </a:bodyPr>
          <a:lstStyle/>
          <a:p>
            <a:pPr algn="l">
              <a:defRPr sz="810" b="1">
                <a:solidFill>
                  <a:srgbClr val="D00914"/>
                </a:solidFill>
                <a:latin typeface="Noto Sans Hans"/>
                <a:ea typeface="Noto Sans Hans"/>
                <a:cs typeface="Noto Sans Hans"/>
              </a:defRPr>
            </a:pPr>
            <a:r>
              <a:rPr sz="910" b="1">
                <a:solidFill>
                  <a:srgbClr val="D00914"/>
                </a:solidFill>
                <a:latin typeface="Noto Sans Hans"/>
                <a:ea typeface="Noto Sans Hans"/>
                <a:cs typeface="Noto Sans Hans"/>
              </a:rPr>
              <a:t>核心判断</a:t>
            </a:r>
            <a:endParaRPr sz="910" b="1">
              <a:solidFill>
                <a:srgbClr val="D00914"/>
              </a:solidFill>
              <a:latin typeface="Noto Sans Hans"/>
              <a:ea typeface="Noto Sans Hans"/>
              <a:cs typeface="Noto Sans Hans"/>
            </a:endParaRPr>
          </a:p>
        </p:txBody>
      </p:sp>
      <p:sp>
        <p:nvSpPr>
          <p:cNvPr id="56" name="矩形 55"/>
          <p:cNvSpPr>
            <a:spLocks noGrp="1"/>
          </p:cNvSpPr>
          <p:nvPr/>
        </p:nvSpPr>
        <p:spPr>
          <a:xfrm>
            <a:off x="6343650" y="5314950"/>
            <a:ext cx="2295525" cy="4572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35" b="0">
                <a:solidFill>
                  <a:srgbClr val="403A38"/>
                </a:solidFill>
                <a:latin typeface="Noto Sans Hans"/>
                <a:ea typeface="Noto Sans Hans"/>
                <a:cs typeface="Noto Sans Hans"/>
              </a:defRPr>
            </a:pPr>
            <a:r>
              <a:rPr sz="840" b="0">
                <a:solidFill>
                  <a:srgbClr val="403A38"/>
                </a:solidFill>
                <a:latin typeface="Noto Sans Hans"/>
                <a:ea typeface="Noto Sans Hans"/>
                <a:cs typeface="Noto Sans Hans"/>
              </a:rPr>
              <a:t>成熟单任务先商业化；非结构环境泛化、安全冗余和人机协作仍是规模化门槛</a:t>
            </a:r>
            <a:endParaRPr sz="840" b="0">
              <a:solidFill>
                <a:srgbClr val="403A38"/>
              </a:solidFill>
              <a:latin typeface="Noto Sans Hans"/>
              <a:ea typeface="Noto Sans Hans"/>
              <a:cs typeface="Noto Sans Hans"/>
            </a:endParaRPr>
          </a:p>
        </p:txBody>
      </p:sp>
      <p:sp>
        <p:nvSpPr>
          <p:cNvPr id="57" name="圆角矩形 56"/>
          <p:cNvSpPr>
            <a:spLocks noGrp="1"/>
          </p:cNvSpPr>
          <p:nvPr/>
        </p:nvSpPr>
        <p:spPr>
          <a:xfrm>
            <a:off x="8972550" y="1304925"/>
            <a:ext cx="2714625" cy="4695825"/>
          </a:xfrm>
          <a:prstGeom prst="roundRect">
            <a:avLst>
              <a:gd name="adj" fmla="val 702"/>
            </a:avLst>
          </a:prstGeom>
          <a:solidFill>
            <a:srgbClr val="FFFFFF"/>
          </a:solidFill>
          <a:ln w="9525">
            <a:solidFill>
              <a:srgbClr val="D8D1CD"/>
            </a:solidFill>
            <a:prstDash val="solid"/>
          </a:ln>
        </p:spPr>
      </p:sp>
      <p:sp>
        <p:nvSpPr>
          <p:cNvPr id="58" name="圆角矩形 57"/>
          <p:cNvSpPr>
            <a:spLocks noGrp="1"/>
          </p:cNvSpPr>
          <p:nvPr/>
        </p:nvSpPr>
        <p:spPr>
          <a:xfrm>
            <a:off x="8972550" y="1304925"/>
            <a:ext cx="2714625" cy="590550"/>
          </a:xfrm>
          <a:prstGeom prst="roundRect">
            <a:avLst>
              <a:gd name="adj" fmla="val 3226"/>
            </a:avLst>
          </a:prstGeom>
          <a:solidFill>
            <a:srgbClr val="8F6900"/>
          </a:solidFill>
          <a:ln w="0">
            <a:noFill/>
            <a:prstDash val="solid"/>
          </a:ln>
        </p:spPr>
      </p:sp>
      <p:sp>
        <p:nvSpPr>
          <p:cNvPr id="59" name="矩形 58"/>
          <p:cNvSpPr>
            <a:spLocks noGrp="1"/>
          </p:cNvSpPr>
          <p:nvPr/>
        </p:nvSpPr>
        <p:spPr>
          <a:xfrm>
            <a:off x="9096375" y="1381125"/>
            <a:ext cx="419100" cy="419100"/>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04</a:t>
            </a:r>
            <a:endParaRPr sz="1800" b="1">
              <a:solidFill>
                <a:srgbClr val="FFFFFF"/>
              </a:solidFill>
              <a:latin typeface="Noto Sans Hans"/>
              <a:ea typeface="Noto Sans Hans"/>
              <a:cs typeface="Noto Sans Hans"/>
            </a:endParaRPr>
          </a:p>
        </p:txBody>
      </p:sp>
      <p:sp>
        <p:nvSpPr>
          <p:cNvPr id="60" name="矩形 59"/>
          <p:cNvSpPr>
            <a:spLocks noGrp="1"/>
          </p:cNvSpPr>
          <p:nvPr/>
        </p:nvSpPr>
        <p:spPr>
          <a:xfrm>
            <a:off x="9563100" y="1371600"/>
            <a:ext cx="1238250" cy="257175"/>
          </a:xfrm>
          <a:prstGeom prst="rect">
            <a:avLst/>
          </a:prstGeom>
          <a:noFill/>
          <a:ln w="0">
            <a:noFill/>
            <a:prstDash val="solid"/>
          </a:ln>
        </p:spPr>
        <p:txBody>
          <a:bodyPr wrap="square" lIns="47625" tIns="19050" rIns="47625" bIns="19050" anchor="ctr">
            <a:normAutofit/>
          </a:bodyPr>
          <a:lstStyle/>
          <a:p>
            <a:pPr algn="l">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区域分布图</a:t>
            </a:r>
            <a:endParaRPr sz="1400" b="1">
              <a:solidFill>
                <a:srgbClr val="FFFFFF"/>
              </a:solidFill>
              <a:latin typeface="Noto Sans Hans"/>
              <a:ea typeface="Noto Sans Hans"/>
              <a:cs typeface="Noto Sans Hans"/>
            </a:endParaRPr>
          </a:p>
        </p:txBody>
      </p:sp>
      <p:sp>
        <p:nvSpPr>
          <p:cNvPr id="61" name="圆角矩形 60"/>
          <p:cNvSpPr>
            <a:spLocks noGrp="1"/>
          </p:cNvSpPr>
          <p:nvPr/>
        </p:nvSpPr>
        <p:spPr>
          <a:xfrm>
            <a:off x="10868025" y="1476375"/>
            <a:ext cx="685800" cy="238125"/>
          </a:xfrm>
          <a:prstGeom prst="roundRect">
            <a:avLst>
              <a:gd name="adj" fmla="val 8000"/>
            </a:avLst>
          </a:prstGeom>
          <a:solidFill>
            <a:srgbClr val="FFFFFF"/>
          </a:solidFill>
          <a:ln w="0">
            <a:noFill/>
            <a:prstDash val="solid"/>
          </a:ln>
        </p:spPr>
      </p:sp>
      <p:sp>
        <p:nvSpPr>
          <p:cNvPr id="62" name="矩形 61"/>
          <p:cNvSpPr>
            <a:spLocks noGrp="1"/>
          </p:cNvSpPr>
          <p:nvPr/>
        </p:nvSpPr>
        <p:spPr>
          <a:xfrm>
            <a:off x="10896600" y="1495425"/>
            <a:ext cx="628650" cy="200025"/>
          </a:xfrm>
          <a:prstGeom prst="rect">
            <a:avLst/>
          </a:prstGeom>
          <a:noFill/>
          <a:ln w="0">
            <a:noFill/>
            <a:prstDash val="solid"/>
          </a:ln>
        </p:spPr>
        <p:txBody>
          <a:bodyPr wrap="square" lIns="47625" tIns="19050" rIns="47625" bIns="19050" anchor="ctr">
            <a:normAutofit/>
          </a:bodyPr>
          <a:lstStyle/>
          <a:p>
            <a:pPr algn="ctr">
              <a:defRPr sz="765" b="1">
                <a:solidFill>
                  <a:srgbClr val="8F6900"/>
                </a:solidFill>
                <a:latin typeface="Noto Sans Hans"/>
                <a:ea typeface="Noto Sans Hans"/>
                <a:cs typeface="Noto Sans Hans"/>
              </a:defRPr>
            </a:pPr>
            <a:r>
              <a:rPr sz="870" b="1">
                <a:solidFill>
                  <a:srgbClr val="8F6900"/>
                </a:solidFill>
                <a:latin typeface="Noto Sans Hans"/>
                <a:ea typeface="Noto Sans Hans"/>
                <a:cs typeface="Noto Sans Hans"/>
              </a:rPr>
              <a:t>找落点</a:t>
            </a:r>
            <a:endParaRPr sz="870" b="1">
              <a:solidFill>
                <a:srgbClr val="8F6900"/>
              </a:solidFill>
              <a:latin typeface="Noto Sans Hans"/>
              <a:ea typeface="Noto Sans Hans"/>
              <a:cs typeface="Noto Sans Hans"/>
            </a:endParaRPr>
          </a:p>
        </p:txBody>
      </p:sp>
      <p:sp>
        <p:nvSpPr>
          <p:cNvPr id="63" name="矩形 62"/>
          <p:cNvSpPr>
            <a:spLocks noGrp="1"/>
          </p:cNvSpPr>
          <p:nvPr/>
        </p:nvSpPr>
        <p:spPr>
          <a:xfrm>
            <a:off x="9096375" y="20383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8F6900"/>
                </a:solidFill>
                <a:latin typeface="Noto Sans Hans"/>
                <a:ea typeface="Noto Sans Hans"/>
                <a:cs typeface="Noto Sans Hans"/>
              </a:defRPr>
            </a:pPr>
            <a:r>
              <a:rPr sz="930" b="1">
                <a:solidFill>
                  <a:srgbClr val="8F6900"/>
                </a:solidFill>
                <a:latin typeface="Noto Sans Hans"/>
                <a:ea typeface="Noto Sans Hans"/>
                <a:cs typeface="Noto Sans Hans"/>
              </a:rPr>
              <a:t>核心问题</a:t>
            </a:r>
            <a:endParaRPr sz="930" b="1">
              <a:solidFill>
                <a:srgbClr val="8F6900"/>
              </a:solidFill>
              <a:latin typeface="Noto Sans Hans"/>
              <a:ea typeface="Noto Sans Hans"/>
              <a:cs typeface="Noto Sans Hans"/>
            </a:endParaRPr>
          </a:p>
        </p:txBody>
      </p:sp>
      <p:sp>
        <p:nvSpPr>
          <p:cNvPr id="64" name="矩形 63"/>
          <p:cNvSpPr>
            <a:spLocks noGrp="1"/>
          </p:cNvSpPr>
          <p:nvPr/>
        </p:nvSpPr>
        <p:spPr>
          <a:xfrm>
            <a:off x="9096375" y="2266950"/>
            <a:ext cx="2466975" cy="533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产业资源集中在哪里？</a:t>
            </a:r>
            <a:endParaRPr sz="1100" b="1">
              <a:solidFill>
                <a:srgbClr val="403A38"/>
              </a:solidFill>
              <a:latin typeface="Noto Sans Hans"/>
              <a:ea typeface="Noto Sans Hans"/>
              <a:cs typeface="Noto Sans Hans"/>
            </a:endParaRPr>
          </a:p>
          <a:p>
            <a:pPr algn="l" eaLnBrk="1" fontAlgn="auto" latinLnBrk="0" hangingPunct="1">
              <a:lnSpc>
                <a:spcPct val="120000"/>
              </a:lnSpc>
              <a:defRPr sz="865"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武汉如何承接并形成协同？</a:t>
            </a:r>
            <a:endParaRPr sz="1100" b="1">
              <a:solidFill>
                <a:srgbClr val="403A38"/>
              </a:solidFill>
              <a:latin typeface="Noto Sans Hans"/>
              <a:ea typeface="Noto Sans Hans"/>
              <a:cs typeface="Noto Sans Hans"/>
            </a:endParaRPr>
          </a:p>
        </p:txBody>
      </p:sp>
      <p:sp>
        <p:nvSpPr>
          <p:cNvPr id="65" name="矩形 64"/>
          <p:cNvSpPr>
            <a:spLocks noGrp="1"/>
          </p:cNvSpPr>
          <p:nvPr/>
        </p:nvSpPr>
        <p:spPr>
          <a:xfrm>
            <a:off x="9096375" y="2886075"/>
            <a:ext cx="2466975" cy="9525"/>
          </a:xfrm>
          <a:prstGeom prst="rect">
            <a:avLst/>
          </a:prstGeom>
          <a:solidFill>
            <a:srgbClr val="D8D1CD"/>
          </a:solidFill>
          <a:ln w="0">
            <a:noFill/>
            <a:prstDash val="solid"/>
          </a:ln>
        </p:spPr>
      </p:sp>
      <p:sp>
        <p:nvSpPr>
          <p:cNvPr id="66" name="矩形 65"/>
          <p:cNvSpPr>
            <a:spLocks noGrp="1"/>
          </p:cNvSpPr>
          <p:nvPr/>
        </p:nvSpPr>
        <p:spPr>
          <a:xfrm>
            <a:off x="9096375" y="29908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8F6900"/>
                </a:solidFill>
                <a:latin typeface="Noto Sans Hans"/>
                <a:ea typeface="Noto Sans Hans"/>
                <a:cs typeface="Noto Sans Hans"/>
              </a:defRPr>
            </a:pPr>
            <a:r>
              <a:rPr sz="930" b="1">
                <a:solidFill>
                  <a:srgbClr val="8F6900"/>
                </a:solidFill>
                <a:latin typeface="Noto Sans Hans"/>
                <a:ea typeface="Noto Sans Hans"/>
                <a:cs typeface="Noto Sans Hans"/>
              </a:rPr>
              <a:t>重点观察</a:t>
            </a:r>
            <a:endParaRPr sz="930" b="1">
              <a:solidFill>
                <a:srgbClr val="8F6900"/>
              </a:solidFill>
              <a:latin typeface="Noto Sans Hans"/>
              <a:ea typeface="Noto Sans Hans"/>
              <a:cs typeface="Noto Sans Hans"/>
            </a:endParaRPr>
          </a:p>
        </p:txBody>
      </p:sp>
      <p:sp>
        <p:nvSpPr>
          <p:cNvPr id="67" name="矩形 66"/>
          <p:cNvSpPr>
            <a:spLocks noGrp="1"/>
          </p:cNvSpPr>
          <p:nvPr/>
        </p:nvSpPr>
        <p:spPr>
          <a:xfrm>
            <a:off x="9096375" y="32480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武汉核心资源</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湖北协同制造</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外部企业与技术导入</a:t>
            </a:r>
            <a:endParaRPr sz="1000" b="0">
              <a:solidFill>
                <a:srgbClr val="403A38"/>
              </a:solidFill>
              <a:latin typeface="Noto Sans Hans"/>
              <a:ea typeface="Noto Sans Hans"/>
              <a:cs typeface="Noto Sans Hans"/>
            </a:endParaRPr>
          </a:p>
        </p:txBody>
      </p:sp>
      <p:sp>
        <p:nvSpPr>
          <p:cNvPr id="68" name="矩形 67"/>
          <p:cNvSpPr>
            <a:spLocks noGrp="1"/>
          </p:cNvSpPr>
          <p:nvPr/>
        </p:nvSpPr>
        <p:spPr>
          <a:xfrm>
            <a:off x="9096375" y="3952875"/>
            <a:ext cx="2466975" cy="9525"/>
          </a:xfrm>
          <a:prstGeom prst="rect">
            <a:avLst/>
          </a:prstGeom>
          <a:solidFill>
            <a:srgbClr val="D8D1CD"/>
          </a:solidFill>
          <a:ln w="0">
            <a:noFill/>
            <a:prstDash val="solid"/>
          </a:ln>
        </p:spPr>
      </p:sp>
      <p:sp>
        <p:nvSpPr>
          <p:cNvPr id="69" name="矩形 68"/>
          <p:cNvSpPr>
            <a:spLocks noGrp="1"/>
          </p:cNvSpPr>
          <p:nvPr/>
        </p:nvSpPr>
        <p:spPr>
          <a:xfrm>
            <a:off x="9096375" y="4057650"/>
            <a:ext cx="723900" cy="209550"/>
          </a:xfrm>
          <a:prstGeom prst="rect">
            <a:avLst/>
          </a:prstGeom>
          <a:noFill/>
          <a:ln w="0">
            <a:noFill/>
            <a:prstDash val="solid"/>
          </a:ln>
        </p:spPr>
        <p:txBody>
          <a:bodyPr wrap="square" lIns="47625" tIns="19050" rIns="47625" bIns="19050" anchor="ctr">
            <a:normAutofit/>
          </a:bodyPr>
          <a:lstStyle/>
          <a:p>
            <a:pPr algn="l">
              <a:defRPr sz="825" b="1">
                <a:solidFill>
                  <a:srgbClr val="8F6900"/>
                </a:solidFill>
                <a:latin typeface="Noto Sans Hans"/>
                <a:ea typeface="Noto Sans Hans"/>
                <a:cs typeface="Noto Sans Hans"/>
              </a:defRPr>
            </a:pPr>
            <a:r>
              <a:rPr sz="930" b="1">
                <a:solidFill>
                  <a:srgbClr val="8F6900"/>
                </a:solidFill>
                <a:latin typeface="Noto Sans Hans"/>
                <a:ea typeface="Noto Sans Hans"/>
                <a:cs typeface="Noto Sans Hans"/>
              </a:rPr>
              <a:t>形成成果</a:t>
            </a:r>
            <a:endParaRPr sz="930" b="1">
              <a:solidFill>
                <a:srgbClr val="8F6900"/>
              </a:solidFill>
              <a:latin typeface="Noto Sans Hans"/>
              <a:ea typeface="Noto Sans Hans"/>
              <a:cs typeface="Noto Sans Hans"/>
            </a:endParaRPr>
          </a:p>
        </p:txBody>
      </p:sp>
      <p:sp>
        <p:nvSpPr>
          <p:cNvPr id="70" name="矩形 69"/>
          <p:cNvSpPr>
            <a:spLocks noGrp="1"/>
          </p:cNvSpPr>
          <p:nvPr/>
        </p:nvSpPr>
        <p:spPr>
          <a:xfrm>
            <a:off x="9096375" y="4314825"/>
            <a:ext cx="246697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核心区—承载区—导入区</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招商与项目落位方向</a:t>
            </a:r>
            <a:endParaRPr sz="10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区域功能分工</a:t>
            </a:r>
            <a:endParaRPr sz="1000" b="0">
              <a:solidFill>
                <a:srgbClr val="403A38"/>
              </a:solidFill>
              <a:latin typeface="Noto Sans Hans"/>
              <a:ea typeface="Noto Sans Hans"/>
              <a:cs typeface="Noto Sans Hans"/>
            </a:endParaRPr>
          </a:p>
        </p:txBody>
      </p:sp>
      <p:sp>
        <p:nvSpPr>
          <p:cNvPr id="71" name="圆角矩形 70"/>
          <p:cNvSpPr>
            <a:spLocks noGrp="1"/>
          </p:cNvSpPr>
          <p:nvPr/>
        </p:nvSpPr>
        <p:spPr>
          <a:xfrm>
            <a:off x="9096375" y="5029200"/>
            <a:ext cx="2466975" cy="800100"/>
          </a:xfrm>
          <a:prstGeom prst="roundRect">
            <a:avLst>
              <a:gd name="adj" fmla="val 2381"/>
            </a:avLst>
          </a:prstGeom>
          <a:solidFill>
            <a:srgbClr val="F7F3F1"/>
          </a:solidFill>
          <a:ln w="0">
            <a:noFill/>
            <a:prstDash val="solid"/>
          </a:ln>
        </p:spPr>
      </p:sp>
      <p:sp>
        <p:nvSpPr>
          <p:cNvPr id="72" name="矩形 71"/>
          <p:cNvSpPr>
            <a:spLocks noGrp="1"/>
          </p:cNvSpPr>
          <p:nvPr/>
        </p:nvSpPr>
        <p:spPr>
          <a:xfrm>
            <a:off x="9182100" y="5095875"/>
            <a:ext cx="2295525" cy="209550"/>
          </a:xfrm>
          <a:prstGeom prst="rect">
            <a:avLst/>
          </a:prstGeom>
          <a:noFill/>
          <a:ln w="0">
            <a:noFill/>
            <a:prstDash val="solid"/>
          </a:ln>
        </p:spPr>
        <p:txBody>
          <a:bodyPr wrap="square" lIns="47625" tIns="19050" rIns="47625" bIns="19050" anchor="ctr">
            <a:normAutofit/>
          </a:bodyPr>
          <a:lstStyle/>
          <a:p>
            <a:pPr algn="l">
              <a:defRPr sz="810" b="1">
                <a:solidFill>
                  <a:srgbClr val="D00914"/>
                </a:solidFill>
                <a:latin typeface="Noto Sans Hans"/>
                <a:ea typeface="Noto Sans Hans"/>
                <a:cs typeface="Noto Sans Hans"/>
              </a:defRPr>
            </a:pPr>
            <a:r>
              <a:rPr sz="910" b="1">
                <a:solidFill>
                  <a:srgbClr val="D00914"/>
                </a:solidFill>
                <a:latin typeface="Noto Sans Hans"/>
                <a:ea typeface="Noto Sans Hans"/>
                <a:cs typeface="Noto Sans Hans"/>
              </a:rPr>
              <a:t>核心判断</a:t>
            </a:r>
            <a:endParaRPr sz="910" b="1">
              <a:solidFill>
                <a:srgbClr val="D00914"/>
              </a:solidFill>
              <a:latin typeface="Noto Sans Hans"/>
              <a:ea typeface="Noto Sans Hans"/>
              <a:cs typeface="Noto Sans Hans"/>
            </a:endParaRPr>
          </a:p>
        </p:txBody>
      </p:sp>
      <p:sp>
        <p:nvSpPr>
          <p:cNvPr id="73" name="矩形 72"/>
          <p:cNvSpPr>
            <a:spLocks noGrp="1"/>
          </p:cNvSpPr>
          <p:nvPr/>
        </p:nvSpPr>
        <p:spPr>
          <a:xfrm>
            <a:off x="9182100" y="5314950"/>
            <a:ext cx="2295525" cy="4572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35" b="0">
                <a:solidFill>
                  <a:srgbClr val="403A38"/>
                </a:solidFill>
                <a:latin typeface="Noto Sans Hans"/>
                <a:ea typeface="Noto Sans Hans"/>
                <a:cs typeface="Noto Sans Hans"/>
              </a:defRPr>
            </a:pPr>
            <a:r>
              <a:rPr sz="840" b="0">
                <a:solidFill>
                  <a:srgbClr val="403A38"/>
                </a:solidFill>
                <a:latin typeface="Noto Sans Hans"/>
                <a:ea typeface="Noto Sans Hans"/>
                <a:cs typeface="Noto Sans Hans"/>
              </a:rPr>
              <a:t>武汉承担研发、场景和总部；省内承接部件及制造；长三角、珠三角重点导入成熟企业</a:t>
            </a:r>
            <a:endParaRPr sz="840" b="0">
              <a:solidFill>
                <a:srgbClr val="403A38"/>
              </a:solidFill>
              <a:latin typeface="Noto Sans Hans"/>
              <a:ea typeface="Noto Sans Hans"/>
              <a:cs typeface="Noto Sans Hans"/>
            </a:endParaRPr>
          </a:p>
        </p:txBody>
      </p:sp>
      <p:sp>
        <p:nvSpPr>
          <p:cNvPr id="74" name="圆角矩形 73"/>
          <p:cNvSpPr>
            <a:spLocks noGrp="1"/>
          </p:cNvSpPr>
          <p:nvPr/>
        </p:nvSpPr>
        <p:spPr>
          <a:xfrm>
            <a:off x="457200" y="6124575"/>
            <a:ext cx="11229975" cy="323850"/>
          </a:xfrm>
          <a:prstGeom prst="roundRect">
            <a:avLst>
              <a:gd name="adj" fmla="val 5882"/>
            </a:avLst>
          </a:prstGeom>
          <a:solidFill>
            <a:srgbClr val="8E1118"/>
          </a:solidFill>
          <a:ln w="0">
            <a:noFill/>
            <a:prstDash val="solid"/>
          </a:ln>
        </p:spPr>
      </p:sp>
      <p:sp>
        <p:nvSpPr>
          <p:cNvPr id="75" name="矩形 74"/>
          <p:cNvSpPr>
            <a:spLocks noGrp="1"/>
          </p:cNvSpPr>
          <p:nvPr/>
        </p:nvSpPr>
        <p:spPr>
          <a:xfrm>
            <a:off x="552450" y="6172200"/>
            <a:ext cx="11039475" cy="228600"/>
          </a:xfrm>
          <a:prstGeom prst="rect">
            <a:avLst/>
          </a:prstGeom>
          <a:noFill/>
          <a:ln w="0">
            <a:noFill/>
            <a:prstDash val="solid"/>
          </a:ln>
        </p:spPr>
        <p:txBody>
          <a:bodyPr wrap="square" lIns="47625" tIns="19050" rIns="47625" bIns="19050" anchor="ctr">
            <a:normAutofit/>
          </a:bodyPr>
          <a:lstStyle/>
          <a:p>
            <a:pPr algn="ctr">
              <a:defRPr sz="865" b="1">
                <a:solidFill>
                  <a:srgbClr val="FFFFFF"/>
                </a:solidFill>
                <a:latin typeface="Noto Sans Hans"/>
                <a:ea typeface="Noto Sans Hans"/>
                <a:cs typeface="Noto Sans Hans"/>
              </a:defRPr>
            </a:pPr>
            <a:r>
              <a:rPr sz="970" b="1">
                <a:solidFill>
                  <a:srgbClr val="FFFFFF"/>
                </a:solidFill>
                <a:latin typeface="Noto Sans Hans"/>
                <a:ea typeface="Noto Sans Hans"/>
                <a:cs typeface="Noto Sans Hans"/>
              </a:rPr>
              <a:t>看清产业链结构 → 识别高价值应用场景 → 判断技术成熟与投资窗口 → 确定武汉承接区域及合作方式</a:t>
            </a:r>
            <a:endParaRPr sz="970" b="1">
              <a:solidFill>
                <a:srgbClr val="FFFFFF"/>
              </a:solidFill>
              <a:latin typeface="Noto Sans Hans"/>
              <a:ea typeface="Noto Sans Hans"/>
              <a:cs typeface="Noto Sans Hans"/>
            </a:endParaRPr>
          </a:p>
        </p:txBody>
      </p:sp>
      <p:sp>
        <p:nvSpPr>
          <p:cNvPr id="76" name="矩形 75"/>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820" b="0">
                <a:solidFill>
                  <a:srgbClr val="716B68"/>
                </a:solidFill>
                <a:latin typeface="Noto Sans Hans"/>
                <a:ea typeface="Noto Sans Hans"/>
                <a:cs typeface="Noto Sans Hans"/>
              </a:rPr>
              <a:t>资料来源：养老机器人产业增强基础数据库（产业链环节、重点产品、核心技术、区域及产业集群）；结论为研究归纳。</a:t>
            </a:r>
            <a:endParaRPr sz="820" b="0">
              <a:solidFill>
                <a:srgbClr val="716B68"/>
              </a:solidFill>
              <a:latin typeface="Noto Sans Hans"/>
              <a:ea typeface="Noto Sans Hans"/>
              <a:cs typeface="Noto Sans Hans"/>
            </a:endParaRPr>
          </a:p>
        </p:txBody>
      </p:sp>
      <p:sp>
        <p:nvSpPr>
          <p:cNvPr id="77" name="矩形 76"/>
          <p:cNvSpPr>
            <a:spLocks noGrp="1"/>
          </p:cNvSpPr>
          <p:nvPr/>
        </p:nvSpPr>
        <p:spPr>
          <a:xfrm>
            <a:off x="11096625" y="6534150"/>
            <a:ext cx="619125"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01</a:t>
            </a:r>
            <a:endParaRPr sz="1000" b="1">
              <a:solidFill>
                <a:srgbClr val="D00914"/>
              </a:solidFill>
              <a:latin typeface="Noto Sans Hans"/>
              <a:ea typeface="Noto Sans Hans"/>
              <a:cs typeface="Noto Sans H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95250" y="228600"/>
            <a:ext cx="171450" cy="685800"/>
          </a:xfrm>
          <a:prstGeom prst="rect">
            <a:avLst/>
          </a:prstGeom>
          <a:solidFill>
            <a:srgbClr val="C9151E"/>
          </a:solidFill>
          <a:ln w="0">
            <a:noFill/>
            <a:prstDash val="solid"/>
          </a:ln>
        </p:spPr>
      </p:sp>
      <p:sp>
        <p:nvSpPr>
          <p:cNvPr id="3" name="slide-title"/>
          <p:cNvSpPr>
            <a:spLocks noGrp="1"/>
          </p:cNvSpPr>
          <p:nvPr/>
        </p:nvSpPr>
        <p:spPr>
          <a:xfrm>
            <a:off x="457200" y="209550"/>
            <a:ext cx="11239500" cy="457200"/>
          </a:xfrm>
          <a:prstGeom prst="rect">
            <a:avLst/>
          </a:prstGeom>
          <a:noFill/>
          <a:ln w="0">
            <a:noFill/>
            <a:prstDash val="solid"/>
          </a:ln>
        </p:spPr>
        <p:txBody>
          <a:bodyPr lIns="0" tIns="0" rIns="0" bIns="0" anchor="ctr">
            <a:normAutofit/>
          </a:bodyPr>
          <a:lstStyle/>
          <a:p>
            <a:r>
              <a:rPr lang="en-US" sz="2025" b="1">
                <a:solidFill>
                  <a:srgbClr val="C9151E"/>
                </a:solidFill>
                <a:latin typeface="Noto Sans Hans"/>
                <a:ea typeface="Noto Sans Hans"/>
                <a:cs typeface="Noto Sans Hans"/>
              </a:rPr>
              <a:t>1.1</a:t>
            </a:r>
            <a:r>
              <a:rPr sz="2025" b="1">
                <a:solidFill>
                  <a:srgbClr val="C9151E"/>
                </a:solidFill>
                <a:latin typeface="Noto Sans Hans"/>
                <a:ea typeface="Noto Sans Hans"/>
                <a:cs typeface="Noto Sans Hans"/>
              </a:rPr>
              <a:t>【产业全景</a:t>
            </a:r>
            <a:r>
              <a:rPr lang="zh-CN" sz="2025" b="1">
                <a:solidFill>
                  <a:srgbClr val="C9151E"/>
                </a:solidFill>
                <a:latin typeface="Noto Sans Hans"/>
                <a:ea typeface="Noto Sans Hans"/>
                <a:cs typeface="Noto Sans Hans"/>
              </a:rPr>
              <a:t>图</a:t>
            </a:r>
            <a:r>
              <a:rPr sz="2025" b="1">
                <a:solidFill>
                  <a:srgbClr val="C9151E"/>
                </a:solidFill>
                <a:latin typeface="Noto Sans Hans"/>
                <a:ea typeface="Noto Sans Hans"/>
                <a:cs typeface="Noto Sans Hans"/>
              </a:rPr>
              <a:t>】</a:t>
            </a:r>
            <a:r>
              <a:rPr sz="2025" b="1">
                <a:solidFill>
                  <a:srgbClr val="3F3A38"/>
                </a:solidFill>
                <a:latin typeface="Noto Sans Hans"/>
                <a:ea typeface="Noto Sans Hans"/>
                <a:cs typeface="Noto Sans Hans"/>
              </a:rPr>
              <a:t>养老机器人由“核心部件—智能技术—产品平台—场景服务”共同构成</a:t>
            </a:r>
            <a:endParaRPr sz="2025" b="1">
              <a:solidFill>
                <a:srgbClr val="3F3A38"/>
              </a:solidFill>
              <a:latin typeface="Noto Sans Hans"/>
              <a:ea typeface="Noto Sans Hans"/>
              <a:cs typeface="Noto Sans Hans"/>
            </a:endParaRPr>
          </a:p>
        </p:txBody>
      </p:sp>
      <p:sp>
        <p:nvSpPr>
          <p:cNvPr id="4" name="矩形 3"/>
          <p:cNvSpPr>
            <a:spLocks noGrp="1"/>
          </p:cNvSpPr>
          <p:nvPr/>
        </p:nvSpPr>
        <p:spPr>
          <a:xfrm>
            <a:off x="466725" y="647700"/>
            <a:ext cx="11144250" cy="276225"/>
          </a:xfrm>
          <a:prstGeom prst="rect">
            <a:avLst/>
          </a:prstGeom>
          <a:noFill/>
          <a:ln w="0">
            <a:noFill/>
            <a:prstDash val="solid"/>
          </a:ln>
        </p:spPr>
        <p:txBody>
          <a:bodyPr wrap="square" lIns="47625" tIns="19050" rIns="47625" bIns="19050" anchor="ctr">
            <a:normAutofit/>
          </a:bodyPr>
          <a:lstStyle/>
          <a:p>
            <a:pPr algn="l">
              <a:defRPr sz="1125" b="0">
                <a:solidFill>
                  <a:srgbClr val="6B6663"/>
                </a:solidFill>
                <a:latin typeface="Noto Sans Hans"/>
                <a:ea typeface="Noto Sans Hans"/>
                <a:cs typeface="Noto Sans Hans"/>
              </a:defRPr>
            </a:pPr>
            <a:r>
              <a:rPr sz="1125" b="0">
                <a:solidFill>
                  <a:srgbClr val="6B6663"/>
                </a:solidFill>
                <a:latin typeface="Noto Sans Hans"/>
                <a:ea typeface="Noto Sans Hans"/>
                <a:cs typeface="Noto Sans Hans"/>
              </a:rPr>
              <a:t>上游决定安全、成本与可靠性，中游形成产品与运营能力，下游通过医疗、机构和居家场景完成商业闭环</a:t>
            </a:r>
            <a:endParaRPr sz="1125" b="0">
              <a:solidFill>
                <a:srgbClr val="6B6663"/>
              </a:solidFill>
              <a:latin typeface="Noto Sans Hans"/>
              <a:ea typeface="Noto Sans Hans"/>
              <a:cs typeface="Noto Sans Hans"/>
            </a:endParaRPr>
          </a:p>
        </p:txBody>
      </p:sp>
      <p:sp>
        <p:nvSpPr>
          <p:cNvPr id="5" name="矩形 4"/>
          <p:cNvSpPr>
            <a:spLocks noGrp="1"/>
          </p:cNvSpPr>
          <p:nvPr/>
        </p:nvSpPr>
        <p:spPr>
          <a:xfrm>
            <a:off x="457200" y="981075"/>
            <a:ext cx="11258550" cy="14288"/>
          </a:xfrm>
          <a:prstGeom prst="rect">
            <a:avLst/>
          </a:prstGeom>
          <a:solidFill>
            <a:srgbClr val="D8D1CC"/>
          </a:solidFill>
          <a:ln w="0">
            <a:noFill/>
            <a:prstDash val="solid"/>
          </a:ln>
        </p:spPr>
      </p:sp>
      <p:sp>
        <p:nvSpPr>
          <p:cNvPr id="6" name="矩形 5"/>
          <p:cNvSpPr>
            <a:spLocks noGrp="1"/>
          </p:cNvSpPr>
          <p:nvPr/>
        </p:nvSpPr>
        <p:spPr>
          <a:xfrm>
            <a:off x="238125" y="1143000"/>
            <a:ext cx="1200150" cy="1476375"/>
          </a:xfrm>
          <a:prstGeom prst="rect">
            <a:avLst/>
          </a:prstGeom>
          <a:solidFill>
            <a:srgbClr val="8F2730"/>
          </a:solidFill>
          <a:ln w="0">
            <a:noFill/>
            <a:prstDash val="solid"/>
          </a:ln>
        </p:spPr>
      </p:sp>
      <p:sp>
        <p:nvSpPr>
          <p:cNvPr id="7" name="矩形 6"/>
          <p:cNvSpPr>
            <a:spLocks noGrp="1"/>
          </p:cNvSpPr>
          <p:nvPr/>
        </p:nvSpPr>
        <p:spPr>
          <a:xfrm>
            <a:off x="285750" y="1190625"/>
            <a:ext cx="1104900" cy="1381125"/>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上游基础层</a:t>
            </a:r>
            <a:endParaRPr sz="1350" b="1">
              <a:solidFill>
                <a:srgbClr val="FFFFFF"/>
              </a:solidFill>
              <a:latin typeface="Noto Sans Hans"/>
              <a:ea typeface="Noto Sans Hans"/>
              <a:cs typeface="Noto Sans Hans"/>
            </a:endParaRPr>
          </a:p>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部件 + 感知</a:t>
            </a:r>
            <a:endParaRPr sz="1350" b="1">
              <a:solidFill>
                <a:srgbClr val="FFFFFF"/>
              </a:solidFill>
              <a:latin typeface="Noto Sans Hans"/>
              <a:ea typeface="Noto Sans Hans"/>
              <a:cs typeface="Noto Sans Hans"/>
            </a:endParaRPr>
          </a:p>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（根基）</a:t>
            </a:r>
            <a:endParaRPr sz="1350" b="1">
              <a:solidFill>
                <a:srgbClr val="FFFFFF"/>
              </a:solidFill>
              <a:latin typeface="Noto Sans Hans"/>
              <a:ea typeface="Noto Sans Hans"/>
              <a:cs typeface="Noto Sans Hans"/>
            </a:endParaRPr>
          </a:p>
        </p:txBody>
      </p:sp>
      <p:sp>
        <p:nvSpPr>
          <p:cNvPr id="8" name="矩形 7"/>
          <p:cNvSpPr>
            <a:spLocks noGrp="1"/>
          </p:cNvSpPr>
          <p:nvPr/>
        </p:nvSpPr>
        <p:spPr>
          <a:xfrm>
            <a:off x="1457325" y="1143000"/>
            <a:ext cx="1162050" cy="476250"/>
          </a:xfrm>
          <a:prstGeom prst="rect">
            <a:avLst/>
          </a:prstGeom>
          <a:solidFill>
            <a:srgbClr val="8F2730"/>
          </a:solidFill>
          <a:ln w="9525">
            <a:solidFill>
              <a:srgbClr val="FFFFFF"/>
            </a:solidFill>
            <a:prstDash val="solid"/>
          </a:ln>
        </p:spPr>
      </p:sp>
      <p:sp>
        <p:nvSpPr>
          <p:cNvPr id="9" name="矩形 8"/>
          <p:cNvSpPr>
            <a:spLocks noGrp="1"/>
          </p:cNvSpPr>
          <p:nvPr/>
        </p:nvSpPr>
        <p:spPr>
          <a:xfrm>
            <a:off x="1485900" y="1162050"/>
            <a:ext cx="1104900" cy="4381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算力与控制</a:t>
            </a:r>
            <a:endParaRPr sz="1125" b="1">
              <a:solidFill>
                <a:srgbClr val="FFFFFF"/>
              </a:solidFill>
              <a:latin typeface="Noto Sans Hans"/>
              <a:ea typeface="Noto Sans Hans"/>
              <a:cs typeface="Noto Sans Hans"/>
            </a:endParaRPr>
          </a:p>
        </p:txBody>
      </p:sp>
      <p:sp>
        <p:nvSpPr>
          <p:cNvPr id="10" name="矩形 9"/>
          <p:cNvSpPr>
            <a:spLocks noGrp="1"/>
          </p:cNvSpPr>
          <p:nvPr/>
        </p:nvSpPr>
        <p:spPr>
          <a:xfrm>
            <a:off x="1457325" y="1619250"/>
            <a:ext cx="1162050" cy="523875"/>
          </a:xfrm>
          <a:prstGeom prst="rect">
            <a:avLst/>
          </a:prstGeom>
          <a:solidFill>
            <a:srgbClr val="8F2730"/>
          </a:solidFill>
          <a:ln w="9525">
            <a:solidFill>
              <a:srgbClr val="FFFFFF"/>
            </a:solidFill>
            <a:prstDash val="solid"/>
          </a:ln>
        </p:spPr>
      </p:sp>
      <p:sp>
        <p:nvSpPr>
          <p:cNvPr id="11" name="矩形 10"/>
          <p:cNvSpPr>
            <a:spLocks noGrp="1"/>
          </p:cNvSpPr>
          <p:nvPr/>
        </p:nvSpPr>
        <p:spPr>
          <a:xfrm>
            <a:off x="1485900" y="1638300"/>
            <a:ext cx="1104900" cy="485775"/>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传动与执行</a:t>
            </a:r>
            <a:endParaRPr sz="1125" b="1">
              <a:solidFill>
                <a:srgbClr val="FFFFFF"/>
              </a:solidFill>
              <a:latin typeface="Noto Sans Hans"/>
              <a:ea typeface="Noto Sans Hans"/>
              <a:cs typeface="Noto Sans Hans"/>
            </a:endParaRPr>
          </a:p>
        </p:txBody>
      </p:sp>
      <p:sp>
        <p:nvSpPr>
          <p:cNvPr id="12" name="矩形 11"/>
          <p:cNvSpPr>
            <a:spLocks noGrp="1"/>
          </p:cNvSpPr>
          <p:nvPr/>
        </p:nvSpPr>
        <p:spPr>
          <a:xfrm>
            <a:off x="1457325" y="2143125"/>
            <a:ext cx="1162050" cy="476250"/>
          </a:xfrm>
          <a:prstGeom prst="rect">
            <a:avLst/>
          </a:prstGeom>
          <a:solidFill>
            <a:srgbClr val="8F2730"/>
          </a:solidFill>
          <a:ln w="9525">
            <a:solidFill>
              <a:srgbClr val="FFFFFF"/>
            </a:solidFill>
            <a:prstDash val="solid"/>
          </a:ln>
        </p:spPr>
      </p:sp>
      <p:sp>
        <p:nvSpPr>
          <p:cNvPr id="13" name="矩形 12"/>
          <p:cNvSpPr>
            <a:spLocks noGrp="1"/>
          </p:cNvSpPr>
          <p:nvPr/>
        </p:nvSpPr>
        <p:spPr>
          <a:xfrm>
            <a:off x="1485900" y="2162175"/>
            <a:ext cx="1104900" cy="4381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多模态感知</a:t>
            </a:r>
            <a:endParaRPr sz="1125" b="1">
              <a:solidFill>
                <a:srgbClr val="FFFFFF"/>
              </a:solidFill>
              <a:latin typeface="Noto Sans Hans"/>
              <a:ea typeface="Noto Sans Hans"/>
              <a:cs typeface="Noto Sans Hans"/>
            </a:endParaRPr>
          </a:p>
        </p:txBody>
      </p:sp>
      <p:sp>
        <p:nvSpPr>
          <p:cNvPr id="14" name="矩形 13"/>
          <p:cNvSpPr>
            <a:spLocks noGrp="1"/>
          </p:cNvSpPr>
          <p:nvPr/>
        </p:nvSpPr>
        <p:spPr>
          <a:xfrm>
            <a:off x="2619375" y="1143000"/>
            <a:ext cx="1647825" cy="365125"/>
          </a:xfrm>
          <a:prstGeom prst="rect">
            <a:avLst/>
          </a:prstGeom>
          <a:solidFill>
            <a:srgbClr val="FFFFFF"/>
          </a:solidFill>
          <a:ln w="9525">
            <a:solidFill>
              <a:srgbClr val="8F2730"/>
            </a:solidFill>
            <a:prstDash val="solid"/>
          </a:ln>
        </p:spPr>
      </p:sp>
      <p:sp>
        <p:nvSpPr>
          <p:cNvPr id="15" name="矩形 14"/>
          <p:cNvSpPr>
            <a:spLocks noGrp="1"/>
          </p:cNvSpPr>
          <p:nvPr/>
        </p:nvSpPr>
        <p:spPr>
          <a:xfrm>
            <a:off x="2628900" y="1152525"/>
            <a:ext cx="1628775" cy="346075"/>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AI芯片/边缘计算</a:t>
            </a:r>
            <a:endParaRPr sz="990" b="1">
              <a:solidFill>
                <a:srgbClr val="3F3A38"/>
              </a:solidFill>
              <a:latin typeface="Noto Sans Hans"/>
              <a:ea typeface="Noto Sans Hans"/>
              <a:cs typeface="Noto Sans Hans"/>
            </a:endParaRPr>
          </a:p>
        </p:txBody>
      </p:sp>
      <p:sp>
        <p:nvSpPr>
          <p:cNvPr id="16" name="矩形 15"/>
          <p:cNvSpPr>
            <a:spLocks noGrp="1"/>
          </p:cNvSpPr>
          <p:nvPr/>
        </p:nvSpPr>
        <p:spPr>
          <a:xfrm>
            <a:off x="4305300" y="1143000"/>
            <a:ext cx="1647825" cy="365125"/>
          </a:xfrm>
          <a:prstGeom prst="rect">
            <a:avLst/>
          </a:prstGeom>
          <a:solidFill>
            <a:srgbClr val="FFFFFF"/>
          </a:solidFill>
          <a:ln w="9525">
            <a:solidFill>
              <a:srgbClr val="8F2730"/>
            </a:solidFill>
            <a:prstDash val="solid"/>
          </a:ln>
        </p:spPr>
      </p:sp>
      <p:sp>
        <p:nvSpPr>
          <p:cNvPr id="17" name="矩形 16"/>
          <p:cNvSpPr>
            <a:spLocks noGrp="1"/>
          </p:cNvSpPr>
          <p:nvPr/>
        </p:nvSpPr>
        <p:spPr>
          <a:xfrm>
            <a:off x="4314825" y="1152525"/>
            <a:ext cx="1628775" cy="346075"/>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伺服驱动/控制器</a:t>
            </a:r>
            <a:endParaRPr sz="990" b="1">
              <a:solidFill>
                <a:srgbClr val="3F3A38"/>
              </a:solidFill>
              <a:latin typeface="Noto Sans Hans"/>
              <a:ea typeface="Noto Sans Hans"/>
              <a:cs typeface="Noto Sans Hans"/>
            </a:endParaRPr>
          </a:p>
        </p:txBody>
      </p:sp>
      <p:sp>
        <p:nvSpPr>
          <p:cNvPr id="18" name="矩形 17"/>
          <p:cNvSpPr>
            <a:spLocks noGrp="1"/>
          </p:cNvSpPr>
          <p:nvPr/>
        </p:nvSpPr>
        <p:spPr>
          <a:xfrm>
            <a:off x="5991225" y="1143000"/>
            <a:ext cx="1647825" cy="365125"/>
          </a:xfrm>
          <a:prstGeom prst="rect">
            <a:avLst/>
          </a:prstGeom>
          <a:solidFill>
            <a:srgbClr val="FFFFFF"/>
          </a:solidFill>
          <a:ln w="9525">
            <a:solidFill>
              <a:srgbClr val="8F2730"/>
            </a:solidFill>
            <a:prstDash val="solid"/>
          </a:ln>
        </p:spPr>
      </p:sp>
      <p:sp>
        <p:nvSpPr>
          <p:cNvPr id="19" name="矩形 18"/>
          <p:cNvSpPr>
            <a:spLocks noGrp="1"/>
          </p:cNvSpPr>
          <p:nvPr/>
        </p:nvSpPr>
        <p:spPr>
          <a:xfrm>
            <a:off x="6000750" y="1152525"/>
            <a:ext cx="1628775" cy="346075"/>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安全控制/编码器</a:t>
            </a:r>
            <a:endParaRPr sz="990" b="1">
              <a:solidFill>
                <a:srgbClr val="3F3A38"/>
              </a:solidFill>
              <a:latin typeface="Noto Sans Hans"/>
              <a:ea typeface="Noto Sans Hans"/>
              <a:cs typeface="Noto Sans Hans"/>
            </a:endParaRPr>
          </a:p>
        </p:txBody>
      </p:sp>
      <p:sp>
        <p:nvSpPr>
          <p:cNvPr id="20" name="矩形 19"/>
          <p:cNvSpPr>
            <a:spLocks noGrp="1"/>
          </p:cNvSpPr>
          <p:nvPr/>
        </p:nvSpPr>
        <p:spPr>
          <a:xfrm>
            <a:off x="7677150" y="1143000"/>
            <a:ext cx="1647825" cy="365125"/>
          </a:xfrm>
          <a:prstGeom prst="rect">
            <a:avLst/>
          </a:prstGeom>
          <a:solidFill>
            <a:srgbClr val="FFFFFF"/>
          </a:solidFill>
          <a:ln w="9525">
            <a:solidFill>
              <a:srgbClr val="8F2730"/>
            </a:solidFill>
            <a:prstDash val="solid"/>
          </a:ln>
        </p:spPr>
      </p:sp>
      <p:sp>
        <p:nvSpPr>
          <p:cNvPr id="21" name="矩形 20"/>
          <p:cNvSpPr>
            <a:spLocks noGrp="1"/>
          </p:cNvSpPr>
          <p:nvPr/>
        </p:nvSpPr>
        <p:spPr>
          <a:xfrm>
            <a:off x="7686675" y="1152525"/>
            <a:ext cx="1628775" cy="346075"/>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电源与热管理</a:t>
            </a:r>
            <a:endParaRPr sz="990" b="1">
              <a:solidFill>
                <a:srgbClr val="3F3A38"/>
              </a:solidFill>
              <a:latin typeface="Noto Sans Hans"/>
              <a:ea typeface="Noto Sans Hans"/>
              <a:cs typeface="Noto Sans Hans"/>
            </a:endParaRPr>
          </a:p>
        </p:txBody>
      </p:sp>
      <p:sp>
        <p:nvSpPr>
          <p:cNvPr id="22" name="矩形 21"/>
          <p:cNvSpPr>
            <a:spLocks noGrp="1"/>
          </p:cNvSpPr>
          <p:nvPr/>
        </p:nvSpPr>
        <p:spPr>
          <a:xfrm>
            <a:off x="2619375" y="1536700"/>
            <a:ext cx="1647825" cy="365125"/>
          </a:xfrm>
          <a:prstGeom prst="rect">
            <a:avLst/>
          </a:prstGeom>
          <a:solidFill>
            <a:srgbClr val="FFFFFF"/>
          </a:solidFill>
          <a:ln w="9525">
            <a:solidFill>
              <a:srgbClr val="8F2730"/>
            </a:solidFill>
            <a:prstDash val="solid"/>
          </a:ln>
        </p:spPr>
      </p:sp>
      <p:sp>
        <p:nvSpPr>
          <p:cNvPr id="23" name="矩形 22"/>
          <p:cNvSpPr>
            <a:spLocks noGrp="1"/>
          </p:cNvSpPr>
          <p:nvPr/>
        </p:nvSpPr>
        <p:spPr>
          <a:xfrm>
            <a:off x="2628900" y="15462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精密减速器</a:t>
            </a:r>
            <a:endParaRPr sz="990" b="0">
              <a:solidFill>
                <a:srgbClr val="3F3A38"/>
              </a:solidFill>
              <a:latin typeface="Noto Sans Hans"/>
              <a:ea typeface="Noto Sans Hans"/>
              <a:cs typeface="Noto Sans Hans"/>
            </a:endParaRPr>
          </a:p>
        </p:txBody>
      </p:sp>
      <p:sp>
        <p:nvSpPr>
          <p:cNvPr id="24" name="矩形 23"/>
          <p:cNvSpPr>
            <a:spLocks noGrp="1"/>
          </p:cNvSpPr>
          <p:nvPr/>
        </p:nvSpPr>
        <p:spPr>
          <a:xfrm>
            <a:off x="4305300" y="1536700"/>
            <a:ext cx="1647825" cy="365125"/>
          </a:xfrm>
          <a:prstGeom prst="rect">
            <a:avLst/>
          </a:prstGeom>
          <a:solidFill>
            <a:srgbClr val="FFFFFF"/>
          </a:solidFill>
          <a:ln w="9525">
            <a:solidFill>
              <a:srgbClr val="8F2730"/>
            </a:solidFill>
            <a:prstDash val="solid"/>
          </a:ln>
        </p:spPr>
      </p:sp>
      <p:sp>
        <p:nvSpPr>
          <p:cNvPr id="25" name="矩形 24"/>
          <p:cNvSpPr>
            <a:spLocks noGrp="1"/>
          </p:cNvSpPr>
          <p:nvPr/>
        </p:nvSpPr>
        <p:spPr>
          <a:xfrm>
            <a:off x="4314825" y="15462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力矩/空心杯电机</a:t>
            </a:r>
            <a:endParaRPr sz="990" b="0">
              <a:solidFill>
                <a:srgbClr val="3F3A38"/>
              </a:solidFill>
              <a:latin typeface="Noto Sans Hans"/>
              <a:ea typeface="Noto Sans Hans"/>
              <a:cs typeface="Noto Sans Hans"/>
            </a:endParaRPr>
          </a:p>
        </p:txBody>
      </p:sp>
      <p:sp>
        <p:nvSpPr>
          <p:cNvPr id="26" name="矩形 25"/>
          <p:cNvSpPr>
            <a:spLocks noGrp="1"/>
          </p:cNvSpPr>
          <p:nvPr/>
        </p:nvSpPr>
        <p:spPr>
          <a:xfrm>
            <a:off x="5991225" y="1536700"/>
            <a:ext cx="1647825" cy="365125"/>
          </a:xfrm>
          <a:prstGeom prst="rect">
            <a:avLst/>
          </a:prstGeom>
          <a:solidFill>
            <a:srgbClr val="FFFFFF"/>
          </a:solidFill>
          <a:ln w="9525">
            <a:solidFill>
              <a:srgbClr val="8F2730"/>
            </a:solidFill>
            <a:prstDash val="solid"/>
          </a:ln>
        </p:spPr>
      </p:sp>
      <p:sp>
        <p:nvSpPr>
          <p:cNvPr id="27" name="矩形 26"/>
          <p:cNvSpPr>
            <a:spLocks noGrp="1"/>
          </p:cNvSpPr>
          <p:nvPr/>
        </p:nvSpPr>
        <p:spPr>
          <a:xfrm>
            <a:off x="6000750" y="15462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丝杠/线性执行器</a:t>
            </a:r>
            <a:endParaRPr sz="990" b="0">
              <a:solidFill>
                <a:srgbClr val="3F3A38"/>
              </a:solidFill>
              <a:latin typeface="Noto Sans Hans"/>
              <a:ea typeface="Noto Sans Hans"/>
              <a:cs typeface="Noto Sans Hans"/>
            </a:endParaRPr>
          </a:p>
        </p:txBody>
      </p:sp>
      <p:sp>
        <p:nvSpPr>
          <p:cNvPr id="28" name="矩形 27"/>
          <p:cNvSpPr>
            <a:spLocks noGrp="1"/>
          </p:cNvSpPr>
          <p:nvPr/>
        </p:nvSpPr>
        <p:spPr>
          <a:xfrm>
            <a:off x="7677150" y="1536700"/>
            <a:ext cx="1647825" cy="365125"/>
          </a:xfrm>
          <a:prstGeom prst="rect">
            <a:avLst/>
          </a:prstGeom>
          <a:solidFill>
            <a:srgbClr val="FFFFFF"/>
          </a:solidFill>
          <a:ln w="9525">
            <a:solidFill>
              <a:srgbClr val="8F2730"/>
            </a:solidFill>
            <a:prstDash val="solid"/>
          </a:ln>
        </p:spPr>
      </p:sp>
      <p:sp>
        <p:nvSpPr>
          <p:cNvPr id="29" name="矩形 28"/>
          <p:cNvSpPr>
            <a:spLocks noGrp="1"/>
          </p:cNvSpPr>
          <p:nvPr/>
        </p:nvSpPr>
        <p:spPr>
          <a:xfrm>
            <a:off x="7686675" y="15462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一体化关节</a:t>
            </a:r>
            <a:endParaRPr sz="990" b="0">
              <a:solidFill>
                <a:srgbClr val="3F3A38"/>
              </a:solidFill>
              <a:latin typeface="Noto Sans Hans"/>
              <a:ea typeface="Noto Sans Hans"/>
              <a:cs typeface="Noto Sans Hans"/>
            </a:endParaRPr>
          </a:p>
        </p:txBody>
      </p:sp>
      <p:sp>
        <p:nvSpPr>
          <p:cNvPr id="30" name="矩形 29"/>
          <p:cNvSpPr>
            <a:spLocks noGrp="1"/>
          </p:cNvSpPr>
          <p:nvPr/>
        </p:nvSpPr>
        <p:spPr>
          <a:xfrm>
            <a:off x="2619375" y="1930400"/>
            <a:ext cx="1647825" cy="365125"/>
          </a:xfrm>
          <a:prstGeom prst="rect">
            <a:avLst/>
          </a:prstGeom>
          <a:solidFill>
            <a:srgbClr val="FFFFFF"/>
          </a:solidFill>
          <a:ln w="9525">
            <a:solidFill>
              <a:srgbClr val="8F2730"/>
            </a:solidFill>
            <a:prstDash val="solid"/>
          </a:ln>
        </p:spPr>
      </p:sp>
      <p:sp>
        <p:nvSpPr>
          <p:cNvPr id="31" name="矩形 30"/>
          <p:cNvSpPr>
            <a:spLocks noGrp="1"/>
          </p:cNvSpPr>
          <p:nvPr/>
        </p:nvSpPr>
        <p:spPr>
          <a:xfrm>
            <a:off x="2628900" y="19399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3D视觉/空间感知</a:t>
            </a:r>
            <a:endParaRPr sz="990" b="0">
              <a:solidFill>
                <a:srgbClr val="3F3A38"/>
              </a:solidFill>
              <a:latin typeface="Noto Sans Hans"/>
              <a:ea typeface="Noto Sans Hans"/>
              <a:cs typeface="Noto Sans Hans"/>
            </a:endParaRPr>
          </a:p>
        </p:txBody>
      </p:sp>
      <p:sp>
        <p:nvSpPr>
          <p:cNvPr id="32" name="矩形 31"/>
          <p:cNvSpPr>
            <a:spLocks noGrp="1"/>
          </p:cNvSpPr>
          <p:nvPr/>
        </p:nvSpPr>
        <p:spPr>
          <a:xfrm>
            <a:off x="4305300" y="1930400"/>
            <a:ext cx="1647825" cy="365125"/>
          </a:xfrm>
          <a:prstGeom prst="rect">
            <a:avLst/>
          </a:prstGeom>
          <a:solidFill>
            <a:srgbClr val="FFFFFF"/>
          </a:solidFill>
          <a:ln w="9525">
            <a:solidFill>
              <a:srgbClr val="8F2730"/>
            </a:solidFill>
            <a:prstDash val="solid"/>
          </a:ln>
        </p:spPr>
      </p:sp>
      <p:sp>
        <p:nvSpPr>
          <p:cNvPr id="33" name="矩形 32"/>
          <p:cNvSpPr>
            <a:spLocks noGrp="1"/>
          </p:cNvSpPr>
          <p:nvPr/>
        </p:nvSpPr>
        <p:spPr>
          <a:xfrm>
            <a:off x="4314825" y="19399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六维力/柔性触觉</a:t>
            </a:r>
            <a:endParaRPr sz="990" b="0">
              <a:solidFill>
                <a:srgbClr val="3F3A38"/>
              </a:solidFill>
              <a:latin typeface="Noto Sans Hans"/>
              <a:ea typeface="Noto Sans Hans"/>
              <a:cs typeface="Noto Sans Hans"/>
            </a:endParaRPr>
          </a:p>
        </p:txBody>
      </p:sp>
      <p:sp>
        <p:nvSpPr>
          <p:cNvPr id="34" name="矩形 33"/>
          <p:cNvSpPr>
            <a:spLocks noGrp="1"/>
          </p:cNvSpPr>
          <p:nvPr/>
        </p:nvSpPr>
        <p:spPr>
          <a:xfrm>
            <a:off x="5991225" y="1930400"/>
            <a:ext cx="1647825" cy="365125"/>
          </a:xfrm>
          <a:prstGeom prst="rect">
            <a:avLst/>
          </a:prstGeom>
          <a:solidFill>
            <a:srgbClr val="FFFFFF"/>
          </a:solidFill>
          <a:ln w="9525">
            <a:solidFill>
              <a:srgbClr val="8F2730"/>
            </a:solidFill>
            <a:prstDash val="solid"/>
          </a:ln>
        </p:spPr>
      </p:sp>
      <p:sp>
        <p:nvSpPr>
          <p:cNvPr id="35" name="矩形 34"/>
          <p:cNvSpPr>
            <a:spLocks noGrp="1"/>
          </p:cNvSpPr>
          <p:nvPr/>
        </p:nvSpPr>
        <p:spPr>
          <a:xfrm>
            <a:off x="6000750" y="19399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生命体征/跌倒检测</a:t>
            </a:r>
            <a:endParaRPr sz="990" b="0">
              <a:solidFill>
                <a:srgbClr val="3F3A38"/>
              </a:solidFill>
              <a:latin typeface="Noto Sans Hans"/>
              <a:ea typeface="Noto Sans Hans"/>
              <a:cs typeface="Noto Sans Hans"/>
            </a:endParaRPr>
          </a:p>
        </p:txBody>
      </p:sp>
      <p:sp>
        <p:nvSpPr>
          <p:cNvPr id="36" name="矩形 35"/>
          <p:cNvSpPr>
            <a:spLocks noGrp="1"/>
          </p:cNvSpPr>
          <p:nvPr/>
        </p:nvSpPr>
        <p:spPr>
          <a:xfrm>
            <a:off x="7677150" y="1930400"/>
            <a:ext cx="1647825" cy="365125"/>
          </a:xfrm>
          <a:prstGeom prst="rect">
            <a:avLst/>
          </a:prstGeom>
          <a:solidFill>
            <a:srgbClr val="FFFFFF"/>
          </a:solidFill>
          <a:ln w="9525">
            <a:solidFill>
              <a:srgbClr val="8F2730"/>
            </a:solidFill>
            <a:prstDash val="solid"/>
          </a:ln>
        </p:spPr>
      </p:sp>
      <p:sp>
        <p:nvSpPr>
          <p:cNvPr id="37" name="矩形 36"/>
          <p:cNvSpPr>
            <a:spLocks noGrp="1"/>
          </p:cNvSpPr>
          <p:nvPr/>
        </p:nvSpPr>
        <p:spPr>
          <a:xfrm>
            <a:off x="7686675" y="1939925"/>
            <a:ext cx="1628775" cy="3460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环境/定位传感</a:t>
            </a:r>
            <a:endParaRPr sz="990" b="0">
              <a:solidFill>
                <a:srgbClr val="3F3A38"/>
              </a:solidFill>
              <a:latin typeface="Noto Sans Hans"/>
              <a:ea typeface="Noto Sans Hans"/>
              <a:cs typeface="Noto Sans Hans"/>
            </a:endParaRPr>
          </a:p>
        </p:txBody>
      </p:sp>
      <p:sp>
        <p:nvSpPr>
          <p:cNvPr id="38" name="矩形 37"/>
          <p:cNvSpPr>
            <a:spLocks noGrp="1"/>
          </p:cNvSpPr>
          <p:nvPr/>
        </p:nvSpPr>
        <p:spPr>
          <a:xfrm>
            <a:off x="2619375" y="2324100"/>
            <a:ext cx="6705600" cy="295275"/>
          </a:xfrm>
          <a:prstGeom prst="rect">
            <a:avLst/>
          </a:prstGeom>
          <a:solidFill>
            <a:srgbClr val="F5E5E5"/>
          </a:solidFill>
          <a:ln w="0">
            <a:noFill/>
            <a:prstDash val="solid"/>
          </a:ln>
        </p:spPr>
      </p:sp>
      <p:sp>
        <p:nvSpPr>
          <p:cNvPr id="39" name="矩形 38"/>
          <p:cNvSpPr>
            <a:spLocks noGrp="1"/>
          </p:cNvSpPr>
          <p:nvPr/>
        </p:nvSpPr>
        <p:spPr>
          <a:xfrm>
            <a:off x="2657475" y="2333625"/>
            <a:ext cx="6629400" cy="276225"/>
          </a:xfrm>
          <a:prstGeom prst="rect">
            <a:avLst/>
          </a:prstGeom>
          <a:noFill/>
          <a:ln w="0">
            <a:noFill/>
            <a:prstDash val="solid"/>
          </a:ln>
        </p:spPr>
        <p:txBody>
          <a:bodyPr wrap="square" lIns="47625" tIns="19050" rIns="47625" bIns="19050" anchor="ctr">
            <a:normAutofit/>
          </a:bodyPr>
          <a:lstStyle/>
          <a:p>
            <a:pPr algn="l">
              <a:defRPr sz="865" b="1">
                <a:solidFill>
                  <a:srgbClr val="8F2730"/>
                </a:solidFill>
                <a:latin typeface="Noto Sans Hans"/>
                <a:ea typeface="Noto Sans Hans"/>
                <a:cs typeface="Noto Sans Hans"/>
              </a:defRPr>
            </a:pPr>
            <a:r>
              <a:rPr sz="865" b="1">
                <a:solidFill>
                  <a:srgbClr val="8F2730"/>
                </a:solidFill>
                <a:latin typeface="Noto Sans Hans"/>
                <a:ea typeface="Noto Sans Hans"/>
                <a:cs typeface="Noto Sans Hans"/>
              </a:rPr>
              <a:t>代表企业：华为昇腾、地平线｜汇川技术、埃斯顿、科峰传动｜奥比中光、柯力传感、华威科</a:t>
            </a:r>
            <a:endParaRPr sz="865" b="1">
              <a:solidFill>
                <a:srgbClr val="8F2730"/>
              </a:solidFill>
              <a:latin typeface="Noto Sans Hans"/>
              <a:ea typeface="Noto Sans Hans"/>
              <a:cs typeface="Noto Sans Hans"/>
            </a:endParaRPr>
          </a:p>
        </p:txBody>
      </p:sp>
      <p:sp>
        <p:nvSpPr>
          <p:cNvPr id="40" name="矩形 39"/>
          <p:cNvSpPr>
            <a:spLocks noGrp="1"/>
          </p:cNvSpPr>
          <p:nvPr/>
        </p:nvSpPr>
        <p:spPr>
          <a:xfrm>
            <a:off x="238125" y="2714625"/>
            <a:ext cx="1200150" cy="2286000"/>
          </a:xfrm>
          <a:prstGeom prst="rect">
            <a:avLst/>
          </a:prstGeom>
          <a:solidFill>
            <a:srgbClr val="C64A22"/>
          </a:solidFill>
          <a:ln w="0">
            <a:noFill/>
            <a:prstDash val="solid"/>
          </a:ln>
        </p:spPr>
      </p:sp>
      <p:sp>
        <p:nvSpPr>
          <p:cNvPr id="41" name="矩形 40"/>
          <p:cNvSpPr>
            <a:spLocks noGrp="1"/>
          </p:cNvSpPr>
          <p:nvPr/>
        </p:nvSpPr>
        <p:spPr>
          <a:xfrm>
            <a:off x="285750" y="2762250"/>
            <a:ext cx="1104900" cy="219075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中游核心层</a:t>
            </a:r>
            <a:endParaRPr sz="1350" b="1">
              <a:solidFill>
                <a:srgbClr val="FFFFFF"/>
              </a:solidFill>
              <a:latin typeface="Noto Sans Hans"/>
              <a:ea typeface="Noto Sans Hans"/>
              <a:cs typeface="Noto Sans Hans"/>
            </a:endParaRPr>
          </a:p>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技术 + 产品</a:t>
            </a:r>
            <a:endParaRPr sz="1350" b="1">
              <a:solidFill>
                <a:srgbClr val="FFFFFF"/>
              </a:solidFill>
              <a:latin typeface="Noto Sans Hans"/>
              <a:ea typeface="Noto Sans Hans"/>
              <a:cs typeface="Noto Sans Hans"/>
            </a:endParaRPr>
          </a:p>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（价值形成）</a:t>
            </a:r>
            <a:endParaRPr sz="1350" b="1">
              <a:solidFill>
                <a:srgbClr val="FFFFFF"/>
              </a:solidFill>
              <a:latin typeface="Noto Sans Hans"/>
              <a:ea typeface="Noto Sans Hans"/>
              <a:cs typeface="Noto Sans Hans"/>
            </a:endParaRPr>
          </a:p>
        </p:txBody>
      </p:sp>
      <p:sp>
        <p:nvSpPr>
          <p:cNvPr id="42" name="矩形 41"/>
          <p:cNvSpPr>
            <a:spLocks noGrp="1"/>
          </p:cNvSpPr>
          <p:nvPr/>
        </p:nvSpPr>
        <p:spPr>
          <a:xfrm>
            <a:off x="1457325" y="2714625"/>
            <a:ext cx="1162050" cy="762000"/>
          </a:xfrm>
          <a:prstGeom prst="rect">
            <a:avLst/>
          </a:prstGeom>
          <a:solidFill>
            <a:srgbClr val="C64A22"/>
          </a:solidFill>
          <a:ln w="9525">
            <a:solidFill>
              <a:srgbClr val="FFFFFF"/>
            </a:solidFill>
            <a:prstDash val="solid"/>
          </a:ln>
        </p:spPr>
      </p:sp>
      <p:sp>
        <p:nvSpPr>
          <p:cNvPr id="43" name="矩形 42"/>
          <p:cNvSpPr>
            <a:spLocks noGrp="1"/>
          </p:cNvSpPr>
          <p:nvPr/>
        </p:nvSpPr>
        <p:spPr>
          <a:xfrm>
            <a:off x="1485900" y="2733675"/>
            <a:ext cx="1104900" cy="72390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智能技术</a:t>
            </a:r>
            <a:endParaRPr sz="1125" b="1">
              <a:solidFill>
                <a:srgbClr val="FFFFFF"/>
              </a:solidFill>
              <a:latin typeface="Noto Sans Hans"/>
              <a:ea typeface="Noto Sans Hans"/>
              <a:cs typeface="Noto Sans Hans"/>
            </a:endParaRPr>
          </a:p>
        </p:txBody>
      </p:sp>
      <p:sp>
        <p:nvSpPr>
          <p:cNvPr id="44" name="矩形 43"/>
          <p:cNvSpPr>
            <a:spLocks noGrp="1"/>
          </p:cNvSpPr>
          <p:nvPr/>
        </p:nvSpPr>
        <p:spPr>
          <a:xfrm>
            <a:off x="1457325" y="3476625"/>
            <a:ext cx="1162050" cy="1143000"/>
          </a:xfrm>
          <a:prstGeom prst="rect">
            <a:avLst/>
          </a:prstGeom>
          <a:solidFill>
            <a:srgbClr val="C64A22"/>
          </a:solidFill>
          <a:ln w="9525">
            <a:solidFill>
              <a:srgbClr val="FFFFFF"/>
            </a:solidFill>
            <a:prstDash val="solid"/>
          </a:ln>
        </p:spPr>
      </p:sp>
      <p:sp>
        <p:nvSpPr>
          <p:cNvPr id="45" name="矩形 44"/>
          <p:cNvSpPr>
            <a:spLocks noGrp="1"/>
          </p:cNvSpPr>
          <p:nvPr/>
        </p:nvSpPr>
        <p:spPr>
          <a:xfrm>
            <a:off x="1485900" y="3495675"/>
            <a:ext cx="1104900" cy="110490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产品整机</a:t>
            </a:r>
            <a:endParaRPr sz="1125" b="1">
              <a:solidFill>
                <a:srgbClr val="FFFFFF"/>
              </a:solidFill>
              <a:latin typeface="Noto Sans Hans"/>
              <a:ea typeface="Noto Sans Hans"/>
              <a:cs typeface="Noto Sans Hans"/>
            </a:endParaRPr>
          </a:p>
        </p:txBody>
      </p:sp>
      <p:sp>
        <p:nvSpPr>
          <p:cNvPr id="46" name="矩形 45"/>
          <p:cNvSpPr>
            <a:spLocks noGrp="1"/>
          </p:cNvSpPr>
          <p:nvPr/>
        </p:nvSpPr>
        <p:spPr>
          <a:xfrm>
            <a:off x="1457325" y="4619625"/>
            <a:ext cx="1162050" cy="381000"/>
          </a:xfrm>
          <a:prstGeom prst="rect">
            <a:avLst/>
          </a:prstGeom>
          <a:solidFill>
            <a:srgbClr val="C64A22"/>
          </a:solidFill>
          <a:ln w="9525">
            <a:solidFill>
              <a:srgbClr val="FFFFFF"/>
            </a:solidFill>
            <a:prstDash val="solid"/>
          </a:ln>
        </p:spPr>
      </p:sp>
      <p:sp>
        <p:nvSpPr>
          <p:cNvPr id="47" name="矩形 46"/>
          <p:cNvSpPr>
            <a:spLocks noGrp="1"/>
          </p:cNvSpPr>
          <p:nvPr/>
        </p:nvSpPr>
        <p:spPr>
          <a:xfrm>
            <a:off x="1485900" y="4638675"/>
            <a:ext cx="1104900" cy="34290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平台运营</a:t>
            </a:r>
            <a:endParaRPr sz="1125" b="1">
              <a:solidFill>
                <a:srgbClr val="FFFFFF"/>
              </a:solidFill>
              <a:latin typeface="Noto Sans Hans"/>
              <a:ea typeface="Noto Sans Hans"/>
              <a:cs typeface="Noto Sans Hans"/>
            </a:endParaRPr>
          </a:p>
        </p:txBody>
      </p:sp>
      <p:sp>
        <p:nvSpPr>
          <p:cNvPr id="48" name="矩形 47"/>
          <p:cNvSpPr>
            <a:spLocks noGrp="1"/>
          </p:cNvSpPr>
          <p:nvPr/>
        </p:nvSpPr>
        <p:spPr>
          <a:xfrm>
            <a:off x="2619375" y="2714625"/>
            <a:ext cx="1647825" cy="469106"/>
          </a:xfrm>
          <a:prstGeom prst="rect">
            <a:avLst/>
          </a:prstGeom>
          <a:solidFill>
            <a:srgbClr val="FFFFFF"/>
          </a:solidFill>
          <a:ln w="9525">
            <a:solidFill>
              <a:srgbClr val="C64A22"/>
            </a:solidFill>
            <a:prstDash val="solid"/>
          </a:ln>
        </p:spPr>
      </p:sp>
      <p:sp>
        <p:nvSpPr>
          <p:cNvPr id="49" name="矩形 48"/>
          <p:cNvSpPr>
            <a:spLocks noGrp="1"/>
          </p:cNvSpPr>
          <p:nvPr/>
        </p:nvSpPr>
        <p:spPr>
          <a:xfrm>
            <a:off x="2628900" y="2724150"/>
            <a:ext cx="1628775" cy="450056"/>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大模型/多模态交互</a:t>
            </a:r>
            <a:endParaRPr sz="990" b="1">
              <a:solidFill>
                <a:srgbClr val="3F3A38"/>
              </a:solidFill>
              <a:latin typeface="Noto Sans Hans"/>
              <a:ea typeface="Noto Sans Hans"/>
              <a:cs typeface="Noto Sans Hans"/>
            </a:endParaRPr>
          </a:p>
        </p:txBody>
      </p:sp>
      <p:sp>
        <p:nvSpPr>
          <p:cNvPr id="50" name="矩形 49"/>
          <p:cNvSpPr>
            <a:spLocks noGrp="1"/>
          </p:cNvSpPr>
          <p:nvPr/>
        </p:nvSpPr>
        <p:spPr>
          <a:xfrm>
            <a:off x="4305300" y="2714625"/>
            <a:ext cx="1647825" cy="469106"/>
          </a:xfrm>
          <a:prstGeom prst="rect">
            <a:avLst/>
          </a:prstGeom>
          <a:solidFill>
            <a:srgbClr val="FFFFFF"/>
          </a:solidFill>
          <a:ln w="9525">
            <a:solidFill>
              <a:srgbClr val="C64A22"/>
            </a:solidFill>
            <a:prstDash val="solid"/>
          </a:ln>
        </p:spPr>
      </p:sp>
      <p:sp>
        <p:nvSpPr>
          <p:cNvPr id="51" name="矩形 50"/>
          <p:cNvSpPr>
            <a:spLocks noGrp="1"/>
          </p:cNvSpPr>
          <p:nvPr/>
        </p:nvSpPr>
        <p:spPr>
          <a:xfrm>
            <a:off x="4314825" y="2724150"/>
            <a:ext cx="1628775" cy="450056"/>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导航/群控</a:t>
            </a:r>
            <a:endParaRPr sz="990" b="1">
              <a:solidFill>
                <a:srgbClr val="3F3A38"/>
              </a:solidFill>
              <a:latin typeface="Noto Sans Hans"/>
              <a:ea typeface="Noto Sans Hans"/>
              <a:cs typeface="Noto Sans Hans"/>
            </a:endParaRPr>
          </a:p>
        </p:txBody>
      </p:sp>
      <p:sp>
        <p:nvSpPr>
          <p:cNvPr id="52" name="矩形 51"/>
          <p:cNvSpPr>
            <a:spLocks noGrp="1"/>
          </p:cNvSpPr>
          <p:nvPr/>
        </p:nvSpPr>
        <p:spPr>
          <a:xfrm>
            <a:off x="5991225" y="2714625"/>
            <a:ext cx="1647825" cy="469106"/>
          </a:xfrm>
          <a:prstGeom prst="rect">
            <a:avLst/>
          </a:prstGeom>
          <a:solidFill>
            <a:srgbClr val="FFFFFF"/>
          </a:solidFill>
          <a:ln w="9525">
            <a:solidFill>
              <a:srgbClr val="C64A22"/>
            </a:solidFill>
            <a:prstDash val="solid"/>
          </a:ln>
        </p:spPr>
      </p:sp>
      <p:sp>
        <p:nvSpPr>
          <p:cNvPr id="53" name="矩形 52"/>
          <p:cNvSpPr>
            <a:spLocks noGrp="1"/>
          </p:cNvSpPr>
          <p:nvPr/>
        </p:nvSpPr>
        <p:spPr>
          <a:xfrm>
            <a:off x="6000750" y="2724150"/>
            <a:ext cx="1628775" cy="450056"/>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柔顺与安全控制</a:t>
            </a:r>
            <a:endParaRPr sz="990" b="1">
              <a:solidFill>
                <a:srgbClr val="3F3A38"/>
              </a:solidFill>
              <a:latin typeface="Noto Sans Hans"/>
              <a:ea typeface="Noto Sans Hans"/>
              <a:cs typeface="Noto Sans Hans"/>
            </a:endParaRPr>
          </a:p>
        </p:txBody>
      </p:sp>
      <p:sp>
        <p:nvSpPr>
          <p:cNvPr id="54" name="矩形 53"/>
          <p:cNvSpPr>
            <a:spLocks noGrp="1"/>
          </p:cNvSpPr>
          <p:nvPr/>
        </p:nvSpPr>
        <p:spPr>
          <a:xfrm>
            <a:off x="7677150" y="2714625"/>
            <a:ext cx="1647825" cy="469106"/>
          </a:xfrm>
          <a:prstGeom prst="rect">
            <a:avLst/>
          </a:prstGeom>
          <a:solidFill>
            <a:srgbClr val="FFFFFF"/>
          </a:solidFill>
          <a:ln w="9525">
            <a:solidFill>
              <a:srgbClr val="C64A22"/>
            </a:solidFill>
            <a:prstDash val="solid"/>
          </a:ln>
        </p:spPr>
      </p:sp>
      <p:sp>
        <p:nvSpPr>
          <p:cNvPr id="55" name="矩形 54"/>
          <p:cNvSpPr>
            <a:spLocks noGrp="1"/>
          </p:cNvSpPr>
          <p:nvPr/>
        </p:nvSpPr>
        <p:spPr>
          <a:xfrm>
            <a:off x="7686675" y="2724150"/>
            <a:ext cx="1628775" cy="450056"/>
          </a:xfrm>
          <a:prstGeom prst="rect">
            <a:avLst/>
          </a:prstGeom>
          <a:noFill/>
          <a:ln w="0">
            <a:noFill/>
            <a:prstDash val="solid"/>
          </a:ln>
        </p:spPr>
        <p:txBody>
          <a:bodyPr wrap="square" lIns="47625" tIns="19050" rIns="47625" bIns="19050" anchor="ctr">
            <a:normAutofit/>
          </a:bodyPr>
          <a:lstStyle/>
          <a:p>
            <a:pPr algn="ctr">
              <a:defRPr sz="990"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脑机/肌电意图识别</a:t>
            </a:r>
            <a:endParaRPr sz="990" b="1">
              <a:solidFill>
                <a:srgbClr val="3F3A38"/>
              </a:solidFill>
              <a:latin typeface="Noto Sans Hans"/>
              <a:ea typeface="Noto Sans Hans"/>
              <a:cs typeface="Noto Sans Hans"/>
            </a:endParaRPr>
          </a:p>
        </p:txBody>
      </p:sp>
      <p:sp>
        <p:nvSpPr>
          <p:cNvPr id="56" name="矩形 55"/>
          <p:cNvSpPr>
            <a:spLocks noGrp="1"/>
          </p:cNvSpPr>
          <p:nvPr/>
        </p:nvSpPr>
        <p:spPr>
          <a:xfrm>
            <a:off x="2619375" y="3212306"/>
            <a:ext cx="1647825" cy="469106"/>
          </a:xfrm>
          <a:prstGeom prst="rect">
            <a:avLst/>
          </a:prstGeom>
          <a:solidFill>
            <a:srgbClr val="FFFFFF"/>
          </a:solidFill>
          <a:ln w="9525">
            <a:solidFill>
              <a:srgbClr val="C64A22"/>
            </a:solidFill>
            <a:prstDash val="solid"/>
          </a:ln>
        </p:spPr>
      </p:sp>
      <p:sp>
        <p:nvSpPr>
          <p:cNvPr id="57" name="矩形 56"/>
          <p:cNvSpPr>
            <a:spLocks noGrp="1"/>
          </p:cNvSpPr>
          <p:nvPr/>
        </p:nvSpPr>
        <p:spPr>
          <a:xfrm>
            <a:off x="2628900" y="3221831"/>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康复机器人</a:t>
            </a:r>
            <a:endParaRPr sz="990" b="0">
              <a:solidFill>
                <a:srgbClr val="3F3A38"/>
              </a:solidFill>
              <a:latin typeface="Noto Sans Hans"/>
              <a:ea typeface="Noto Sans Hans"/>
              <a:cs typeface="Noto Sans Hans"/>
            </a:endParaRPr>
          </a:p>
        </p:txBody>
      </p:sp>
      <p:sp>
        <p:nvSpPr>
          <p:cNvPr id="58" name="矩形 57"/>
          <p:cNvSpPr>
            <a:spLocks noGrp="1"/>
          </p:cNvSpPr>
          <p:nvPr/>
        </p:nvSpPr>
        <p:spPr>
          <a:xfrm>
            <a:off x="4305300" y="3212306"/>
            <a:ext cx="1647825" cy="469106"/>
          </a:xfrm>
          <a:prstGeom prst="rect">
            <a:avLst/>
          </a:prstGeom>
          <a:solidFill>
            <a:srgbClr val="FFFFFF"/>
          </a:solidFill>
          <a:ln w="9525">
            <a:solidFill>
              <a:srgbClr val="C64A22"/>
            </a:solidFill>
            <a:prstDash val="solid"/>
          </a:ln>
        </p:spPr>
      </p:sp>
      <p:sp>
        <p:nvSpPr>
          <p:cNvPr id="59" name="矩形 58"/>
          <p:cNvSpPr>
            <a:spLocks noGrp="1"/>
          </p:cNvSpPr>
          <p:nvPr/>
        </p:nvSpPr>
        <p:spPr>
          <a:xfrm>
            <a:off x="4314825" y="3221831"/>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护理机器人</a:t>
            </a:r>
            <a:endParaRPr sz="990" b="0">
              <a:solidFill>
                <a:srgbClr val="3F3A38"/>
              </a:solidFill>
              <a:latin typeface="Noto Sans Hans"/>
              <a:ea typeface="Noto Sans Hans"/>
              <a:cs typeface="Noto Sans Hans"/>
            </a:endParaRPr>
          </a:p>
        </p:txBody>
      </p:sp>
      <p:sp>
        <p:nvSpPr>
          <p:cNvPr id="60" name="矩形 59"/>
          <p:cNvSpPr>
            <a:spLocks noGrp="1"/>
          </p:cNvSpPr>
          <p:nvPr/>
        </p:nvSpPr>
        <p:spPr>
          <a:xfrm>
            <a:off x="5991225" y="3212306"/>
            <a:ext cx="1647825" cy="469106"/>
          </a:xfrm>
          <a:prstGeom prst="rect">
            <a:avLst/>
          </a:prstGeom>
          <a:solidFill>
            <a:srgbClr val="FFFFFF"/>
          </a:solidFill>
          <a:ln w="9525">
            <a:solidFill>
              <a:srgbClr val="C64A22"/>
            </a:solidFill>
            <a:prstDash val="solid"/>
          </a:ln>
        </p:spPr>
      </p:sp>
      <p:sp>
        <p:nvSpPr>
          <p:cNvPr id="61" name="矩形 60"/>
          <p:cNvSpPr>
            <a:spLocks noGrp="1"/>
          </p:cNvSpPr>
          <p:nvPr/>
        </p:nvSpPr>
        <p:spPr>
          <a:xfrm>
            <a:off x="6000750" y="3221831"/>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lang="zh-CN" sz="990" b="0">
                <a:solidFill>
                  <a:srgbClr val="3F3A38"/>
                </a:solidFill>
                <a:latin typeface="Noto Sans Hans"/>
                <a:ea typeface="Noto Sans Hans"/>
                <a:cs typeface="Noto Sans Hans"/>
              </a:rPr>
              <a:t>陪伴</a:t>
            </a:r>
            <a:r>
              <a:rPr lang="zh-CN" sz="990" b="0">
                <a:solidFill>
                  <a:srgbClr val="3F3A38"/>
                </a:solidFill>
                <a:latin typeface="Noto Sans Hans"/>
                <a:ea typeface="Noto Sans Hans"/>
                <a:cs typeface="Noto Sans Hans"/>
              </a:rPr>
              <a:t>机器人</a:t>
            </a:r>
            <a:endParaRPr lang="zh-CN" sz="990" b="0">
              <a:solidFill>
                <a:srgbClr val="3F3A38"/>
              </a:solidFill>
              <a:latin typeface="Noto Sans Hans"/>
              <a:ea typeface="Noto Sans Hans"/>
              <a:cs typeface="Noto Sans Hans"/>
            </a:endParaRPr>
          </a:p>
        </p:txBody>
      </p:sp>
      <p:sp>
        <p:nvSpPr>
          <p:cNvPr id="62" name="矩形 61"/>
          <p:cNvSpPr>
            <a:spLocks noGrp="1"/>
          </p:cNvSpPr>
          <p:nvPr/>
        </p:nvSpPr>
        <p:spPr>
          <a:xfrm>
            <a:off x="7677150" y="3212306"/>
            <a:ext cx="1647825" cy="469106"/>
          </a:xfrm>
          <a:prstGeom prst="rect">
            <a:avLst/>
          </a:prstGeom>
          <a:solidFill>
            <a:srgbClr val="FFFFFF"/>
          </a:solidFill>
          <a:ln w="9525">
            <a:solidFill>
              <a:srgbClr val="C64A22"/>
            </a:solidFill>
            <a:prstDash val="solid"/>
          </a:ln>
        </p:spPr>
      </p:sp>
      <p:sp>
        <p:nvSpPr>
          <p:cNvPr id="63" name="矩形 62"/>
          <p:cNvSpPr>
            <a:spLocks noGrp="1"/>
          </p:cNvSpPr>
          <p:nvPr/>
        </p:nvSpPr>
        <p:spPr>
          <a:xfrm>
            <a:off x="7686675" y="3221831"/>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lang="zh-CN" sz="990" b="0">
                <a:solidFill>
                  <a:srgbClr val="3F3A38"/>
                </a:solidFill>
                <a:latin typeface="Noto Sans Hans"/>
                <a:ea typeface="Noto Sans Hans"/>
                <a:cs typeface="Noto Sans Hans"/>
              </a:rPr>
              <a:t>运营</a:t>
            </a:r>
            <a:r>
              <a:rPr sz="990" b="0">
                <a:solidFill>
                  <a:srgbClr val="3F3A38"/>
                </a:solidFill>
                <a:latin typeface="Noto Sans Hans"/>
                <a:ea typeface="Noto Sans Hans"/>
                <a:cs typeface="Noto Sans Hans"/>
              </a:rPr>
              <a:t>机器人</a:t>
            </a:r>
            <a:endParaRPr sz="990" b="0">
              <a:solidFill>
                <a:srgbClr val="3F3A38"/>
              </a:solidFill>
              <a:latin typeface="Noto Sans Hans"/>
              <a:ea typeface="Noto Sans Hans"/>
              <a:cs typeface="Noto Sans Hans"/>
            </a:endParaRPr>
          </a:p>
        </p:txBody>
      </p:sp>
      <p:sp>
        <p:nvSpPr>
          <p:cNvPr id="64" name="矩形 63"/>
          <p:cNvSpPr>
            <a:spLocks noGrp="1"/>
          </p:cNvSpPr>
          <p:nvPr/>
        </p:nvSpPr>
        <p:spPr>
          <a:xfrm>
            <a:off x="2619375" y="3709988"/>
            <a:ext cx="1647825" cy="469106"/>
          </a:xfrm>
          <a:prstGeom prst="rect">
            <a:avLst/>
          </a:prstGeom>
          <a:solidFill>
            <a:srgbClr val="FFFFFF"/>
          </a:solidFill>
          <a:ln w="9525">
            <a:solidFill>
              <a:srgbClr val="C64A22"/>
            </a:solidFill>
            <a:prstDash val="solid"/>
          </a:ln>
        </p:spPr>
      </p:sp>
      <p:sp>
        <p:nvSpPr>
          <p:cNvPr id="65" name="矩形 64"/>
          <p:cNvSpPr>
            <a:spLocks noGrp="1"/>
          </p:cNvSpPr>
          <p:nvPr/>
        </p:nvSpPr>
        <p:spPr>
          <a:xfrm>
            <a:off x="2628900" y="3719513"/>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上肢/下肢/外骨骼</a:t>
            </a:r>
            <a:endParaRPr sz="990" b="0">
              <a:solidFill>
                <a:srgbClr val="3F3A38"/>
              </a:solidFill>
              <a:latin typeface="Noto Sans Hans"/>
              <a:ea typeface="Noto Sans Hans"/>
              <a:cs typeface="Noto Sans Hans"/>
            </a:endParaRPr>
          </a:p>
        </p:txBody>
      </p:sp>
      <p:sp>
        <p:nvSpPr>
          <p:cNvPr id="66" name="矩形 65"/>
          <p:cNvSpPr>
            <a:spLocks noGrp="1"/>
          </p:cNvSpPr>
          <p:nvPr/>
        </p:nvSpPr>
        <p:spPr>
          <a:xfrm>
            <a:off x="4305300" y="3709988"/>
            <a:ext cx="1647825" cy="469106"/>
          </a:xfrm>
          <a:prstGeom prst="rect">
            <a:avLst/>
          </a:prstGeom>
          <a:solidFill>
            <a:srgbClr val="FFFFFF"/>
          </a:solidFill>
          <a:ln w="9525">
            <a:solidFill>
              <a:srgbClr val="C64A22"/>
            </a:solidFill>
            <a:prstDash val="solid"/>
          </a:ln>
        </p:spPr>
      </p:sp>
      <p:sp>
        <p:nvSpPr>
          <p:cNvPr id="67" name="矩形 66"/>
          <p:cNvSpPr>
            <a:spLocks noGrp="1"/>
          </p:cNvSpPr>
          <p:nvPr/>
        </p:nvSpPr>
        <p:spPr>
          <a:xfrm>
            <a:off x="4314825" y="3719513"/>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移乘/排泄/助浴</a:t>
            </a:r>
            <a:endParaRPr sz="990" b="0">
              <a:solidFill>
                <a:srgbClr val="3F3A38"/>
              </a:solidFill>
              <a:latin typeface="Noto Sans Hans"/>
              <a:ea typeface="Noto Sans Hans"/>
              <a:cs typeface="Noto Sans Hans"/>
            </a:endParaRPr>
          </a:p>
        </p:txBody>
      </p:sp>
      <p:sp>
        <p:nvSpPr>
          <p:cNvPr id="68" name="矩形 67"/>
          <p:cNvSpPr>
            <a:spLocks noGrp="1"/>
          </p:cNvSpPr>
          <p:nvPr/>
        </p:nvSpPr>
        <p:spPr>
          <a:xfrm>
            <a:off x="5991225" y="3709988"/>
            <a:ext cx="1647825" cy="469106"/>
          </a:xfrm>
          <a:prstGeom prst="rect">
            <a:avLst/>
          </a:prstGeom>
          <a:solidFill>
            <a:srgbClr val="FFFFFF"/>
          </a:solidFill>
          <a:ln w="9525">
            <a:solidFill>
              <a:srgbClr val="C64A22"/>
            </a:solidFill>
            <a:prstDash val="solid"/>
          </a:ln>
        </p:spPr>
      </p:sp>
      <p:sp>
        <p:nvSpPr>
          <p:cNvPr id="69" name="矩形 68"/>
          <p:cNvSpPr>
            <a:spLocks noGrp="1"/>
          </p:cNvSpPr>
          <p:nvPr/>
        </p:nvSpPr>
        <p:spPr>
          <a:xfrm>
            <a:off x="6000750" y="3719513"/>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lang="zh-CN" sz="990" b="0">
                <a:solidFill>
                  <a:srgbClr val="3F3A38"/>
                </a:solidFill>
                <a:latin typeface="Noto Sans Hans"/>
                <a:ea typeface="Noto Sans Hans"/>
                <a:cs typeface="Noto Sans Hans"/>
              </a:rPr>
              <a:t>问答</a:t>
            </a:r>
            <a:r>
              <a:rPr lang="en-US" altLang="zh-CN" sz="990" b="0">
                <a:solidFill>
                  <a:srgbClr val="3F3A38"/>
                </a:solidFill>
                <a:latin typeface="Noto Sans Hans"/>
                <a:ea typeface="Noto Sans Hans"/>
                <a:cs typeface="Noto Sans Hans"/>
              </a:rPr>
              <a:t>/</a:t>
            </a:r>
            <a:r>
              <a:rPr lang="zh-CN" altLang="en-US" sz="990" b="0">
                <a:solidFill>
                  <a:srgbClr val="3F3A38"/>
                </a:solidFill>
                <a:latin typeface="Noto Sans Hans"/>
                <a:ea typeface="Noto Sans Hans"/>
                <a:cs typeface="Noto Sans Hans"/>
              </a:rPr>
              <a:t>提醒</a:t>
            </a:r>
            <a:r>
              <a:rPr lang="en-US" altLang="zh-CN" sz="990" b="0">
                <a:solidFill>
                  <a:srgbClr val="3F3A38"/>
                </a:solidFill>
                <a:latin typeface="Noto Sans Hans"/>
                <a:ea typeface="Noto Sans Hans"/>
                <a:cs typeface="Noto Sans Hans"/>
              </a:rPr>
              <a:t>/</a:t>
            </a:r>
            <a:r>
              <a:rPr lang="zh-CN" altLang="en-US" sz="990" b="0">
                <a:solidFill>
                  <a:srgbClr val="3F3A38"/>
                </a:solidFill>
                <a:latin typeface="Noto Sans Hans"/>
                <a:ea typeface="Noto Sans Hans"/>
                <a:cs typeface="Noto Sans Hans"/>
              </a:rPr>
              <a:t>远程</a:t>
            </a:r>
            <a:r>
              <a:rPr lang="zh-CN" altLang="en-US" sz="990" b="0">
                <a:solidFill>
                  <a:srgbClr val="3F3A38"/>
                </a:solidFill>
                <a:latin typeface="Noto Sans Hans"/>
                <a:ea typeface="Noto Sans Hans"/>
                <a:cs typeface="Noto Sans Hans"/>
              </a:rPr>
              <a:t>看护</a:t>
            </a:r>
            <a:endParaRPr lang="zh-CN" altLang="en-US" sz="990" b="0">
              <a:solidFill>
                <a:srgbClr val="3F3A38"/>
              </a:solidFill>
              <a:latin typeface="Noto Sans Hans"/>
              <a:ea typeface="Noto Sans Hans"/>
              <a:cs typeface="Noto Sans Hans"/>
            </a:endParaRPr>
          </a:p>
        </p:txBody>
      </p:sp>
      <p:sp>
        <p:nvSpPr>
          <p:cNvPr id="70" name="矩形 69"/>
          <p:cNvSpPr>
            <a:spLocks noGrp="1"/>
          </p:cNvSpPr>
          <p:nvPr/>
        </p:nvSpPr>
        <p:spPr>
          <a:xfrm>
            <a:off x="7677150" y="3709988"/>
            <a:ext cx="1647825" cy="469106"/>
          </a:xfrm>
          <a:prstGeom prst="rect">
            <a:avLst/>
          </a:prstGeom>
          <a:solidFill>
            <a:srgbClr val="FFFFFF"/>
          </a:solidFill>
          <a:ln w="9525">
            <a:solidFill>
              <a:srgbClr val="C64A22"/>
            </a:solidFill>
            <a:prstDash val="solid"/>
          </a:ln>
        </p:spPr>
      </p:sp>
      <p:sp>
        <p:nvSpPr>
          <p:cNvPr id="71" name="矩形 70"/>
          <p:cNvSpPr>
            <a:spLocks noGrp="1"/>
          </p:cNvSpPr>
          <p:nvPr/>
        </p:nvSpPr>
        <p:spPr>
          <a:xfrm>
            <a:off x="7686675" y="3719513"/>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a:sym typeface="+mn-ea"/>
              </a:rPr>
              <a:t>配送/清洁/巡检</a:t>
            </a:r>
            <a:endParaRPr sz="990" b="0">
              <a:solidFill>
                <a:srgbClr val="3F3A38"/>
              </a:solidFill>
              <a:latin typeface="Noto Sans Hans"/>
              <a:ea typeface="Noto Sans Hans"/>
              <a:cs typeface="Noto Sans Hans"/>
            </a:endParaRPr>
          </a:p>
        </p:txBody>
      </p:sp>
      <p:sp>
        <p:nvSpPr>
          <p:cNvPr id="72" name="矩形 71"/>
          <p:cNvSpPr>
            <a:spLocks noGrp="1"/>
          </p:cNvSpPr>
          <p:nvPr/>
        </p:nvSpPr>
        <p:spPr>
          <a:xfrm>
            <a:off x="2619375" y="4207669"/>
            <a:ext cx="1647825" cy="469106"/>
          </a:xfrm>
          <a:prstGeom prst="rect">
            <a:avLst/>
          </a:prstGeom>
          <a:solidFill>
            <a:srgbClr val="FFFFFF"/>
          </a:solidFill>
          <a:ln w="9525">
            <a:solidFill>
              <a:srgbClr val="C64A22"/>
            </a:solidFill>
            <a:prstDash val="solid"/>
          </a:ln>
        </p:spPr>
      </p:sp>
      <p:sp>
        <p:nvSpPr>
          <p:cNvPr id="73" name="矩形 72"/>
          <p:cNvSpPr>
            <a:spLocks noGrp="1"/>
          </p:cNvSpPr>
          <p:nvPr/>
        </p:nvSpPr>
        <p:spPr>
          <a:xfrm>
            <a:off x="2628900" y="4217194"/>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设备接入与工单</a:t>
            </a:r>
            <a:endParaRPr sz="990" b="0">
              <a:solidFill>
                <a:srgbClr val="3F3A38"/>
              </a:solidFill>
              <a:latin typeface="Noto Sans Hans"/>
              <a:ea typeface="Noto Sans Hans"/>
              <a:cs typeface="Noto Sans Hans"/>
            </a:endParaRPr>
          </a:p>
        </p:txBody>
      </p:sp>
      <p:sp>
        <p:nvSpPr>
          <p:cNvPr id="74" name="矩形 73"/>
          <p:cNvSpPr>
            <a:spLocks noGrp="1"/>
          </p:cNvSpPr>
          <p:nvPr/>
        </p:nvSpPr>
        <p:spPr>
          <a:xfrm>
            <a:off x="4305300" y="4207669"/>
            <a:ext cx="1647825" cy="469106"/>
          </a:xfrm>
          <a:prstGeom prst="rect">
            <a:avLst/>
          </a:prstGeom>
          <a:solidFill>
            <a:srgbClr val="FFFFFF"/>
          </a:solidFill>
          <a:ln w="9525">
            <a:solidFill>
              <a:srgbClr val="C64A22"/>
            </a:solidFill>
            <a:prstDash val="solid"/>
          </a:ln>
        </p:spPr>
      </p:sp>
      <p:sp>
        <p:nvSpPr>
          <p:cNvPr id="75" name="矩形 74"/>
          <p:cNvSpPr>
            <a:spLocks noGrp="1"/>
          </p:cNvSpPr>
          <p:nvPr/>
        </p:nvSpPr>
        <p:spPr>
          <a:xfrm>
            <a:off x="4314825" y="4217194"/>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健康档案/数据平台</a:t>
            </a:r>
            <a:endParaRPr sz="990" b="0">
              <a:solidFill>
                <a:srgbClr val="3F3A38"/>
              </a:solidFill>
              <a:latin typeface="Noto Sans Hans"/>
              <a:ea typeface="Noto Sans Hans"/>
              <a:cs typeface="Noto Sans Hans"/>
            </a:endParaRPr>
          </a:p>
        </p:txBody>
      </p:sp>
      <p:sp>
        <p:nvSpPr>
          <p:cNvPr id="76" name="矩形 75"/>
          <p:cNvSpPr>
            <a:spLocks noGrp="1"/>
          </p:cNvSpPr>
          <p:nvPr/>
        </p:nvSpPr>
        <p:spPr>
          <a:xfrm>
            <a:off x="5991225" y="4207669"/>
            <a:ext cx="1647825" cy="469106"/>
          </a:xfrm>
          <a:prstGeom prst="rect">
            <a:avLst/>
          </a:prstGeom>
          <a:solidFill>
            <a:srgbClr val="FFFFFF"/>
          </a:solidFill>
          <a:ln w="9525">
            <a:solidFill>
              <a:srgbClr val="C64A22"/>
            </a:solidFill>
            <a:prstDash val="solid"/>
          </a:ln>
        </p:spPr>
      </p:sp>
      <p:sp>
        <p:nvSpPr>
          <p:cNvPr id="77" name="矩形 76"/>
          <p:cNvSpPr>
            <a:spLocks noGrp="1"/>
          </p:cNvSpPr>
          <p:nvPr/>
        </p:nvSpPr>
        <p:spPr>
          <a:xfrm>
            <a:off x="6000750" y="4217194"/>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a:sym typeface="+mn-ea"/>
              </a:rPr>
              <a:t>租赁/按床按次付费</a:t>
            </a:r>
            <a:endParaRPr sz="990" b="0">
              <a:solidFill>
                <a:srgbClr val="3F3A38"/>
              </a:solidFill>
              <a:latin typeface="Noto Sans Hans"/>
              <a:ea typeface="Noto Sans Hans"/>
              <a:cs typeface="Noto Sans Hans"/>
            </a:endParaRPr>
          </a:p>
        </p:txBody>
      </p:sp>
      <p:sp>
        <p:nvSpPr>
          <p:cNvPr id="78" name="矩形 77"/>
          <p:cNvSpPr>
            <a:spLocks noGrp="1"/>
          </p:cNvSpPr>
          <p:nvPr/>
        </p:nvSpPr>
        <p:spPr>
          <a:xfrm>
            <a:off x="7677150" y="4207669"/>
            <a:ext cx="1647825" cy="469106"/>
          </a:xfrm>
          <a:prstGeom prst="rect">
            <a:avLst/>
          </a:prstGeom>
          <a:solidFill>
            <a:srgbClr val="FFFFFF"/>
          </a:solidFill>
          <a:ln w="9525">
            <a:solidFill>
              <a:srgbClr val="C64A22"/>
            </a:solidFill>
            <a:prstDash val="solid"/>
          </a:ln>
        </p:spPr>
      </p:sp>
      <p:sp>
        <p:nvSpPr>
          <p:cNvPr id="79" name="矩形 78"/>
          <p:cNvSpPr>
            <a:spLocks noGrp="1"/>
          </p:cNvSpPr>
          <p:nvPr/>
        </p:nvSpPr>
        <p:spPr>
          <a:xfrm>
            <a:off x="7686675" y="4217194"/>
            <a:ext cx="1628775" cy="450056"/>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lang="en-US" sz="990" b="0">
                <a:solidFill>
                  <a:srgbClr val="3F3A38"/>
                </a:solidFill>
                <a:latin typeface="Noto Sans Hans"/>
                <a:ea typeface="Noto Sans Hans"/>
                <a:cs typeface="Noto Sans Hans"/>
              </a:rPr>
              <a:t>RaaS</a:t>
            </a:r>
            <a:r>
              <a:rPr lang="zh-CN" altLang="en-US" sz="990" b="0">
                <a:solidFill>
                  <a:srgbClr val="3F3A38"/>
                </a:solidFill>
                <a:latin typeface="Noto Sans Hans"/>
                <a:ea typeface="Noto Sans Hans"/>
                <a:cs typeface="Noto Sans Hans"/>
              </a:rPr>
              <a:t>远程</a:t>
            </a:r>
            <a:r>
              <a:rPr lang="zh-CN" altLang="en-US" sz="990" b="0">
                <a:solidFill>
                  <a:srgbClr val="3F3A38"/>
                </a:solidFill>
                <a:latin typeface="Noto Sans Hans"/>
                <a:ea typeface="Noto Sans Hans"/>
                <a:cs typeface="Noto Sans Hans"/>
              </a:rPr>
              <a:t>运维</a:t>
            </a:r>
            <a:endParaRPr lang="zh-CN" altLang="en-US" sz="990" b="0">
              <a:solidFill>
                <a:srgbClr val="3F3A38"/>
              </a:solidFill>
              <a:latin typeface="Noto Sans Hans"/>
              <a:ea typeface="Noto Sans Hans"/>
              <a:cs typeface="Noto Sans Hans"/>
            </a:endParaRPr>
          </a:p>
        </p:txBody>
      </p:sp>
      <p:sp>
        <p:nvSpPr>
          <p:cNvPr id="80" name="矩形 79"/>
          <p:cNvSpPr>
            <a:spLocks noGrp="1"/>
          </p:cNvSpPr>
          <p:nvPr/>
        </p:nvSpPr>
        <p:spPr>
          <a:xfrm>
            <a:off x="2619375" y="4705350"/>
            <a:ext cx="6705600" cy="295275"/>
          </a:xfrm>
          <a:prstGeom prst="rect">
            <a:avLst/>
          </a:prstGeom>
          <a:solidFill>
            <a:srgbClr val="F8E7E0"/>
          </a:solidFill>
          <a:ln w="0">
            <a:noFill/>
            <a:prstDash val="solid"/>
          </a:ln>
        </p:spPr>
      </p:sp>
      <p:sp>
        <p:nvSpPr>
          <p:cNvPr id="81" name="矩形 80"/>
          <p:cNvSpPr>
            <a:spLocks noGrp="1"/>
          </p:cNvSpPr>
          <p:nvPr/>
        </p:nvSpPr>
        <p:spPr>
          <a:xfrm>
            <a:off x="2657475" y="4714875"/>
            <a:ext cx="6629400" cy="276225"/>
          </a:xfrm>
          <a:prstGeom prst="rect">
            <a:avLst/>
          </a:prstGeom>
          <a:noFill/>
          <a:ln w="0">
            <a:noFill/>
            <a:prstDash val="solid"/>
          </a:ln>
        </p:spPr>
        <p:txBody>
          <a:bodyPr wrap="square" lIns="47625" tIns="19050" rIns="47625" bIns="19050" anchor="ctr">
            <a:normAutofit/>
          </a:bodyPr>
          <a:lstStyle/>
          <a:p>
            <a:pPr algn="l">
              <a:defRPr sz="865" b="1">
                <a:solidFill>
                  <a:srgbClr val="C64A22"/>
                </a:solidFill>
                <a:latin typeface="Noto Sans Hans"/>
                <a:ea typeface="Noto Sans Hans"/>
                <a:cs typeface="Noto Sans Hans"/>
              </a:defRPr>
            </a:pPr>
            <a:r>
              <a:rPr sz="865" b="1">
                <a:solidFill>
                  <a:srgbClr val="C64A22"/>
                </a:solidFill>
                <a:latin typeface="Noto Sans Hans"/>
                <a:ea typeface="Noto Sans Hans"/>
                <a:cs typeface="Noto Sans Hans"/>
              </a:rPr>
              <a:t>代表企业：傅利叶、程天、翔宇、优必选｜擎朗、普渡、光谷东智｜呵康、顶智智造、武汉海沁</a:t>
            </a:r>
            <a:endParaRPr sz="865" b="1">
              <a:solidFill>
                <a:srgbClr val="C64A22"/>
              </a:solidFill>
              <a:latin typeface="Noto Sans Hans"/>
              <a:ea typeface="Noto Sans Hans"/>
              <a:cs typeface="Noto Sans Hans"/>
            </a:endParaRPr>
          </a:p>
        </p:txBody>
      </p:sp>
      <p:sp>
        <p:nvSpPr>
          <p:cNvPr id="82" name="矩形 81"/>
          <p:cNvSpPr>
            <a:spLocks noGrp="1"/>
          </p:cNvSpPr>
          <p:nvPr/>
        </p:nvSpPr>
        <p:spPr>
          <a:xfrm>
            <a:off x="238125" y="5095875"/>
            <a:ext cx="1200150" cy="1285875"/>
          </a:xfrm>
          <a:prstGeom prst="rect">
            <a:avLst/>
          </a:prstGeom>
          <a:solidFill>
            <a:srgbClr val="876200"/>
          </a:solidFill>
          <a:ln w="0">
            <a:noFill/>
            <a:prstDash val="solid"/>
          </a:ln>
        </p:spPr>
      </p:sp>
      <p:sp>
        <p:nvSpPr>
          <p:cNvPr id="83" name="矩形 82"/>
          <p:cNvSpPr>
            <a:spLocks noGrp="1"/>
          </p:cNvSpPr>
          <p:nvPr/>
        </p:nvSpPr>
        <p:spPr>
          <a:xfrm>
            <a:off x="285750" y="5143500"/>
            <a:ext cx="1104900" cy="1190625"/>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下游应用层</a:t>
            </a:r>
            <a:endParaRPr sz="1350" b="1">
              <a:solidFill>
                <a:srgbClr val="FFFFFF"/>
              </a:solidFill>
              <a:latin typeface="Noto Sans Hans"/>
              <a:ea typeface="Noto Sans Hans"/>
              <a:cs typeface="Noto Sans Hans"/>
            </a:endParaRPr>
          </a:p>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场景 + 服务</a:t>
            </a:r>
            <a:endParaRPr sz="1350" b="1">
              <a:solidFill>
                <a:srgbClr val="FFFFFF"/>
              </a:solidFill>
              <a:latin typeface="Noto Sans Hans"/>
              <a:ea typeface="Noto Sans Hans"/>
              <a:cs typeface="Noto Sans Hans"/>
            </a:endParaRPr>
          </a:p>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（商业闭环）</a:t>
            </a:r>
            <a:endParaRPr sz="1350" b="1">
              <a:solidFill>
                <a:srgbClr val="FFFFFF"/>
              </a:solidFill>
              <a:latin typeface="Noto Sans Hans"/>
              <a:ea typeface="Noto Sans Hans"/>
              <a:cs typeface="Noto Sans Hans"/>
            </a:endParaRPr>
          </a:p>
        </p:txBody>
      </p:sp>
      <p:sp>
        <p:nvSpPr>
          <p:cNvPr id="84" name="矩形 83"/>
          <p:cNvSpPr>
            <a:spLocks noGrp="1"/>
          </p:cNvSpPr>
          <p:nvPr/>
        </p:nvSpPr>
        <p:spPr>
          <a:xfrm>
            <a:off x="1457325" y="5095875"/>
            <a:ext cx="1162050" cy="704850"/>
          </a:xfrm>
          <a:prstGeom prst="rect">
            <a:avLst/>
          </a:prstGeom>
          <a:solidFill>
            <a:srgbClr val="876200"/>
          </a:solidFill>
          <a:ln w="9525">
            <a:solidFill>
              <a:srgbClr val="FFFFFF"/>
            </a:solidFill>
            <a:prstDash val="solid"/>
          </a:ln>
        </p:spPr>
      </p:sp>
      <p:sp>
        <p:nvSpPr>
          <p:cNvPr id="85" name="矩形 84"/>
          <p:cNvSpPr>
            <a:spLocks noGrp="1"/>
          </p:cNvSpPr>
          <p:nvPr/>
        </p:nvSpPr>
        <p:spPr>
          <a:xfrm>
            <a:off x="1485900" y="5114925"/>
            <a:ext cx="1104900" cy="6667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应用场景</a:t>
            </a:r>
            <a:endParaRPr sz="1125" b="1">
              <a:solidFill>
                <a:srgbClr val="FFFFFF"/>
              </a:solidFill>
              <a:latin typeface="Noto Sans Hans"/>
              <a:ea typeface="Noto Sans Hans"/>
              <a:cs typeface="Noto Sans Hans"/>
            </a:endParaRPr>
          </a:p>
        </p:txBody>
      </p:sp>
      <p:sp>
        <p:nvSpPr>
          <p:cNvPr id="86" name="矩形 85"/>
          <p:cNvSpPr>
            <a:spLocks noGrp="1"/>
          </p:cNvSpPr>
          <p:nvPr/>
        </p:nvSpPr>
        <p:spPr>
          <a:xfrm>
            <a:off x="1457325" y="5800725"/>
            <a:ext cx="1162050" cy="581025"/>
          </a:xfrm>
          <a:prstGeom prst="rect">
            <a:avLst/>
          </a:prstGeom>
          <a:solidFill>
            <a:srgbClr val="876200"/>
          </a:solidFill>
          <a:ln w="9525">
            <a:solidFill>
              <a:srgbClr val="FFFFFF"/>
            </a:solidFill>
            <a:prstDash val="solid"/>
          </a:ln>
        </p:spPr>
      </p:sp>
      <p:sp>
        <p:nvSpPr>
          <p:cNvPr id="87" name="矩形 86"/>
          <p:cNvSpPr>
            <a:spLocks noGrp="1"/>
          </p:cNvSpPr>
          <p:nvPr/>
        </p:nvSpPr>
        <p:spPr>
          <a:xfrm>
            <a:off x="1485900" y="5819775"/>
            <a:ext cx="1104900" cy="542925"/>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配套服务</a:t>
            </a:r>
            <a:endParaRPr sz="1125" b="1">
              <a:solidFill>
                <a:srgbClr val="FFFFFF"/>
              </a:solidFill>
              <a:latin typeface="Noto Sans Hans"/>
              <a:ea typeface="Noto Sans Hans"/>
              <a:cs typeface="Noto Sans Hans"/>
            </a:endParaRPr>
          </a:p>
        </p:txBody>
      </p:sp>
      <p:sp>
        <p:nvSpPr>
          <p:cNvPr id="88" name="矩形 87"/>
          <p:cNvSpPr>
            <a:spLocks noGrp="1"/>
          </p:cNvSpPr>
          <p:nvPr/>
        </p:nvSpPr>
        <p:spPr>
          <a:xfrm>
            <a:off x="2619375" y="5095875"/>
            <a:ext cx="1647825" cy="466725"/>
          </a:xfrm>
          <a:prstGeom prst="rect">
            <a:avLst/>
          </a:prstGeom>
          <a:solidFill>
            <a:srgbClr val="FFFFFF"/>
          </a:solidFill>
          <a:ln w="9525">
            <a:solidFill>
              <a:srgbClr val="876200"/>
            </a:solidFill>
            <a:prstDash val="solid"/>
          </a:ln>
        </p:spPr>
      </p:sp>
      <p:sp>
        <p:nvSpPr>
          <p:cNvPr id="89" name="矩形 88"/>
          <p:cNvSpPr>
            <a:spLocks noGrp="1"/>
          </p:cNvSpPr>
          <p:nvPr/>
        </p:nvSpPr>
        <p:spPr>
          <a:xfrm>
            <a:off x="2628900" y="51054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医院/康复中心</a:t>
            </a:r>
            <a:endParaRPr sz="990" b="0">
              <a:solidFill>
                <a:srgbClr val="3F3A38"/>
              </a:solidFill>
              <a:latin typeface="Noto Sans Hans"/>
              <a:ea typeface="Noto Sans Hans"/>
              <a:cs typeface="Noto Sans Hans"/>
            </a:endParaRPr>
          </a:p>
        </p:txBody>
      </p:sp>
      <p:sp>
        <p:nvSpPr>
          <p:cNvPr id="90" name="矩形 89"/>
          <p:cNvSpPr>
            <a:spLocks noGrp="1"/>
          </p:cNvSpPr>
          <p:nvPr/>
        </p:nvSpPr>
        <p:spPr>
          <a:xfrm>
            <a:off x="4305300" y="5095875"/>
            <a:ext cx="1647825" cy="466725"/>
          </a:xfrm>
          <a:prstGeom prst="rect">
            <a:avLst/>
          </a:prstGeom>
          <a:solidFill>
            <a:srgbClr val="FFFFFF"/>
          </a:solidFill>
          <a:ln w="9525">
            <a:solidFill>
              <a:srgbClr val="876200"/>
            </a:solidFill>
            <a:prstDash val="solid"/>
          </a:ln>
        </p:spPr>
      </p:sp>
      <p:sp>
        <p:nvSpPr>
          <p:cNvPr id="91" name="矩形 90"/>
          <p:cNvSpPr>
            <a:spLocks noGrp="1"/>
          </p:cNvSpPr>
          <p:nvPr/>
        </p:nvSpPr>
        <p:spPr>
          <a:xfrm>
            <a:off x="4314825" y="51054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养老机构</a:t>
            </a:r>
            <a:endParaRPr sz="990" b="0">
              <a:solidFill>
                <a:srgbClr val="3F3A38"/>
              </a:solidFill>
              <a:latin typeface="Noto Sans Hans"/>
              <a:ea typeface="Noto Sans Hans"/>
              <a:cs typeface="Noto Sans Hans"/>
            </a:endParaRPr>
          </a:p>
        </p:txBody>
      </p:sp>
      <p:sp>
        <p:nvSpPr>
          <p:cNvPr id="92" name="矩形 91"/>
          <p:cNvSpPr>
            <a:spLocks noGrp="1"/>
          </p:cNvSpPr>
          <p:nvPr/>
        </p:nvSpPr>
        <p:spPr>
          <a:xfrm>
            <a:off x="5991225" y="5095875"/>
            <a:ext cx="1647825" cy="466725"/>
          </a:xfrm>
          <a:prstGeom prst="rect">
            <a:avLst/>
          </a:prstGeom>
          <a:solidFill>
            <a:srgbClr val="FFFFFF"/>
          </a:solidFill>
          <a:ln w="9525">
            <a:solidFill>
              <a:srgbClr val="876200"/>
            </a:solidFill>
            <a:prstDash val="solid"/>
          </a:ln>
        </p:spPr>
      </p:sp>
      <p:sp>
        <p:nvSpPr>
          <p:cNvPr id="93" name="矩形 92"/>
          <p:cNvSpPr>
            <a:spLocks noGrp="1"/>
          </p:cNvSpPr>
          <p:nvPr/>
        </p:nvSpPr>
        <p:spPr>
          <a:xfrm>
            <a:off x="6000750" y="51054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社区/居家</a:t>
            </a:r>
            <a:endParaRPr sz="990" b="0">
              <a:solidFill>
                <a:srgbClr val="3F3A38"/>
              </a:solidFill>
              <a:latin typeface="Noto Sans Hans"/>
              <a:ea typeface="Noto Sans Hans"/>
              <a:cs typeface="Noto Sans Hans"/>
            </a:endParaRPr>
          </a:p>
        </p:txBody>
      </p:sp>
      <p:sp>
        <p:nvSpPr>
          <p:cNvPr id="94" name="矩形 93"/>
          <p:cNvSpPr>
            <a:spLocks noGrp="1"/>
          </p:cNvSpPr>
          <p:nvPr/>
        </p:nvSpPr>
        <p:spPr>
          <a:xfrm>
            <a:off x="7677150" y="5095875"/>
            <a:ext cx="1647825" cy="466725"/>
          </a:xfrm>
          <a:prstGeom prst="rect">
            <a:avLst/>
          </a:prstGeom>
          <a:solidFill>
            <a:srgbClr val="FFFFFF"/>
          </a:solidFill>
          <a:ln w="9525">
            <a:solidFill>
              <a:srgbClr val="876200"/>
            </a:solidFill>
            <a:prstDash val="solid"/>
          </a:ln>
        </p:spPr>
      </p:sp>
      <p:sp>
        <p:nvSpPr>
          <p:cNvPr id="95" name="矩形 94"/>
          <p:cNvSpPr>
            <a:spLocks noGrp="1"/>
          </p:cNvSpPr>
          <p:nvPr/>
        </p:nvSpPr>
        <p:spPr>
          <a:xfrm>
            <a:off x="7686675" y="51054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城市公共服务</a:t>
            </a:r>
            <a:endParaRPr sz="990" b="0">
              <a:solidFill>
                <a:srgbClr val="3F3A38"/>
              </a:solidFill>
              <a:latin typeface="Noto Sans Hans"/>
              <a:ea typeface="Noto Sans Hans"/>
              <a:cs typeface="Noto Sans Hans"/>
            </a:endParaRPr>
          </a:p>
        </p:txBody>
      </p:sp>
      <p:sp>
        <p:nvSpPr>
          <p:cNvPr id="96" name="矩形 95"/>
          <p:cNvSpPr>
            <a:spLocks noGrp="1"/>
          </p:cNvSpPr>
          <p:nvPr/>
        </p:nvSpPr>
        <p:spPr>
          <a:xfrm>
            <a:off x="2619375" y="5591175"/>
            <a:ext cx="1647825" cy="466725"/>
          </a:xfrm>
          <a:prstGeom prst="rect">
            <a:avLst/>
          </a:prstGeom>
          <a:solidFill>
            <a:srgbClr val="FFFFFF"/>
          </a:solidFill>
          <a:ln w="9525">
            <a:solidFill>
              <a:srgbClr val="876200"/>
            </a:solidFill>
            <a:prstDash val="solid"/>
          </a:ln>
        </p:spPr>
      </p:sp>
      <p:sp>
        <p:nvSpPr>
          <p:cNvPr id="97" name="矩形 96"/>
          <p:cNvSpPr>
            <a:spLocks noGrp="1"/>
          </p:cNvSpPr>
          <p:nvPr/>
        </p:nvSpPr>
        <p:spPr>
          <a:xfrm>
            <a:off x="2628900" y="56007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注册与临床评价</a:t>
            </a:r>
            <a:endParaRPr sz="990" b="0">
              <a:solidFill>
                <a:srgbClr val="3F3A38"/>
              </a:solidFill>
              <a:latin typeface="Noto Sans Hans"/>
              <a:ea typeface="Noto Sans Hans"/>
              <a:cs typeface="Noto Sans Hans"/>
            </a:endParaRPr>
          </a:p>
        </p:txBody>
      </p:sp>
      <p:sp>
        <p:nvSpPr>
          <p:cNvPr id="98" name="矩形 97"/>
          <p:cNvSpPr>
            <a:spLocks noGrp="1"/>
          </p:cNvSpPr>
          <p:nvPr/>
        </p:nvSpPr>
        <p:spPr>
          <a:xfrm>
            <a:off x="4305300" y="5591175"/>
            <a:ext cx="1647825" cy="466725"/>
          </a:xfrm>
          <a:prstGeom prst="rect">
            <a:avLst/>
          </a:prstGeom>
          <a:solidFill>
            <a:srgbClr val="FFFFFF"/>
          </a:solidFill>
          <a:ln w="9525">
            <a:solidFill>
              <a:srgbClr val="876200"/>
            </a:solidFill>
            <a:prstDash val="solid"/>
          </a:ln>
        </p:spPr>
      </p:sp>
      <p:sp>
        <p:nvSpPr>
          <p:cNvPr id="99" name="矩形 98"/>
          <p:cNvSpPr>
            <a:spLocks noGrp="1"/>
          </p:cNvSpPr>
          <p:nvPr/>
        </p:nvSpPr>
        <p:spPr>
          <a:xfrm>
            <a:off x="4314825" y="56007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清洁消毒/耗材</a:t>
            </a:r>
            <a:endParaRPr sz="990" b="0">
              <a:solidFill>
                <a:srgbClr val="3F3A38"/>
              </a:solidFill>
              <a:latin typeface="Noto Sans Hans"/>
              <a:ea typeface="Noto Sans Hans"/>
              <a:cs typeface="Noto Sans Hans"/>
            </a:endParaRPr>
          </a:p>
        </p:txBody>
      </p:sp>
      <p:sp>
        <p:nvSpPr>
          <p:cNvPr id="100" name="矩形 99"/>
          <p:cNvSpPr>
            <a:spLocks noGrp="1"/>
          </p:cNvSpPr>
          <p:nvPr/>
        </p:nvSpPr>
        <p:spPr>
          <a:xfrm>
            <a:off x="5991225" y="5591175"/>
            <a:ext cx="1647825" cy="466725"/>
          </a:xfrm>
          <a:prstGeom prst="rect">
            <a:avLst/>
          </a:prstGeom>
          <a:solidFill>
            <a:srgbClr val="FFFFFF"/>
          </a:solidFill>
          <a:ln w="9525">
            <a:solidFill>
              <a:srgbClr val="876200"/>
            </a:solidFill>
            <a:prstDash val="solid"/>
          </a:ln>
        </p:spPr>
      </p:sp>
      <p:sp>
        <p:nvSpPr>
          <p:cNvPr id="101" name="矩形 100"/>
          <p:cNvSpPr>
            <a:spLocks noGrp="1"/>
          </p:cNvSpPr>
          <p:nvPr/>
        </p:nvSpPr>
        <p:spPr>
          <a:xfrm>
            <a:off x="6000750" y="56007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维保与售后网络</a:t>
            </a:r>
            <a:endParaRPr sz="990" b="0">
              <a:solidFill>
                <a:srgbClr val="3F3A38"/>
              </a:solidFill>
              <a:latin typeface="Noto Sans Hans"/>
              <a:ea typeface="Noto Sans Hans"/>
              <a:cs typeface="Noto Sans Hans"/>
            </a:endParaRPr>
          </a:p>
        </p:txBody>
      </p:sp>
      <p:sp>
        <p:nvSpPr>
          <p:cNvPr id="102" name="矩形 101"/>
          <p:cNvSpPr>
            <a:spLocks noGrp="1"/>
          </p:cNvSpPr>
          <p:nvPr/>
        </p:nvSpPr>
        <p:spPr>
          <a:xfrm>
            <a:off x="7677150" y="5591175"/>
            <a:ext cx="1647825" cy="466725"/>
          </a:xfrm>
          <a:prstGeom prst="rect">
            <a:avLst/>
          </a:prstGeom>
          <a:solidFill>
            <a:srgbClr val="FFFFFF"/>
          </a:solidFill>
          <a:ln w="9525">
            <a:solidFill>
              <a:srgbClr val="876200"/>
            </a:solidFill>
            <a:prstDash val="solid"/>
          </a:ln>
        </p:spPr>
      </p:sp>
      <p:sp>
        <p:nvSpPr>
          <p:cNvPr id="103" name="矩形 102"/>
          <p:cNvSpPr>
            <a:spLocks noGrp="1"/>
          </p:cNvSpPr>
          <p:nvPr/>
        </p:nvSpPr>
        <p:spPr>
          <a:xfrm>
            <a:off x="7686675" y="5600700"/>
            <a:ext cx="1628775" cy="447675"/>
          </a:xfrm>
          <a:prstGeom prst="rect">
            <a:avLst/>
          </a:prstGeom>
          <a:noFill/>
          <a:ln w="0">
            <a:noFill/>
            <a:prstDash val="solid"/>
          </a:ln>
        </p:spPr>
        <p:txBody>
          <a:bodyPr wrap="square" lIns="47625" tIns="19050" rIns="47625" bIns="19050" anchor="ctr">
            <a:normAutofit/>
          </a:bodyPr>
          <a:lstStyle/>
          <a:p>
            <a:pPr algn="ctr">
              <a:defRPr sz="990"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首购首用/创新采购</a:t>
            </a:r>
            <a:endParaRPr sz="990" b="0">
              <a:solidFill>
                <a:srgbClr val="3F3A38"/>
              </a:solidFill>
              <a:latin typeface="Noto Sans Hans"/>
              <a:ea typeface="Noto Sans Hans"/>
              <a:cs typeface="Noto Sans Hans"/>
            </a:endParaRPr>
          </a:p>
        </p:txBody>
      </p:sp>
      <p:sp>
        <p:nvSpPr>
          <p:cNvPr id="104" name="矩形 103"/>
          <p:cNvSpPr>
            <a:spLocks noGrp="1"/>
          </p:cNvSpPr>
          <p:nvPr/>
        </p:nvSpPr>
        <p:spPr>
          <a:xfrm>
            <a:off x="2619375" y="6086475"/>
            <a:ext cx="6705600" cy="295275"/>
          </a:xfrm>
          <a:prstGeom prst="rect">
            <a:avLst/>
          </a:prstGeom>
          <a:solidFill>
            <a:srgbClr val="F6F0DE"/>
          </a:solidFill>
          <a:ln w="0">
            <a:noFill/>
            <a:prstDash val="solid"/>
          </a:ln>
        </p:spPr>
      </p:sp>
      <p:sp>
        <p:nvSpPr>
          <p:cNvPr id="105" name="矩形 104"/>
          <p:cNvSpPr>
            <a:spLocks noGrp="1"/>
          </p:cNvSpPr>
          <p:nvPr/>
        </p:nvSpPr>
        <p:spPr>
          <a:xfrm>
            <a:off x="2657475" y="6096000"/>
            <a:ext cx="6629400" cy="276225"/>
          </a:xfrm>
          <a:prstGeom prst="rect">
            <a:avLst/>
          </a:prstGeom>
          <a:noFill/>
          <a:ln w="0">
            <a:noFill/>
            <a:prstDash val="solid"/>
          </a:ln>
        </p:spPr>
        <p:txBody>
          <a:bodyPr wrap="square" lIns="47625" tIns="19050" rIns="47625" bIns="19050" anchor="ctr">
            <a:normAutofit/>
          </a:bodyPr>
          <a:lstStyle/>
          <a:p>
            <a:pPr algn="l">
              <a:defRPr sz="865" b="1">
                <a:solidFill>
                  <a:srgbClr val="876200"/>
                </a:solidFill>
                <a:latin typeface="Noto Sans Hans"/>
                <a:ea typeface="Noto Sans Hans"/>
                <a:cs typeface="Noto Sans Hans"/>
              </a:defRPr>
            </a:pPr>
            <a:r>
              <a:rPr sz="865" b="1">
                <a:solidFill>
                  <a:srgbClr val="876200"/>
                </a:solidFill>
                <a:latin typeface="Noto Sans Hans"/>
                <a:ea typeface="Noto Sans Hans"/>
                <a:cs typeface="Noto Sans Hans"/>
              </a:rPr>
              <a:t>付费主体：医院、养老机构、政府/街道、家庭、保险｜模式：采购 + 租赁 + 服务订阅</a:t>
            </a:r>
            <a:endParaRPr sz="865" b="1">
              <a:solidFill>
                <a:srgbClr val="876200"/>
              </a:solidFill>
              <a:latin typeface="Noto Sans Hans"/>
              <a:ea typeface="Noto Sans Hans"/>
              <a:cs typeface="Noto Sans Hans"/>
            </a:endParaRPr>
          </a:p>
        </p:txBody>
      </p:sp>
      <p:sp>
        <p:nvSpPr>
          <p:cNvPr id="106" name="矩形 105"/>
          <p:cNvSpPr>
            <a:spLocks noGrp="1"/>
          </p:cNvSpPr>
          <p:nvPr/>
        </p:nvSpPr>
        <p:spPr>
          <a:xfrm>
            <a:off x="9505950" y="1143000"/>
            <a:ext cx="2400300" cy="1476375"/>
          </a:xfrm>
          <a:prstGeom prst="rect">
            <a:avLst/>
          </a:prstGeom>
          <a:solidFill>
            <a:srgbClr val="F8E9E7"/>
          </a:solidFill>
          <a:ln w="0">
            <a:noFill/>
            <a:prstDash val="solid"/>
          </a:ln>
        </p:spPr>
      </p:sp>
      <p:sp>
        <p:nvSpPr>
          <p:cNvPr id="107" name="矩形 106"/>
          <p:cNvSpPr>
            <a:spLocks noGrp="1"/>
          </p:cNvSpPr>
          <p:nvPr/>
        </p:nvSpPr>
        <p:spPr>
          <a:xfrm>
            <a:off x="9505950" y="1143000"/>
            <a:ext cx="47625" cy="1476375"/>
          </a:xfrm>
          <a:prstGeom prst="rect">
            <a:avLst/>
          </a:prstGeom>
          <a:solidFill>
            <a:srgbClr val="8F2730"/>
          </a:solidFill>
          <a:ln w="0">
            <a:noFill/>
            <a:prstDash val="solid"/>
          </a:ln>
        </p:spPr>
      </p:sp>
      <p:sp>
        <p:nvSpPr>
          <p:cNvPr id="108" name="矩形 107"/>
          <p:cNvSpPr>
            <a:spLocks noGrp="1"/>
          </p:cNvSpPr>
          <p:nvPr/>
        </p:nvSpPr>
        <p:spPr>
          <a:xfrm>
            <a:off x="9639300" y="1238250"/>
            <a:ext cx="2171700" cy="295275"/>
          </a:xfrm>
          <a:prstGeom prst="rect">
            <a:avLst/>
          </a:prstGeom>
          <a:noFill/>
          <a:ln w="0">
            <a:noFill/>
            <a:prstDash val="solid"/>
          </a:ln>
        </p:spPr>
        <p:txBody>
          <a:bodyPr wrap="square" lIns="47625" tIns="19050" rIns="47625" bIns="19050" anchor="ctr"/>
          <a:lstStyle/>
          <a:p>
            <a:pPr algn="l">
              <a:defRPr sz="1090" b="1">
                <a:solidFill>
                  <a:srgbClr val="8F2730"/>
                </a:solidFill>
                <a:latin typeface="Noto Sans Hans"/>
                <a:ea typeface="Noto Sans Hans"/>
                <a:cs typeface="Noto Sans Hans"/>
              </a:defRPr>
            </a:pPr>
            <a:r>
              <a:rPr sz="1100" b="1">
                <a:solidFill>
                  <a:srgbClr val="8F2730"/>
                </a:solidFill>
                <a:latin typeface="Noto Sans Hans"/>
                <a:ea typeface="Noto Sans Hans"/>
                <a:cs typeface="Noto Sans Hans"/>
              </a:rPr>
              <a:t>上游：安全与成本的“硬约束”</a:t>
            </a:r>
            <a:endParaRPr sz="1100" b="1">
              <a:solidFill>
                <a:srgbClr val="8F2730"/>
              </a:solidFill>
              <a:latin typeface="Noto Sans Hans"/>
              <a:ea typeface="Noto Sans Hans"/>
              <a:cs typeface="Noto Sans Hans"/>
            </a:endParaRPr>
          </a:p>
        </p:txBody>
      </p:sp>
      <p:sp>
        <p:nvSpPr>
          <p:cNvPr id="109" name="矩形 108"/>
          <p:cNvSpPr>
            <a:spLocks noGrp="1"/>
          </p:cNvSpPr>
          <p:nvPr/>
        </p:nvSpPr>
        <p:spPr>
          <a:xfrm>
            <a:off x="9648825" y="1552575"/>
            <a:ext cx="2152650" cy="4191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关节、传感与控制决定贴身交互的安全边界</a:t>
            </a:r>
            <a:endParaRPr sz="1000" b="0">
              <a:solidFill>
                <a:srgbClr val="3F3A38"/>
              </a:solidFill>
              <a:latin typeface="Noto Sans Hans"/>
              <a:ea typeface="Noto Sans Hans"/>
              <a:cs typeface="Noto Sans Hans"/>
            </a:endParaRPr>
          </a:p>
        </p:txBody>
      </p:sp>
      <p:sp>
        <p:nvSpPr>
          <p:cNvPr id="110" name="矩形 109"/>
          <p:cNvSpPr>
            <a:spLocks noGrp="1"/>
          </p:cNvSpPr>
          <p:nvPr/>
        </p:nvSpPr>
        <p:spPr>
          <a:xfrm>
            <a:off x="9648825" y="2000250"/>
            <a:ext cx="2152650" cy="4191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优先关注湖北已有的传动、触觉、芯片补链基础</a:t>
            </a:r>
            <a:endParaRPr sz="1000" b="0">
              <a:solidFill>
                <a:srgbClr val="3F3A38"/>
              </a:solidFill>
              <a:latin typeface="Noto Sans Hans"/>
              <a:ea typeface="Noto Sans Hans"/>
              <a:cs typeface="Noto Sans Hans"/>
            </a:endParaRPr>
          </a:p>
        </p:txBody>
      </p:sp>
      <p:sp>
        <p:nvSpPr>
          <p:cNvPr id="111" name="矩形 110"/>
          <p:cNvSpPr>
            <a:spLocks noGrp="1"/>
          </p:cNvSpPr>
          <p:nvPr/>
        </p:nvSpPr>
        <p:spPr>
          <a:xfrm>
            <a:off x="9505950" y="2714625"/>
            <a:ext cx="2400300" cy="2286000"/>
          </a:xfrm>
          <a:prstGeom prst="rect">
            <a:avLst/>
          </a:prstGeom>
          <a:solidFill>
            <a:srgbClr val="F8E9E7"/>
          </a:solidFill>
          <a:ln w="0">
            <a:noFill/>
            <a:prstDash val="solid"/>
          </a:ln>
        </p:spPr>
      </p:sp>
      <p:sp>
        <p:nvSpPr>
          <p:cNvPr id="112" name="矩形 111"/>
          <p:cNvSpPr>
            <a:spLocks noGrp="1"/>
          </p:cNvSpPr>
          <p:nvPr/>
        </p:nvSpPr>
        <p:spPr>
          <a:xfrm>
            <a:off x="9505950" y="2714625"/>
            <a:ext cx="47625" cy="2286000"/>
          </a:xfrm>
          <a:prstGeom prst="rect">
            <a:avLst/>
          </a:prstGeom>
          <a:solidFill>
            <a:srgbClr val="C64A22"/>
          </a:solidFill>
          <a:ln w="0">
            <a:noFill/>
            <a:prstDash val="solid"/>
          </a:ln>
        </p:spPr>
      </p:sp>
      <p:sp>
        <p:nvSpPr>
          <p:cNvPr id="113" name="矩形 112"/>
          <p:cNvSpPr>
            <a:spLocks noGrp="1"/>
          </p:cNvSpPr>
          <p:nvPr/>
        </p:nvSpPr>
        <p:spPr>
          <a:xfrm>
            <a:off x="9639300" y="2809875"/>
            <a:ext cx="2317115" cy="295275"/>
          </a:xfrm>
          <a:prstGeom prst="rect">
            <a:avLst/>
          </a:prstGeom>
          <a:noFill/>
          <a:ln w="0">
            <a:noFill/>
            <a:prstDash val="solid"/>
          </a:ln>
        </p:spPr>
        <p:txBody>
          <a:bodyPr wrap="square" lIns="47625" tIns="19050" rIns="47625" bIns="19050" anchor="ctr"/>
          <a:lstStyle/>
          <a:p>
            <a:pPr algn="l">
              <a:defRPr sz="1090" b="1">
                <a:solidFill>
                  <a:srgbClr val="C64A22"/>
                </a:solidFill>
                <a:latin typeface="Noto Sans Hans"/>
                <a:ea typeface="Noto Sans Hans"/>
                <a:cs typeface="Noto Sans Hans"/>
              </a:defRPr>
            </a:pPr>
            <a:r>
              <a:rPr sz="1100" b="1">
                <a:solidFill>
                  <a:srgbClr val="C64A22"/>
                </a:solidFill>
                <a:latin typeface="Noto Sans Hans"/>
                <a:ea typeface="Noto Sans Hans"/>
                <a:cs typeface="Noto Sans Hans"/>
              </a:rPr>
              <a:t>中游：从单机销售走向平台运营</a:t>
            </a:r>
            <a:endParaRPr sz="1100" b="1">
              <a:solidFill>
                <a:srgbClr val="C64A22"/>
              </a:solidFill>
              <a:latin typeface="Noto Sans Hans"/>
              <a:ea typeface="Noto Sans Hans"/>
              <a:cs typeface="Noto Sans Hans"/>
            </a:endParaRPr>
          </a:p>
        </p:txBody>
      </p:sp>
      <p:sp>
        <p:nvSpPr>
          <p:cNvPr id="114" name="矩形 113"/>
          <p:cNvSpPr>
            <a:spLocks noGrp="1"/>
          </p:cNvSpPr>
          <p:nvPr/>
        </p:nvSpPr>
        <p:spPr>
          <a:xfrm>
            <a:off x="9648825" y="3124200"/>
            <a:ext cx="2152650" cy="4953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康复商业化相对领先；护理刚需最强但工程化更难</a:t>
            </a:r>
            <a:endParaRPr sz="1000" b="0">
              <a:solidFill>
                <a:srgbClr val="3F3A38"/>
              </a:solidFill>
              <a:latin typeface="Noto Sans Hans"/>
              <a:ea typeface="Noto Sans Hans"/>
              <a:cs typeface="Noto Sans Hans"/>
            </a:endParaRPr>
          </a:p>
        </p:txBody>
      </p:sp>
      <p:sp>
        <p:nvSpPr>
          <p:cNvPr id="115" name="矩形 114"/>
          <p:cNvSpPr>
            <a:spLocks noGrp="1"/>
          </p:cNvSpPr>
          <p:nvPr/>
        </p:nvSpPr>
        <p:spPr>
          <a:xfrm>
            <a:off x="9648825" y="3648075"/>
            <a:ext cx="2152650" cy="4953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运营机器人可先验证降本增效，再向复杂护理延伸</a:t>
            </a:r>
            <a:endParaRPr sz="1000" b="0">
              <a:solidFill>
                <a:srgbClr val="3F3A38"/>
              </a:solidFill>
              <a:latin typeface="Noto Sans Hans"/>
              <a:ea typeface="Noto Sans Hans"/>
              <a:cs typeface="Noto Sans Hans"/>
            </a:endParaRPr>
          </a:p>
        </p:txBody>
      </p:sp>
      <p:sp>
        <p:nvSpPr>
          <p:cNvPr id="116" name="矩形 115"/>
          <p:cNvSpPr>
            <a:spLocks noGrp="1"/>
          </p:cNvSpPr>
          <p:nvPr/>
        </p:nvSpPr>
        <p:spPr>
          <a:xfrm>
            <a:off x="9648825" y="4171950"/>
            <a:ext cx="2152650" cy="4953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RaaS、租赁与远程运维降低一次性采购门槛</a:t>
            </a:r>
            <a:endParaRPr sz="1000" b="0">
              <a:solidFill>
                <a:srgbClr val="3F3A38"/>
              </a:solidFill>
              <a:latin typeface="Noto Sans Hans"/>
              <a:ea typeface="Noto Sans Hans"/>
              <a:cs typeface="Noto Sans Hans"/>
            </a:endParaRPr>
          </a:p>
        </p:txBody>
      </p:sp>
      <p:sp>
        <p:nvSpPr>
          <p:cNvPr id="117" name="矩形 116"/>
          <p:cNvSpPr>
            <a:spLocks noGrp="1"/>
          </p:cNvSpPr>
          <p:nvPr/>
        </p:nvSpPr>
        <p:spPr>
          <a:xfrm>
            <a:off x="9505950" y="5095875"/>
            <a:ext cx="2400300" cy="1285875"/>
          </a:xfrm>
          <a:prstGeom prst="rect">
            <a:avLst/>
          </a:prstGeom>
          <a:solidFill>
            <a:srgbClr val="F6F0DE"/>
          </a:solidFill>
          <a:ln w="0">
            <a:noFill/>
            <a:prstDash val="solid"/>
          </a:ln>
        </p:spPr>
      </p:sp>
      <p:sp>
        <p:nvSpPr>
          <p:cNvPr id="118" name="矩形 117"/>
          <p:cNvSpPr>
            <a:spLocks noGrp="1"/>
          </p:cNvSpPr>
          <p:nvPr/>
        </p:nvSpPr>
        <p:spPr>
          <a:xfrm>
            <a:off x="9505950" y="5095875"/>
            <a:ext cx="47625" cy="1285875"/>
          </a:xfrm>
          <a:prstGeom prst="rect">
            <a:avLst/>
          </a:prstGeom>
          <a:solidFill>
            <a:srgbClr val="876200"/>
          </a:solidFill>
          <a:ln w="0">
            <a:noFill/>
            <a:prstDash val="solid"/>
          </a:ln>
        </p:spPr>
      </p:sp>
      <p:sp>
        <p:nvSpPr>
          <p:cNvPr id="119" name="矩形 118"/>
          <p:cNvSpPr>
            <a:spLocks noGrp="1"/>
          </p:cNvSpPr>
          <p:nvPr/>
        </p:nvSpPr>
        <p:spPr>
          <a:xfrm>
            <a:off x="9639300" y="5191125"/>
            <a:ext cx="2317115" cy="295275"/>
          </a:xfrm>
          <a:prstGeom prst="rect">
            <a:avLst/>
          </a:prstGeom>
          <a:noFill/>
          <a:ln w="0">
            <a:noFill/>
            <a:prstDash val="solid"/>
          </a:ln>
        </p:spPr>
        <p:txBody>
          <a:bodyPr wrap="square" lIns="47625" tIns="19050" rIns="47625" bIns="19050" anchor="ctr"/>
          <a:lstStyle/>
          <a:p>
            <a:pPr algn="l">
              <a:defRPr sz="1090" b="1">
                <a:solidFill>
                  <a:srgbClr val="876200"/>
                </a:solidFill>
                <a:latin typeface="Noto Sans Hans"/>
                <a:ea typeface="Noto Sans Hans"/>
                <a:cs typeface="Noto Sans Hans"/>
              </a:defRPr>
            </a:pPr>
            <a:r>
              <a:rPr sz="1100" b="1">
                <a:solidFill>
                  <a:srgbClr val="876200"/>
                </a:solidFill>
                <a:latin typeface="Noto Sans Hans"/>
                <a:ea typeface="Noto Sans Hans"/>
                <a:cs typeface="Noto Sans Hans"/>
              </a:rPr>
              <a:t>下游：场景决定数据、迭代与回款</a:t>
            </a:r>
            <a:endParaRPr sz="1100" b="1">
              <a:solidFill>
                <a:srgbClr val="876200"/>
              </a:solidFill>
              <a:latin typeface="Noto Sans Hans"/>
              <a:ea typeface="Noto Sans Hans"/>
              <a:cs typeface="Noto Sans Hans"/>
            </a:endParaRPr>
          </a:p>
        </p:txBody>
      </p:sp>
      <p:sp>
        <p:nvSpPr>
          <p:cNvPr id="120" name="矩形 119"/>
          <p:cNvSpPr>
            <a:spLocks noGrp="1"/>
          </p:cNvSpPr>
          <p:nvPr/>
        </p:nvSpPr>
        <p:spPr>
          <a:xfrm>
            <a:off x="9648825" y="5505450"/>
            <a:ext cx="2152650" cy="4191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医院重资质与临床证据；机构重利用率与服务闭环</a:t>
            </a:r>
            <a:endParaRPr sz="1000" b="0">
              <a:solidFill>
                <a:srgbClr val="3F3A38"/>
              </a:solidFill>
              <a:latin typeface="Noto Sans Hans"/>
              <a:ea typeface="Noto Sans Hans"/>
              <a:cs typeface="Noto Sans Hans"/>
            </a:endParaRPr>
          </a:p>
        </p:txBody>
      </p:sp>
      <p:sp>
        <p:nvSpPr>
          <p:cNvPr id="121" name="矩形 120"/>
          <p:cNvSpPr>
            <a:spLocks noGrp="1"/>
          </p:cNvSpPr>
          <p:nvPr/>
        </p:nvSpPr>
        <p:spPr>
          <a:xfrm>
            <a:off x="9648825" y="5953125"/>
            <a:ext cx="2152650" cy="4191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 居家空间最大，但支付分散、售后半径长</a:t>
            </a:r>
            <a:endParaRPr sz="1000" b="0">
              <a:solidFill>
                <a:srgbClr val="3F3A38"/>
              </a:solidFill>
              <a:latin typeface="Noto Sans Hans"/>
              <a:ea typeface="Noto Sans Hans"/>
              <a:cs typeface="Noto Sans Hans"/>
            </a:endParaRPr>
          </a:p>
        </p:txBody>
      </p:sp>
      <p:sp>
        <p:nvSpPr>
          <p:cNvPr id="122" name="矩形 121"/>
          <p:cNvSpPr>
            <a:spLocks noGrp="1"/>
          </p:cNvSpPr>
          <p:nvPr/>
        </p:nvSpPr>
        <p:spPr>
          <a:xfrm>
            <a:off x="457200" y="6572250"/>
            <a:ext cx="10382250" cy="171450"/>
          </a:xfrm>
          <a:prstGeom prst="rect">
            <a:avLst/>
          </a:prstGeom>
          <a:noFill/>
          <a:ln w="0">
            <a:noFill/>
            <a:prstDash val="solid"/>
          </a:ln>
        </p:spPr>
        <p:txBody>
          <a:bodyPr wrap="square" lIns="47625" tIns="19050" rIns="47625" bIns="19050" anchor="ctr">
            <a:normAutofit/>
          </a:bodyPr>
          <a:lstStyle/>
          <a:p>
            <a:pPr algn="l">
              <a:defRPr sz="790" b="0">
                <a:solidFill>
                  <a:srgbClr val="6B6663"/>
                </a:solidFill>
                <a:latin typeface="Noto Sans Hans"/>
                <a:ea typeface="Noto Sans Hans"/>
                <a:cs typeface="Noto Sans Hans"/>
              </a:defRPr>
            </a:pPr>
            <a:r>
              <a:rPr sz="790" b="0">
                <a:solidFill>
                  <a:srgbClr val="6B6663"/>
                </a:solidFill>
                <a:latin typeface="Noto Sans Hans"/>
                <a:ea typeface="Noto Sans Hans"/>
                <a:cs typeface="Noto Sans Hans"/>
              </a:rPr>
              <a:t>资料来源：养老机器人产业增强基础数据库；国家药监局、工信部等公开资料整理。</a:t>
            </a:r>
            <a:endParaRPr sz="790" b="0">
              <a:solidFill>
                <a:srgbClr val="6B6663"/>
              </a:solidFill>
              <a:latin typeface="Noto Sans Hans"/>
              <a:ea typeface="Noto Sans Hans"/>
              <a:cs typeface="Noto Sans Hans"/>
            </a:endParaRPr>
          </a:p>
        </p:txBody>
      </p:sp>
      <p:sp>
        <p:nvSpPr>
          <p:cNvPr id="123" name="矩形 122"/>
          <p:cNvSpPr>
            <a:spLocks noGrp="1"/>
          </p:cNvSpPr>
          <p:nvPr/>
        </p:nvSpPr>
        <p:spPr>
          <a:xfrm>
            <a:off x="11315700" y="6543675"/>
            <a:ext cx="381000" cy="209550"/>
          </a:xfrm>
          <a:prstGeom prst="rect">
            <a:avLst/>
          </a:prstGeom>
          <a:noFill/>
          <a:ln w="0">
            <a:noFill/>
            <a:prstDash val="solid"/>
          </a:ln>
        </p:spPr>
        <p:txBody>
          <a:bodyPr wrap="square" lIns="47625" tIns="19050" rIns="47625" bIns="19050" anchor="ctr">
            <a:normAutofit/>
          </a:bodyPr>
          <a:lstStyle/>
          <a:p>
            <a:pPr algn="r">
              <a:defRPr sz="900" b="1">
                <a:solidFill>
                  <a:srgbClr val="C9151E"/>
                </a:solidFill>
                <a:latin typeface="Noto Sans Hans"/>
                <a:ea typeface="Noto Sans Hans"/>
                <a:cs typeface="Noto Sans Hans"/>
              </a:defRPr>
            </a:pPr>
            <a:r>
              <a:rPr sz="900" b="1">
                <a:solidFill>
                  <a:srgbClr val="C9151E"/>
                </a:solidFill>
                <a:latin typeface="Noto Sans Hans"/>
                <a:ea typeface="Noto Sans Hans"/>
                <a:cs typeface="Noto Sans Hans"/>
              </a:rPr>
              <a:t>0</a:t>
            </a:r>
            <a:r>
              <a:rPr lang="en-US" sz="900" b="1">
                <a:solidFill>
                  <a:srgbClr val="C9151E"/>
                </a:solidFill>
                <a:latin typeface="Noto Sans Hans"/>
                <a:ea typeface="Noto Sans Hans"/>
                <a:cs typeface="Noto Sans Hans"/>
              </a:rPr>
              <a:t>2</a:t>
            </a:r>
            <a:endParaRPr lang="en-US" sz="900" b="1">
              <a:solidFill>
                <a:srgbClr val="C9151E"/>
              </a:solidFill>
              <a:latin typeface="Noto Sans Hans"/>
              <a:ea typeface="Noto Sans Hans"/>
              <a:cs typeface="Noto Sans H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95250" y="228600"/>
            <a:ext cx="171450" cy="685800"/>
          </a:xfrm>
          <a:prstGeom prst="rect">
            <a:avLst/>
          </a:prstGeom>
          <a:solidFill>
            <a:srgbClr val="C9151E"/>
          </a:solidFill>
          <a:ln w="0">
            <a:noFill/>
            <a:prstDash val="solid"/>
          </a:ln>
        </p:spPr>
      </p:sp>
      <p:sp>
        <p:nvSpPr>
          <p:cNvPr id="3" name="slide-title"/>
          <p:cNvSpPr>
            <a:spLocks noGrp="1"/>
          </p:cNvSpPr>
          <p:nvPr/>
        </p:nvSpPr>
        <p:spPr>
          <a:xfrm>
            <a:off x="457200" y="209550"/>
            <a:ext cx="11239500" cy="457200"/>
          </a:xfrm>
          <a:prstGeom prst="rect">
            <a:avLst/>
          </a:prstGeom>
          <a:noFill/>
          <a:ln w="0">
            <a:noFill/>
            <a:prstDash val="solid"/>
          </a:ln>
        </p:spPr>
        <p:txBody>
          <a:bodyPr lIns="0" tIns="0" rIns="0" bIns="0" anchor="ctr">
            <a:normAutofit/>
          </a:bodyPr>
          <a:lstStyle/>
          <a:p>
            <a:r>
              <a:rPr sz="2025" b="1">
                <a:solidFill>
                  <a:srgbClr val="C9151E"/>
                </a:solidFill>
                <a:latin typeface="Noto Sans Hans"/>
                <a:ea typeface="Noto Sans Hans"/>
                <a:cs typeface="Noto Sans Hans"/>
              </a:rPr>
              <a:t>【环节研判】</a:t>
            </a:r>
            <a:r>
              <a:rPr sz="2025" b="1">
                <a:solidFill>
                  <a:srgbClr val="3F3A38"/>
                </a:solidFill>
                <a:latin typeface="Noto Sans Hans"/>
                <a:ea typeface="Noto Sans Hans"/>
                <a:cs typeface="Noto Sans Hans"/>
              </a:rPr>
              <a:t>近期宜优先布局“康复 + 机构运营”，护理机器人以场景试点换取技术成熟</a:t>
            </a:r>
            <a:endParaRPr sz="2025" b="1">
              <a:solidFill>
                <a:srgbClr val="3F3A38"/>
              </a:solidFill>
              <a:latin typeface="Noto Sans Hans"/>
              <a:ea typeface="Noto Sans Hans"/>
              <a:cs typeface="Noto Sans Hans"/>
            </a:endParaRPr>
          </a:p>
        </p:txBody>
      </p:sp>
      <p:sp>
        <p:nvSpPr>
          <p:cNvPr id="4" name="矩形 3"/>
          <p:cNvSpPr>
            <a:spLocks noGrp="1"/>
          </p:cNvSpPr>
          <p:nvPr/>
        </p:nvSpPr>
        <p:spPr>
          <a:xfrm>
            <a:off x="466725" y="647700"/>
            <a:ext cx="11144250" cy="276225"/>
          </a:xfrm>
          <a:prstGeom prst="rect">
            <a:avLst/>
          </a:prstGeom>
          <a:noFill/>
          <a:ln w="0">
            <a:noFill/>
            <a:prstDash val="solid"/>
          </a:ln>
        </p:spPr>
        <p:txBody>
          <a:bodyPr wrap="square" lIns="47625" tIns="19050" rIns="47625" bIns="19050" anchor="ctr">
            <a:normAutofit/>
          </a:bodyPr>
          <a:lstStyle/>
          <a:p>
            <a:pPr algn="l">
              <a:defRPr sz="1125" b="0">
                <a:solidFill>
                  <a:srgbClr val="6B6663"/>
                </a:solidFill>
                <a:latin typeface="Noto Sans Hans"/>
                <a:ea typeface="Noto Sans Hans"/>
                <a:cs typeface="Noto Sans Hans"/>
              </a:defRPr>
            </a:pPr>
            <a:r>
              <a:rPr sz="1125" b="0">
                <a:solidFill>
                  <a:srgbClr val="6B6663"/>
                </a:solidFill>
                <a:latin typeface="Noto Sans Hans"/>
                <a:ea typeface="Noto Sans Hans"/>
                <a:cs typeface="Noto Sans Hans"/>
              </a:rPr>
              <a:t>以需求刚性、技术成熟度、商业化、支付闭环和武汉协同为核心</a:t>
            </a:r>
            <a:endParaRPr sz="1125" b="0">
              <a:solidFill>
                <a:srgbClr val="6B6663"/>
              </a:solidFill>
              <a:latin typeface="Noto Sans Hans"/>
              <a:ea typeface="Noto Sans Hans"/>
              <a:cs typeface="Noto Sans Hans"/>
            </a:endParaRPr>
          </a:p>
        </p:txBody>
      </p:sp>
      <p:sp>
        <p:nvSpPr>
          <p:cNvPr id="5" name="矩形 4"/>
          <p:cNvSpPr>
            <a:spLocks noGrp="1"/>
          </p:cNvSpPr>
          <p:nvPr/>
        </p:nvSpPr>
        <p:spPr>
          <a:xfrm>
            <a:off x="457200" y="981075"/>
            <a:ext cx="11258550" cy="14288"/>
          </a:xfrm>
          <a:prstGeom prst="rect">
            <a:avLst/>
          </a:prstGeom>
          <a:solidFill>
            <a:srgbClr val="D8D1CC"/>
          </a:solidFill>
          <a:ln w="0">
            <a:noFill/>
            <a:prstDash val="solid"/>
          </a:ln>
        </p:spPr>
      </p:sp>
      <p:sp>
        <p:nvSpPr>
          <p:cNvPr id="6" name="矩形 5"/>
          <p:cNvSpPr>
            <a:spLocks noGrp="1"/>
          </p:cNvSpPr>
          <p:nvPr/>
        </p:nvSpPr>
        <p:spPr>
          <a:xfrm>
            <a:off x="457200" y="1104900"/>
            <a:ext cx="2114550" cy="704850"/>
          </a:xfrm>
          <a:prstGeom prst="rect">
            <a:avLst/>
          </a:prstGeom>
          <a:solidFill>
            <a:srgbClr val="F8E9E7"/>
          </a:solidFill>
          <a:ln w="0">
            <a:noFill/>
            <a:prstDash val="solid"/>
          </a:ln>
        </p:spPr>
      </p:sp>
      <p:sp>
        <p:nvSpPr>
          <p:cNvPr id="7" name="矩形 6"/>
          <p:cNvSpPr>
            <a:spLocks noGrp="1"/>
          </p:cNvSpPr>
          <p:nvPr/>
        </p:nvSpPr>
        <p:spPr>
          <a:xfrm>
            <a:off x="552450" y="1162050"/>
            <a:ext cx="1162050" cy="333375"/>
          </a:xfrm>
          <a:prstGeom prst="rect">
            <a:avLst/>
          </a:prstGeom>
          <a:noFill/>
          <a:ln w="0">
            <a:noFill/>
            <a:prstDash val="solid"/>
          </a:ln>
        </p:spPr>
        <p:txBody>
          <a:bodyPr wrap="square" lIns="47625" tIns="19050" rIns="47625" bIns="19050" anchor="ctr"/>
          <a:lstStyle/>
          <a:p>
            <a:pPr algn="l">
              <a:defRPr sz="1575" b="1">
                <a:solidFill>
                  <a:srgbClr val="C9151E"/>
                </a:solidFill>
                <a:latin typeface="Noto Sans Hans"/>
                <a:ea typeface="Noto Sans Hans"/>
                <a:cs typeface="Noto Sans Hans"/>
              </a:defRPr>
            </a:pPr>
            <a:r>
              <a:rPr sz="1600" b="1">
                <a:solidFill>
                  <a:srgbClr val="C9151E"/>
                </a:solidFill>
                <a:latin typeface="Noto Sans Hans"/>
                <a:ea typeface="Noto Sans Hans"/>
                <a:cs typeface="Noto Sans Hans"/>
              </a:rPr>
              <a:t>1.67万台</a:t>
            </a:r>
            <a:endParaRPr sz="1600" b="1">
              <a:solidFill>
                <a:srgbClr val="C9151E"/>
              </a:solidFill>
              <a:latin typeface="Noto Sans Hans"/>
              <a:ea typeface="Noto Sans Hans"/>
              <a:cs typeface="Noto Sans Hans"/>
            </a:endParaRPr>
          </a:p>
        </p:txBody>
      </p:sp>
      <p:sp>
        <p:nvSpPr>
          <p:cNvPr id="8" name="矩形 7"/>
          <p:cNvSpPr>
            <a:spLocks noGrp="1"/>
          </p:cNvSpPr>
          <p:nvPr/>
        </p:nvSpPr>
        <p:spPr>
          <a:xfrm>
            <a:off x="1781175" y="1190625"/>
            <a:ext cx="685800" cy="238125"/>
          </a:xfrm>
          <a:prstGeom prst="rect">
            <a:avLst/>
          </a:prstGeom>
          <a:noFill/>
          <a:ln w="0">
            <a:noFill/>
            <a:prstDash val="solid"/>
          </a:ln>
        </p:spPr>
        <p:txBody>
          <a:bodyPr wrap="square" lIns="47625" tIns="19050" rIns="47625" bIns="19050" anchor="ctr"/>
          <a:lstStyle/>
          <a:p>
            <a:pPr algn="r">
              <a:defRPr sz="900" b="1">
                <a:solidFill>
                  <a:srgbClr val="6B6663"/>
                </a:solidFill>
                <a:latin typeface="Noto Sans Hans"/>
                <a:ea typeface="Noto Sans Hans"/>
                <a:cs typeface="Noto Sans Hans"/>
              </a:defRPr>
            </a:pPr>
            <a:r>
              <a:rPr sz="1000" b="1">
                <a:solidFill>
                  <a:srgbClr val="6B6663"/>
                </a:solidFill>
                <a:latin typeface="Noto Sans Hans"/>
                <a:ea typeface="Noto Sans Hans"/>
                <a:cs typeface="Noto Sans Hans"/>
              </a:rPr>
              <a:t>+91%</a:t>
            </a:r>
            <a:endParaRPr sz="1000" b="1">
              <a:solidFill>
                <a:srgbClr val="6B6663"/>
              </a:solidFill>
              <a:latin typeface="Noto Sans Hans"/>
              <a:ea typeface="Noto Sans Hans"/>
              <a:cs typeface="Noto Sans Hans"/>
            </a:endParaRPr>
          </a:p>
        </p:txBody>
      </p:sp>
      <p:sp>
        <p:nvSpPr>
          <p:cNvPr id="9" name="矩形 8"/>
          <p:cNvSpPr>
            <a:spLocks noGrp="1"/>
          </p:cNvSpPr>
          <p:nvPr/>
        </p:nvSpPr>
        <p:spPr>
          <a:xfrm>
            <a:off x="552450" y="1476375"/>
            <a:ext cx="1924050" cy="257175"/>
          </a:xfrm>
          <a:prstGeom prst="rect">
            <a:avLst/>
          </a:prstGeom>
          <a:noFill/>
          <a:ln w="0">
            <a:noFill/>
            <a:prstDash val="solid"/>
          </a:ln>
        </p:spPr>
        <p:txBody>
          <a:bodyPr wrap="square" lIns="47625" tIns="19050" rIns="47625" bIns="19050" anchor="ctr"/>
          <a:lstStyle/>
          <a:p>
            <a:pPr algn="l">
              <a:defRPr sz="865" b="0">
                <a:solidFill>
                  <a:srgbClr val="3F3A38"/>
                </a:solidFill>
                <a:latin typeface="Noto Sans Hans"/>
                <a:ea typeface="Noto Sans Hans"/>
                <a:cs typeface="Noto Sans Hans"/>
              </a:defRPr>
            </a:pPr>
            <a:r>
              <a:rPr sz="970" b="0">
                <a:solidFill>
                  <a:srgbClr val="3F3A38"/>
                </a:solidFill>
                <a:latin typeface="Noto Sans Hans"/>
                <a:ea typeface="Noto Sans Hans"/>
                <a:cs typeface="Noto Sans Hans"/>
              </a:rPr>
              <a:t>2024全球医疗机器人销量</a:t>
            </a:r>
            <a:endParaRPr sz="970" b="0">
              <a:solidFill>
                <a:srgbClr val="3F3A38"/>
              </a:solidFill>
              <a:latin typeface="Noto Sans Hans"/>
              <a:ea typeface="Noto Sans Hans"/>
              <a:cs typeface="Noto Sans Hans"/>
            </a:endParaRPr>
          </a:p>
        </p:txBody>
      </p:sp>
      <p:sp>
        <p:nvSpPr>
          <p:cNvPr id="10" name="矩形 9"/>
          <p:cNvSpPr>
            <a:spLocks noGrp="1"/>
          </p:cNvSpPr>
          <p:nvPr/>
        </p:nvSpPr>
        <p:spPr>
          <a:xfrm>
            <a:off x="2705100" y="1104900"/>
            <a:ext cx="2114550" cy="704850"/>
          </a:xfrm>
          <a:prstGeom prst="rect">
            <a:avLst/>
          </a:prstGeom>
          <a:solidFill>
            <a:srgbClr val="F8E9E7"/>
          </a:solidFill>
          <a:ln w="0">
            <a:noFill/>
            <a:prstDash val="solid"/>
          </a:ln>
        </p:spPr>
      </p:sp>
      <p:sp>
        <p:nvSpPr>
          <p:cNvPr id="11" name="矩形 10"/>
          <p:cNvSpPr>
            <a:spLocks noGrp="1"/>
          </p:cNvSpPr>
          <p:nvPr/>
        </p:nvSpPr>
        <p:spPr>
          <a:xfrm>
            <a:off x="2800350" y="1162050"/>
            <a:ext cx="1162050" cy="333375"/>
          </a:xfrm>
          <a:prstGeom prst="rect">
            <a:avLst/>
          </a:prstGeom>
          <a:noFill/>
          <a:ln w="0">
            <a:noFill/>
            <a:prstDash val="solid"/>
          </a:ln>
        </p:spPr>
        <p:txBody>
          <a:bodyPr wrap="square" lIns="47625" tIns="19050" rIns="47625" bIns="19050" anchor="ctr"/>
          <a:lstStyle/>
          <a:p>
            <a:pPr algn="l">
              <a:defRPr sz="1575" b="1">
                <a:solidFill>
                  <a:srgbClr val="C9151E"/>
                </a:solidFill>
                <a:latin typeface="Noto Sans Hans"/>
                <a:ea typeface="Noto Sans Hans"/>
                <a:cs typeface="Noto Sans Hans"/>
              </a:defRPr>
            </a:pPr>
            <a:r>
              <a:rPr sz="1600" b="1">
                <a:solidFill>
                  <a:srgbClr val="C9151E"/>
                </a:solidFill>
                <a:latin typeface="Noto Sans Hans"/>
                <a:ea typeface="Noto Sans Hans"/>
                <a:cs typeface="Noto Sans Hans"/>
              </a:rPr>
              <a:t>+106%</a:t>
            </a:r>
            <a:endParaRPr sz="1600" b="1">
              <a:solidFill>
                <a:srgbClr val="C9151E"/>
              </a:solidFill>
              <a:latin typeface="Noto Sans Hans"/>
              <a:ea typeface="Noto Sans Hans"/>
              <a:cs typeface="Noto Sans Hans"/>
            </a:endParaRPr>
          </a:p>
        </p:txBody>
      </p:sp>
      <p:sp>
        <p:nvSpPr>
          <p:cNvPr id="12" name="矩形 11"/>
          <p:cNvSpPr>
            <a:spLocks noGrp="1"/>
          </p:cNvSpPr>
          <p:nvPr/>
        </p:nvSpPr>
        <p:spPr>
          <a:xfrm>
            <a:off x="4029075" y="1190625"/>
            <a:ext cx="685800" cy="238125"/>
          </a:xfrm>
          <a:prstGeom prst="rect">
            <a:avLst/>
          </a:prstGeom>
          <a:noFill/>
          <a:ln w="0">
            <a:noFill/>
            <a:prstDash val="solid"/>
          </a:ln>
        </p:spPr>
        <p:txBody>
          <a:bodyPr wrap="square" lIns="47625" tIns="19050" rIns="47625" bIns="19050" anchor="ctr"/>
          <a:lstStyle/>
          <a:p>
            <a:pPr algn="r">
              <a:defRPr sz="900" b="1">
                <a:solidFill>
                  <a:srgbClr val="6B6663"/>
                </a:solidFill>
                <a:latin typeface="Noto Sans Hans"/>
                <a:ea typeface="Noto Sans Hans"/>
                <a:cs typeface="Noto Sans Hans"/>
              </a:defRPr>
            </a:pPr>
            <a:r>
              <a:rPr sz="1000" b="1">
                <a:solidFill>
                  <a:srgbClr val="6B6663"/>
                </a:solidFill>
                <a:latin typeface="Noto Sans Hans"/>
                <a:ea typeface="Noto Sans Hans"/>
                <a:cs typeface="Noto Sans Hans"/>
              </a:rPr>
              <a:t>景气最高</a:t>
            </a:r>
            <a:endParaRPr sz="1000" b="1">
              <a:solidFill>
                <a:srgbClr val="6B6663"/>
              </a:solidFill>
              <a:latin typeface="Noto Sans Hans"/>
              <a:ea typeface="Noto Sans Hans"/>
              <a:cs typeface="Noto Sans Hans"/>
            </a:endParaRPr>
          </a:p>
        </p:txBody>
      </p:sp>
      <p:sp>
        <p:nvSpPr>
          <p:cNvPr id="13" name="矩形 12"/>
          <p:cNvSpPr>
            <a:spLocks noGrp="1"/>
          </p:cNvSpPr>
          <p:nvPr/>
        </p:nvSpPr>
        <p:spPr>
          <a:xfrm>
            <a:off x="2800350" y="1476375"/>
            <a:ext cx="1924050" cy="257175"/>
          </a:xfrm>
          <a:prstGeom prst="rect">
            <a:avLst/>
          </a:prstGeom>
          <a:noFill/>
          <a:ln w="0">
            <a:noFill/>
            <a:prstDash val="solid"/>
          </a:ln>
        </p:spPr>
        <p:txBody>
          <a:bodyPr wrap="square" lIns="47625" tIns="19050" rIns="47625" bIns="19050" anchor="ctr"/>
          <a:lstStyle/>
          <a:p>
            <a:pPr algn="l">
              <a:defRPr sz="865" b="0">
                <a:solidFill>
                  <a:srgbClr val="3F3A38"/>
                </a:solidFill>
                <a:latin typeface="Noto Sans Hans"/>
                <a:ea typeface="Noto Sans Hans"/>
                <a:cs typeface="Noto Sans Hans"/>
              </a:defRPr>
            </a:pPr>
            <a:r>
              <a:rPr sz="970" b="0">
                <a:solidFill>
                  <a:srgbClr val="3F3A38"/>
                </a:solidFill>
                <a:latin typeface="Noto Sans Hans"/>
                <a:ea typeface="Noto Sans Hans"/>
                <a:cs typeface="Noto Sans Hans"/>
              </a:rPr>
              <a:t>康复/非侵入治疗机器人销量增速</a:t>
            </a:r>
            <a:endParaRPr sz="970" b="0">
              <a:solidFill>
                <a:srgbClr val="3F3A38"/>
              </a:solidFill>
              <a:latin typeface="Noto Sans Hans"/>
              <a:ea typeface="Noto Sans Hans"/>
              <a:cs typeface="Noto Sans Hans"/>
            </a:endParaRPr>
          </a:p>
        </p:txBody>
      </p:sp>
      <p:sp>
        <p:nvSpPr>
          <p:cNvPr id="14" name="矩形 13"/>
          <p:cNvSpPr>
            <a:spLocks noGrp="1"/>
          </p:cNvSpPr>
          <p:nvPr/>
        </p:nvSpPr>
        <p:spPr>
          <a:xfrm>
            <a:off x="4953000" y="1104900"/>
            <a:ext cx="2114550" cy="704850"/>
          </a:xfrm>
          <a:prstGeom prst="rect">
            <a:avLst/>
          </a:prstGeom>
          <a:solidFill>
            <a:srgbClr val="F8E9E7"/>
          </a:solidFill>
          <a:ln w="0">
            <a:noFill/>
            <a:prstDash val="solid"/>
          </a:ln>
        </p:spPr>
      </p:sp>
      <p:sp>
        <p:nvSpPr>
          <p:cNvPr id="15" name="矩形 14"/>
          <p:cNvSpPr>
            <a:spLocks noGrp="1"/>
          </p:cNvSpPr>
          <p:nvPr/>
        </p:nvSpPr>
        <p:spPr>
          <a:xfrm>
            <a:off x="5048250" y="1162050"/>
            <a:ext cx="1162050" cy="333375"/>
          </a:xfrm>
          <a:prstGeom prst="rect">
            <a:avLst/>
          </a:prstGeom>
          <a:noFill/>
          <a:ln w="0">
            <a:noFill/>
            <a:prstDash val="solid"/>
          </a:ln>
        </p:spPr>
        <p:txBody>
          <a:bodyPr wrap="square" lIns="47625" tIns="19050" rIns="47625" bIns="19050" anchor="ctr"/>
          <a:lstStyle/>
          <a:p>
            <a:pPr algn="l">
              <a:defRPr sz="1575" b="1">
                <a:solidFill>
                  <a:srgbClr val="C9151E"/>
                </a:solidFill>
                <a:latin typeface="Noto Sans Hans"/>
                <a:ea typeface="Noto Sans Hans"/>
                <a:cs typeface="Noto Sans Hans"/>
              </a:defRPr>
            </a:pPr>
            <a:r>
              <a:rPr sz="1600" b="1">
                <a:solidFill>
                  <a:srgbClr val="C9151E"/>
                </a:solidFill>
                <a:latin typeface="Noto Sans Hans"/>
                <a:ea typeface="Noto Sans Hans"/>
                <a:cs typeface="Noto Sans Hans"/>
              </a:rPr>
              <a:t>+31%</a:t>
            </a:r>
            <a:endParaRPr sz="1600" b="1">
              <a:solidFill>
                <a:srgbClr val="C9151E"/>
              </a:solidFill>
              <a:latin typeface="Noto Sans Hans"/>
              <a:ea typeface="Noto Sans Hans"/>
              <a:cs typeface="Noto Sans Hans"/>
            </a:endParaRPr>
          </a:p>
        </p:txBody>
      </p:sp>
      <p:sp>
        <p:nvSpPr>
          <p:cNvPr id="16" name="矩形 15"/>
          <p:cNvSpPr>
            <a:spLocks noGrp="1"/>
          </p:cNvSpPr>
          <p:nvPr/>
        </p:nvSpPr>
        <p:spPr>
          <a:xfrm>
            <a:off x="6276975" y="1190625"/>
            <a:ext cx="685800" cy="238125"/>
          </a:xfrm>
          <a:prstGeom prst="rect">
            <a:avLst/>
          </a:prstGeom>
          <a:noFill/>
          <a:ln w="0">
            <a:noFill/>
            <a:prstDash val="solid"/>
          </a:ln>
        </p:spPr>
        <p:txBody>
          <a:bodyPr wrap="square" lIns="47625" tIns="19050" rIns="47625" bIns="19050" anchor="ctr"/>
          <a:lstStyle/>
          <a:p>
            <a:pPr algn="r">
              <a:defRPr sz="900" b="1">
                <a:solidFill>
                  <a:srgbClr val="6B6663"/>
                </a:solidFill>
                <a:latin typeface="Noto Sans Hans"/>
                <a:ea typeface="Noto Sans Hans"/>
                <a:cs typeface="Noto Sans Hans"/>
              </a:defRPr>
            </a:pPr>
            <a:r>
              <a:rPr sz="1000" b="1">
                <a:solidFill>
                  <a:srgbClr val="6B6663"/>
                </a:solidFill>
                <a:latin typeface="Noto Sans Hans"/>
                <a:ea typeface="Noto Sans Hans"/>
                <a:cs typeface="Noto Sans Hans"/>
              </a:rPr>
              <a:t>模式演进</a:t>
            </a:r>
            <a:endParaRPr sz="1000" b="1">
              <a:solidFill>
                <a:srgbClr val="6B6663"/>
              </a:solidFill>
              <a:latin typeface="Noto Sans Hans"/>
              <a:ea typeface="Noto Sans Hans"/>
              <a:cs typeface="Noto Sans Hans"/>
            </a:endParaRPr>
          </a:p>
        </p:txBody>
      </p:sp>
      <p:sp>
        <p:nvSpPr>
          <p:cNvPr id="17" name="矩形 16"/>
          <p:cNvSpPr>
            <a:spLocks noGrp="1"/>
          </p:cNvSpPr>
          <p:nvPr/>
        </p:nvSpPr>
        <p:spPr>
          <a:xfrm>
            <a:off x="5048250" y="1476375"/>
            <a:ext cx="1924050" cy="257175"/>
          </a:xfrm>
          <a:prstGeom prst="rect">
            <a:avLst/>
          </a:prstGeom>
          <a:noFill/>
          <a:ln w="0">
            <a:noFill/>
            <a:prstDash val="solid"/>
          </a:ln>
        </p:spPr>
        <p:txBody>
          <a:bodyPr wrap="square" lIns="47625" tIns="19050" rIns="47625" bIns="19050" anchor="ctr"/>
          <a:lstStyle/>
          <a:p>
            <a:pPr algn="l">
              <a:defRPr sz="865" b="0">
                <a:solidFill>
                  <a:srgbClr val="3F3A38"/>
                </a:solidFill>
                <a:latin typeface="Noto Sans Hans"/>
                <a:ea typeface="Noto Sans Hans"/>
                <a:cs typeface="Noto Sans Hans"/>
              </a:defRPr>
            </a:pPr>
            <a:r>
              <a:rPr sz="970" b="0">
                <a:solidFill>
                  <a:srgbClr val="3F3A38"/>
                </a:solidFill>
                <a:latin typeface="Noto Sans Hans"/>
                <a:ea typeface="Noto Sans Hans"/>
                <a:cs typeface="Noto Sans Hans"/>
              </a:rPr>
              <a:t>全球</a:t>
            </a:r>
            <a:r>
              <a:rPr lang="zh-CN" sz="970" b="0">
                <a:solidFill>
                  <a:srgbClr val="3F3A38"/>
                </a:solidFill>
                <a:latin typeface="Noto Sans Hans"/>
                <a:ea typeface="Noto Sans Hans"/>
                <a:cs typeface="Noto Sans Hans"/>
              </a:rPr>
              <a:t>机器人即服务</a:t>
            </a:r>
            <a:r>
              <a:rPr lang="en-US" altLang="zh-CN" sz="970" b="0">
                <a:solidFill>
                  <a:srgbClr val="3F3A38"/>
                </a:solidFill>
                <a:latin typeface="Noto Sans Hans"/>
                <a:ea typeface="Noto Sans Hans"/>
                <a:cs typeface="Noto Sans Hans"/>
              </a:rPr>
              <a:t>RaaS</a:t>
            </a:r>
            <a:r>
              <a:rPr lang="zh-CN" altLang="en-US" sz="970" b="0">
                <a:solidFill>
                  <a:srgbClr val="3F3A38"/>
                </a:solidFill>
                <a:latin typeface="Noto Sans Hans"/>
                <a:ea typeface="Noto Sans Hans"/>
                <a:cs typeface="Noto Sans Hans"/>
              </a:rPr>
              <a:t>市场</a:t>
            </a:r>
            <a:r>
              <a:rPr sz="970" b="0">
                <a:solidFill>
                  <a:srgbClr val="3F3A38"/>
                </a:solidFill>
                <a:latin typeface="Noto Sans Hans"/>
                <a:ea typeface="Noto Sans Hans"/>
                <a:cs typeface="Noto Sans Hans"/>
              </a:rPr>
              <a:t>增速</a:t>
            </a:r>
            <a:endParaRPr sz="970" b="0">
              <a:solidFill>
                <a:srgbClr val="3F3A38"/>
              </a:solidFill>
              <a:latin typeface="Noto Sans Hans"/>
              <a:ea typeface="Noto Sans Hans"/>
              <a:cs typeface="Noto Sans Hans"/>
            </a:endParaRPr>
          </a:p>
        </p:txBody>
      </p:sp>
      <p:sp>
        <p:nvSpPr>
          <p:cNvPr id="18" name="矩形 17"/>
          <p:cNvSpPr>
            <a:spLocks noGrp="1"/>
          </p:cNvSpPr>
          <p:nvPr/>
        </p:nvSpPr>
        <p:spPr>
          <a:xfrm>
            <a:off x="7200900" y="1104900"/>
            <a:ext cx="2114550" cy="704850"/>
          </a:xfrm>
          <a:prstGeom prst="rect">
            <a:avLst/>
          </a:prstGeom>
          <a:solidFill>
            <a:srgbClr val="F6F0DE"/>
          </a:solidFill>
          <a:ln w="0">
            <a:noFill/>
            <a:prstDash val="solid"/>
          </a:ln>
        </p:spPr>
      </p:sp>
      <p:sp>
        <p:nvSpPr>
          <p:cNvPr id="19" name="矩形 18"/>
          <p:cNvSpPr>
            <a:spLocks noGrp="1"/>
          </p:cNvSpPr>
          <p:nvPr/>
        </p:nvSpPr>
        <p:spPr>
          <a:xfrm>
            <a:off x="7296150" y="1162050"/>
            <a:ext cx="1162050" cy="333375"/>
          </a:xfrm>
          <a:prstGeom prst="rect">
            <a:avLst/>
          </a:prstGeom>
          <a:noFill/>
          <a:ln w="0">
            <a:noFill/>
            <a:prstDash val="solid"/>
          </a:ln>
        </p:spPr>
        <p:txBody>
          <a:bodyPr wrap="square" lIns="47625" tIns="19050" rIns="47625" bIns="19050" anchor="ctr"/>
          <a:lstStyle/>
          <a:p>
            <a:pPr algn="l">
              <a:defRPr sz="1575" b="1">
                <a:solidFill>
                  <a:srgbClr val="876200"/>
                </a:solidFill>
                <a:latin typeface="Noto Sans Hans"/>
                <a:ea typeface="Noto Sans Hans"/>
                <a:cs typeface="Noto Sans Hans"/>
              </a:defRPr>
            </a:pPr>
            <a:r>
              <a:rPr lang="en-US" sz="1600" b="1">
                <a:solidFill>
                  <a:srgbClr val="876200"/>
                </a:solidFill>
                <a:latin typeface="Noto Sans Hans"/>
                <a:ea typeface="Noto Sans Hans"/>
                <a:cs typeface="Noto Sans Hans"/>
              </a:rPr>
              <a:t>45</a:t>
            </a:r>
            <a:r>
              <a:rPr lang="zh-CN" altLang="en-US" sz="1600" b="1">
                <a:solidFill>
                  <a:srgbClr val="876200"/>
                </a:solidFill>
                <a:latin typeface="Noto Sans Hans"/>
                <a:ea typeface="Noto Sans Hans"/>
                <a:cs typeface="Noto Sans Hans"/>
              </a:rPr>
              <a:t>万</a:t>
            </a:r>
            <a:r>
              <a:rPr sz="1600" b="1">
                <a:solidFill>
                  <a:srgbClr val="876200"/>
                </a:solidFill>
                <a:latin typeface="Noto Sans Hans"/>
                <a:ea typeface="Noto Sans Hans"/>
                <a:cs typeface="Noto Sans Hans"/>
              </a:rPr>
              <a:t>+家</a:t>
            </a:r>
            <a:endParaRPr sz="1600" b="1">
              <a:solidFill>
                <a:srgbClr val="876200"/>
              </a:solidFill>
              <a:latin typeface="Noto Sans Hans"/>
              <a:ea typeface="Noto Sans Hans"/>
              <a:cs typeface="Noto Sans Hans"/>
            </a:endParaRPr>
          </a:p>
        </p:txBody>
      </p:sp>
      <p:sp>
        <p:nvSpPr>
          <p:cNvPr id="20" name="矩形 19"/>
          <p:cNvSpPr>
            <a:spLocks noGrp="1"/>
          </p:cNvSpPr>
          <p:nvPr/>
        </p:nvSpPr>
        <p:spPr>
          <a:xfrm>
            <a:off x="8524875" y="1190625"/>
            <a:ext cx="685800" cy="238125"/>
          </a:xfrm>
          <a:prstGeom prst="rect">
            <a:avLst/>
          </a:prstGeom>
          <a:noFill/>
          <a:ln w="0">
            <a:noFill/>
            <a:prstDash val="solid"/>
          </a:ln>
        </p:spPr>
        <p:txBody>
          <a:bodyPr wrap="square" lIns="47625" tIns="19050" rIns="47625" bIns="19050" anchor="ctr"/>
          <a:lstStyle/>
          <a:p>
            <a:pPr algn="r">
              <a:defRPr sz="900" b="1">
                <a:solidFill>
                  <a:srgbClr val="6B6663"/>
                </a:solidFill>
                <a:latin typeface="Noto Sans Hans"/>
                <a:ea typeface="Noto Sans Hans"/>
                <a:cs typeface="Noto Sans Hans"/>
              </a:defRPr>
            </a:pPr>
            <a:r>
              <a:rPr sz="1000" b="1">
                <a:solidFill>
                  <a:srgbClr val="6B6663"/>
                </a:solidFill>
                <a:latin typeface="Noto Sans Hans"/>
                <a:ea typeface="Noto Sans Hans"/>
                <a:cs typeface="Noto Sans Hans"/>
              </a:rPr>
              <a:t>产业基础</a:t>
            </a:r>
            <a:endParaRPr sz="1000" b="1">
              <a:solidFill>
                <a:srgbClr val="6B6663"/>
              </a:solidFill>
              <a:latin typeface="Noto Sans Hans"/>
              <a:ea typeface="Noto Sans Hans"/>
              <a:cs typeface="Noto Sans Hans"/>
            </a:endParaRPr>
          </a:p>
        </p:txBody>
      </p:sp>
      <p:sp>
        <p:nvSpPr>
          <p:cNvPr id="21" name="矩形 20"/>
          <p:cNvSpPr>
            <a:spLocks noGrp="1"/>
          </p:cNvSpPr>
          <p:nvPr/>
        </p:nvSpPr>
        <p:spPr>
          <a:xfrm>
            <a:off x="7296150" y="1476375"/>
            <a:ext cx="1924050" cy="257175"/>
          </a:xfrm>
          <a:prstGeom prst="rect">
            <a:avLst/>
          </a:prstGeom>
          <a:noFill/>
          <a:ln w="0">
            <a:noFill/>
            <a:prstDash val="solid"/>
          </a:ln>
        </p:spPr>
        <p:txBody>
          <a:bodyPr wrap="square" lIns="47625" tIns="19050" rIns="47625" bIns="19050" anchor="ctr"/>
          <a:lstStyle/>
          <a:p>
            <a:pPr algn="l">
              <a:defRPr sz="865" b="0">
                <a:solidFill>
                  <a:srgbClr val="3F3A38"/>
                </a:solidFill>
                <a:latin typeface="Noto Sans Hans"/>
                <a:ea typeface="Noto Sans Hans"/>
                <a:cs typeface="Noto Sans Hans"/>
              </a:defRPr>
            </a:pPr>
            <a:r>
              <a:rPr lang="zh-CN" sz="970" b="0">
                <a:solidFill>
                  <a:srgbClr val="3F3A38"/>
                </a:solidFill>
                <a:latin typeface="Noto Sans Hans"/>
                <a:ea typeface="Noto Sans Hans"/>
                <a:cs typeface="Noto Sans Hans"/>
              </a:rPr>
              <a:t>全国智能</a:t>
            </a:r>
            <a:r>
              <a:rPr sz="970" b="0">
                <a:solidFill>
                  <a:srgbClr val="3F3A38"/>
                </a:solidFill>
                <a:latin typeface="Noto Sans Hans"/>
                <a:ea typeface="Noto Sans Hans"/>
                <a:cs typeface="Noto Sans Hans"/>
              </a:rPr>
              <a:t>机器人产业企业</a:t>
            </a:r>
            <a:endParaRPr sz="970" b="0">
              <a:solidFill>
                <a:srgbClr val="3F3A38"/>
              </a:solidFill>
              <a:latin typeface="Noto Sans Hans"/>
              <a:ea typeface="Noto Sans Hans"/>
              <a:cs typeface="Noto Sans Hans"/>
            </a:endParaRPr>
          </a:p>
        </p:txBody>
      </p:sp>
      <p:sp>
        <p:nvSpPr>
          <p:cNvPr id="22" name="矩形 21"/>
          <p:cNvSpPr>
            <a:spLocks noGrp="1"/>
          </p:cNvSpPr>
          <p:nvPr/>
        </p:nvSpPr>
        <p:spPr>
          <a:xfrm>
            <a:off x="9505950" y="1104900"/>
            <a:ext cx="2209800" cy="704850"/>
          </a:xfrm>
          <a:prstGeom prst="rect">
            <a:avLst/>
          </a:prstGeom>
          <a:solidFill>
            <a:srgbClr val="8F2730"/>
          </a:solidFill>
          <a:ln w="0">
            <a:noFill/>
            <a:prstDash val="solid"/>
          </a:ln>
        </p:spPr>
      </p:sp>
      <p:sp>
        <p:nvSpPr>
          <p:cNvPr id="23" name="矩形 22"/>
          <p:cNvSpPr>
            <a:spLocks noGrp="1"/>
          </p:cNvSpPr>
          <p:nvPr/>
        </p:nvSpPr>
        <p:spPr>
          <a:xfrm>
            <a:off x="9620250" y="1143000"/>
            <a:ext cx="685800" cy="381000"/>
          </a:xfrm>
          <a:prstGeom prst="rect">
            <a:avLst/>
          </a:prstGeom>
          <a:noFill/>
          <a:ln w="0">
            <a:noFill/>
            <a:prstDash val="solid"/>
          </a:ln>
        </p:spPr>
        <p:txBody>
          <a:bodyPr wrap="square" lIns="47625" tIns="19050" rIns="47625" bIns="19050" anchor="ctr"/>
          <a:lstStyle/>
          <a:p>
            <a:pPr algn="l">
              <a:defRPr sz="1875" b="1">
                <a:solidFill>
                  <a:srgbClr val="FFFFFF"/>
                </a:solidFill>
                <a:latin typeface="Noto Sans Hans"/>
                <a:ea typeface="Noto Sans Hans"/>
                <a:cs typeface="Noto Sans Hans"/>
              </a:defRPr>
            </a:pPr>
            <a:r>
              <a:rPr sz="2000" b="1">
                <a:solidFill>
                  <a:srgbClr val="FFFFFF"/>
                </a:solidFill>
                <a:latin typeface="Noto Sans Hans"/>
                <a:ea typeface="Noto Sans Hans"/>
                <a:cs typeface="Noto Sans Hans"/>
              </a:rPr>
              <a:t>82.8</a:t>
            </a:r>
            <a:endParaRPr sz="2000" b="1">
              <a:solidFill>
                <a:srgbClr val="FFFFFF"/>
              </a:solidFill>
              <a:latin typeface="Noto Sans Hans"/>
              <a:ea typeface="Noto Sans Hans"/>
              <a:cs typeface="Noto Sans Hans"/>
            </a:endParaRPr>
          </a:p>
        </p:txBody>
      </p:sp>
      <p:sp>
        <p:nvSpPr>
          <p:cNvPr id="24" name="矩形 23"/>
          <p:cNvSpPr>
            <a:spLocks noGrp="1"/>
          </p:cNvSpPr>
          <p:nvPr/>
        </p:nvSpPr>
        <p:spPr>
          <a:xfrm>
            <a:off x="10287000" y="1209675"/>
            <a:ext cx="1314450" cy="228600"/>
          </a:xfrm>
          <a:prstGeom prst="rect">
            <a:avLst/>
          </a:prstGeom>
          <a:noFill/>
          <a:ln w="0">
            <a:noFill/>
            <a:prstDash val="solid"/>
          </a:ln>
        </p:spPr>
        <p:txBody>
          <a:bodyPr wrap="square" lIns="47625" tIns="19050" rIns="47625" bIns="19050" anchor="ctr"/>
          <a:lstStyle/>
          <a:p>
            <a:pPr algn="r">
              <a:defRPr sz="900" b="1">
                <a:solidFill>
                  <a:srgbClr val="FFFFFF"/>
                </a:solidFill>
                <a:latin typeface="Noto Sans Hans"/>
                <a:ea typeface="Noto Sans Hans"/>
                <a:cs typeface="Noto Sans Hans"/>
              </a:defRPr>
            </a:pPr>
            <a:r>
              <a:rPr sz="1000" b="1">
                <a:solidFill>
                  <a:srgbClr val="FFFFFF"/>
                </a:solidFill>
                <a:latin typeface="Noto Sans Hans"/>
                <a:ea typeface="Noto Sans Hans"/>
                <a:cs typeface="Noto Sans Hans"/>
              </a:rPr>
              <a:t>康复机器人综合评分</a:t>
            </a:r>
            <a:endParaRPr sz="1000" b="1">
              <a:solidFill>
                <a:srgbClr val="FFFFFF"/>
              </a:solidFill>
              <a:latin typeface="Noto Sans Hans"/>
              <a:ea typeface="Noto Sans Hans"/>
              <a:cs typeface="Noto Sans Hans"/>
            </a:endParaRPr>
          </a:p>
        </p:txBody>
      </p:sp>
      <p:sp>
        <p:nvSpPr>
          <p:cNvPr id="25" name="矩形 24"/>
          <p:cNvSpPr>
            <a:spLocks noGrp="1"/>
          </p:cNvSpPr>
          <p:nvPr/>
        </p:nvSpPr>
        <p:spPr>
          <a:xfrm>
            <a:off x="9620250" y="1485900"/>
            <a:ext cx="1981200" cy="228600"/>
          </a:xfrm>
          <a:prstGeom prst="rect">
            <a:avLst/>
          </a:prstGeom>
          <a:noFill/>
          <a:ln w="0">
            <a:noFill/>
            <a:prstDash val="solid"/>
          </a:ln>
        </p:spPr>
        <p:txBody>
          <a:bodyPr wrap="square" lIns="47625" tIns="19050" rIns="47625" bIns="19050" anchor="ctr"/>
          <a:lstStyle/>
          <a:p>
            <a:pPr algn="l">
              <a:defRPr sz="865" b="0">
                <a:solidFill>
                  <a:srgbClr val="FCE7E7"/>
                </a:solidFill>
                <a:latin typeface="Noto Sans Hans"/>
                <a:ea typeface="Noto Sans Hans"/>
                <a:cs typeface="Noto Sans Hans"/>
              </a:defRPr>
            </a:pPr>
            <a:r>
              <a:rPr sz="970" b="0">
                <a:solidFill>
                  <a:srgbClr val="FCE7E7"/>
                </a:solidFill>
                <a:latin typeface="Noto Sans Hans"/>
                <a:ea typeface="Noto Sans Hans"/>
                <a:cs typeface="Noto Sans Hans"/>
              </a:rPr>
              <a:t>高于护理75.3、陪伴70.4</a:t>
            </a:r>
            <a:endParaRPr sz="970" b="0">
              <a:solidFill>
                <a:srgbClr val="FCE7E7"/>
              </a:solidFill>
              <a:latin typeface="Noto Sans Hans"/>
              <a:ea typeface="Noto Sans Hans"/>
              <a:cs typeface="Noto Sans Hans"/>
            </a:endParaRPr>
          </a:p>
        </p:txBody>
      </p:sp>
      <p:sp>
        <p:nvSpPr>
          <p:cNvPr id="26" name="矩形 25"/>
          <p:cNvSpPr>
            <a:spLocks noGrp="1"/>
          </p:cNvSpPr>
          <p:nvPr/>
        </p:nvSpPr>
        <p:spPr>
          <a:xfrm>
            <a:off x="457200" y="2000250"/>
            <a:ext cx="1428750" cy="323850"/>
          </a:xfrm>
          <a:prstGeom prst="rect">
            <a:avLst/>
          </a:prstGeom>
          <a:solidFill>
            <a:srgbClr val="8F2730"/>
          </a:solidFill>
          <a:ln w="9525">
            <a:solidFill>
              <a:srgbClr val="FFFFFF"/>
            </a:solidFill>
            <a:prstDash val="solid"/>
          </a:ln>
        </p:spPr>
      </p:sp>
      <p:sp>
        <p:nvSpPr>
          <p:cNvPr id="27" name="矩形 26"/>
          <p:cNvSpPr>
            <a:spLocks noGrp="1"/>
          </p:cNvSpPr>
          <p:nvPr/>
        </p:nvSpPr>
        <p:spPr>
          <a:xfrm>
            <a:off x="466725" y="2009775"/>
            <a:ext cx="1409700" cy="304800"/>
          </a:xfrm>
          <a:prstGeom prst="rect">
            <a:avLst/>
          </a:prstGeom>
          <a:noFill/>
          <a:ln w="0">
            <a:noFill/>
            <a:prstDash val="solid"/>
          </a:ln>
        </p:spPr>
        <p:txBody>
          <a:bodyPr wrap="square" lIns="47625" tIns="19050" rIns="47625" bIns="19050" anchor="ct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产业环节</a:t>
            </a:r>
            <a:endParaRPr sz="1080" b="1">
              <a:solidFill>
                <a:srgbClr val="FFFFFF"/>
              </a:solidFill>
              <a:latin typeface="Noto Sans Hans"/>
              <a:ea typeface="Noto Sans Hans"/>
              <a:cs typeface="Noto Sans Hans"/>
            </a:endParaRPr>
          </a:p>
        </p:txBody>
      </p:sp>
      <p:sp>
        <p:nvSpPr>
          <p:cNvPr id="28" name="矩形 27"/>
          <p:cNvSpPr>
            <a:spLocks noGrp="1"/>
          </p:cNvSpPr>
          <p:nvPr/>
        </p:nvSpPr>
        <p:spPr>
          <a:xfrm>
            <a:off x="1885950" y="2000250"/>
            <a:ext cx="990600" cy="323850"/>
          </a:xfrm>
          <a:prstGeom prst="rect">
            <a:avLst/>
          </a:prstGeom>
          <a:solidFill>
            <a:srgbClr val="8F2730"/>
          </a:solidFill>
          <a:ln w="9525">
            <a:solidFill>
              <a:srgbClr val="FFFFFF"/>
            </a:solidFill>
            <a:prstDash val="solid"/>
          </a:ln>
        </p:spPr>
      </p:sp>
      <p:sp>
        <p:nvSpPr>
          <p:cNvPr id="29" name="矩形 28"/>
          <p:cNvSpPr>
            <a:spLocks noGrp="1"/>
          </p:cNvSpPr>
          <p:nvPr/>
        </p:nvSpPr>
        <p:spPr>
          <a:xfrm>
            <a:off x="1895475" y="2009775"/>
            <a:ext cx="971550" cy="304800"/>
          </a:xfrm>
          <a:prstGeom prst="rect">
            <a:avLst/>
          </a:prstGeom>
          <a:noFill/>
          <a:ln w="0">
            <a:noFill/>
            <a:prstDash val="solid"/>
          </a:ln>
        </p:spPr>
        <p:txBody>
          <a:bodyPr wrap="square" lIns="47625" tIns="19050" rIns="47625" bIns="19050" anchor="ct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成熟度</a:t>
            </a:r>
            <a:endParaRPr sz="1080" b="1">
              <a:solidFill>
                <a:srgbClr val="FFFFFF"/>
              </a:solidFill>
              <a:latin typeface="Noto Sans Hans"/>
              <a:ea typeface="Noto Sans Hans"/>
              <a:cs typeface="Noto Sans Hans"/>
            </a:endParaRPr>
          </a:p>
        </p:txBody>
      </p:sp>
      <p:sp>
        <p:nvSpPr>
          <p:cNvPr id="30" name="矩形 29"/>
          <p:cNvSpPr>
            <a:spLocks noGrp="1"/>
          </p:cNvSpPr>
          <p:nvPr/>
        </p:nvSpPr>
        <p:spPr>
          <a:xfrm>
            <a:off x="2876550" y="2000250"/>
            <a:ext cx="1066800" cy="323850"/>
          </a:xfrm>
          <a:prstGeom prst="rect">
            <a:avLst/>
          </a:prstGeom>
          <a:solidFill>
            <a:srgbClr val="8F2730"/>
          </a:solidFill>
          <a:ln w="9525">
            <a:solidFill>
              <a:srgbClr val="FFFFFF"/>
            </a:solidFill>
            <a:prstDash val="solid"/>
          </a:ln>
        </p:spPr>
      </p:sp>
      <p:sp>
        <p:nvSpPr>
          <p:cNvPr id="31" name="矩形 30"/>
          <p:cNvSpPr>
            <a:spLocks noGrp="1"/>
          </p:cNvSpPr>
          <p:nvPr/>
        </p:nvSpPr>
        <p:spPr>
          <a:xfrm>
            <a:off x="2886075" y="2009775"/>
            <a:ext cx="1047750" cy="304800"/>
          </a:xfrm>
          <a:prstGeom prst="rect">
            <a:avLst/>
          </a:prstGeom>
          <a:noFill/>
          <a:ln w="0">
            <a:noFill/>
            <a:prstDash val="solid"/>
          </a:ln>
        </p:spPr>
        <p:txBody>
          <a:bodyPr wrap="square" lIns="47625" tIns="19050" rIns="47625" bIns="19050" anchor="ct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需求/景气</a:t>
            </a:r>
            <a:endParaRPr sz="1080" b="1">
              <a:solidFill>
                <a:srgbClr val="FFFFFF"/>
              </a:solidFill>
              <a:latin typeface="Noto Sans Hans"/>
              <a:ea typeface="Noto Sans Hans"/>
              <a:cs typeface="Noto Sans Hans"/>
            </a:endParaRPr>
          </a:p>
        </p:txBody>
      </p:sp>
      <p:sp>
        <p:nvSpPr>
          <p:cNvPr id="32" name="矩形 31"/>
          <p:cNvSpPr>
            <a:spLocks noGrp="1"/>
          </p:cNvSpPr>
          <p:nvPr/>
        </p:nvSpPr>
        <p:spPr>
          <a:xfrm>
            <a:off x="3943350" y="2000250"/>
            <a:ext cx="1047750" cy="323850"/>
          </a:xfrm>
          <a:prstGeom prst="rect">
            <a:avLst/>
          </a:prstGeom>
          <a:solidFill>
            <a:srgbClr val="8F2730"/>
          </a:solidFill>
          <a:ln w="9525">
            <a:solidFill>
              <a:srgbClr val="FFFFFF"/>
            </a:solidFill>
            <a:prstDash val="solid"/>
          </a:ln>
        </p:spPr>
      </p:sp>
      <p:sp>
        <p:nvSpPr>
          <p:cNvPr id="33" name="矩形 32"/>
          <p:cNvSpPr>
            <a:spLocks noGrp="1"/>
          </p:cNvSpPr>
          <p:nvPr/>
        </p:nvSpPr>
        <p:spPr>
          <a:xfrm>
            <a:off x="3952875" y="2009775"/>
            <a:ext cx="1028700" cy="304800"/>
          </a:xfrm>
          <a:prstGeom prst="rect">
            <a:avLst/>
          </a:prstGeom>
          <a:noFill/>
          <a:ln w="0">
            <a:noFill/>
            <a:prstDash val="solid"/>
          </a:ln>
        </p:spPr>
        <p:txBody>
          <a:bodyPr wrap="square" lIns="47625" tIns="19050" rIns="47625" bIns="19050" anchor="ct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商业闭环</a:t>
            </a:r>
            <a:endParaRPr sz="1080" b="1">
              <a:solidFill>
                <a:srgbClr val="FFFFFF"/>
              </a:solidFill>
              <a:latin typeface="Noto Sans Hans"/>
              <a:ea typeface="Noto Sans Hans"/>
              <a:cs typeface="Noto Sans Hans"/>
            </a:endParaRPr>
          </a:p>
        </p:txBody>
      </p:sp>
      <p:sp>
        <p:nvSpPr>
          <p:cNvPr id="34" name="矩形 33"/>
          <p:cNvSpPr>
            <a:spLocks noGrp="1"/>
          </p:cNvSpPr>
          <p:nvPr/>
        </p:nvSpPr>
        <p:spPr>
          <a:xfrm>
            <a:off x="4991100" y="2000250"/>
            <a:ext cx="2476500" cy="323850"/>
          </a:xfrm>
          <a:prstGeom prst="rect">
            <a:avLst/>
          </a:prstGeom>
          <a:solidFill>
            <a:srgbClr val="8F2730"/>
          </a:solidFill>
          <a:ln w="9525">
            <a:solidFill>
              <a:srgbClr val="FFFFFF"/>
            </a:solidFill>
            <a:prstDash val="solid"/>
          </a:ln>
        </p:spPr>
      </p:sp>
      <p:sp>
        <p:nvSpPr>
          <p:cNvPr id="35" name="矩形 34"/>
          <p:cNvSpPr>
            <a:spLocks noGrp="1"/>
          </p:cNvSpPr>
          <p:nvPr/>
        </p:nvSpPr>
        <p:spPr>
          <a:xfrm>
            <a:off x="5000625" y="2009775"/>
            <a:ext cx="2457450" cy="304800"/>
          </a:xfrm>
          <a:prstGeom prst="rect">
            <a:avLst/>
          </a:prstGeom>
          <a:noFill/>
          <a:ln w="0">
            <a:noFill/>
            <a:prstDash val="solid"/>
          </a:ln>
        </p:spPr>
        <p:txBody>
          <a:bodyPr wrap="square" lIns="47625" tIns="19050" rIns="47625" bIns="19050" anchor="ct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主要瓶颈</a:t>
            </a:r>
            <a:endParaRPr sz="1080" b="1">
              <a:solidFill>
                <a:srgbClr val="FFFFFF"/>
              </a:solidFill>
              <a:latin typeface="Noto Sans Hans"/>
              <a:ea typeface="Noto Sans Hans"/>
              <a:cs typeface="Noto Sans Hans"/>
            </a:endParaRPr>
          </a:p>
        </p:txBody>
      </p:sp>
      <p:sp>
        <p:nvSpPr>
          <p:cNvPr id="36" name="矩形 35"/>
          <p:cNvSpPr>
            <a:spLocks noGrp="1"/>
          </p:cNvSpPr>
          <p:nvPr/>
        </p:nvSpPr>
        <p:spPr>
          <a:xfrm>
            <a:off x="7467600" y="2000250"/>
            <a:ext cx="1704975" cy="323850"/>
          </a:xfrm>
          <a:prstGeom prst="rect">
            <a:avLst/>
          </a:prstGeom>
          <a:solidFill>
            <a:srgbClr val="8F2730"/>
          </a:solidFill>
          <a:ln w="9525">
            <a:solidFill>
              <a:srgbClr val="FFFFFF"/>
            </a:solidFill>
            <a:prstDash val="solid"/>
          </a:ln>
        </p:spPr>
      </p:sp>
      <p:sp>
        <p:nvSpPr>
          <p:cNvPr id="37" name="矩形 36"/>
          <p:cNvSpPr>
            <a:spLocks noGrp="1"/>
          </p:cNvSpPr>
          <p:nvPr/>
        </p:nvSpPr>
        <p:spPr>
          <a:xfrm>
            <a:off x="7477125" y="2009775"/>
            <a:ext cx="1685925" cy="304800"/>
          </a:xfrm>
          <a:prstGeom prst="rect">
            <a:avLst/>
          </a:prstGeom>
          <a:noFill/>
          <a:ln w="0">
            <a:noFill/>
            <a:prstDash val="solid"/>
          </a:ln>
        </p:spPr>
        <p:txBody>
          <a:bodyPr wrap="square" lIns="47625" tIns="19050" rIns="47625" bIns="19050" anchor="ct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武汉建议</a:t>
            </a:r>
            <a:endParaRPr sz="1080" b="1">
              <a:solidFill>
                <a:srgbClr val="FFFFFF"/>
              </a:solidFill>
              <a:latin typeface="Noto Sans Hans"/>
              <a:ea typeface="Noto Sans Hans"/>
              <a:cs typeface="Noto Sans Hans"/>
            </a:endParaRPr>
          </a:p>
        </p:txBody>
      </p:sp>
      <p:sp>
        <p:nvSpPr>
          <p:cNvPr id="38" name="矩形 37"/>
          <p:cNvSpPr>
            <a:spLocks noGrp="1"/>
          </p:cNvSpPr>
          <p:nvPr/>
        </p:nvSpPr>
        <p:spPr>
          <a:xfrm>
            <a:off x="457200" y="2324100"/>
            <a:ext cx="1428750" cy="457200"/>
          </a:xfrm>
          <a:prstGeom prst="rect">
            <a:avLst/>
          </a:prstGeom>
          <a:solidFill>
            <a:srgbClr val="FFFFFF"/>
          </a:solidFill>
          <a:ln w="9525">
            <a:solidFill>
              <a:srgbClr val="D8D1CC"/>
            </a:solidFill>
            <a:prstDash val="solid"/>
          </a:ln>
        </p:spPr>
      </p:sp>
      <p:sp>
        <p:nvSpPr>
          <p:cNvPr id="39" name="矩形 38"/>
          <p:cNvSpPr>
            <a:spLocks noGrp="1"/>
          </p:cNvSpPr>
          <p:nvPr/>
        </p:nvSpPr>
        <p:spPr>
          <a:xfrm>
            <a:off x="485775" y="23526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核心传动与执行</a:t>
            </a:r>
            <a:endParaRPr sz="1030" b="1">
              <a:solidFill>
                <a:srgbClr val="3F3A38"/>
              </a:solidFill>
              <a:latin typeface="Noto Sans Hans"/>
              <a:ea typeface="Noto Sans Hans"/>
              <a:cs typeface="Noto Sans Hans"/>
            </a:endParaRPr>
          </a:p>
        </p:txBody>
      </p:sp>
      <p:sp>
        <p:nvSpPr>
          <p:cNvPr id="40" name="矩形 39"/>
          <p:cNvSpPr>
            <a:spLocks noGrp="1"/>
          </p:cNvSpPr>
          <p:nvPr/>
        </p:nvSpPr>
        <p:spPr>
          <a:xfrm>
            <a:off x="1885950" y="2324100"/>
            <a:ext cx="990600" cy="457200"/>
          </a:xfrm>
          <a:prstGeom prst="rect">
            <a:avLst/>
          </a:prstGeom>
          <a:solidFill>
            <a:srgbClr val="FFFFFF"/>
          </a:solidFill>
          <a:ln w="9525">
            <a:solidFill>
              <a:srgbClr val="D8D1CC"/>
            </a:solidFill>
            <a:prstDash val="solid"/>
          </a:ln>
        </p:spPr>
      </p:sp>
      <p:sp>
        <p:nvSpPr>
          <p:cNvPr id="41" name="矩形 40"/>
          <p:cNvSpPr>
            <a:spLocks noGrp="1"/>
          </p:cNvSpPr>
          <p:nvPr/>
        </p:nvSpPr>
        <p:spPr>
          <a:xfrm>
            <a:off x="1914525" y="23526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高</a:t>
            </a:r>
            <a:endParaRPr sz="1030" b="0">
              <a:solidFill>
                <a:srgbClr val="3F3A38"/>
              </a:solidFill>
              <a:latin typeface="Noto Sans Hans"/>
              <a:ea typeface="Noto Sans Hans"/>
              <a:cs typeface="Noto Sans Hans"/>
            </a:endParaRPr>
          </a:p>
        </p:txBody>
      </p:sp>
      <p:sp>
        <p:nvSpPr>
          <p:cNvPr id="42" name="矩形 41"/>
          <p:cNvSpPr>
            <a:spLocks noGrp="1"/>
          </p:cNvSpPr>
          <p:nvPr/>
        </p:nvSpPr>
        <p:spPr>
          <a:xfrm>
            <a:off x="2876550" y="2324100"/>
            <a:ext cx="1066800" cy="457200"/>
          </a:xfrm>
          <a:prstGeom prst="rect">
            <a:avLst/>
          </a:prstGeom>
          <a:solidFill>
            <a:srgbClr val="FFFFFF"/>
          </a:solidFill>
          <a:ln w="9525">
            <a:solidFill>
              <a:srgbClr val="D8D1CC"/>
            </a:solidFill>
            <a:prstDash val="solid"/>
          </a:ln>
        </p:spPr>
      </p:sp>
      <p:sp>
        <p:nvSpPr>
          <p:cNvPr id="43" name="矩形 42"/>
          <p:cNvSpPr>
            <a:spLocks noGrp="1"/>
          </p:cNvSpPr>
          <p:nvPr/>
        </p:nvSpPr>
        <p:spPr>
          <a:xfrm>
            <a:off x="2933700" y="23622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82</a:t>
            </a:r>
            <a:endParaRPr sz="1000" b="1">
              <a:solidFill>
                <a:srgbClr val="C9151E"/>
              </a:solidFill>
              <a:latin typeface="Noto Sans Hans"/>
              <a:ea typeface="Noto Sans Hans"/>
              <a:cs typeface="Noto Sans Hans"/>
            </a:endParaRPr>
          </a:p>
        </p:txBody>
      </p:sp>
      <p:sp>
        <p:nvSpPr>
          <p:cNvPr id="44" name="矩形 43"/>
          <p:cNvSpPr>
            <a:spLocks noGrp="1"/>
          </p:cNvSpPr>
          <p:nvPr/>
        </p:nvSpPr>
        <p:spPr>
          <a:xfrm>
            <a:off x="3257550" y="2486025"/>
            <a:ext cx="590550" cy="114300"/>
          </a:xfrm>
          <a:prstGeom prst="rect">
            <a:avLst/>
          </a:prstGeom>
          <a:solidFill>
            <a:srgbClr val="EEE5E2"/>
          </a:solidFill>
          <a:ln w="0">
            <a:noFill/>
            <a:prstDash val="solid"/>
          </a:ln>
        </p:spPr>
      </p:sp>
      <p:sp>
        <p:nvSpPr>
          <p:cNvPr id="45" name="矩形 44"/>
          <p:cNvSpPr>
            <a:spLocks noGrp="1"/>
          </p:cNvSpPr>
          <p:nvPr/>
        </p:nvSpPr>
        <p:spPr>
          <a:xfrm>
            <a:off x="3257550" y="2486025"/>
            <a:ext cx="484251" cy="114300"/>
          </a:xfrm>
          <a:prstGeom prst="rect">
            <a:avLst/>
          </a:prstGeom>
          <a:solidFill>
            <a:srgbClr val="C64A22"/>
          </a:solidFill>
          <a:ln w="0">
            <a:noFill/>
            <a:prstDash val="solid"/>
          </a:ln>
        </p:spPr>
      </p:sp>
      <p:sp>
        <p:nvSpPr>
          <p:cNvPr id="46" name="矩形 45"/>
          <p:cNvSpPr>
            <a:spLocks noGrp="1"/>
          </p:cNvSpPr>
          <p:nvPr/>
        </p:nvSpPr>
        <p:spPr>
          <a:xfrm>
            <a:off x="3943350" y="2324100"/>
            <a:ext cx="1047750" cy="457200"/>
          </a:xfrm>
          <a:prstGeom prst="rect">
            <a:avLst/>
          </a:prstGeom>
          <a:solidFill>
            <a:srgbClr val="FFFFFF"/>
          </a:solidFill>
          <a:ln w="9525">
            <a:solidFill>
              <a:srgbClr val="D8D1CC"/>
            </a:solidFill>
            <a:prstDash val="solid"/>
          </a:ln>
        </p:spPr>
      </p:sp>
      <p:sp>
        <p:nvSpPr>
          <p:cNvPr id="47" name="矩形 46"/>
          <p:cNvSpPr>
            <a:spLocks noGrp="1"/>
          </p:cNvSpPr>
          <p:nvPr/>
        </p:nvSpPr>
        <p:spPr>
          <a:xfrm>
            <a:off x="3971925" y="23526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成熟</a:t>
            </a:r>
            <a:endParaRPr sz="1030" b="0">
              <a:solidFill>
                <a:srgbClr val="3F3A38"/>
              </a:solidFill>
              <a:latin typeface="Noto Sans Hans"/>
              <a:ea typeface="Noto Sans Hans"/>
              <a:cs typeface="Noto Sans Hans"/>
            </a:endParaRPr>
          </a:p>
        </p:txBody>
      </p:sp>
      <p:sp>
        <p:nvSpPr>
          <p:cNvPr id="48" name="矩形 47"/>
          <p:cNvSpPr>
            <a:spLocks noGrp="1"/>
          </p:cNvSpPr>
          <p:nvPr/>
        </p:nvSpPr>
        <p:spPr>
          <a:xfrm>
            <a:off x="4991100" y="2324100"/>
            <a:ext cx="2476500" cy="457200"/>
          </a:xfrm>
          <a:prstGeom prst="rect">
            <a:avLst/>
          </a:prstGeom>
          <a:solidFill>
            <a:srgbClr val="FFFFFF"/>
          </a:solidFill>
          <a:ln w="9525">
            <a:solidFill>
              <a:srgbClr val="D8D1CC"/>
            </a:solidFill>
            <a:prstDash val="solid"/>
          </a:ln>
        </p:spPr>
      </p:sp>
      <p:sp>
        <p:nvSpPr>
          <p:cNvPr id="49" name="矩形 48"/>
          <p:cNvSpPr>
            <a:spLocks noGrp="1"/>
          </p:cNvSpPr>
          <p:nvPr/>
        </p:nvSpPr>
        <p:spPr>
          <a:xfrm>
            <a:off x="5019675" y="23526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轻量化、寿命与批量一致性</a:t>
            </a:r>
            <a:endParaRPr sz="990" b="0">
              <a:solidFill>
                <a:srgbClr val="3F3A38"/>
              </a:solidFill>
              <a:latin typeface="Noto Sans Hans"/>
              <a:ea typeface="Noto Sans Hans"/>
              <a:cs typeface="Noto Sans Hans"/>
            </a:endParaRPr>
          </a:p>
        </p:txBody>
      </p:sp>
      <p:sp>
        <p:nvSpPr>
          <p:cNvPr id="50" name="矩形 49"/>
          <p:cNvSpPr>
            <a:spLocks noGrp="1"/>
          </p:cNvSpPr>
          <p:nvPr/>
        </p:nvSpPr>
        <p:spPr>
          <a:xfrm>
            <a:off x="7467600" y="2324100"/>
            <a:ext cx="1704975" cy="457200"/>
          </a:xfrm>
          <a:prstGeom prst="rect">
            <a:avLst/>
          </a:prstGeom>
          <a:solidFill>
            <a:srgbClr val="FFFFFF"/>
          </a:solidFill>
          <a:ln w="9525">
            <a:solidFill>
              <a:srgbClr val="D8D1CC"/>
            </a:solidFill>
            <a:prstDash val="solid"/>
          </a:ln>
        </p:spPr>
      </p:sp>
      <p:sp>
        <p:nvSpPr>
          <p:cNvPr id="51" name="矩形 50"/>
          <p:cNvSpPr>
            <a:spLocks noGrp="1"/>
          </p:cNvSpPr>
          <p:nvPr/>
        </p:nvSpPr>
        <p:spPr>
          <a:xfrm>
            <a:off x="7496175" y="23526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区域补链</a:t>
            </a:r>
            <a:endParaRPr sz="1030" b="1">
              <a:solidFill>
                <a:srgbClr val="876200"/>
              </a:solidFill>
              <a:latin typeface="Noto Sans Hans"/>
              <a:ea typeface="Noto Sans Hans"/>
              <a:cs typeface="Noto Sans Hans"/>
            </a:endParaRPr>
          </a:p>
        </p:txBody>
      </p:sp>
      <p:sp>
        <p:nvSpPr>
          <p:cNvPr id="52" name="矩形 51"/>
          <p:cNvSpPr>
            <a:spLocks noGrp="1"/>
          </p:cNvSpPr>
          <p:nvPr/>
        </p:nvSpPr>
        <p:spPr>
          <a:xfrm>
            <a:off x="457200" y="2781300"/>
            <a:ext cx="1428750" cy="457200"/>
          </a:xfrm>
          <a:prstGeom prst="rect">
            <a:avLst/>
          </a:prstGeom>
          <a:solidFill>
            <a:srgbClr val="FAF8F6"/>
          </a:solidFill>
          <a:ln w="9525">
            <a:solidFill>
              <a:srgbClr val="D8D1CC"/>
            </a:solidFill>
            <a:prstDash val="solid"/>
          </a:ln>
        </p:spPr>
      </p:sp>
      <p:sp>
        <p:nvSpPr>
          <p:cNvPr id="53" name="矩形 52"/>
          <p:cNvSpPr>
            <a:spLocks noGrp="1"/>
          </p:cNvSpPr>
          <p:nvPr/>
        </p:nvSpPr>
        <p:spPr>
          <a:xfrm>
            <a:off x="485775" y="28098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视觉/力触觉传感</a:t>
            </a:r>
            <a:endParaRPr sz="1030" b="1">
              <a:solidFill>
                <a:srgbClr val="3F3A38"/>
              </a:solidFill>
              <a:latin typeface="Noto Sans Hans"/>
              <a:ea typeface="Noto Sans Hans"/>
              <a:cs typeface="Noto Sans Hans"/>
            </a:endParaRPr>
          </a:p>
        </p:txBody>
      </p:sp>
      <p:sp>
        <p:nvSpPr>
          <p:cNvPr id="54" name="矩形 53"/>
          <p:cNvSpPr>
            <a:spLocks noGrp="1"/>
          </p:cNvSpPr>
          <p:nvPr/>
        </p:nvSpPr>
        <p:spPr>
          <a:xfrm>
            <a:off x="1885950" y="2781300"/>
            <a:ext cx="990600" cy="457200"/>
          </a:xfrm>
          <a:prstGeom prst="rect">
            <a:avLst/>
          </a:prstGeom>
          <a:solidFill>
            <a:srgbClr val="FAF8F6"/>
          </a:solidFill>
          <a:ln w="9525">
            <a:solidFill>
              <a:srgbClr val="D8D1CC"/>
            </a:solidFill>
            <a:prstDash val="solid"/>
          </a:ln>
        </p:spPr>
      </p:sp>
      <p:sp>
        <p:nvSpPr>
          <p:cNvPr id="55" name="矩形 54"/>
          <p:cNvSpPr>
            <a:spLocks noGrp="1"/>
          </p:cNvSpPr>
          <p:nvPr/>
        </p:nvSpPr>
        <p:spPr>
          <a:xfrm>
            <a:off x="1914525" y="28098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中高</a:t>
            </a:r>
            <a:endParaRPr sz="1030" b="0">
              <a:solidFill>
                <a:srgbClr val="3F3A38"/>
              </a:solidFill>
              <a:latin typeface="Noto Sans Hans"/>
              <a:ea typeface="Noto Sans Hans"/>
              <a:cs typeface="Noto Sans Hans"/>
            </a:endParaRPr>
          </a:p>
        </p:txBody>
      </p:sp>
      <p:sp>
        <p:nvSpPr>
          <p:cNvPr id="56" name="矩形 55"/>
          <p:cNvSpPr>
            <a:spLocks noGrp="1"/>
          </p:cNvSpPr>
          <p:nvPr/>
        </p:nvSpPr>
        <p:spPr>
          <a:xfrm>
            <a:off x="2876550" y="2781300"/>
            <a:ext cx="1066800" cy="457200"/>
          </a:xfrm>
          <a:prstGeom prst="rect">
            <a:avLst/>
          </a:prstGeom>
          <a:solidFill>
            <a:srgbClr val="FAF8F6"/>
          </a:solidFill>
          <a:ln w="9525">
            <a:solidFill>
              <a:srgbClr val="D8D1CC"/>
            </a:solidFill>
            <a:prstDash val="solid"/>
          </a:ln>
        </p:spPr>
      </p:sp>
      <p:sp>
        <p:nvSpPr>
          <p:cNvPr id="57" name="矩形 56"/>
          <p:cNvSpPr>
            <a:spLocks noGrp="1"/>
          </p:cNvSpPr>
          <p:nvPr/>
        </p:nvSpPr>
        <p:spPr>
          <a:xfrm>
            <a:off x="2933700" y="28194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78</a:t>
            </a:r>
            <a:endParaRPr sz="1000" b="1">
              <a:solidFill>
                <a:srgbClr val="C9151E"/>
              </a:solidFill>
              <a:latin typeface="Noto Sans Hans"/>
              <a:ea typeface="Noto Sans Hans"/>
              <a:cs typeface="Noto Sans Hans"/>
            </a:endParaRPr>
          </a:p>
        </p:txBody>
      </p:sp>
      <p:sp>
        <p:nvSpPr>
          <p:cNvPr id="58" name="矩形 57"/>
          <p:cNvSpPr>
            <a:spLocks noGrp="1"/>
          </p:cNvSpPr>
          <p:nvPr/>
        </p:nvSpPr>
        <p:spPr>
          <a:xfrm>
            <a:off x="3257550" y="2943225"/>
            <a:ext cx="590550" cy="114300"/>
          </a:xfrm>
          <a:prstGeom prst="rect">
            <a:avLst/>
          </a:prstGeom>
          <a:solidFill>
            <a:srgbClr val="EEE5E2"/>
          </a:solidFill>
          <a:ln w="0">
            <a:noFill/>
            <a:prstDash val="solid"/>
          </a:ln>
        </p:spPr>
      </p:sp>
      <p:sp>
        <p:nvSpPr>
          <p:cNvPr id="59" name="矩形 58"/>
          <p:cNvSpPr>
            <a:spLocks noGrp="1"/>
          </p:cNvSpPr>
          <p:nvPr/>
        </p:nvSpPr>
        <p:spPr>
          <a:xfrm>
            <a:off x="3257550" y="2943225"/>
            <a:ext cx="460629" cy="114300"/>
          </a:xfrm>
          <a:prstGeom prst="rect">
            <a:avLst/>
          </a:prstGeom>
          <a:solidFill>
            <a:srgbClr val="C64A22"/>
          </a:solidFill>
          <a:ln w="0">
            <a:noFill/>
            <a:prstDash val="solid"/>
          </a:ln>
        </p:spPr>
      </p:sp>
      <p:sp>
        <p:nvSpPr>
          <p:cNvPr id="60" name="矩形 59"/>
          <p:cNvSpPr>
            <a:spLocks noGrp="1"/>
          </p:cNvSpPr>
          <p:nvPr/>
        </p:nvSpPr>
        <p:spPr>
          <a:xfrm>
            <a:off x="3943350" y="2781300"/>
            <a:ext cx="1047750" cy="457200"/>
          </a:xfrm>
          <a:prstGeom prst="rect">
            <a:avLst/>
          </a:prstGeom>
          <a:solidFill>
            <a:srgbClr val="FAF8F6"/>
          </a:solidFill>
          <a:ln w="9525">
            <a:solidFill>
              <a:srgbClr val="D8D1CC"/>
            </a:solidFill>
            <a:prstDash val="solid"/>
          </a:ln>
        </p:spPr>
      </p:sp>
      <p:sp>
        <p:nvSpPr>
          <p:cNvPr id="61" name="矩形 60"/>
          <p:cNvSpPr>
            <a:spLocks noGrp="1"/>
          </p:cNvSpPr>
          <p:nvPr/>
        </p:nvSpPr>
        <p:spPr>
          <a:xfrm>
            <a:off x="3971925" y="28098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成长</a:t>
            </a:r>
            <a:endParaRPr sz="1030" b="0">
              <a:solidFill>
                <a:srgbClr val="3F3A38"/>
              </a:solidFill>
              <a:latin typeface="Noto Sans Hans"/>
              <a:ea typeface="Noto Sans Hans"/>
              <a:cs typeface="Noto Sans Hans"/>
            </a:endParaRPr>
          </a:p>
        </p:txBody>
      </p:sp>
      <p:sp>
        <p:nvSpPr>
          <p:cNvPr id="62" name="矩形 61"/>
          <p:cNvSpPr>
            <a:spLocks noGrp="1"/>
          </p:cNvSpPr>
          <p:nvPr/>
        </p:nvSpPr>
        <p:spPr>
          <a:xfrm>
            <a:off x="4991100" y="2781300"/>
            <a:ext cx="2476500" cy="457200"/>
          </a:xfrm>
          <a:prstGeom prst="rect">
            <a:avLst/>
          </a:prstGeom>
          <a:solidFill>
            <a:srgbClr val="FAF8F6"/>
          </a:solidFill>
          <a:ln w="9525">
            <a:solidFill>
              <a:srgbClr val="D8D1CC"/>
            </a:solidFill>
            <a:prstDash val="solid"/>
          </a:ln>
        </p:spPr>
      </p:sp>
      <p:sp>
        <p:nvSpPr>
          <p:cNvPr id="63" name="矩形 62"/>
          <p:cNvSpPr>
            <a:spLocks noGrp="1"/>
          </p:cNvSpPr>
          <p:nvPr/>
        </p:nvSpPr>
        <p:spPr>
          <a:xfrm>
            <a:off x="5019675" y="28098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软体接触安全、标定与成本</a:t>
            </a:r>
            <a:endParaRPr sz="990" b="0">
              <a:solidFill>
                <a:srgbClr val="3F3A38"/>
              </a:solidFill>
              <a:latin typeface="Noto Sans Hans"/>
              <a:ea typeface="Noto Sans Hans"/>
              <a:cs typeface="Noto Sans Hans"/>
            </a:endParaRPr>
          </a:p>
        </p:txBody>
      </p:sp>
      <p:sp>
        <p:nvSpPr>
          <p:cNvPr id="64" name="矩形 63"/>
          <p:cNvSpPr>
            <a:spLocks noGrp="1"/>
          </p:cNvSpPr>
          <p:nvPr/>
        </p:nvSpPr>
        <p:spPr>
          <a:xfrm>
            <a:off x="7467600" y="2781300"/>
            <a:ext cx="1704975" cy="457200"/>
          </a:xfrm>
          <a:prstGeom prst="rect">
            <a:avLst/>
          </a:prstGeom>
          <a:solidFill>
            <a:srgbClr val="FAF8F6"/>
          </a:solidFill>
          <a:ln w="9525">
            <a:solidFill>
              <a:srgbClr val="D8D1CC"/>
            </a:solidFill>
            <a:prstDash val="solid"/>
          </a:ln>
        </p:spPr>
      </p:sp>
      <p:sp>
        <p:nvSpPr>
          <p:cNvPr id="65" name="矩形 64"/>
          <p:cNvSpPr>
            <a:spLocks noGrp="1"/>
          </p:cNvSpPr>
          <p:nvPr/>
        </p:nvSpPr>
        <p:spPr>
          <a:xfrm>
            <a:off x="7496175" y="28098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成果转化</a:t>
            </a:r>
            <a:endParaRPr sz="1030" b="1">
              <a:solidFill>
                <a:srgbClr val="876200"/>
              </a:solidFill>
              <a:latin typeface="Noto Sans Hans"/>
              <a:ea typeface="Noto Sans Hans"/>
              <a:cs typeface="Noto Sans Hans"/>
            </a:endParaRPr>
          </a:p>
        </p:txBody>
      </p:sp>
      <p:sp>
        <p:nvSpPr>
          <p:cNvPr id="66" name="矩形 65"/>
          <p:cNvSpPr>
            <a:spLocks noGrp="1"/>
          </p:cNvSpPr>
          <p:nvPr/>
        </p:nvSpPr>
        <p:spPr>
          <a:xfrm>
            <a:off x="457200" y="3238500"/>
            <a:ext cx="1428750" cy="457200"/>
          </a:xfrm>
          <a:prstGeom prst="rect">
            <a:avLst/>
          </a:prstGeom>
          <a:solidFill>
            <a:srgbClr val="FFFFFF"/>
          </a:solidFill>
          <a:ln w="9525">
            <a:solidFill>
              <a:srgbClr val="D8D1CC"/>
            </a:solidFill>
            <a:prstDash val="solid"/>
          </a:ln>
        </p:spPr>
      </p:sp>
      <p:sp>
        <p:nvSpPr>
          <p:cNvPr id="67" name="矩形 66"/>
          <p:cNvSpPr>
            <a:spLocks noGrp="1"/>
          </p:cNvSpPr>
          <p:nvPr/>
        </p:nvSpPr>
        <p:spPr>
          <a:xfrm>
            <a:off x="485775" y="32670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大模型/具身智能</a:t>
            </a:r>
            <a:endParaRPr sz="1030" b="1">
              <a:solidFill>
                <a:srgbClr val="3F3A38"/>
              </a:solidFill>
              <a:latin typeface="Noto Sans Hans"/>
              <a:ea typeface="Noto Sans Hans"/>
              <a:cs typeface="Noto Sans Hans"/>
            </a:endParaRPr>
          </a:p>
        </p:txBody>
      </p:sp>
      <p:sp>
        <p:nvSpPr>
          <p:cNvPr id="68" name="矩形 67"/>
          <p:cNvSpPr>
            <a:spLocks noGrp="1"/>
          </p:cNvSpPr>
          <p:nvPr/>
        </p:nvSpPr>
        <p:spPr>
          <a:xfrm>
            <a:off x="1885950" y="3238500"/>
            <a:ext cx="990600" cy="457200"/>
          </a:xfrm>
          <a:prstGeom prst="rect">
            <a:avLst/>
          </a:prstGeom>
          <a:solidFill>
            <a:srgbClr val="FFFFFF"/>
          </a:solidFill>
          <a:ln w="9525">
            <a:solidFill>
              <a:srgbClr val="D8D1CC"/>
            </a:solidFill>
            <a:prstDash val="solid"/>
          </a:ln>
        </p:spPr>
      </p:sp>
      <p:sp>
        <p:nvSpPr>
          <p:cNvPr id="69" name="矩形 68"/>
          <p:cNvSpPr>
            <a:spLocks noGrp="1"/>
          </p:cNvSpPr>
          <p:nvPr/>
        </p:nvSpPr>
        <p:spPr>
          <a:xfrm>
            <a:off x="1914525" y="32670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中低</a:t>
            </a:r>
            <a:endParaRPr sz="1030" b="0">
              <a:solidFill>
                <a:srgbClr val="3F3A38"/>
              </a:solidFill>
              <a:latin typeface="Noto Sans Hans"/>
              <a:ea typeface="Noto Sans Hans"/>
              <a:cs typeface="Noto Sans Hans"/>
            </a:endParaRPr>
          </a:p>
        </p:txBody>
      </p:sp>
      <p:sp>
        <p:nvSpPr>
          <p:cNvPr id="70" name="矩形 69"/>
          <p:cNvSpPr>
            <a:spLocks noGrp="1"/>
          </p:cNvSpPr>
          <p:nvPr/>
        </p:nvSpPr>
        <p:spPr>
          <a:xfrm>
            <a:off x="2876550" y="3238500"/>
            <a:ext cx="1066800" cy="457200"/>
          </a:xfrm>
          <a:prstGeom prst="rect">
            <a:avLst/>
          </a:prstGeom>
          <a:solidFill>
            <a:srgbClr val="FFFFFF"/>
          </a:solidFill>
          <a:ln w="9525">
            <a:solidFill>
              <a:srgbClr val="D8D1CC"/>
            </a:solidFill>
            <a:prstDash val="solid"/>
          </a:ln>
        </p:spPr>
      </p:sp>
      <p:sp>
        <p:nvSpPr>
          <p:cNvPr id="71" name="矩形 70"/>
          <p:cNvSpPr>
            <a:spLocks noGrp="1"/>
          </p:cNvSpPr>
          <p:nvPr/>
        </p:nvSpPr>
        <p:spPr>
          <a:xfrm>
            <a:off x="2933700" y="32766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72</a:t>
            </a:r>
            <a:endParaRPr sz="1000" b="1">
              <a:solidFill>
                <a:srgbClr val="C9151E"/>
              </a:solidFill>
              <a:latin typeface="Noto Sans Hans"/>
              <a:ea typeface="Noto Sans Hans"/>
              <a:cs typeface="Noto Sans Hans"/>
            </a:endParaRPr>
          </a:p>
        </p:txBody>
      </p:sp>
      <p:sp>
        <p:nvSpPr>
          <p:cNvPr id="72" name="矩形 71"/>
          <p:cNvSpPr>
            <a:spLocks noGrp="1"/>
          </p:cNvSpPr>
          <p:nvPr/>
        </p:nvSpPr>
        <p:spPr>
          <a:xfrm>
            <a:off x="3257550" y="3400425"/>
            <a:ext cx="590550" cy="114300"/>
          </a:xfrm>
          <a:prstGeom prst="rect">
            <a:avLst/>
          </a:prstGeom>
          <a:solidFill>
            <a:srgbClr val="EEE5E2"/>
          </a:solidFill>
          <a:ln w="0">
            <a:noFill/>
            <a:prstDash val="solid"/>
          </a:ln>
        </p:spPr>
      </p:sp>
      <p:sp>
        <p:nvSpPr>
          <p:cNvPr id="73" name="矩形 72"/>
          <p:cNvSpPr>
            <a:spLocks noGrp="1"/>
          </p:cNvSpPr>
          <p:nvPr/>
        </p:nvSpPr>
        <p:spPr>
          <a:xfrm>
            <a:off x="3257550" y="3400425"/>
            <a:ext cx="425196" cy="114300"/>
          </a:xfrm>
          <a:prstGeom prst="rect">
            <a:avLst/>
          </a:prstGeom>
          <a:solidFill>
            <a:srgbClr val="C64A22"/>
          </a:solidFill>
          <a:ln w="0">
            <a:noFill/>
            <a:prstDash val="solid"/>
          </a:ln>
        </p:spPr>
      </p:sp>
      <p:sp>
        <p:nvSpPr>
          <p:cNvPr id="74" name="矩形 73"/>
          <p:cNvSpPr>
            <a:spLocks noGrp="1"/>
          </p:cNvSpPr>
          <p:nvPr/>
        </p:nvSpPr>
        <p:spPr>
          <a:xfrm>
            <a:off x="3943350" y="3238500"/>
            <a:ext cx="1047750" cy="457200"/>
          </a:xfrm>
          <a:prstGeom prst="rect">
            <a:avLst/>
          </a:prstGeom>
          <a:solidFill>
            <a:srgbClr val="FFFFFF"/>
          </a:solidFill>
          <a:ln w="9525">
            <a:solidFill>
              <a:srgbClr val="D8D1CC"/>
            </a:solidFill>
            <a:prstDash val="solid"/>
          </a:ln>
        </p:spPr>
      </p:sp>
      <p:sp>
        <p:nvSpPr>
          <p:cNvPr id="75" name="矩形 74"/>
          <p:cNvSpPr>
            <a:spLocks noGrp="1"/>
          </p:cNvSpPr>
          <p:nvPr/>
        </p:nvSpPr>
        <p:spPr>
          <a:xfrm>
            <a:off x="3971925" y="32670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早期</a:t>
            </a:r>
            <a:endParaRPr sz="1030" b="0">
              <a:solidFill>
                <a:srgbClr val="3F3A38"/>
              </a:solidFill>
              <a:latin typeface="Noto Sans Hans"/>
              <a:ea typeface="Noto Sans Hans"/>
              <a:cs typeface="Noto Sans Hans"/>
            </a:endParaRPr>
          </a:p>
        </p:txBody>
      </p:sp>
      <p:sp>
        <p:nvSpPr>
          <p:cNvPr id="76" name="矩形 75"/>
          <p:cNvSpPr>
            <a:spLocks noGrp="1"/>
          </p:cNvSpPr>
          <p:nvPr/>
        </p:nvSpPr>
        <p:spPr>
          <a:xfrm>
            <a:off x="4991100" y="3238500"/>
            <a:ext cx="2476500" cy="457200"/>
          </a:xfrm>
          <a:prstGeom prst="rect">
            <a:avLst/>
          </a:prstGeom>
          <a:solidFill>
            <a:srgbClr val="FFFFFF"/>
          </a:solidFill>
          <a:ln w="9525">
            <a:solidFill>
              <a:srgbClr val="D8D1CC"/>
            </a:solidFill>
            <a:prstDash val="solid"/>
          </a:ln>
        </p:spPr>
      </p:sp>
      <p:sp>
        <p:nvSpPr>
          <p:cNvPr id="77" name="矩形 76"/>
          <p:cNvSpPr>
            <a:spLocks noGrp="1"/>
          </p:cNvSpPr>
          <p:nvPr/>
        </p:nvSpPr>
        <p:spPr>
          <a:xfrm>
            <a:off x="5019675" y="32670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泛化、隐私、幻觉与安全解释</a:t>
            </a:r>
            <a:endParaRPr sz="990" b="0">
              <a:solidFill>
                <a:srgbClr val="3F3A38"/>
              </a:solidFill>
              <a:latin typeface="Noto Sans Hans"/>
              <a:ea typeface="Noto Sans Hans"/>
              <a:cs typeface="Noto Sans Hans"/>
            </a:endParaRPr>
          </a:p>
        </p:txBody>
      </p:sp>
      <p:sp>
        <p:nvSpPr>
          <p:cNvPr id="78" name="矩形 77"/>
          <p:cNvSpPr>
            <a:spLocks noGrp="1"/>
          </p:cNvSpPr>
          <p:nvPr/>
        </p:nvSpPr>
        <p:spPr>
          <a:xfrm>
            <a:off x="7467600" y="3238500"/>
            <a:ext cx="1704975" cy="457200"/>
          </a:xfrm>
          <a:prstGeom prst="rect">
            <a:avLst/>
          </a:prstGeom>
          <a:solidFill>
            <a:srgbClr val="FFFFFF"/>
          </a:solidFill>
          <a:ln w="9525">
            <a:solidFill>
              <a:srgbClr val="D8D1CC"/>
            </a:solidFill>
            <a:prstDash val="solid"/>
          </a:ln>
        </p:spPr>
      </p:sp>
      <p:sp>
        <p:nvSpPr>
          <p:cNvPr id="79" name="矩形 78"/>
          <p:cNvSpPr>
            <a:spLocks noGrp="1"/>
          </p:cNvSpPr>
          <p:nvPr/>
        </p:nvSpPr>
        <p:spPr>
          <a:xfrm>
            <a:off x="7496175" y="32670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平台合作</a:t>
            </a:r>
            <a:endParaRPr sz="1030" b="1">
              <a:solidFill>
                <a:srgbClr val="876200"/>
              </a:solidFill>
              <a:latin typeface="Noto Sans Hans"/>
              <a:ea typeface="Noto Sans Hans"/>
              <a:cs typeface="Noto Sans Hans"/>
            </a:endParaRPr>
          </a:p>
        </p:txBody>
      </p:sp>
      <p:sp>
        <p:nvSpPr>
          <p:cNvPr id="80" name="矩形 79"/>
          <p:cNvSpPr>
            <a:spLocks noGrp="1"/>
          </p:cNvSpPr>
          <p:nvPr/>
        </p:nvSpPr>
        <p:spPr>
          <a:xfrm>
            <a:off x="457200" y="3695700"/>
            <a:ext cx="1428750" cy="457200"/>
          </a:xfrm>
          <a:prstGeom prst="rect">
            <a:avLst/>
          </a:prstGeom>
          <a:solidFill>
            <a:srgbClr val="FAF8F6"/>
          </a:solidFill>
          <a:ln w="9525">
            <a:solidFill>
              <a:srgbClr val="D8D1CC"/>
            </a:solidFill>
            <a:prstDash val="solid"/>
          </a:ln>
        </p:spPr>
      </p:sp>
      <p:sp>
        <p:nvSpPr>
          <p:cNvPr id="81" name="矩形 80"/>
          <p:cNvSpPr>
            <a:spLocks noGrp="1"/>
          </p:cNvSpPr>
          <p:nvPr/>
        </p:nvSpPr>
        <p:spPr>
          <a:xfrm>
            <a:off x="485775" y="37242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康复机器人</a:t>
            </a:r>
            <a:endParaRPr sz="1030" b="1">
              <a:solidFill>
                <a:srgbClr val="3F3A38"/>
              </a:solidFill>
              <a:latin typeface="Noto Sans Hans"/>
              <a:ea typeface="Noto Sans Hans"/>
              <a:cs typeface="Noto Sans Hans"/>
            </a:endParaRPr>
          </a:p>
        </p:txBody>
      </p:sp>
      <p:sp>
        <p:nvSpPr>
          <p:cNvPr id="82" name="矩形 81"/>
          <p:cNvSpPr>
            <a:spLocks noGrp="1"/>
          </p:cNvSpPr>
          <p:nvPr/>
        </p:nvSpPr>
        <p:spPr>
          <a:xfrm>
            <a:off x="1885950" y="3695700"/>
            <a:ext cx="990600" cy="457200"/>
          </a:xfrm>
          <a:prstGeom prst="rect">
            <a:avLst/>
          </a:prstGeom>
          <a:solidFill>
            <a:srgbClr val="FAF8F6"/>
          </a:solidFill>
          <a:ln w="9525">
            <a:solidFill>
              <a:srgbClr val="D8D1CC"/>
            </a:solidFill>
            <a:prstDash val="solid"/>
          </a:ln>
        </p:spPr>
      </p:sp>
      <p:sp>
        <p:nvSpPr>
          <p:cNvPr id="83" name="矩形 82"/>
          <p:cNvSpPr>
            <a:spLocks noGrp="1"/>
          </p:cNvSpPr>
          <p:nvPr/>
        </p:nvSpPr>
        <p:spPr>
          <a:xfrm>
            <a:off x="1914525" y="37242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中高</a:t>
            </a:r>
            <a:endParaRPr sz="1030" b="0">
              <a:solidFill>
                <a:srgbClr val="3F3A38"/>
              </a:solidFill>
              <a:latin typeface="Noto Sans Hans"/>
              <a:ea typeface="Noto Sans Hans"/>
              <a:cs typeface="Noto Sans Hans"/>
            </a:endParaRPr>
          </a:p>
        </p:txBody>
      </p:sp>
      <p:sp>
        <p:nvSpPr>
          <p:cNvPr id="84" name="矩形 83"/>
          <p:cNvSpPr>
            <a:spLocks noGrp="1"/>
          </p:cNvSpPr>
          <p:nvPr/>
        </p:nvSpPr>
        <p:spPr>
          <a:xfrm>
            <a:off x="2876550" y="3695700"/>
            <a:ext cx="1066800" cy="457200"/>
          </a:xfrm>
          <a:prstGeom prst="rect">
            <a:avLst/>
          </a:prstGeom>
          <a:solidFill>
            <a:srgbClr val="FAF8F6"/>
          </a:solidFill>
          <a:ln w="9525">
            <a:solidFill>
              <a:srgbClr val="D8D1CC"/>
            </a:solidFill>
            <a:prstDash val="solid"/>
          </a:ln>
        </p:spPr>
      </p:sp>
      <p:sp>
        <p:nvSpPr>
          <p:cNvPr id="85" name="矩形 84"/>
          <p:cNvSpPr>
            <a:spLocks noGrp="1"/>
          </p:cNvSpPr>
          <p:nvPr/>
        </p:nvSpPr>
        <p:spPr>
          <a:xfrm>
            <a:off x="2933700" y="37338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93</a:t>
            </a:r>
            <a:endParaRPr sz="1000" b="1">
              <a:solidFill>
                <a:srgbClr val="C9151E"/>
              </a:solidFill>
              <a:latin typeface="Noto Sans Hans"/>
              <a:ea typeface="Noto Sans Hans"/>
              <a:cs typeface="Noto Sans Hans"/>
            </a:endParaRPr>
          </a:p>
        </p:txBody>
      </p:sp>
      <p:sp>
        <p:nvSpPr>
          <p:cNvPr id="86" name="矩形 85"/>
          <p:cNvSpPr>
            <a:spLocks noGrp="1"/>
          </p:cNvSpPr>
          <p:nvPr/>
        </p:nvSpPr>
        <p:spPr>
          <a:xfrm>
            <a:off x="3257550" y="3857625"/>
            <a:ext cx="590550" cy="114300"/>
          </a:xfrm>
          <a:prstGeom prst="rect">
            <a:avLst/>
          </a:prstGeom>
          <a:solidFill>
            <a:srgbClr val="EEE5E2"/>
          </a:solidFill>
          <a:ln w="0">
            <a:noFill/>
            <a:prstDash val="solid"/>
          </a:ln>
        </p:spPr>
      </p:sp>
      <p:sp>
        <p:nvSpPr>
          <p:cNvPr id="87" name="矩形 86"/>
          <p:cNvSpPr>
            <a:spLocks noGrp="1"/>
          </p:cNvSpPr>
          <p:nvPr/>
        </p:nvSpPr>
        <p:spPr>
          <a:xfrm>
            <a:off x="3257550" y="3857625"/>
            <a:ext cx="549212" cy="114300"/>
          </a:xfrm>
          <a:prstGeom prst="rect">
            <a:avLst/>
          </a:prstGeom>
          <a:solidFill>
            <a:srgbClr val="C9151E"/>
          </a:solidFill>
          <a:ln w="0">
            <a:noFill/>
            <a:prstDash val="solid"/>
          </a:ln>
        </p:spPr>
      </p:sp>
      <p:sp>
        <p:nvSpPr>
          <p:cNvPr id="88" name="矩形 87"/>
          <p:cNvSpPr>
            <a:spLocks noGrp="1"/>
          </p:cNvSpPr>
          <p:nvPr/>
        </p:nvSpPr>
        <p:spPr>
          <a:xfrm>
            <a:off x="3943350" y="3695700"/>
            <a:ext cx="1047750" cy="457200"/>
          </a:xfrm>
          <a:prstGeom prst="rect">
            <a:avLst/>
          </a:prstGeom>
          <a:solidFill>
            <a:srgbClr val="FAF8F6"/>
          </a:solidFill>
          <a:ln w="9525">
            <a:solidFill>
              <a:srgbClr val="D8D1CC"/>
            </a:solidFill>
            <a:prstDash val="solid"/>
          </a:ln>
        </p:spPr>
      </p:sp>
      <p:sp>
        <p:nvSpPr>
          <p:cNvPr id="89" name="矩形 88"/>
          <p:cNvSpPr>
            <a:spLocks noGrp="1"/>
          </p:cNvSpPr>
          <p:nvPr/>
        </p:nvSpPr>
        <p:spPr>
          <a:xfrm>
            <a:off x="3971925" y="37242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较清晰</a:t>
            </a:r>
            <a:endParaRPr sz="1030" b="0">
              <a:solidFill>
                <a:srgbClr val="3F3A38"/>
              </a:solidFill>
              <a:latin typeface="Noto Sans Hans"/>
              <a:ea typeface="Noto Sans Hans"/>
              <a:cs typeface="Noto Sans Hans"/>
            </a:endParaRPr>
          </a:p>
        </p:txBody>
      </p:sp>
      <p:sp>
        <p:nvSpPr>
          <p:cNvPr id="90" name="矩形 89"/>
          <p:cNvSpPr>
            <a:spLocks noGrp="1"/>
          </p:cNvSpPr>
          <p:nvPr/>
        </p:nvSpPr>
        <p:spPr>
          <a:xfrm>
            <a:off x="4991100" y="3695700"/>
            <a:ext cx="2476500" cy="457200"/>
          </a:xfrm>
          <a:prstGeom prst="rect">
            <a:avLst/>
          </a:prstGeom>
          <a:solidFill>
            <a:srgbClr val="FAF8F6"/>
          </a:solidFill>
          <a:ln w="9525">
            <a:solidFill>
              <a:srgbClr val="D8D1CC"/>
            </a:solidFill>
            <a:prstDash val="solid"/>
          </a:ln>
        </p:spPr>
      </p:sp>
      <p:sp>
        <p:nvSpPr>
          <p:cNvPr id="91" name="矩形 90"/>
          <p:cNvSpPr>
            <a:spLocks noGrp="1"/>
          </p:cNvSpPr>
          <p:nvPr/>
        </p:nvSpPr>
        <p:spPr>
          <a:xfrm>
            <a:off x="5019675" y="37242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注册、临床证据、医院预算</a:t>
            </a:r>
            <a:endParaRPr sz="990" b="0">
              <a:solidFill>
                <a:srgbClr val="3F3A38"/>
              </a:solidFill>
              <a:latin typeface="Noto Sans Hans"/>
              <a:ea typeface="Noto Sans Hans"/>
              <a:cs typeface="Noto Sans Hans"/>
            </a:endParaRPr>
          </a:p>
        </p:txBody>
      </p:sp>
      <p:sp>
        <p:nvSpPr>
          <p:cNvPr id="92" name="矩形 91"/>
          <p:cNvSpPr>
            <a:spLocks noGrp="1"/>
          </p:cNvSpPr>
          <p:nvPr/>
        </p:nvSpPr>
        <p:spPr>
          <a:xfrm>
            <a:off x="7467600" y="3695700"/>
            <a:ext cx="1704975" cy="457200"/>
          </a:xfrm>
          <a:prstGeom prst="rect">
            <a:avLst/>
          </a:prstGeom>
          <a:solidFill>
            <a:srgbClr val="FAF8F6"/>
          </a:solidFill>
          <a:ln w="9525">
            <a:solidFill>
              <a:srgbClr val="D8D1CC"/>
            </a:solidFill>
            <a:prstDash val="solid"/>
          </a:ln>
        </p:spPr>
      </p:sp>
      <p:sp>
        <p:nvSpPr>
          <p:cNvPr id="93" name="矩形 92"/>
          <p:cNvSpPr>
            <a:spLocks noGrp="1"/>
          </p:cNvSpPr>
          <p:nvPr/>
        </p:nvSpPr>
        <p:spPr>
          <a:xfrm>
            <a:off x="7496175" y="3724275"/>
            <a:ext cx="1647825" cy="400050"/>
          </a:xfrm>
          <a:prstGeom prst="rect">
            <a:avLst/>
          </a:prstGeom>
          <a:noFill/>
          <a:ln w="0">
            <a:noFill/>
            <a:prstDash val="solid"/>
          </a:ln>
        </p:spPr>
        <p:txBody>
          <a:bodyPr wrap="square" lIns="47625" tIns="19050" rIns="47625" bIns="19050" anchor="ctr"/>
          <a:lstStyle/>
          <a:p>
            <a:pPr algn="ctr">
              <a:defRPr sz="925" b="1">
                <a:solidFill>
                  <a:srgbClr val="C9151E"/>
                </a:solidFill>
                <a:latin typeface="Noto Sans Hans"/>
                <a:ea typeface="Noto Sans Hans"/>
                <a:cs typeface="Noto Sans Hans"/>
              </a:defRPr>
            </a:pPr>
            <a:r>
              <a:rPr sz="1030" b="1">
                <a:solidFill>
                  <a:srgbClr val="C9151E"/>
                </a:solidFill>
                <a:latin typeface="Noto Sans Hans"/>
                <a:ea typeface="Noto Sans Hans"/>
                <a:cs typeface="Noto Sans Hans"/>
              </a:rPr>
              <a:t>近期优先</a:t>
            </a:r>
            <a:endParaRPr sz="1030" b="1">
              <a:solidFill>
                <a:srgbClr val="C9151E"/>
              </a:solidFill>
              <a:latin typeface="Noto Sans Hans"/>
              <a:ea typeface="Noto Sans Hans"/>
              <a:cs typeface="Noto Sans Hans"/>
            </a:endParaRPr>
          </a:p>
        </p:txBody>
      </p:sp>
      <p:sp>
        <p:nvSpPr>
          <p:cNvPr id="94" name="矩形 93"/>
          <p:cNvSpPr>
            <a:spLocks noGrp="1"/>
          </p:cNvSpPr>
          <p:nvPr/>
        </p:nvSpPr>
        <p:spPr>
          <a:xfrm>
            <a:off x="457200" y="4152900"/>
            <a:ext cx="1428750" cy="457200"/>
          </a:xfrm>
          <a:prstGeom prst="rect">
            <a:avLst/>
          </a:prstGeom>
          <a:solidFill>
            <a:srgbClr val="FFFFFF"/>
          </a:solidFill>
          <a:ln w="9525">
            <a:solidFill>
              <a:srgbClr val="D8D1CC"/>
            </a:solidFill>
            <a:prstDash val="solid"/>
          </a:ln>
        </p:spPr>
      </p:sp>
      <p:sp>
        <p:nvSpPr>
          <p:cNvPr id="95" name="矩形 94"/>
          <p:cNvSpPr>
            <a:spLocks noGrp="1"/>
          </p:cNvSpPr>
          <p:nvPr/>
        </p:nvSpPr>
        <p:spPr>
          <a:xfrm>
            <a:off x="485775" y="41814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护理机器人</a:t>
            </a:r>
            <a:endParaRPr sz="1030" b="1">
              <a:solidFill>
                <a:srgbClr val="3F3A38"/>
              </a:solidFill>
              <a:latin typeface="Noto Sans Hans"/>
              <a:ea typeface="Noto Sans Hans"/>
              <a:cs typeface="Noto Sans Hans"/>
            </a:endParaRPr>
          </a:p>
        </p:txBody>
      </p:sp>
      <p:sp>
        <p:nvSpPr>
          <p:cNvPr id="96" name="矩形 95"/>
          <p:cNvSpPr>
            <a:spLocks noGrp="1"/>
          </p:cNvSpPr>
          <p:nvPr/>
        </p:nvSpPr>
        <p:spPr>
          <a:xfrm>
            <a:off x="1885950" y="4152900"/>
            <a:ext cx="990600" cy="457200"/>
          </a:xfrm>
          <a:prstGeom prst="rect">
            <a:avLst/>
          </a:prstGeom>
          <a:solidFill>
            <a:srgbClr val="FFFFFF"/>
          </a:solidFill>
          <a:ln w="9525">
            <a:solidFill>
              <a:srgbClr val="D8D1CC"/>
            </a:solidFill>
            <a:prstDash val="solid"/>
          </a:ln>
        </p:spPr>
      </p:sp>
      <p:sp>
        <p:nvSpPr>
          <p:cNvPr id="97" name="矩形 96"/>
          <p:cNvSpPr>
            <a:spLocks noGrp="1"/>
          </p:cNvSpPr>
          <p:nvPr/>
        </p:nvSpPr>
        <p:spPr>
          <a:xfrm>
            <a:off x="1914525" y="41814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中低</a:t>
            </a:r>
            <a:endParaRPr sz="1030" b="0">
              <a:solidFill>
                <a:srgbClr val="3F3A38"/>
              </a:solidFill>
              <a:latin typeface="Noto Sans Hans"/>
              <a:ea typeface="Noto Sans Hans"/>
              <a:cs typeface="Noto Sans Hans"/>
            </a:endParaRPr>
          </a:p>
        </p:txBody>
      </p:sp>
      <p:sp>
        <p:nvSpPr>
          <p:cNvPr id="98" name="矩形 97"/>
          <p:cNvSpPr>
            <a:spLocks noGrp="1"/>
          </p:cNvSpPr>
          <p:nvPr/>
        </p:nvSpPr>
        <p:spPr>
          <a:xfrm>
            <a:off x="2876550" y="4152900"/>
            <a:ext cx="1066800" cy="457200"/>
          </a:xfrm>
          <a:prstGeom prst="rect">
            <a:avLst/>
          </a:prstGeom>
          <a:solidFill>
            <a:srgbClr val="FFFFFF"/>
          </a:solidFill>
          <a:ln w="9525">
            <a:solidFill>
              <a:srgbClr val="D8D1CC"/>
            </a:solidFill>
            <a:prstDash val="solid"/>
          </a:ln>
        </p:spPr>
      </p:sp>
      <p:sp>
        <p:nvSpPr>
          <p:cNvPr id="99" name="矩形 98"/>
          <p:cNvSpPr>
            <a:spLocks noGrp="1"/>
          </p:cNvSpPr>
          <p:nvPr/>
        </p:nvSpPr>
        <p:spPr>
          <a:xfrm>
            <a:off x="2933700" y="41910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96</a:t>
            </a:r>
            <a:endParaRPr sz="1000" b="1">
              <a:solidFill>
                <a:srgbClr val="C9151E"/>
              </a:solidFill>
              <a:latin typeface="Noto Sans Hans"/>
              <a:ea typeface="Noto Sans Hans"/>
              <a:cs typeface="Noto Sans Hans"/>
            </a:endParaRPr>
          </a:p>
        </p:txBody>
      </p:sp>
      <p:sp>
        <p:nvSpPr>
          <p:cNvPr id="100" name="矩形 99"/>
          <p:cNvSpPr>
            <a:spLocks noGrp="1"/>
          </p:cNvSpPr>
          <p:nvPr/>
        </p:nvSpPr>
        <p:spPr>
          <a:xfrm>
            <a:off x="3257550" y="4314825"/>
            <a:ext cx="590550" cy="114300"/>
          </a:xfrm>
          <a:prstGeom prst="rect">
            <a:avLst/>
          </a:prstGeom>
          <a:solidFill>
            <a:srgbClr val="EEE5E2"/>
          </a:solidFill>
          <a:ln w="0">
            <a:noFill/>
            <a:prstDash val="solid"/>
          </a:ln>
        </p:spPr>
      </p:sp>
      <p:sp>
        <p:nvSpPr>
          <p:cNvPr id="101" name="矩形 100"/>
          <p:cNvSpPr>
            <a:spLocks noGrp="1"/>
          </p:cNvSpPr>
          <p:nvPr/>
        </p:nvSpPr>
        <p:spPr>
          <a:xfrm>
            <a:off x="3257550" y="4314825"/>
            <a:ext cx="566928" cy="114300"/>
          </a:xfrm>
          <a:prstGeom prst="rect">
            <a:avLst/>
          </a:prstGeom>
          <a:solidFill>
            <a:srgbClr val="C9151E"/>
          </a:solidFill>
          <a:ln w="0">
            <a:noFill/>
            <a:prstDash val="solid"/>
          </a:ln>
        </p:spPr>
      </p:sp>
      <p:sp>
        <p:nvSpPr>
          <p:cNvPr id="102" name="矩形 101"/>
          <p:cNvSpPr>
            <a:spLocks noGrp="1"/>
          </p:cNvSpPr>
          <p:nvPr/>
        </p:nvSpPr>
        <p:spPr>
          <a:xfrm>
            <a:off x="3943350" y="4152900"/>
            <a:ext cx="1047750" cy="457200"/>
          </a:xfrm>
          <a:prstGeom prst="rect">
            <a:avLst/>
          </a:prstGeom>
          <a:solidFill>
            <a:srgbClr val="FFFFFF"/>
          </a:solidFill>
          <a:ln w="9525">
            <a:solidFill>
              <a:srgbClr val="D8D1CC"/>
            </a:solidFill>
            <a:prstDash val="solid"/>
          </a:ln>
        </p:spPr>
      </p:sp>
      <p:sp>
        <p:nvSpPr>
          <p:cNvPr id="103" name="矩形 102"/>
          <p:cNvSpPr>
            <a:spLocks noGrp="1"/>
          </p:cNvSpPr>
          <p:nvPr/>
        </p:nvSpPr>
        <p:spPr>
          <a:xfrm>
            <a:off x="3971925" y="41814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待验证</a:t>
            </a:r>
            <a:endParaRPr sz="1030" b="0">
              <a:solidFill>
                <a:srgbClr val="3F3A38"/>
              </a:solidFill>
              <a:latin typeface="Noto Sans Hans"/>
              <a:ea typeface="Noto Sans Hans"/>
              <a:cs typeface="Noto Sans Hans"/>
            </a:endParaRPr>
          </a:p>
        </p:txBody>
      </p:sp>
      <p:sp>
        <p:nvSpPr>
          <p:cNvPr id="104" name="矩形 103"/>
          <p:cNvSpPr>
            <a:spLocks noGrp="1"/>
          </p:cNvSpPr>
          <p:nvPr/>
        </p:nvSpPr>
        <p:spPr>
          <a:xfrm>
            <a:off x="4991100" y="4152900"/>
            <a:ext cx="2476500" cy="457200"/>
          </a:xfrm>
          <a:prstGeom prst="rect">
            <a:avLst/>
          </a:prstGeom>
          <a:solidFill>
            <a:srgbClr val="FFFFFF"/>
          </a:solidFill>
          <a:ln w="9525">
            <a:solidFill>
              <a:srgbClr val="D8D1CC"/>
            </a:solidFill>
            <a:prstDash val="solid"/>
          </a:ln>
        </p:spPr>
      </p:sp>
      <p:sp>
        <p:nvSpPr>
          <p:cNvPr id="105" name="矩形 104"/>
          <p:cNvSpPr>
            <a:spLocks noGrp="1"/>
          </p:cNvSpPr>
          <p:nvPr/>
        </p:nvSpPr>
        <p:spPr>
          <a:xfrm>
            <a:off x="5019675" y="41814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复杂接触、安全责任、价格</a:t>
            </a:r>
            <a:endParaRPr sz="990" b="0">
              <a:solidFill>
                <a:srgbClr val="3F3A38"/>
              </a:solidFill>
              <a:latin typeface="Noto Sans Hans"/>
              <a:ea typeface="Noto Sans Hans"/>
              <a:cs typeface="Noto Sans Hans"/>
            </a:endParaRPr>
          </a:p>
        </p:txBody>
      </p:sp>
      <p:sp>
        <p:nvSpPr>
          <p:cNvPr id="106" name="矩形 105"/>
          <p:cNvSpPr>
            <a:spLocks noGrp="1"/>
          </p:cNvSpPr>
          <p:nvPr/>
        </p:nvSpPr>
        <p:spPr>
          <a:xfrm>
            <a:off x="7467600" y="4152900"/>
            <a:ext cx="1704975" cy="457200"/>
          </a:xfrm>
          <a:prstGeom prst="rect">
            <a:avLst/>
          </a:prstGeom>
          <a:solidFill>
            <a:srgbClr val="FFFFFF"/>
          </a:solidFill>
          <a:ln w="9525">
            <a:solidFill>
              <a:srgbClr val="D8D1CC"/>
            </a:solidFill>
            <a:prstDash val="solid"/>
          </a:ln>
        </p:spPr>
      </p:sp>
      <p:sp>
        <p:nvSpPr>
          <p:cNvPr id="107" name="矩形 106"/>
          <p:cNvSpPr>
            <a:spLocks noGrp="1"/>
          </p:cNvSpPr>
          <p:nvPr/>
        </p:nvSpPr>
        <p:spPr>
          <a:xfrm>
            <a:off x="7496175" y="41814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中期培育</a:t>
            </a:r>
            <a:endParaRPr sz="1030" b="1">
              <a:solidFill>
                <a:srgbClr val="876200"/>
              </a:solidFill>
              <a:latin typeface="Noto Sans Hans"/>
              <a:ea typeface="Noto Sans Hans"/>
              <a:cs typeface="Noto Sans Hans"/>
            </a:endParaRPr>
          </a:p>
        </p:txBody>
      </p:sp>
      <p:sp>
        <p:nvSpPr>
          <p:cNvPr id="108" name="矩形 107"/>
          <p:cNvSpPr>
            <a:spLocks noGrp="1"/>
          </p:cNvSpPr>
          <p:nvPr/>
        </p:nvSpPr>
        <p:spPr>
          <a:xfrm>
            <a:off x="457200" y="4610100"/>
            <a:ext cx="1428750" cy="457200"/>
          </a:xfrm>
          <a:prstGeom prst="rect">
            <a:avLst/>
          </a:prstGeom>
          <a:solidFill>
            <a:srgbClr val="FAF8F6"/>
          </a:solidFill>
          <a:ln w="9525">
            <a:solidFill>
              <a:srgbClr val="D8D1CC"/>
            </a:solidFill>
            <a:prstDash val="solid"/>
          </a:ln>
        </p:spPr>
      </p:sp>
      <p:sp>
        <p:nvSpPr>
          <p:cNvPr id="109" name="矩形 108"/>
          <p:cNvSpPr>
            <a:spLocks noGrp="1"/>
          </p:cNvSpPr>
          <p:nvPr/>
        </p:nvSpPr>
        <p:spPr>
          <a:xfrm>
            <a:off x="485775" y="46386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运营机器人</a:t>
            </a:r>
            <a:endParaRPr sz="1030" b="1">
              <a:solidFill>
                <a:srgbClr val="3F3A38"/>
              </a:solidFill>
              <a:latin typeface="Noto Sans Hans"/>
              <a:ea typeface="Noto Sans Hans"/>
              <a:cs typeface="Noto Sans Hans"/>
            </a:endParaRPr>
          </a:p>
        </p:txBody>
      </p:sp>
      <p:sp>
        <p:nvSpPr>
          <p:cNvPr id="110" name="矩形 109"/>
          <p:cNvSpPr>
            <a:spLocks noGrp="1"/>
          </p:cNvSpPr>
          <p:nvPr/>
        </p:nvSpPr>
        <p:spPr>
          <a:xfrm>
            <a:off x="1885950" y="4610100"/>
            <a:ext cx="990600" cy="457200"/>
          </a:xfrm>
          <a:prstGeom prst="rect">
            <a:avLst/>
          </a:prstGeom>
          <a:solidFill>
            <a:srgbClr val="FAF8F6"/>
          </a:solidFill>
          <a:ln w="9525">
            <a:solidFill>
              <a:srgbClr val="D8D1CC"/>
            </a:solidFill>
            <a:prstDash val="solid"/>
          </a:ln>
        </p:spPr>
      </p:sp>
      <p:sp>
        <p:nvSpPr>
          <p:cNvPr id="111" name="矩形 110"/>
          <p:cNvSpPr>
            <a:spLocks noGrp="1"/>
          </p:cNvSpPr>
          <p:nvPr/>
        </p:nvSpPr>
        <p:spPr>
          <a:xfrm>
            <a:off x="1914525" y="46386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高</a:t>
            </a:r>
            <a:endParaRPr sz="1030" b="0">
              <a:solidFill>
                <a:srgbClr val="3F3A38"/>
              </a:solidFill>
              <a:latin typeface="Noto Sans Hans"/>
              <a:ea typeface="Noto Sans Hans"/>
              <a:cs typeface="Noto Sans Hans"/>
            </a:endParaRPr>
          </a:p>
        </p:txBody>
      </p:sp>
      <p:sp>
        <p:nvSpPr>
          <p:cNvPr id="112" name="矩形 111"/>
          <p:cNvSpPr>
            <a:spLocks noGrp="1"/>
          </p:cNvSpPr>
          <p:nvPr/>
        </p:nvSpPr>
        <p:spPr>
          <a:xfrm>
            <a:off x="2876550" y="4610100"/>
            <a:ext cx="1066800" cy="457200"/>
          </a:xfrm>
          <a:prstGeom prst="rect">
            <a:avLst/>
          </a:prstGeom>
          <a:solidFill>
            <a:srgbClr val="FAF8F6"/>
          </a:solidFill>
          <a:ln w="9525">
            <a:solidFill>
              <a:srgbClr val="D8D1CC"/>
            </a:solidFill>
            <a:prstDash val="solid"/>
          </a:ln>
        </p:spPr>
      </p:sp>
      <p:sp>
        <p:nvSpPr>
          <p:cNvPr id="113" name="矩形 112"/>
          <p:cNvSpPr>
            <a:spLocks noGrp="1"/>
          </p:cNvSpPr>
          <p:nvPr/>
        </p:nvSpPr>
        <p:spPr>
          <a:xfrm>
            <a:off x="2933700" y="46482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86</a:t>
            </a:r>
            <a:endParaRPr sz="1000" b="1">
              <a:solidFill>
                <a:srgbClr val="C9151E"/>
              </a:solidFill>
              <a:latin typeface="Noto Sans Hans"/>
              <a:ea typeface="Noto Sans Hans"/>
              <a:cs typeface="Noto Sans Hans"/>
            </a:endParaRPr>
          </a:p>
        </p:txBody>
      </p:sp>
      <p:sp>
        <p:nvSpPr>
          <p:cNvPr id="114" name="矩形 113"/>
          <p:cNvSpPr>
            <a:spLocks noGrp="1"/>
          </p:cNvSpPr>
          <p:nvPr/>
        </p:nvSpPr>
        <p:spPr>
          <a:xfrm>
            <a:off x="3257550" y="4772025"/>
            <a:ext cx="590550" cy="114300"/>
          </a:xfrm>
          <a:prstGeom prst="rect">
            <a:avLst/>
          </a:prstGeom>
          <a:solidFill>
            <a:srgbClr val="EEE5E2"/>
          </a:solidFill>
          <a:ln w="0">
            <a:noFill/>
            <a:prstDash val="solid"/>
          </a:ln>
        </p:spPr>
      </p:sp>
      <p:sp>
        <p:nvSpPr>
          <p:cNvPr id="115" name="矩形 114"/>
          <p:cNvSpPr>
            <a:spLocks noGrp="1"/>
          </p:cNvSpPr>
          <p:nvPr/>
        </p:nvSpPr>
        <p:spPr>
          <a:xfrm>
            <a:off x="3257550" y="4772025"/>
            <a:ext cx="507873" cy="114300"/>
          </a:xfrm>
          <a:prstGeom prst="rect">
            <a:avLst/>
          </a:prstGeom>
          <a:solidFill>
            <a:srgbClr val="C64A22"/>
          </a:solidFill>
          <a:ln w="0">
            <a:noFill/>
            <a:prstDash val="solid"/>
          </a:ln>
        </p:spPr>
      </p:sp>
      <p:sp>
        <p:nvSpPr>
          <p:cNvPr id="116" name="矩形 115"/>
          <p:cNvSpPr>
            <a:spLocks noGrp="1"/>
          </p:cNvSpPr>
          <p:nvPr/>
        </p:nvSpPr>
        <p:spPr>
          <a:xfrm>
            <a:off x="3943350" y="4610100"/>
            <a:ext cx="1047750" cy="457200"/>
          </a:xfrm>
          <a:prstGeom prst="rect">
            <a:avLst/>
          </a:prstGeom>
          <a:solidFill>
            <a:srgbClr val="FAF8F6"/>
          </a:solidFill>
          <a:ln w="9525">
            <a:solidFill>
              <a:srgbClr val="D8D1CC"/>
            </a:solidFill>
            <a:prstDash val="solid"/>
          </a:ln>
        </p:spPr>
      </p:sp>
      <p:sp>
        <p:nvSpPr>
          <p:cNvPr id="117" name="矩形 116"/>
          <p:cNvSpPr>
            <a:spLocks noGrp="1"/>
          </p:cNvSpPr>
          <p:nvPr/>
        </p:nvSpPr>
        <p:spPr>
          <a:xfrm>
            <a:off x="3971925" y="46386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较清晰</a:t>
            </a:r>
            <a:endParaRPr sz="1030" b="0">
              <a:solidFill>
                <a:srgbClr val="3F3A38"/>
              </a:solidFill>
              <a:latin typeface="Noto Sans Hans"/>
              <a:ea typeface="Noto Sans Hans"/>
              <a:cs typeface="Noto Sans Hans"/>
            </a:endParaRPr>
          </a:p>
        </p:txBody>
      </p:sp>
      <p:sp>
        <p:nvSpPr>
          <p:cNvPr id="118" name="矩形 117"/>
          <p:cNvSpPr>
            <a:spLocks noGrp="1"/>
          </p:cNvSpPr>
          <p:nvPr/>
        </p:nvSpPr>
        <p:spPr>
          <a:xfrm>
            <a:off x="4991100" y="4610100"/>
            <a:ext cx="2476500" cy="457200"/>
          </a:xfrm>
          <a:prstGeom prst="rect">
            <a:avLst/>
          </a:prstGeom>
          <a:solidFill>
            <a:srgbClr val="FAF8F6"/>
          </a:solidFill>
          <a:ln w="9525">
            <a:solidFill>
              <a:srgbClr val="D8D1CC"/>
            </a:solidFill>
            <a:prstDash val="solid"/>
          </a:ln>
        </p:spPr>
      </p:sp>
      <p:sp>
        <p:nvSpPr>
          <p:cNvPr id="119" name="矩形 118"/>
          <p:cNvSpPr>
            <a:spLocks noGrp="1"/>
          </p:cNvSpPr>
          <p:nvPr/>
        </p:nvSpPr>
        <p:spPr>
          <a:xfrm>
            <a:off x="5019675" y="46386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楼宇接口、利用率与运维</a:t>
            </a:r>
            <a:endParaRPr sz="990" b="0">
              <a:solidFill>
                <a:srgbClr val="3F3A38"/>
              </a:solidFill>
              <a:latin typeface="Noto Sans Hans"/>
              <a:ea typeface="Noto Sans Hans"/>
              <a:cs typeface="Noto Sans Hans"/>
            </a:endParaRPr>
          </a:p>
        </p:txBody>
      </p:sp>
      <p:sp>
        <p:nvSpPr>
          <p:cNvPr id="120" name="矩形 119"/>
          <p:cNvSpPr>
            <a:spLocks noGrp="1"/>
          </p:cNvSpPr>
          <p:nvPr/>
        </p:nvSpPr>
        <p:spPr>
          <a:xfrm>
            <a:off x="7467600" y="4610100"/>
            <a:ext cx="1704975" cy="457200"/>
          </a:xfrm>
          <a:prstGeom prst="rect">
            <a:avLst/>
          </a:prstGeom>
          <a:solidFill>
            <a:srgbClr val="FAF8F6"/>
          </a:solidFill>
          <a:ln w="9525">
            <a:solidFill>
              <a:srgbClr val="D8D1CC"/>
            </a:solidFill>
            <a:prstDash val="solid"/>
          </a:ln>
        </p:spPr>
      </p:sp>
      <p:sp>
        <p:nvSpPr>
          <p:cNvPr id="121" name="矩形 120"/>
          <p:cNvSpPr>
            <a:spLocks noGrp="1"/>
          </p:cNvSpPr>
          <p:nvPr/>
        </p:nvSpPr>
        <p:spPr>
          <a:xfrm>
            <a:off x="7496175" y="46386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先行试点</a:t>
            </a:r>
            <a:endParaRPr sz="1030" b="1">
              <a:solidFill>
                <a:srgbClr val="876200"/>
              </a:solidFill>
              <a:latin typeface="Noto Sans Hans"/>
              <a:ea typeface="Noto Sans Hans"/>
              <a:cs typeface="Noto Sans Hans"/>
            </a:endParaRPr>
          </a:p>
        </p:txBody>
      </p:sp>
      <p:sp>
        <p:nvSpPr>
          <p:cNvPr id="122" name="矩形 121"/>
          <p:cNvSpPr>
            <a:spLocks noGrp="1"/>
          </p:cNvSpPr>
          <p:nvPr/>
        </p:nvSpPr>
        <p:spPr>
          <a:xfrm>
            <a:off x="457200" y="5067300"/>
            <a:ext cx="1428750" cy="457200"/>
          </a:xfrm>
          <a:prstGeom prst="rect">
            <a:avLst/>
          </a:prstGeom>
          <a:solidFill>
            <a:srgbClr val="FFFFFF"/>
          </a:solidFill>
          <a:ln w="9525">
            <a:solidFill>
              <a:srgbClr val="D8D1CC"/>
            </a:solidFill>
            <a:prstDash val="solid"/>
          </a:ln>
        </p:spPr>
      </p:sp>
      <p:sp>
        <p:nvSpPr>
          <p:cNvPr id="123" name="矩形 122"/>
          <p:cNvSpPr>
            <a:spLocks noGrp="1"/>
          </p:cNvSpPr>
          <p:nvPr/>
        </p:nvSpPr>
        <p:spPr>
          <a:xfrm>
            <a:off x="485775" y="50958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陪伴/认知机器人</a:t>
            </a:r>
            <a:endParaRPr sz="1030" b="1">
              <a:solidFill>
                <a:srgbClr val="3F3A38"/>
              </a:solidFill>
              <a:latin typeface="Noto Sans Hans"/>
              <a:ea typeface="Noto Sans Hans"/>
              <a:cs typeface="Noto Sans Hans"/>
            </a:endParaRPr>
          </a:p>
        </p:txBody>
      </p:sp>
      <p:sp>
        <p:nvSpPr>
          <p:cNvPr id="124" name="矩形 123"/>
          <p:cNvSpPr>
            <a:spLocks noGrp="1"/>
          </p:cNvSpPr>
          <p:nvPr/>
        </p:nvSpPr>
        <p:spPr>
          <a:xfrm>
            <a:off x="1885950" y="5067300"/>
            <a:ext cx="990600" cy="457200"/>
          </a:xfrm>
          <a:prstGeom prst="rect">
            <a:avLst/>
          </a:prstGeom>
          <a:solidFill>
            <a:srgbClr val="FFFFFF"/>
          </a:solidFill>
          <a:ln w="9525">
            <a:solidFill>
              <a:srgbClr val="D8D1CC"/>
            </a:solidFill>
            <a:prstDash val="solid"/>
          </a:ln>
        </p:spPr>
      </p:sp>
      <p:sp>
        <p:nvSpPr>
          <p:cNvPr id="125" name="矩形 124"/>
          <p:cNvSpPr>
            <a:spLocks noGrp="1"/>
          </p:cNvSpPr>
          <p:nvPr/>
        </p:nvSpPr>
        <p:spPr>
          <a:xfrm>
            <a:off x="1914525" y="50958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中</a:t>
            </a:r>
            <a:endParaRPr sz="1030" b="0">
              <a:solidFill>
                <a:srgbClr val="3F3A38"/>
              </a:solidFill>
              <a:latin typeface="Noto Sans Hans"/>
              <a:ea typeface="Noto Sans Hans"/>
              <a:cs typeface="Noto Sans Hans"/>
            </a:endParaRPr>
          </a:p>
        </p:txBody>
      </p:sp>
      <p:sp>
        <p:nvSpPr>
          <p:cNvPr id="126" name="矩形 125"/>
          <p:cNvSpPr>
            <a:spLocks noGrp="1"/>
          </p:cNvSpPr>
          <p:nvPr/>
        </p:nvSpPr>
        <p:spPr>
          <a:xfrm>
            <a:off x="2876550" y="5067300"/>
            <a:ext cx="1066800" cy="457200"/>
          </a:xfrm>
          <a:prstGeom prst="rect">
            <a:avLst/>
          </a:prstGeom>
          <a:solidFill>
            <a:srgbClr val="FFFFFF"/>
          </a:solidFill>
          <a:ln w="9525">
            <a:solidFill>
              <a:srgbClr val="D8D1CC"/>
            </a:solidFill>
            <a:prstDash val="solid"/>
          </a:ln>
        </p:spPr>
      </p:sp>
      <p:sp>
        <p:nvSpPr>
          <p:cNvPr id="127" name="矩形 126"/>
          <p:cNvSpPr>
            <a:spLocks noGrp="1"/>
          </p:cNvSpPr>
          <p:nvPr/>
        </p:nvSpPr>
        <p:spPr>
          <a:xfrm>
            <a:off x="2933700" y="51054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70</a:t>
            </a:r>
            <a:endParaRPr sz="1000" b="1">
              <a:solidFill>
                <a:srgbClr val="C9151E"/>
              </a:solidFill>
              <a:latin typeface="Noto Sans Hans"/>
              <a:ea typeface="Noto Sans Hans"/>
              <a:cs typeface="Noto Sans Hans"/>
            </a:endParaRPr>
          </a:p>
        </p:txBody>
      </p:sp>
      <p:sp>
        <p:nvSpPr>
          <p:cNvPr id="128" name="矩形 127"/>
          <p:cNvSpPr>
            <a:spLocks noGrp="1"/>
          </p:cNvSpPr>
          <p:nvPr/>
        </p:nvSpPr>
        <p:spPr>
          <a:xfrm>
            <a:off x="3257550" y="5229225"/>
            <a:ext cx="590550" cy="114300"/>
          </a:xfrm>
          <a:prstGeom prst="rect">
            <a:avLst/>
          </a:prstGeom>
          <a:solidFill>
            <a:srgbClr val="EEE5E2"/>
          </a:solidFill>
          <a:ln w="0">
            <a:noFill/>
            <a:prstDash val="solid"/>
          </a:ln>
        </p:spPr>
      </p:sp>
      <p:sp>
        <p:nvSpPr>
          <p:cNvPr id="129" name="矩形 128"/>
          <p:cNvSpPr>
            <a:spLocks noGrp="1"/>
          </p:cNvSpPr>
          <p:nvPr/>
        </p:nvSpPr>
        <p:spPr>
          <a:xfrm>
            <a:off x="3257550" y="5229225"/>
            <a:ext cx="413385" cy="114300"/>
          </a:xfrm>
          <a:prstGeom prst="rect">
            <a:avLst/>
          </a:prstGeom>
          <a:solidFill>
            <a:srgbClr val="C64A22"/>
          </a:solidFill>
          <a:ln w="0">
            <a:noFill/>
            <a:prstDash val="solid"/>
          </a:ln>
        </p:spPr>
      </p:sp>
      <p:sp>
        <p:nvSpPr>
          <p:cNvPr id="130" name="矩形 129"/>
          <p:cNvSpPr>
            <a:spLocks noGrp="1"/>
          </p:cNvSpPr>
          <p:nvPr/>
        </p:nvSpPr>
        <p:spPr>
          <a:xfrm>
            <a:off x="3943350" y="5067300"/>
            <a:ext cx="1047750" cy="457200"/>
          </a:xfrm>
          <a:prstGeom prst="rect">
            <a:avLst/>
          </a:prstGeom>
          <a:solidFill>
            <a:srgbClr val="FFFFFF"/>
          </a:solidFill>
          <a:ln w="9525">
            <a:solidFill>
              <a:srgbClr val="D8D1CC"/>
            </a:solidFill>
            <a:prstDash val="solid"/>
          </a:ln>
        </p:spPr>
      </p:sp>
      <p:sp>
        <p:nvSpPr>
          <p:cNvPr id="131" name="矩形 130"/>
          <p:cNvSpPr>
            <a:spLocks noGrp="1"/>
          </p:cNvSpPr>
          <p:nvPr/>
        </p:nvSpPr>
        <p:spPr>
          <a:xfrm>
            <a:off x="3971925" y="50958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偏弱</a:t>
            </a:r>
            <a:endParaRPr sz="1030" b="0">
              <a:solidFill>
                <a:srgbClr val="3F3A38"/>
              </a:solidFill>
              <a:latin typeface="Noto Sans Hans"/>
              <a:ea typeface="Noto Sans Hans"/>
              <a:cs typeface="Noto Sans Hans"/>
            </a:endParaRPr>
          </a:p>
        </p:txBody>
      </p:sp>
      <p:sp>
        <p:nvSpPr>
          <p:cNvPr id="132" name="矩形 131"/>
          <p:cNvSpPr>
            <a:spLocks noGrp="1"/>
          </p:cNvSpPr>
          <p:nvPr/>
        </p:nvSpPr>
        <p:spPr>
          <a:xfrm>
            <a:off x="4991100" y="5067300"/>
            <a:ext cx="2476500" cy="457200"/>
          </a:xfrm>
          <a:prstGeom prst="rect">
            <a:avLst/>
          </a:prstGeom>
          <a:solidFill>
            <a:srgbClr val="FFFFFF"/>
          </a:solidFill>
          <a:ln w="9525">
            <a:solidFill>
              <a:srgbClr val="D8D1CC"/>
            </a:solidFill>
            <a:prstDash val="solid"/>
          </a:ln>
        </p:spPr>
      </p:sp>
      <p:sp>
        <p:nvSpPr>
          <p:cNvPr id="133" name="矩形 132"/>
          <p:cNvSpPr>
            <a:spLocks noGrp="1"/>
          </p:cNvSpPr>
          <p:nvPr/>
        </p:nvSpPr>
        <p:spPr>
          <a:xfrm>
            <a:off x="5019675" y="50958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同质化、持续活跃与个人付费</a:t>
            </a:r>
            <a:endParaRPr sz="990" b="0">
              <a:solidFill>
                <a:srgbClr val="3F3A38"/>
              </a:solidFill>
              <a:latin typeface="Noto Sans Hans"/>
              <a:ea typeface="Noto Sans Hans"/>
              <a:cs typeface="Noto Sans Hans"/>
            </a:endParaRPr>
          </a:p>
        </p:txBody>
      </p:sp>
      <p:sp>
        <p:nvSpPr>
          <p:cNvPr id="134" name="矩形 133"/>
          <p:cNvSpPr>
            <a:spLocks noGrp="1"/>
          </p:cNvSpPr>
          <p:nvPr/>
        </p:nvSpPr>
        <p:spPr>
          <a:xfrm>
            <a:off x="7467600" y="5067300"/>
            <a:ext cx="1704975" cy="457200"/>
          </a:xfrm>
          <a:prstGeom prst="rect">
            <a:avLst/>
          </a:prstGeom>
          <a:solidFill>
            <a:srgbClr val="FFFFFF"/>
          </a:solidFill>
          <a:ln w="9525">
            <a:solidFill>
              <a:srgbClr val="D8D1CC"/>
            </a:solidFill>
            <a:prstDash val="solid"/>
          </a:ln>
        </p:spPr>
      </p:sp>
      <p:sp>
        <p:nvSpPr>
          <p:cNvPr id="135" name="矩形 134"/>
          <p:cNvSpPr>
            <a:spLocks noGrp="1"/>
          </p:cNvSpPr>
          <p:nvPr/>
        </p:nvSpPr>
        <p:spPr>
          <a:xfrm>
            <a:off x="7496175" y="50958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小额验证</a:t>
            </a:r>
            <a:endParaRPr sz="1030" b="1">
              <a:solidFill>
                <a:srgbClr val="876200"/>
              </a:solidFill>
              <a:latin typeface="Noto Sans Hans"/>
              <a:ea typeface="Noto Sans Hans"/>
              <a:cs typeface="Noto Sans Hans"/>
            </a:endParaRPr>
          </a:p>
        </p:txBody>
      </p:sp>
      <p:sp>
        <p:nvSpPr>
          <p:cNvPr id="136" name="矩形 135"/>
          <p:cNvSpPr>
            <a:spLocks noGrp="1"/>
          </p:cNvSpPr>
          <p:nvPr/>
        </p:nvSpPr>
        <p:spPr>
          <a:xfrm>
            <a:off x="457200" y="5524500"/>
            <a:ext cx="1428750" cy="457200"/>
          </a:xfrm>
          <a:prstGeom prst="rect">
            <a:avLst/>
          </a:prstGeom>
          <a:solidFill>
            <a:srgbClr val="FAF8F6"/>
          </a:solidFill>
          <a:ln w="9525">
            <a:solidFill>
              <a:srgbClr val="D8D1CC"/>
            </a:solidFill>
            <a:prstDash val="solid"/>
          </a:ln>
        </p:spPr>
      </p:sp>
      <p:sp>
        <p:nvSpPr>
          <p:cNvPr id="137" name="矩形 136"/>
          <p:cNvSpPr>
            <a:spLocks noGrp="1"/>
          </p:cNvSpPr>
          <p:nvPr/>
        </p:nvSpPr>
        <p:spPr>
          <a:xfrm>
            <a:off x="485775" y="5553075"/>
            <a:ext cx="1371600" cy="400050"/>
          </a:xfrm>
          <a:prstGeom prst="rect">
            <a:avLst/>
          </a:prstGeom>
          <a:noFill/>
          <a:ln w="0">
            <a:noFill/>
            <a:prstDash val="solid"/>
          </a:ln>
        </p:spPr>
        <p:txBody>
          <a:bodyPr wrap="square" lIns="47625" tIns="19050" rIns="47625" bIns="19050" anchor="ctr"/>
          <a:lstStyle/>
          <a:p>
            <a:pPr algn="ctr">
              <a:defRPr sz="925" b="1">
                <a:solidFill>
                  <a:srgbClr val="3F3A38"/>
                </a:solidFill>
                <a:latin typeface="Noto Sans Hans"/>
                <a:ea typeface="Noto Sans Hans"/>
                <a:cs typeface="Noto Sans Hans"/>
              </a:defRPr>
            </a:pPr>
            <a:r>
              <a:rPr sz="1030" b="1">
                <a:solidFill>
                  <a:srgbClr val="3F3A38"/>
                </a:solidFill>
                <a:latin typeface="Noto Sans Hans"/>
                <a:ea typeface="Noto Sans Hans"/>
                <a:cs typeface="Noto Sans Hans"/>
              </a:rPr>
              <a:t>平台/RaaS与维保</a:t>
            </a:r>
            <a:endParaRPr sz="1030" b="1">
              <a:solidFill>
                <a:srgbClr val="3F3A38"/>
              </a:solidFill>
              <a:latin typeface="Noto Sans Hans"/>
              <a:ea typeface="Noto Sans Hans"/>
              <a:cs typeface="Noto Sans Hans"/>
            </a:endParaRPr>
          </a:p>
        </p:txBody>
      </p:sp>
      <p:sp>
        <p:nvSpPr>
          <p:cNvPr id="138" name="矩形 137"/>
          <p:cNvSpPr>
            <a:spLocks noGrp="1"/>
          </p:cNvSpPr>
          <p:nvPr/>
        </p:nvSpPr>
        <p:spPr>
          <a:xfrm>
            <a:off x="1885950" y="5524500"/>
            <a:ext cx="990600" cy="457200"/>
          </a:xfrm>
          <a:prstGeom prst="rect">
            <a:avLst/>
          </a:prstGeom>
          <a:solidFill>
            <a:srgbClr val="FAF8F6"/>
          </a:solidFill>
          <a:ln w="9525">
            <a:solidFill>
              <a:srgbClr val="D8D1CC"/>
            </a:solidFill>
            <a:prstDash val="solid"/>
          </a:ln>
        </p:spPr>
      </p:sp>
      <p:sp>
        <p:nvSpPr>
          <p:cNvPr id="139" name="矩形 138"/>
          <p:cNvSpPr>
            <a:spLocks noGrp="1"/>
          </p:cNvSpPr>
          <p:nvPr/>
        </p:nvSpPr>
        <p:spPr>
          <a:xfrm>
            <a:off x="1914525" y="5553075"/>
            <a:ext cx="93345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中高</a:t>
            </a:r>
            <a:endParaRPr sz="1030" b="0">
              <a:solidFill>
                <a:srgbClr val="3F3A38"/>
              </a:solidFill>
              <a:latin typeface="Noto Sans Hans"/>
              <a:ea typeface="Noto Sans Hans"/>
              <a:cs typeface="Noto Sans Hans"/>
            </a:endParaRPr>
          </a:p>
        </p:txBody>
      </p:sp>
      <p:sp>
        <p:nvSpPr>
          <p:cNvPr id="140" name="矩形 139"/>
          <p:cNvSpPr>
            <a:spLocks noGrp="1"/>
          </p:cNvSpPr>
          <p:nvPr/>
        </p:nvSpPr>
        <p:spPr>
          <a:xfrm>
            <a:off x="2876550" y="5524500"/>
            <a:ext cx="1066800" cy="457200"/>
          </a:xfrm>
          <a:prstGeom prst="rect">
            <a:avLst/>
          </a:prstGeom>
          <a:solidFill>
            <a:srgbClr val="FAF8F6"/>
          </a:solidFill>
          <a:ln w="9525">
            <a:solidFill>
              <a:srgbClr val="D8D1CC"/>
            </a:solidFill>
            <a:prstDash val="solid"/>
          </a:ln>
        </p:spPr>
      </p:sp>
      <p:sp>
        <p:nvSpPr>
          <p:cNvPr id="141" name="矩形 140"/>
          <p:cNvSpPr>
            <a:spLocks noGrp="1"/>
          </p:cNvSpPr>
          <p:nvPr/>
        </p:nvSpPr>
        <p:spPr>
          <a:xfrm>
            <a:off x="2933700" y="5562600"/>
            <a:ext cx="266700" cy="381000"/>
          </a:xfrm>
          <a:prstGeom prst="rect">
            <a:avLst/>
          </a:prstGeom>
          <a:noFill/>
          <a:ln w="0">
            <a:noFill/>
            <a:prstDash val="solid"/>
          </a:ln>
        </p:spPr>
        <p:txBody>
          <a:bodyPr wrap="square" lIns="47625" tIns="19050" rIns="47625" bIns="19050" anchor="ctr"/>
          <a:lstStyle/>
          <a:p>
            <a:pPr algn="r">
              <a:defRPr sz="900" b="1">
                <a:solidFill>
                  <a:srgbClr val="C9151E"/>
                </a:solidFill>
                <a:latin typeface="Noto Sans Hans"/>
                <a:ea typeface="Noto Sans Hans"/>
                <a:cs typeface="Noto Sans Hans"/>
              </a:defRPr>
            </a:pPr>
            <a:r>
              <a:rPr sz="1000" b="1">
                <a:solidFill>
                  <a:srgbClr val="C9151E"/>
                </a:solidFill>
                <a:latin typeface="Noto Sans Hans"/>
                <a:ea typeface="Noto Sans Hans"/>
                <a:cs typeface="Noto Sans Hans"/>
              </a:rPr>
              <a:t>84</a:t>
            </a:r>
            <a:endParaRPr sz="1000" b="1">
              <a:solidFill>
                <a:srgbClr val="C9151E"/>
              </a:solidFill>
              <a:latin typeface="Noto Sans Hans"/>
              <a:ea typeface="Noto Sans Hans"/>
              <a:cs typeface="Noto Sans Hans"/>
            </a:endParaRPr>
          </a:p>
        </p:txBody>
      </p:sp>
      <p:sp>
        <p:nvSpPr>
          <p:cNvPr id="142" name="矩形 141"/>
          <p:cNvSpPr>
            <a:spLocks noGrp="1"/>
          </p:cNvSpPr>
          <p:nvPr/>
        </p:nvSpPr>
        <p:spPr>
          <a:xfrm>
            <a:off x="3257550" y="5686425"/>
            <a:ext cx="590550" cy="114300"/>
          </a:xfrm>
          <a:prstGeom prst="rect">
            <a:avLst/>
          </a:prstGeom>
          <a:solidFill>
            <a:srgbClr val="EEE5E2"/>
          </a:solidFill>
          <a:ln w="0">
            <a:noFill/>
            <a:prstDash val="solid"/>
          </a:ln>
        </p:spPr>
      </p:sp>
      <p:sp>
        <p:nvSpPr>
          <p:cNvPr id="143" name="矩形 142"/>
          <p:cNvSpPr>
            <a:spLocks noGrp="1"/>
          </p:cNvSpPr>
          <p:nvPr/>
        </p:nvSpPr>
        <p:spPr>
          <a:xfrm>
            <a:off x="3257550" y="5686425"/>
            <a:ext cx="496062" cy="114300"/>
          </a:xfrm>
          <a:prstGeom prst="rect">
            <a:avLst/>
          </a:prstGeom>
          <a:solidFill>
            <a:srgbClr val="C64A22"/>
          </a:solidFill>
          <a:ln w="0">
            <a:noFill/>
            <a:prstDash val="solid"/>
          </a:ln>
        </p:spPr>
      </p:sp>
      <p:sp>
        <p:nvSpPr>
          <p:cNvPr id="144" name="矩形 143"/>
          <p:cNvSpPr>
            <a:spLocks noGrp="1"/>
          </p:cNvSpPr>
          <p:nvPr/>
        </p:nvSpPr>
        <p:spPr>
          <a:xfrm>
            <a:off x="3943350" y="5524500"/>
            <a:ext cx="1047750" cy="457200"/>
          </a:xfrm>
          <a:prstGeom prst="rect">
            <a:avLst/>
          </a:prstGeom>
          <a:solidFill>
            <a:srgbClr val="FAF8F6"/>
          </a:solidFill>
          <a:ln w="9525">
            <a:solidFill>
              <a:srgbClr val="D8D1CC"/>
            </a:solidFill>
            <a:prstDash val="solid"/>
          </a:ln>
        </p:spPr>
      </p:sp>
      <p:sp>
        <p:nvSpPr>
          <p:cNvPr id="145" name="矩形 144"/>
          <p:cNvSpPr>
            <a:spLocks noGrp="1"/>
          </p:cNvSpPr>
          <p:nvPr/>
        </p:nvSpPr>
        <p:spPr>
          <a:xfrm>
            <a:off x="3971925" y="5553075"/>
            <a:ext cx="990600" cy="400050"/>
          </a:xfrm>
          <a:prstGeom prst="rect">
            <a:avLst/>
          </a:prstGeom>
          <a:noFill/>
          <a:ln w="0">
            <a:noFill/>
            <a:prstDash val="solid"/>
          </a:ln>
        </p:spPr>
        <p:txBody>
          <a:bodyPr wrap="square" lIns="47625" tIns="19050" rIns="47625" bIns="19050" anchor="ctr"/>
          <a:lstStyle/>
          <a:p>
            <a:pPr algn="ctr">
              <a:defRPr sz="925" b="0">
                <a:solidFill>
                  <a:srgbClr val="3F3A38"/>
                </a:solidFill>
                <a:latin typeface="Noto Sans Hans"/>
                <a:ea typeface="Noto Sans Hans"/>
                <a:cs typeface="Noto Sans Hans"/>
              </a:defRPr>
            </a:pPr>
            <a:r>
              <a:rPr sz="1030" b="0">
                <a:solidFill>
                  <a:srgbClr val="3F3A38"/>
                </a:solidFill>
                <a:latin typeface="Noto Sans Hans"/>
                <a:ea typeface="Noto Sans Hans"/>
                <a:cs typeface="Noto Sans Hans"/>
              </a:rPr>
              <a:t>成长</a:t>
            </a:r>
            <a:endParaRPr sz="1030" b="0">
              <a:solidFill>
                <a:srgbClr val="3F3A38"/>
              </a:solidFill>
              <a:latin typeface="Noto Sans Hans"/>
              <a:ea typeface="Noto Sans Hans"/>
              <a:cs typeface="Noto Sans Hans"/>
            </a:endParaRPr>
          </a:p>
        </p:txBody>
      </p:sp>
      <p:sp>
        <p:nvSpPr>
          <p:cNvPr id="146" name="矩形 145"/>
          <p:cNvSpPr>
            <a:spLocks noGrp="1"/>
          </p:cNvSpPr>
          <p:nvPr/>
        </p:nvSpPr>
        <p:spPr>
          <a:xfrm>
            <a:off x="4991100" y="5524500"/>
            <a:ext cx="2476500" cy="457200"/>
          </a:xfrm>
          <a:prstGeom prst="rect">
            <a:avLst/>
          </a:prstGeom>
          <a:solidFill>
            <a:srgbClr val="FAF8F6"/>
          </a:solidFill>
          <a:ln w="9525">
            <a:solidFill>
              <a:srgbClr val="D8D1CC"/>
            </a:solidFill>
            <a:prstDash val="solid"/>
          </a:ln>
        </p:spPr>
      </p:sp>
      <p:sp>
        <p:nvSpPr>
          <p:cNvPr id="147" name="矩形 146"/>
          <p:cNvSpPr>
            <a:spLocks noGrp="1"/>
          </p:cNvSpPr>
          <p:nvPr/>
        </p:nvSpPr>
        <p:spPr>
          <a:xfrm>
            <a:off x="5019675" y="5553075"/>
            <a:ext cx="2419350" cy="400050"/>
          </a:xfrm>
          <a:prstGeom prst="rect">
            <a:avLst/>
          </a:prstGeom>
          <a:noFill/>
          <a:ln w="0">
            <a:noFill/>
            <a:prstDash val="solid"/>
          </a:ln>
        </p:spPr>
        <p:txBody>
          <a:bodyPr wrap="square" lIns="47625" tIns="19050" rIns="47625" bIns="19050" anchor="ctr"/>
          <a:lstStyle/>
          <a:p>
            <a:pPr algn="l">
              <a:defRPr sz="885" b="0">
                <a:solidFill>
                  <a:srgbClr val="3F3A38"/>
                </a:solidFill>
                <a:latin typeface="Noto Sans Hans"/>
                <a:ea typeface="Noto Sans Hans"/>
                <a:cs typeface="Noto Sans Hans"/>
              </a:defRPr>
            </a:pPr>
            <a:r>
              <a:rPr sz="990" b="0">
                <a:solidFill>
                  <a:srgbClr val="3F3A38"/>
                </a:solidFill>
                <a:latin typeface="Noto Sans Hans"/>
                <a:ea typeface="Noto Sans Hans"/>
                <a:cs typeface="Noto Sans Hans"/>
              </a:rPr>
              <a:t>售后半径、回款和设备在线率</a:t>
            </a:r>
            <a:endParaRPr sz="990" b="0">
              <a:solidFill>
                <a:srgbClr val="3F3A38"/>
              </a:solidFill>
              <a:latin typeface="Noto Sans Hans"/>
              <a:ea typeface="Noto Sans Hans"/>
              <a:cs typeface="Noto Sans Hans"/>
            </a:endParaRPr>
          </a:p>
        </p:txBody>
      </p:sp>
      <p:sp>
        <p:nvSpPr>
          <p:cNvPr id="148" name="矩形 147"/>
          <p:cNvSpPr>
            <a:spLocks noGrp="1"/>
          </p:cNvSpPr>
          <p:nvPr/>
        </p:nvSpPr>
        <p:spPr>
          <a:xfrm>
            <a:off x="7467600" y="5524500"/>
            <a:ext cx="1704975" cy="457200"/>
          </a:xfrm>
          <a:prstGeom prst="rect">
            <a:avLst/>
          </a:prstGeom>
          <a:solidFill>
            <a:srgbClr val="FAF8F6"/>
          </a:solidFill>
          <a:ln w="9525">
            <a:solidFill>
              <a:srgbClr val="D8D1CC"/>
            </a:solidFill>
            <a:prstDash val="solid"/>
          </a:ln>
        </p:spPr>
      </p:sp>
      <p:sp>
        <p:nvSpPr>
          <p:cNvPr id="149" name="矩形 148"/>
          <p:cNvSpPr>
            <a:spLocks noGrp="1"/>
          </p:cNvSpPr>
          <p:nvPr/>
        </p:nvSpPr>
        <p:spPr>
          <a:xfrm>
            <a:off x="7496175" y="5553075"/>
            <a:ext cx="1647825" cy="400050"/>
          </a:xfrm>
          <a:prstGeom prst="rect">
            <a:avLst/>
          </a:prstGeom>
          <a:noFill/>
          <a:ln w="0">
            <a:noFill/>
            <a:prstDash val="solid"/>
          </a:ln>
        </p:spPr>
        <p:txBody>
          <a:bodyPr wrap="square" lIns="47625" tIns="19050" rIns="47625" bIns="19050" anchor="ctr"/>
          <a:lstStyle/>
          <a:p>
            <a:pPr algn="ctr">
              <a:defRPr sz="925" b="1">
                <a:solidFill>
                  <a:srgbClr val="876200"/>
                </a:solidFill>
                <a:latin typeface="Noto Sans Hans"/>
                <a:ea typeface="Noto Sans Hans"/>
                <a:cs typeface="Noto Sans Hans"/>
              </a:defRPr>
            </a:pPr>
            <a:r>
              <a:rPr sz="1030" b="1">
                <a:solidFill>
                  <a:srgbClr val="876200"/>
                </a:solidFill>
                <a:latin typeface="Noto Sans Hans"/>
                <a:ea typeface="Noto Sans Hans"/>
                <a:cs typeface="Noto Sans Hans"/>
              </a:rPr>
              <a:t>联合运营</a:t>
            </a:r>
            <a:endParaRPr sz="1030" b="1">
              <a:solidFill>
                <a:srgbClr val="876200"/>
              </a:solidFill>
              <a:latin typeface="Noto Sans Hans"/>
              <a:ea typeface="Noto Sans Hans"/>
              <a:cs typeface="Noto Sans Hans"/>
            </a:endParaRPr>
          </a:p>
        </p:txBody>
      </p:sp>
      <p:sp>
        <p:nvSpPr>
          <p:cNvPr id="150" name="矩形 149"/>
          <p:cNvSpPr>
            <a:spLocks noGrp="1"/>
          </p:cNvSpPr>
          <p:nvPr/>
        </p:nvSpPr>
        <p:spPr>
          <a:xfrm>
            <a:off x="9372600" y="2000250"/>
            <a:ext cx="2343150" cy="1200150"/>
          </a:xfrm>
          <a:prstGeom prst="rect">
            <a:avLst/>
          </a:prstGeom>
          <a:solidFill>
            <a:srgbClr val="F8E9E7"/>
          </a:solidFill>
          <a:ln w="0">
            <a:noFill/>
            <a:prstDash val="solid"/>
          </a:ln>
        </p:spPr>
      </p:sp>
      <p:sp>
        <p:nvSpPr>
          <p:cNvPr id="151" name="矩形 150"/>
          <p:cNvSpPr>
            <a:spLocks noGrp="1"/>
          </p:cNvSpPr>
          <p:nvPr/>
        </p:nvSpPr>
        <p:spPr>
          <a:xfrm>
            <a:off x="9372600" y="2000250"/>
            <a:ext cx="47625" cy="1200150"/>
          </a:xfrm>
          <a:prstGeom prst="rect">
            <a:avLst/>
          </a:prstGeom>
          <a:solidFill>
            <a:srgbClr val="C9151E"/>
          </a:solidFill>
          <a:ln w="0">
            <a:noFill/>
            <a:prstDash val="solid"/>
          </a:ln>
        </p:spPr>
      </p:sp>
      <p:sp>
        <p:nvSpPr>
          <p:cNvPr id="152" name="矩形 151"/>
          <p:cNvSpPr>
            <a:spLocks noGrp="1"/>
          </p:cNvSpPr>
          <p:nvPr/>
        </p:nvSpPr>
        <p:spPr>
          <a:xfrm>
            <a:off x="9515475" y="2095500"/>
            <a:ext cx="2085975" cy="266700"/>
          </a:xfrm>
          <a:prstGeom prst="rect">
            <a:avLst/>
          </a:prstGeom>
          <a:noFill/>
          <a:ln w="0">
            <a:noFill/>
            <a:prstDash val="solid"/>
          </a:ln>
        </p:spPr>
        <p:txBody>
          <a:bodyPr wrap="square" lIns="47625" tIns="19050" rIns="47625" bIns="19050" anchor="ctr">
            <a:normAutofit/>
          </a:bodyPr>
          <a:lstStyle/>
          <a:p>
            <a:pPr algn="l">
              <a:defRPr sz="1050" b="1">
                <a:solidFill>
                  <a:srgbClr val="C9151E"/>
                </a:solidFill>
                <a:latin typeface="Noto Sans Hans"/>
                <a:ea typeface="Noto Sans Hans"/>
                <a:cs typeface="Noto Sans Hans"/>
              </a:defRPr>
            </a:pPr>
            <a:r>
              <a:rPr sz="1200" b="1">
                <a:solidFill>
                  <a:srgbClr val="C9151E"/>
                </a:solidFill>
                <a:latin typeface="Noto Sans Hans"/>
                <a:ea typeface="Noto Sans Hans"/>
                <a:cs typeface="Noto Sans Hans"/>
              </a:rPr>
              <a:t>数据洞察 ①</a:t>
            </a:r>
            <a:endParaRPr sz="1200" b="1">
              <a:solidFill>
                <a:srgbClr val="C9151E"/>
              </a:solidFill>
              <a:latin typeface="Noto Sans Hans"/>
              <a:ea typeface="Noto Sans Hans"/>
              <a:cs typeface="Noto Sans Hans"/>
            </a:endParaRPr>
          </a:p>
        </p:txBody>
      </p:sp>
      <p:sp>
        <p:nvSpPr>
          <p:cNvPr id="153" name="矩形 152"/>
          <p:cNvSpPr>
            <a:spLocks noGrp="1"/>
          </p:cNvSpPr>
          <p:nvPr/>
        </p:nvSpPr>
        <p:spPr>
          <a:xfrm>
            <a:off x="9515475" y="2400300"/>
            <a:ext cx="2076450" cy="7143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康复赛道兼具高景气与明确付费主体，适合作为近期投资与场景落地的主抓手。</a:t>
            </a:r>
            <a:endParaRPr sz="1000" b="0">
              <a:solidFill>
                <a:srgbClr val="3F3A38"/>
              </a:solidFill>
              <a:latin typeface="Noto Sans Hans"/>
              <a:ea typeface="Noto Sans Hans"/>
              <a:cs typeface="Noto Sans Hans"/>
            </a:endParaRPr>
          </a:p>
        </p:txBody>
      </p:sp>
      <p:sp>
        <p:nvSpPr>
          <p:cNvPr id="154" name="矩形 153"/>
          <p:cNvSpPr>
            <a:spLocks noGrp="1"/>
          </p:cNvSpPr>
          <p:nvPr/>
        </p:nvSpPr>
        <p:spPr>
          <a:xfrm>
            <a:off x="9372600" y="3295650"/>
            <a:ext cx="2343150" cy="1352550"/>
          </a:xfrm>
          <a:prstGeom prst="rect">
            <a:avLst/>
          </a:prstGeom>
          <a:solidFill>
            <a:srgbClr val="F8E9E7"/>
          </a:solidFill>
          <a:ln w="0">
            <a:noFill/>
            <a:prstDash val="solid"/>
          </a:ln>
        </p:spPr>
      </p:sp>
      <p:sp>
        <p:nvSpPr>
          <p:cNvPr id="155" name="矩形 154"/>
          <p:cNvSpPr>
            <a:spLocks noGrp="1"/>
          </p:cNvSpPr>
          <p:nvPr/>
        </p:nvSpPr>
        <p:spPr>
          <a:xfrm>
            <a:off x="9372600" y="3295650"/>
            <a:ext cx="47625" cy="1352550"/>
          </a:xfrm>
          <a:prstGeom prst="rect">
            <a:avLst/>
          </a:prstGeom>
          <a:solidFill>
            <a:srgbClr val="C64A22"/>
          </a:solidFill>
          <a:ln w="0">
            <a:noFill/>
            <a:prstDash val="solid"/>
          </a:ln>
        </p:spPr>
      </p:sp>
      <p:sp>
        <p:nvSpPr>
          <p:cNvPr id="156" name="矩形 155"/>
          <p:cNvSpPr>
            <a:spLocks noGrp="1"/>
          </p:cNvSpPr>
          <p:nvPr/>
        </p:nvSpPr>
        <p:spPr>
          <a:xfrm>
            <a:off x="9515475" y="3390900"/>
            <a:ext cx="2085975" cy="266700"/>
          </a:xfrm>
          <a:prstGeom prst="rect">
            <a:avLst/>
          </a:prstGeom>
          <a:noFill/>
          <a:ln w="0">
            <a:noFill/>
            <a:prstDash val="solid"/>
          </a:ln>
        </p:spPr>
        <p:txBody>
          <a:bodyPr wrap="square" lIns="47625" tIns="19050" rIns="47625" bIns="19050" anchor="ctr">
            <a:normAutofit/>
          </a:bodyPr>
          <a:lstStyle/>
          <a:p>
            <a:pPr algn="l">
              <a:defRPr sz="1050" b="1">
                <a:solidFill>
                  <a:srgbClr val="C64A22"/>
                </a:solidFill>
                <a:latin typeface="Noto Sans Hans"/>
                <a:ea typeface="Noto Sans Hans"/>
                <a:cs typeface="Noto Sans Hans"/>
              </a:defRPr>
            </a:pPr>
            <a:r>
              <a:rPr sz="1200" b="1">
                <a:solidFill>
                  <a:srgbClr val="C64A22"/>
                </a:solidFill>
                <a:latin typeface="Noto Sans Hans"/>
                <a:ea typeface="Noto Sans Hans"/>
                <a:cs typeface="Noto Sans Hans"/>
              </a:rPr>
              <a:t>数据洞察 ②</a:t>
            </a:r>
            <a:endParaRPr sz="1200" b="1">
              <a:solidFill>
                <a:srgbClr val="C64A22"/>
              </a:solidFill>
              <a:latin typeface="Noto Sans Hans"/>
              <a:ea typeface="Noto Sans Hans"/>
              <a:cs typeface="Noto Sans Hans"/>
            </a:endParaRPr>
          </a:p>
        </p:txBody>
      </p:sp>
      <p:sp>
        <p:nvSpPr>
          <p:cNvPr id="157" name="矩形 156"/>
          <p:cNvSpPr>
            <a:spLocks noGrp="1"/>
          </p:cNvSpPr>
          <p:nvPr/>
        </p:nvSpPr>
        <p:spPr>
          <a:xfrm>
            <a:off x="9515475" y="3695700"/>
            <a:ext cx="2076450" cy="8667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护理机器人需求最刚性，但复杂人体接触使安全验证、责任边界和价格成为商业化短板。</a:t>
            </a:r>
            <a:endParaRPr sz="1000" b="0">
              <a:solidFill>
                <a:srgbClr val="3F3A38"/>
              </a:solidFill>
              <a:latin typeface="Noto Sans Hans"/>
              <a:ea typeface="Noto Sans Hans"/>
              <a:cs typeface="Noto Sans Hans"/>
            </a:endParaRPr>
          </a:p>
        </p:txBody>
      </p:sp>
      <p:sp>
        <p:nvSpPr>
          <p:cNvPr id="158" name="矩形 157"/>
          <p:cNvSpPr>
            <a:spLocks noGrp="1"/>
          </p:cNvSpPr>
          <p:nvPr/>
        </p:nvSpPr>
        <p:spPr>
          <a:xfrm>
            <a:off x="9372600" y="4743450"/>
            <a:ext cx="2343150" cy="1428750"/>
          </a:xfrm>
          <a:prstGeom prst="rect">
            <a:avLst/>
          </a:prstGeom>
          <a:solidFill>
            <a:srgbClr val="F6F0DE"/>
          </a:solidFill>
          <a:ln w="0">
            <a:noFill/>
            <a:prstDash val="solid"/>
          </a:ln>
        </p:spPr>
      </p:sp>
      <p:sp>
        <p:nvSpPr>
          <p:cNvPr id="159" name="矩形 158"/>
          <p:cNvSpPr>
            <a:spLocks noGrp="1"/>
          </p:cNvSpPr>
          <p:nvPr/>
        </p:nvSpPr>
        <p:spPr>
          <a:xfrm>
            <a:off x="9372600" y="4743450"/>
            <a:ext cx="47625" cy="1428750"/>
          </a:xfrm>
          <a:prstGeom prst="rect">
            <a:avLst/>
          </a:prstGeom>
          <a:solidFill>
            <a:srgbClr val="876200"/>
          </a:solidFill>
          <a:ln w="0">
            <a:noFill/>
            <a:prstDash val="solid"/>
          </a:ln>
        </p:spPr>
      </p:sp>
      <p:sp>
        <p:nvSpPr>
          <p:cNvPr id="160" name="矩形 159"/>
          <p:cNvSpPr>
            <a:spLocks noGrp="1"/>
          </p:cNvSpPr>
          <p:nvPr/>
        </p:nvSpPr>
        <p:spPr>
          <a:xfrm>
            <a:off x="9515475" y="4838700"/>
            <a:ext cx="2085975" cy="266700"/>
          </a:xfrm>
          <a:prstGeom prst="rect">
            <a:avLst/>
          </a:prstGeom>
          <a:noFill/>
          <a:ln w="0">
            <a:noFill/>
            <a:prstDash val="solid"/>
          </a:ln>
        </p:spPr>
        <p:txBody>
          <a:bodyPr wrap="square" lIns="47625" tIns="19050" rIns="47625" bIns="19050" anchor="ctr">
            <a:normAutofit/>
          </a:bodyPr>
          <a:lstStyle/>
          <a:p>
            <a:pPr algn="l">
              <a:defRPr sz="1050" b="1">
                <a:solidFill>
                  <a:srgbClr val="876200"/>
                </a:solidFill>
                <a:latin typeface="Noto Sans Hans"/>
                <a:ea typeface="Noto Sans Hans"/>
                <a:cs typeface="Noto Sans Hans"/>
              </a:defRPr>
            </a:pPr>
            <a:r>
              <a:rPr sz="1200" b="1">
                <a:solidFill>
                  <a:srgbClr val="876200"/>
                </a:solidFill>
                <a:latin typeface="Noto Sans Hans"/>
                <a:ea typeface="Noto Sans Hans"/>
                <a:cs typeface="Noto Sans Hans"/>
              </a:rPr>
              <a:t>数据洞察 ③</a:t>
            </a:r>
            <a:endParaRPr sz="1200" b="1">
              <a:solidFill>
                <a:srgbClr val="876200"/>
              </a:solidFill>
              <a:latin typeface="Noto Sans Hans"/>
              <a:ea typeface="Noto Sans Hans"/>
              <a:cs typeface="Noto Sans Hans"/>
            </a:endParaRPr>
          </a:p>
        </p:txBody>
      </p:sp>
      <p:sp>
        <p:nvSpPr>
          <p:cNvPr id="161" name="矩形 160"/>
          <p:cNvSpPr>
            <a:spLocks noGrp="1"/>
          </p:cNvSpPr>
          <p:nvPr/>
        </p:nvSpPr>
        <p:spPr>
          <a:xfrm>
            <a:off x="9515475" y="5143500"/>
            <a:ext cx="2076450" cy="9429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40"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机构配送、清洁、巡检已具成熟供应链，可先形成可量化ROI，再向移乘、排泄等高价值护理任务升级。</a:t>
            </a:r>
            <a:endParaRPr sz="1000" b="0">
              <a:solidFill>
                <a:srgbClr val="3F3A38"/>
              </a:solidFill>
              <a:latin typeface="Noto Sans Hans"/>
              <a:ea typeface="Noto Sans Hans"/>
              <a:cs typeface="Noto Sans Hans"/>
            </a:endParaRPr>
          </a:p>
        </p:txBody>
      </p:sp>
      <p:sp>
        <p:nvSpPr>
          <p:cNvPr id="162" name="矩形 161"/>
          <p:cNvSpPr>
            <a:spLocks noGrp="1"/>
          </p:cNvSpPr>
          <p:nvPr/>
        </p:nvSpPr>
        <p:spPr>
          <a:xfrm>
            <a:off x="457200" y="6048375"/>
            <a:ext cx="8715375" cy="228600"/>
          </a:xfrm>
          <a:prstGeom prst="rect">
            <a:avLst/>
          </a:prstGeom>
          <a:noFill/>
          <a:ln w="0">
            <a:noFill/>
            <a:prstDash val="solid"/>
          </a:ln>
        </p:spPr>
        <p:txBody>
          <a:bodyPr wrap="square" lIns="47625" tIns="19050" rIns="47625" bIns="19050" anchor="ctr"/>
          <a:lstStyle/>
          <a:p>
            <a:pPr algn="l">
              <a:defRPr sz="790" b="0">
                <a:solidFill>
                  <a:srgbClr val="6B6663"/>
                </a:solidFill>
                <a:latin typeface="Noto Sans Hans"/>
                <a:ea typeface="Noto Sans Hans"/>
                <a:cs typeface="Noto Sans Hans"/>
              </a:defRPr>
            </a:pPr>
            <a:r>
              <a:rPr sz="890" b="0">
                <a:solidFill>
                  <a:srgbClr val="6B6663"/>
                </a:solidFill>
                <a:latin typeface="Noto Sans Hans"/>
                <a:ea typeface="Noto Sans Hans"/>
                <a:cs typeface="Noto Sans Hans"/>
              </a:rPr>
              <a:t>注：需求/景气指数为研究比较指数（0—100），用于相对排序，不代表市场规模。</a:t>
            </a:r>
            <a:endParaRPr sz="890" b="0">
              <a:solidFill>
                <a:srgbClr val="6B6663"/>
              </a:solidFill>
              <a:latin typeface="Noto Sans Hans"/>
              <a:ea typeface="Noto Sans Hans"/>
              <a:cs typeface="Noto Sans Hans"/>
            </a:endParaRPr>
          </a:p>
        </p:txBody>
      </p:sp>
      <p:sp>
        <p:nvSpPr>
          <p:cNvPr id="163" name="矩形 162"/>
          <p:cNvSpPr>
            <a:spLocks noGrp="1"/>
          </p:cNvSpPr>
          <p:nvPr/>
        </p:nvSpPr>
        <p:spPr>
          <a:xfrm>
            <a:off x="457200" y="6572250"/>
            <a:ext cx="10382250" cy="171450"/>
          </a:xfrm>
          <a:prstGeom prst="rect">
            <a:avLst/>
          </a:prstGeom>
          <a:noFill/>
          <a:ln w="0">
            <a:noFill/>
            <a:prstDash val="solid"/>
          </a:ln>
        </p:spPr>
        <p:txBody>
          <a:bodyPr wrap="square" lIns="47625" tIns="19050" rIns="47625" bIns="19050" anchor="ctr">
            <a:normAutofit/>
          </a:bodyPr>
          <a:lstStyle/>
          <a:p>
            <a:pPr algn="l">
              <a:defRPr sz="790" b="0">
                <a:solidFill>
                  <a:srgbClr val="6B6663"/>
                </a:solidFill>
                <a:latin typeface="Noto Sans Hans"/>
                <a:ea typeface="Noto Sans Hans"/>
                <a:cs typeface="Noto Sans Hans"/>
              </a:defRPr>
            </a:pPr>
            <a:r>
              <a:rPr sz="790" b="0">
                <a:solidFill>
                  <a:srgbClr val="6B6663"/>
                </a:solidFill>
                <a:latin typeface="Noto Sans Hans"/>
                <a:ea typeface="Noto Sans Hans"/>
                <a:cs typeface="Noto Sans Hans"/>
              </a:rPr>
              <a:t>资料来源：国际机器人联合会 IFR、国家医疗保障局、武汉市人民政府；养老机器人产业增强基础数据库。</a:t>
            </a:r>
            <a:endParaRPr sz="790" b="0">
              <a:solidFill>
                <a:srgbClr val="6B6663"/>
              </a:solidFill>
              <a:latin typeface="Noto Sans Hans"/>
              <a:ea typeface="Noto Sans Hans"/>
              <a:cs typeface="Noto Sans Hans"/>
            </a:endParaRPr>
          </a:p>
        </p:txBody>
      </p:sp>
      <p:sp>
        <p:nvSpPr>
          <p:cNvPr id="164" name="矩形 163"/>
          <p:cNvSpPr>
            <a:spLocks noGrp="1"/>
          </p:cNvSpPr>
          <p:nvPr/>
        </p:nvSpPr>
        <p:spPr>
          <a:xfrm>
            <a:off x="11315700" y="6543675"/>
            <a:ext cx="381000" cy="209550"/>
          </a:xfrm>
          <a:prstGeom prst="rect">
            <a:avLst/>
          </a:prstGeom>
          <a:noFill/>
          <a:ln w="0">
            <a:noFill/>
            <a:prstDash val="solid"/>
          </a:ln>
        </p:spPr>
        <p:txBody>
          <a:bodyPr wrap="square" lIns="47625" tIns="19050" rIns="47625" bIns="19050" anchor="ctr">
            <a:normAutofit/>
          </a:bodyPr>
          <a:lstStyle/>
          <a:p>
            <a:pPr algn="r">
              <a:defRPr sz="900" b="1">
                <a:solidFill>
                  <a:srgbClr val="C9151E"/>
                </a:solidFill>
                <a:latin typeface="Noto Sans Hans"/>
                <a:ea typeface="Noto Sans Hans"/>
                <a:cs typeface="Noto Sans Hans"/>
              </a:defRPr>
            </a:pPr>
            <a:r>
              <a:rPr sz="900" b="1">
                <a:solidFill>
                  <a:srgbClr val="C9151E"/>
                </a:solidFill>
                <a:latin typeface="Noto Sans Hans"/>
                <a:ea typeface="Noto Sans Hans"/>
                <a:cs typeface="Noto Sans Hans"/>
              </a:rPr>
              <a:t>0</a:t>
            </a:r>
            <a:r>
              <a:rPr lang="en-US" sz="900" b="1">
                <a:solidFill>
                  <a:srgbClr val="C9151E"/>
                </a:solidFill>
                <a:latin typeface="Noto Sans Hans"/>
                <a:ea typeface="Noto Sans Hans"/>
                <a:cs typeface="Noto Sans Hans"/>
              </a:rPr>
              <a:t>3</a:t>
            </a:r>
            <a:endParaRPr lang="en-US" sz="900" b="1">
              <a:solidFill>
                <a:srgbClr val="C9151E"/>
              </a:solidFill>
              <a:latin typeface="Noto Sans Hans"/>
              <a:ea typeface="Noto Sans Hans"/>
              <a:cs typeface="Noto Sans H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28600"/>
            <a:ext cx="171450" cy="685800"/>
          </a:xfrm>
          <a:prstGeom prst="rect">
            <a:avLst/>
          </a:prstGeom>
          <a:solidFill>
            <a:srgbClr val="CF0712"/>
          </a:solidFill>
          <a:ln w="0">
            <a:noFill/>
            <a:prstDash val="solid"/>
          </a:ln>
        </p:spPr>
      </p:sp>
      <p:sp>
        <p:nvSpPr>
          <p:cNvPr id="3" name="slide-title"/>
          <p:cNvSpPr>
            <a:spLocks noGrp="1"/>
          </p:cNvSpPr>
          <p:nvPr/>
        </p:nvSpPr>
        <p:spPr>
          <a:xfrm>
            <a:off x="476250" y="200025"/>
            <a:ext cx="11239500" cy="457200"/>
          </a:xfrm>
          <a:prstGeom prst="rect">
            <a:avLst/>
          </a:prstGeom>
          <a:noFill/>
          <a:ln w="0">
            <a:noFill/>
            <a:prstDash val="solid"/>
          </a:ln>
        </p:spPr>
        <p:txBody>
          <a:bodyPr lIns="0" tIns="0" rIns="0" bIns="0" anchor="ctr">
            <a:normAutofit/>
          </a:bodyPr>
          <a:lstStyle/>
          <a:p>
            <a:r>
              <a:rPr lang="en-US" sz="2025" b="1">
                <a:solidFill>
                  <a:srgbClr val="CF0712"/>
                </a:solidFill>
                <a:latin typeface="Noto Sans Hans"/>
                <a:ea typeface="Noto Sans Hans"/>
                <a:cs typeface="Noto Sans Hans"/>
              </a:rPr>
              <a:t>1.2</a:t>
            </a:r>
            <a:r>
              <a:rPr sz="2025" b="1">
                <a:solidFill>
                  <a:srgbClr val="CF0712"/>
                </a:solidFill>
                <a:latin typeface="Noto Sans Hans"/>
                <a:ea typeface="Noto Sans Hans"/>
                <a:cs typeface="Noto Sans Hans"/>
              </a:rPr>
              <a:t>【应用领域</a:t>
            </a:r>
            <a:r>
              <a:rPr lang="zh-CN" sz="2025" b="1">
                <a:solidFill>
                  <a:srgbClr val="CF0712"/>
                </a:solidFill>
                <a:latin typeface="Noto Sans Hans"/>
                <a:ea typeface="Noto Sans Hans"/>
                <a:cs typeface="Noto Sans Hans"/>
              </a:rPr>
              <a:t>图</a:t>
            </a:r>
            <a:r>
              <a:rPr sz="2025" b="1">
                <a:solidFill>
                  <a:srgbClr val="CF0712"/>
                </a:solidFill>
                <a:latin typeface="Noto Sans Hans"/>
                <a:ea typeface="Noto Sans Hans"/>
                <a:cs typeface="Noto Sans Hans"/>
              </a:rPr>
              <a:t>】</a:t>
            </a:r>
            <a:r>
              <a:rPr sz="2025" b="1">
                <a:solidFill>
                  <a:srgbClr val="3F3A38"/>
                </a:solidFill>
                <a:latin typeface="Noto Sans Hans"/>
                <a:ea typeface="Noto Sans Hans"/>
                <a:cs typeface="Noto Sans Hans"/>
              </a:rPr>
              <a:t>养老机器人围绕“康复—照护—陪伴—运营”形成四类应用闭环</a:t>
            </a:r>
            <a:endParaRPr sz="2025" b="1">
              <a:solidFill>
                <a:srgbClr val="3F3A38"/>
              </a:solidFill>
              <a:latin typeface="Noto Sans Hans"/>
              <a:ea typeface="Noto Sans Hans"/>
              <a:cs typeface="Noto Sans Hans"/>
            </a:endParaRPr>
          </a:p>
        </p:txBody>
      </p:sp>
      <p:sp>
        <p:nvSpPr>
          <p:cNvPr id="4" name="矩形 3"/>
          <p:cNvSpPr>
            <a:spLocks noGrp="1"/>
          </p:cNvSpPr>
          <p:nvPr/>
        </p:nvSpPr>
        <p:spPr>
          <a:xfrm>
            <a:off x="476250" y="657225"/>
            <a:ext cx="11096625" cy="266700"/>
          </a:xfrm>
          <a:prstGeom prst="rect">
            <a:avLst/>
          </a:prstGeom>
          <a:noFill/>
          <a:ln w="0">
            <a:noFill/>
            <a:prstDash val="solid"/>
          </a:ln>
        </p:spPr>
        <p:txBody>
          <a:bodyPr wrap="square" lIns="47625" tIns="19050" rIns="47625" bIns="19050" anchor="ctr">
            <a:normAutofit/>
          </a:bodyPr>
          <a:lstStyle/>
          <a:p>
            <a:pPr algn="l">
              <a:defRPr sz="1125" b="0">
                <a:solidFill>
                  <a:srgbClr val="706A67"/>
                </a:solidFill>
                <a:latin typeface="Noto Sans Hans"/>
                <a:ea typeface="Noto Sans Hans"/>
                <a:cs typeface="Noto Sans Hans"/>
              </a:defRPr>
            </a:pPr>
            <a:r>
              <a:rPr sz="1125" b="0">
                <a:solidFill>
                  <a:srgbClr val="706A67"/>
                </a:solidFill>
                <a:latin typeface="Noto Sans Hans"/>
                <a:ea typeface="Noto Sans Hans"/>
                <a:cs typeface="Noto Sans Hans"/>
              </a:rPr>
              <a:t>从老人功能改善与安全照护出发，产品正由单一设备向场景解决方案和持续运营服务演进</a:t>
            </a:r>
            <a:endParaRPr sz="1125" b="0">
              <a:solidFill>
                <a:srgbClr val="706A67"/>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9D2CE"/>
          </a:solidFill>
          <a:ln w="0">
            <a:noFill/>
            <a:prstDash val="solid"/>
          </a:ln>
        </p:spPr>
      </p:sp>
      <p:sp>
        <p:nvSpPr>
          <p:cNvPr id="6" name="矩形 5"/>
          <p:cNvSpPr>
            <a:spLocks noGrp="1"/>
          </p:cNvSpPr>
          <p:nvPr/>
        </p:nvSpPr>
        <p:spPr>
          <a:xfrm>
            <a:off x="476250" y="1028700"/>
            <a:ext cx="4286250" cy="266700"/>
          </a:xfrm>
          <a:prstGeom prst="rect">
            <a:avLst/>
          </a:prstGeom>
          <a:noFill/>
          <a:ln w="0">
            <a:noFill/>
            <a:prstDash val="solid"/>
          </a:ln>
        </p:spPr>
        <p:txBody>
          <a:bodyPr wrap="square" lIns="47625" tIns="19050" rIns="47625" bIns="19050" anchor="ctr">
            <a:normAutofit/>
          </a:bodyPr>
          <a:lstStyle/>
          <a:p>
            <a:pPr algn="ctr">
              <a:defRPr sz="1125" b="1">
                <a:solidFill>
                  <a:srgbClr val="3F3A38"/>
                </a:solidFill>
                <a:latin typeface="Noto Sans Hans"/>
                <a:ea typeface="Noto Sans Hans"/>
                <a:cs typeface="Noto Sans Hans"/>
              </a:defRPr>
            </a:pPr>
            <a:r>
              <a:rPr sz="1125" b="1">
                <a:solidFill>
                  <a:srgbClr val="3F3A38"/>
                </a:solidFill>
                <a:latin typeface="Noto Sans Hans"/>
                <a:ea typeface="Noto Sans Hans"/>
                <a:cs typeface="Noto Sans Hans"/>
              </a:rPr>
              <a:t>典型应用场景与产品</a:t>
            </a:r>
            <a:endParaRPr sz="1125" b="1">
              <a:solidFill>
                <a:srgbClr val="3F3A38"/>
              </a:solidFill>
              <a:latin typeface="Noto Sans Hans"/>
              <a:ea typeface="Noto Sans Hans"/>
              <a:cs typeface="Noto Sans Hans"/>
            </a:endParaRPr>
          </a:p>
        </p:txBody>
      </p:sp>
      <p:sp>
        <p:nvSpPr>
          <p:cNvPr id="7" name="矩形 6"/>
          <p:cNvSpPr>
            <a:spLocks noGrp="1"/>
          </p:cNvSpPr>
          <p:nvPr/>
        </p:nvSpPr>
        <p:spPr>
          <a:xfrm>
            <a:off x="5095875" y="1028700"/>
            <a:ext cx="2857500" cy="266700"/>
          </a:xfrm>
          <a:prstGeom prst="rect">
            <a:avLst/>
          </a:prstGeom>
          <a:noFill/>
          <a:ln w="0">
            <a:noFill/>
            <a:prstDash val="solid"/>
          </a:ln>
        </p:spPr>
        <p:txBody>
          <a:bodyPr wrap="square" lIns="47625" tIns="19050" rIns="47625" bIns="19050" anchor="ctr">
            <a:normAutofit/>
          </a:bodyPr>
          <a:lstStyle/>
          <a:p>
            <a:pPr algn="ctr">
              <a:defRPr sz="1125" b="1">
                <a:solidFill>
                  <a:srgbClr val="3F3A38"/>
                </a:solidFill>
                <a:latin typeface="Noto Sans Hans"/>
                <a:ea typeface="Noto Sans Hans"/>
                <a:cs typeface="Noto Sans Hans"/>
              </a:defRPr>
            </a:pPr>
            <a:r>
              <a:rPr sz="1125" b="1">
                <a:solidFill>
                  <a:srgbClr val="3F3A38"/>
                </a:solidFill>
                <a:latin typeface="Noto Sans Hans"/>
                <a:ea typeface="Noto Sans Hans"/>
                <a:cs typeface="Noto Sans Hans"/>
              </a:rPr>
              <a:t>产品组织形态</a:t>
            </a:r>
            <a:endParaRPr sz="1125" b="1">
              <a:solidFill>
                <a:srgbClr val="3F3A38"/>
              </a:solidFill>
              <a:latin typeface="Noto Sans Hans"/>
              <a:ea typeface="Noto Sans Hans"/>
              <a:cs typeface="Noto Sans Hans"/>
            </a:endParaRPr>
          </a:p>
        </p:txBody>
      </p:sp>
      <p:sp>
        <p:nvSpPr>
          <p:cNvPr id="8" name="矩形 7"/>
          <p:cNvSpPr>
            <a:spLocks noGrp="1"/>
          </p:cNvSpPr>
          <p:nvPr/>
        </p:nvSpPr>
        <p:spPr>
          <a:xfrm>
            <a:off x="8267700" y="1028700"/>
            <a:ext cx="3429000" cy="266700"/>
          </a:xfrm>
          <a:prstGeom prst="rect">
            <a:avLst/>
          </a:prstGeom>
          <a:noFill/>
          <a:ln w="0">
            <a:noFill/>
            <a:prstDash val="solid"/>
          </a:ln>
        </p:spPr>
        <p:txBody>
          <a:bodyPr wrap="square" lIns="47625" tIns="19050" rIns="47625" bIns="19050" anchor="ctr">
            <a:normAutofit/>
          </a:bodyPr>
          <a:lstStyle/>
          <a:p>
            <a:pPr algn="ctr">
              <a:defRPr sz="1125" b="1">
                <a:solidFill>
                  <a:srgbClr val="3F3A38"/>
                </a:solidFill>
                <a:latin typeface="Noto Sans Hans"/>
                <a:ea typeface="Noto Sans Hans"/>
                <a:cs typeface="Noto Sans Hans"/>
              </a:defRPr>
            </a:pPr>
            <a:r>
              <a:rPr sz="1125" b="1">
                <a:solidFill>
                  <a:srgbClr val="3F3A38"/>
                </a:solidFill>
                <a:latin typeface="Noto Sans Hans"/>
                <a:ea typeface="Noto Sans Hans"/>
                <a:cs typeface="Noto Sans Hans"/>
              </a:rPr>
              <a:t>功能价值</a:t>
            </a:r>
            <a:endParaRPr sz="1125" b="1">
              <a:solidFill>
                <a:srgbClr val="3F3A38"/>
              </a:solidFill>
              <a:latin typeface="Noto Sans Hans"/>
              <a:ea typeface="Noto Sans Hans"/>
              <a:cs typeface="Noto Sans Hans"/>
            </a:endParaRPr>
          </a:p>
        </p:txBody>
      </p:sp>
      <p:sp>
        <p:nvSpPr>
          <p:cNvPr id="9" name="矩形 8"/>
          <p:cNvSpPr>
            <a:spLocks noGrp="1"/>
          </p:cNvSpPr>
          <p:nvPr/>
        </p:nvSpPr>
        <p:spPr>
          <a:xfrm>
            <a:off x="476250" y="1276350"/>
            <a:ext cx="1123950" cy="1162050"/>
          </a:xfrm>
          <a:prstGeom prst="rect">
            <a:avLst/>
          </a:prstGeom>
          <a:solidFill>
            <a:srgbClr val="982A32"/>
          </a:solidFill>
          <a:ln w="0">
            <a:noFill/>
            <a:prstDash val="solid"/>
          </a:ln>
        </p:spPr>
      </p:sp>
      <p:sp>
        <p:nvSpPr>
          <p:cNvPr id="10" name="矩形 9"/>
          <p:cNvSpPr>
            <a:spLocks noGrp="1"/>
          </p:cNvSpPr>
          <p:nvPr/>
        </p:nvSpPr>
        <p:spPr>
          <a:xfrm>
            <a:off x="533400" y="1323975"/>
            <a:ext cx="1009650" cy="36195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医疗康复</a:t>
            </a:r>
            <a:endParaRPr sz="1400" b="1">
              <a:solidFill>
                <a:srgbClr val="FFFFFF"/>
              </a:solidFill>
              <a:latin typeface="Noto Sans Hans"/>
              <a:ea typeface="Noto Sans Hans"/>
              <a:cs typeface="Noto Sans Hans"/>
            </a:endParaRPr>
          </a:p>
        </p:txBody>
      </p:sp>
      <p:sp>
        <p:nvSpPr>
          <p:cNvPr id="11" name="矩形 10"/>
          <p:cNvSpPr>
            <a:spLocks noGrp="1"/>
          </p:cNvSpPr>
          <p:nvPr/>
        </p:nvSpPr>
        <p:spPr>
          <a:xfrm>
            <a:off x="552450" y="1714500"/>
            <a:ext cx="971550" cy="628650"/>
          </a:xfrm>
          <a:prstGeom prst="rect">
            <a:avLst/>
          </a:prstGeom>
          <a:noFill/>
          <a:ln w="0">
            <a:noFill/>
            <a:prstDash val="solid"/>
          </a:ln>
        </p:spPr>
        <p:txBody>
          <a:bodyPr wrap="square" lIns="47625" tIns="19050" rIns="47625" bIns="19050" anchor="t">
            <a:normAutofit/>
          </a:bodyPr>
          <a:lstStyle/>
          <a:p>
            <a:pPr algn="ctr">
              <a:defRPr sz="865" b="0">
                <a:solidFill>
                  <a:srgbClr val="FFF4EF"/>
                </a:solidFill>
                <a:latin typeface="Noto Sans Hans"/>
                <a:ea typeface="Noto Sans Hans"/>
                <a:cs typeface="Noto Sans Hans"/>
              </a:defRPr>
            </a:pPr>
            <a:r>
              <a:rPr sz="970" b="0">
                <a:solidFill>
                  <a:srgbClr val="FFF4EF"/>
                </a:solidFill>
                <a:latin typeface="Noto Sans Hans"/>
                <a:ea typeface="Noto Sans Hans"/>
                <a:cs typeface="Noto Sans Hans"/>
              </a:rPr>
              <a:t>脑卒中、脊髓损伤、术后及行动障碍人群</a:t>
            </a:r>
            <a:endParaRPr sz="970" b="0">
              <a:solidFill>
                <a:srgbClr val="FFF4EF"/>
              </a:solidFill>
              <a:latin typeface="Noto Sans Hans"/>
              <a:ea typeface="Noto Sans Hans"/>
              <a:cs typeface="Noto Sans Hans"/>
            </a:endParaRPr>
          </a:p>
        </p:txBody>
      </p:sp>
      <p:sp>
        <p:nvSpPr>
          <p:cNvPr id="12" name="矩形 11"/>
          <p:cNvSpPr>
            <a:spLocks noGrp="1"/>
          </p:cNvSpPr>
          <p:nvPr/>
        </p:nvSpPr>
        <p:spPr>
          <a:xfrm>
            <a:off x="1638300" y="1276350"/>
            <a:ext cx="3143250" cy="1162050"/>
          </a:xfrm>
          <a:prstGeom prst="rect">
            <a:avLst/>
          </a:prstGeom>
          <a:solidFill>
            <a:srgbClr val="F5F2F0"/>
          </a:solidFill>
          <a:ln w="0">
            <a:noFill/>
            <a:prstDash val="solid"/>
          </a:ln>
        </p:spPr>
      </p:sp>
      <p:sp>
        <p:nvSpPr>
          <p:cNvPr id="13" name="圆角矩形 12"/>
          <p:cNvSpPr>
            <a:spLocks noGrp="1"/>
          </p:cNvSpPr>
          <p:nvPr/>
        </p:nvSpPr>
        <p:spPr>
          <a:xfrm>
            <a:off x="1752600" y="1419225"/>
            <a:ext cx="1343025" cy="361950"/>
          </a:xfrm>
          <a:prstGeom prst="roundRect">
            <a:avLst>
              <a:gd name="adj" fmla="val 5263"/>
            </a:avLst>
          </a:prstGeom>
          <a:solidFill>
            <a:srgbClr val="FFFFFF"/>
          </a:solidFill>
          <a:ln w="0">
            <a:noFill/>
            <a:prstDash val="solid"/>
          </a:ln>
        </p:spPr>
      </p:sp>
      <p:sp>
        <p:nvSpPr>
          <p:cNvPr id="14" name="矩形 13"/>
          <p:cNvSpPr>
            <a:spLocks noGrp="1"/>
          </p:cNvSpPr>
          <p:nvPr/>
        </p:nvSpPr>
        <p:spPr>
          <a:xfrm>
            <a:off x="1771650" y="14287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评估与训练</a:t>
            </a:r>
            <a:endParaRPr sz="1080" b="1">
              <a:solidFill>
                <a:srgbClr val="3F3A38"/>
              </a:solidFill>
              <a:latin typeface="Noto Sans Hans"/>
              <a:ea typeface="Noto Sans Hans"/>
              <a:cs typeface="Noto Sans Hans"/>
            </a:endParaRPr>
          </a:p>
        </p:txBody>
      </p:sp>
      <p:sp>
        <p:nvSpPr>
          <p:cNvPr id="15" name="圆角矩形 14"/>
          <p:cNvSpPr>
            <a:spLocks noGrp="1"/>
          </p:cNvSpPr>
          <p:nvPr/>
        </p:nvSpPr>
        <p:spPr>
          <a:xfrm>
            <a:off x="3209925" y="1419225"/>
            <a:ext cx="1343025" cy="361950"/>
          </a:xfrm>
          <a:prstGeom prst="roundRect">
            <a:avLst>
              <a:gd name="adj" fmla="val 5263"/>
            </a:avLst>
          </a:prstGeom>
          <a:solidFill>
            <a:srgbClr val="FFFFFF"/>
          </a:solidFill>
          <a:ln w="0">
            <a:noFill/>
            <a:prstDash val="solid"/>
          </a:ln>
        </p:spPr>
      </p:sp>
      <p:sp>
        <p:nvSpPr>
          <p:cNvPr id="16" name="矩形 15"/>
          <p:cNvSpPr>
            <a:spLocks noGrp="1"/>
          </p:cNvSpPr>
          <p:nvPr/>
        </p:nvSpPr>
        <p:spPr>
          <a:xfrm>
            <a:off x="3228975" y="14287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上/下肢康复</a:t>
            </a:r>
            <a:endParaRPr sz="1080" b="1">
              <a:solidFill>
                <a:srgbClr val="3F3A38"/>
              </a:solidFill>
              <a:latin typeface="Noto Sans Hans"/>
              <a:ea typeface="Noto Sans Hans"/>
              <a:cs typeface="Noto Sans Hans"/>
            </a:endParaRPr>
          </a:p>
        </p:txBody>
      </p:sp>
      <p:sp>
        <p:nvSpPr>
          <p:cNvPr id="17" name="圆角矩形 16"/>
          <p:cNvSpPr>
            <a:spLocks noGrp="1"/>
          </p:cNvSpPr>
          <p:nvPr/>
        </p:nvSpPr>
        <p:spPr>
          <a:xfrm>
            <a:off x="1752600" y="1866900"/>
            <a:ext cx="1343025" cy="361950"/>
          </a:xfrm>
          <a:prstGeom prst="roundRect">
            <a:avLst>
              <a:gd name="adj" fmla="val 5263"/>
            </a:avLst>
          </a:prstGeom>
          <a:solidFill>
            <a:srgbClr val="FFFFFF"/>
          </a:solidFill>
          <a:ln w="0">
            <a:noFill/>
            <a:prstDash val="solid"/>
          </a:ln>
        </p:spPr>
      </p:sp>
      <p:sp>
        <p:nvSpPr>
          <p:cNvPr id="18" name="矩形 17"/>
          <p:cNvSpPr>
            <a:spLocks noGrp="1"/>
          </p:cNvSpPr>
          <p:nvPr/>
        </p:nvSpPr>
        <p:spPr>
          <a:xfrm>
            <a:off x="1771650" y="18764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步态外骨骼</a:t>
            </a:r>
            <a:endParaRPr sz="1080" b="1">
              <a:solidFill>
                <a:srgbClr val="3F3A38"/>
              </a:solidFill>
              <a:latin typeface="Noto Sans Hans"/>
              <a:ea typeface="Noto Sans Hans"/>
              <a:cs typeface="Noto Sans Hans"/>
            </a:endParaRPr>
          </a:p>
        </p:txBody>
      </p:sp>
      <p:sp>
        <p:nvSpPr>
          <p:cNvPr id="19" name="圆角矩形 18"/>
          <p:cNvSpPr>
            <a:spLocks noGrp="1"/>
          </p:cNvSpPr>
          <p:nvPr/>
        </p:nvSpPr>
        <p:spPr>
          <a:xfrm>
            <a:off x="3209925" y="1866900"/>
            <a:ext cx="1343025" cy="361950"/>
          </a:xfrm>
          <a:prstGeom prst="roundRect">
            <a:avLst>
              <a:gd name="adj" fmla="val 5263"/>
            </a:avLst>
          </a:prstGeom>
          <a:solidFill>
            <a:srgbClr val="FFFFFF"/>
          </a:solidFill>
          <a:ln w="0">
            <a:noFill/>
            <a:prstDash val="solid"/>
          </a:ln>
        </p:spPr>
      </p:sp>
      <p:sp>
        <p:nvSpPr>
          <p:cNvPr id="20" name="矩形 19"/>
          <p:cNvSpPr>
            <a:spLocks noGrp="1"/>
          </p:cNvSpPr>
          <p:nvPr/>
        </p:nvSpPr>
        <p:spPr>
          <a:xfrm>
            <a:off x="3228975" y="18764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认知康复</a:t>
            </a:r>
            <a:endParaRPr sz="1080" b="1">
              <a:solidFill>
                <a:srgbClr val="3F3A38"/>
              </a:solidFill>
              <a:latin typeface="Noto Sans Hans"/>
              <a:ea typeface="Noto Sans Hans"/>
              <a:cs typeface="Noto Sans Hans"/>
            </a:endParaRPr>
          </a:p>
        </p:txBody>
      </p:sp>
      <p:sp>
        <p:nvSpPr>
          <p:cNvPr id="21" name="矩形 20"/>
          <p:cNvSpPr>
            <a:spLocks noGrp="1"/>
          </p:cNvSpPr>
          <p:nvPr/>
        </p:nvSpPr>
        <p:spPr>
          <a:xfrm>
            <a:off x="476250" y="2533650"/>
            <a:ext cx="1123950" cy="1162050"/>
          </a:xfrm>
          <a:prstGeom prst="rect">
            <a:avLst/>
          </a:prstGeom>
          <a:solidFill>
            <a:srgbClr val="C94A24"/>
          </a:solidFill>
          <a:ln w="0">
            <a:noFill/>
            <a:prstDash val="solid"/>
          </a:ln>
        </p:spPr>
      </p:sp>
      <p:sp>
        <p:nvSpPr>
          <p:cNvPr id="22" name="矩形 21"/>
          <p:cNvSpPr>
            <a:spLocks noGrp="1"/>
          </p:cNvSpPr>
          <p:nvPr/>
        </p:nvSpPr>
        <p:spPr>
          <a:xfrm>
            <a:off x="533400" y="2581275"/>
            <a:ext cx="1009650" cy="36195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机构照护</a:t>
            </a:r>
            <a:endParaRPr sz="1400" b="1">
              <a:solidFill>
                <a:srgbClr val="FFFFFF"/>
              </a:solidFill>
              <a:latin typeface="Noto Sans Hans"/>
              <a:ea typeface="Noto Sans Hans"/>
              <a:cs typeface="Noto Sans Hans"/>
            </a:endParaRPr>
          </a:p>
        </p:txBody>
      </p:sp>
      <p:sp>
        <p:nvSpPr>
          <p:cNvPr id="23" name="矩形 22"/>
          <p:cNvSpPr>
            <a:spLocks noGrp="1"/>
          </p:cNvSpPr>
          <p:nvPr/>
        </p:nvSpPr>
        <p:spPr>
          <a:xfrm>
            <a:off x="552450" y="2971800"/>
            <a:ext cx="971550" cy="628650"/>
          </a:xfrm>
          <a:prstGeom prst="rect">
            <a:avLst/>
          </a:prstGeom>
          <a:noFill/>
          <a:ln w="0">
            <a:noFill/>
            <a:prstDash val="solid"/>
          </a:ln>
        </p:spPr>
        <p:txBody>
          <a:bodyPr wrap="square" lIns="47625" tIns="19050" rIns="47625" bIns="19050" anchor="t">
            <a:normAutofit/>
          </a:bodyPr>
          <a:lstStyle/>
          <a:p>
            <a:pPr algn="ctr">
              <a:defRPr sz="865" b="0">
                <a:solidFill>
                  <a:srgbClr val="FFF4EF"/>
                </a:solidFill>
                <a:latin typeface="Noto Sans Hans"/>
                <a:ea typeface="Noto Sans Hans"/>
                <a:cs typeface="Noto Sans Hans"/>
              </a:defRPr>
            </a:pPr>
            <a:r>
              <a:rPr sz="970" b="0">
                <a:solidFill>
                  <a:srgbClr val="FFF4EF"/>
                </a:solidFill>
                <a:latin typeface="Noto Sans Hans"/>
                <a:ea typeface="Noto Sans Hans"/>
                <a:cs typeface="Noto Sans Hans"/>
              </a:rPr>
              <a:t>养老机构中的失能、半失能及高龄老人</a:t>
            </a:r>
            <a:endParaRPr sz="970" b="0">
              <a:solidFill>
                <a:srgbClr val="FFF4EF"/>
              </a:solidFill>
              <a:latin typeface="Noto Sans Hans"/>
              <a:ea typeface="Noto Sans Hans"/>
              <a:cs typeface="Noto Sans Hans"/>
            </a:endParaRPr>
          </a:p>
        </p:txBody>
      </p:sp>
      <p:sp>
        <p:nvSpPr>
          <p:cNvPr id="24" name="矩形 23"/>
          <p:cNvSpPr>
            <a:spLocks noGrp="1"/>
          </p:cNvSpPr>
          <p:nvPr/>
        </p:nvSpPr>
        <p:spPr>
          <a:xfrm>
            <a:off x="1638300" y="2533650"/>
            <a:ext cx="3143250" cy="1162050"/>
          </a:xfrm>
          <a:prstGeom prst="rect">
            <a:avLst/>
          </a:prstGeom>
          <a:solidFill>
            <a:srgbClr val="F5F2F0"/>
          </a:solidFill>
          <a:ln w="0">
            <a:noFill/>
            <a:prstDash val="solid"/>
          </a:ln>
        </p:spPr>
      </p:sp>
      <p:sp>
        <p:nvSpPr>
          <p:cNvPr id="25" name="圆角矩形 24"/>
          <p:cNvSpPr>
            <a:spLocks noGrp="1"/>
          </p:cNvSpPr>
          <p:nvPr/>
        </p:nvSpPr>
        <p:spPr>
          <a:xfrm>
            <a:off x="1752600" y="2676525"/>
            <a:ext cx="1343025" cy="361950"/>
          </a:xfrm>
          <a:prstGeom prst="roundRect">
            <a:avLst>
              <a:gd name="adj" fmla="val 5263"/>
            </a:avLst>
          </a:prstGeom>
          <a:solidFill>
            <a:srgbClr val="FFFFFF"/>
          </a:solidFill>
          <a:ln w="0">
            <a:noFill/>
            <a:prstDash val="solid"/>
          </a:ln>
        </p:spPr>
      </p:sp>
      <p:sp>
        <p:nvSpPr>
          <p:cNvPr id="26" name="矩形 25"/>
          <p:cNvSpPr>
            <a:spLocks noGrp="1"/>
          </p:cNvSpPr>
          <p:nvPr/>
        </p:nvSpPr>
        <p:spPr>
          <a:xfrm>
            <a:off x="1771650" y="26860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移乘转运</a:t>
            </a:r>
            <a:endParaRPr sz="1080" b="1">
              <a:solidFill>
                <a:srgbClr val="3F3A38"/>
              </a:solidFill>
              <a:latin typeface="Noto Sans Hans"/>
              <a:ea typeface="Noto Sans Hans"/>
              <a:cs typeface="Noto Sans Hans"/>
            </a:endParaRPr>
          </a:p>
        </p:txBody>
      </p:sp>
      <p:sp>
        <p:nvSpPr>
          <p:cNvPr id="27" name="圆角矩形 26"/>
          <p:cNvSpPr>
            <a:spLocks noGrp="1"/>
          </p:cNvSpPr>
          <p:nvPr/>
        </p:nvSpPr>
        <p:spPr>
          <a:xfrm>
            <a:off x="3209925" y="2676525"/>
            <a:ext cx="1343025" cy="361950"/>
          </a:xfrm>
          <a:prstGeom prst="roundRect">
            <a:avLst>
              <a:gd name="adj" fmla="val 5263"/>
            </a:avLst>
          </a:prstGeom>
          <a:solidFill>
            <a:srgbClr val="FFFFFF"/>
          </a:solidFill>
          <a:ln w="0">
            <a:noFill/>
            <a:prstDash val="solid"/>
          </a:ln>
        </p:spPr>
      </p:sp>
      <p:sp>
        <p:nvSpPr>
          <p:cNvPr id="28" name="矩形 27"/>
          <p:cNvSpPr>
            <a:spLocks noGrp="1"/>
          </p:cNvSpPr>
          <p:nvPr/>
        </p:nvSpPr>
        <p:spPr>
          <a:xfrm>
            <a:off x="3228975" y="26860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排泄护理</a:t>
            </a:r>
            <a:endParaRPr sz="1080" b="1">
              <a:solidFill>
                <a:srgbClr val="3F3A38"/>
              </a:solidFill>
              <a:latin typeface="Noto Sans Hans"/>
              <a:ea typeface="Noto Sans Hans"/>
              <a:cs typeface="Noto Sans Hans"/>
            </a:endParaRPr>
          </a:p>
        </p:txBody>
      </p:sp>
      <p:sp>
        <p:nvSpPr>
          <p:cNvPr id="29" name="圆角矩形 28"/>
          <p:cNvSpPr>
            <a:spLocks noGrp="1"/>
          </p:cNvSpPr>
          <p:nvPr/>
        </p:nvSpPr>
        <p:spPr>
          <a:xfrm>
            <a:off x="1752600" y="3124200"/>
            <a:ext cx="1343025" cy="361950"/>
          </a:xfrm>
          <a:prstGeom prst="roundRect">
            <a:avLst>
              <a:gd name="adj" fmla="val 5263"/>
            </a:avLst>
          </a:prstGeom>
          <a:solidFill>
            <a:srgbClr val="FFFFFF"/>
          </a:solidFill>
          <a:ln w="0">
            <a:noFill/>
            <a:prstDash val="solid"/>
          </a:ln>
        </p:spPr>
      </p:sp>
      <p:sp>
        <p:nvSpPr>
          <p:cNvPr id="30" name="矩形 29"/>
          <p:cNvSpPr>
            <a:spLocks noGrp="1"/>
          </p:cNvSpPr>
          <p:nvPr/>
        </p:nvSpPr>
        <p:spPr>
          <a:xfrm>
            <a:off x="1771650" y="31337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助浴/翻身</a:t>
            </a:r>
            <a:endParaRPr sz="1080" b="1">
              <a:solidFill>
                <a:srgbClr val="3F3A38"/>
              </a:solidFill>
              <a:latin typeface="Noto Sans Hans"/>
              <a:ea typeface="Noto Sans Hans"/>
              <a:cs typeface="Noto Sans Hans"/>
            </a:endParaRPr>
          </a:p>
        </p:txBody>
      </p:sp>
      <p:sp>
        <p:nvSpPr>
          <p:cNvPr id="31" name="圆角矩形 30"/>
          <p:cNvSpPr>
            <a:spLocks noGrp="1"/>
          </p:cNvSpPr>
          <p:nvPr/>
        </p:nvSpPr>
        <p:spPr>
          <a:xfrm>
            <a:off x="3209925" y="3124200"/>
            <a:ext cx="1343025" cy="361950"/>
          </a:xfrm>
          <a:prstGeom prst="roundRect">
            <a:avLst>
              <a:gd name="adj" fmla="val 5263"/>
            </a:avLst>
          </a:prstGeom>
          <a:solidFill>
            <a:srgbClr val="FFFFFF"/>
          </a:solidFill>
          <a:ln w="0">
            <a:noFill/>
            <a:prstDash val="solid"/>
          </a:ln>
        </p:spPr>
      </p:sp>
      <p:sp>
        <p:nvSpPr>
          <p:cNvPr id="32" name="矩形 31"/>
          <p:cNvSpPr>
            <a:spLocks noGrp="1"/>
          </p:cNvSpPr>
          <p:nvPr/>
        </p:nvSpPr>
        <p:spPr>
          <a:xfrm>
            <a:off x="3228975" y="31337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监测告警</a:t>
            </a:r>
            <a:endParaRPr sz="1080" b="1">
              <a:solidFill>
                <a:srgbClr val="3F3A38"/>
              </a:solidFill>
              <a:latin typeface="Noto Sans Hans"/>
              <a:ea typeface="Noto Sans Hans"/>
              <a:cs typeface="Noto Sans Hans"/>
            </a:endParaRPr>
          </a:p>
        </p:txBody>
      </p:sp>
      <p:sp>
        <p:nvSpPr>
          <p:cNvPr id="33" name="矩形 32"/>
          <p:cNvSpPr>
            <a:spLocks noGrp="1"/>
          </p:cNvSpPr>
          <p:nvPr/>
        </p:nvSpPr>
        <p:spPr>
          <a:xfrm>
            <a:off x="476250" y="3790950"/>
            <a:ext cx="1123950" cy="1162050"/>
          </a:xfrm>
          <a:prstGeom prst="rect">
            <a:avLst/>
          </a:prstGeom>
          <a:solidFill>
            <a:srgbClr val="D56F2A"/>
          </a:solidFill>
          <a:ln w="0">
            <a:noFill/>
            <a:prstDash val="solid"/>
          </a:ln>
        </p:spPr>
      </p:sp>
      <p:sp>
        <p:nvSpPr>
          <p:cNvPr id="34" name="矩形 33"/>
          <p:cNvSpPr>
            <a:spLocks noGrp="1"/>
          </p:cNvSpPr>
          <p:nvPr/>
        </p:nvSpPr>
        <p:spPr>
          <a:xfrm>
            <a:off x="533400" y="3838575"/>
            <a:ext cx="1009650" cy="36195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社区居家</a:t>
            </a:r>
            <a:endParaRPr sz="1400" b="1">
              <a:solidFill>
                <a:srgbClr val="FFFFFF"/>
              </a:solidFill>
              <a:latin typeface="Noto Sans Hans"/>
              <a:ea typeface="Noto Sans Hans"/>
              <a:cs typeface="Noto Sans Hans"/>
            </a:endParaRPr>
          </a:p>
        </p:txBody>
      </p:sp>
      <p:sp>
        <p:nvSpPr>
          <p:cNvPr id="35" name="矩形 34"/>
          <p:cNvSpPr>
            <a:spLocks noGrp="1"/>
          </p:cNvSpPr>
          <p:nvPr/>
        </p:nvSpPr>
        <p:spPr>
          <a:xfrm>
            <a:off x="552450" y="4229100"/>
            <a:ext cx="971550" cy="628650"/>
          </a:xfrm>
          <a:prstGeom prst="rect">
            <a:avLst/>
          </a:prstGeom>
          <a:noFill/>
          <a:ln w="0">
            <a:noFill/>
            <a:prstDash val="solid"/>
          </a:ln>
        </p:spPr>
        <p:txBody>
          <a:bodyPr wrap="square" lIns="47625" tIns="19050" rIns="47625" bIns="19050" anchor="t">
            <a:normAutofit/>
          </a:bodyPr>
          <a:lstStyle/>
          <a:p>
            <a:pPr algn="ctr">
              <a:defRPr sz="865" b="0">
                <a:solidFill>
                  <a:srgbClr val="FFF4EF"/>
                </a:solidFill>
                <a:latin typeface="Noto Sans Hans"/>
                <a:ea typeface="Noto Sans Hans"/>
                <a:cs typeface="Noto Sans Hans"/>
              </a:defRPr>
            </a:pPr>
            <a:r>
              <a:rPr sz="970" b="0">
                <a:solidFill>
                  <a:srgbClr val="FFF4EF"/>
                </a:solidFill>
                <a:latin typeface="Noto Sans Hans"/>
                <a:ea typeface="Noto Sans Hans"/>
                <a:cs typeface="Noto Sans Hans"/>
              </a:rPr>
              <a:t>独居、慢病、轻度失能及居家养老人群</a:t>
            </a:r>
            <a:endParaRPr sz="970" b="0">
              <a:solidFill>
                <a:srgbClr val="FFF4EF"/>
              </a:solidFill>
              <a:latin typeface="Noto Sans Hans"/>
              <a:ea typeface="Noto Sans Hans"/>
              <a:cs typeface="Noto Sans Hans"/>
            </a:endParaRPr>
          </a:p>
        </p:txBody>
      </p:sp>
      <p:sp>
        <p:nvSpPr>
          <p:cNvPr id="36" name="矩形 35"/>
          <p:cNvSpPr>
            <a:spLocks noGrp="1"/>
          </p:cNvSpPr>
          <p:nvPr/>
        </p:nvSpPr>
        <p:spPr>
          <a:xfrm>
            <a:off x="1638300" y="3790950"/>
            <a:ext cx="3143250" cy="1162050"/>
          </a:xfrm>
          <a:prstGeom prst="rect">
            <a:avLst/>
          </a:prstGeom>
          <a:solidFill>
            <a:srgbClr val="F5F2F0"/>
          </a:solidFill>
          <a:ln w="0">
            <a:noFill/>
            <a:prstDash val="solid"/>
          </a:ln>
        </p:spPr>
      </p:sp>
      <p:sp>
        <p:nvSpPr>
          <p:cNvPr id="37" name="圆角矩形 36"/>
          <p:cNvSpPr>
            <a:spLocks noGrp="1"/>
          </p:cNvSpPr>
          <p:nvPr/>
        </p:nvSpPr>
        <p:spPr>
          <a:xfrm>
            <a:off x="1752600" y="3933825"/>
            <a:ext cx="1343025" cy="361950"/>
          </a:xfrm>
          <a:prstGeom prst="roundRect">
            <a:avLst>
              <a:gd name="adj" fmla="val 5263"/>
            </a:avLst>
          </a:prstGeom>
          <a:solidFill>
            <a:srgbClr val="FFFFFF"/>
          </a:solidFill>
          <a:ln w="0">
            <a:noFill/>
            <a:prstDash val="solid"/>
          </a:ln>
        </p:spPr>
      </p:sp>
      <p:sp>
        <p:nvSpPr>
          <p:cNvPr id="38" name="矩形 37"/>
          <p:cNvSpPr>
            <a:spLocks noGrp="1"/>
          </p:cNvSpPr>
          <p:nvPr/>
        </p:nvSpPr>
        <p:spPr>
          <a:xfrm>
            <a:off x="1771650" y="39433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助行代步</a:t>
            </a:r>
            <a:endParaRPr sz="1080" b="1">
              <a:solidFill>
                <a:srgbClr val="3F3A38"/>
              </a:solidFill>
              <a:latin typeface="Noto Sans Hans"/>
              <a:ea typeface="Noto Sans Hans"/>
              <a:cs typeface="Noto Sans Hans"/>
            </a:endParaRPr>
          </a:p>
        </p:txBody>
      </p:sp>
      <p:sp>
        <p:nvSpPr>
          <p:cNvPr id="39" name="圆角矩形 38"/>
          <p:cNvSpPr>
            <a:spLocks noGrp="1"/>
          </p:cNvSpPr>
          <p:nvPr/>
        </p:nvSpPr>
        <p:spPr>
          <a:xfrm>
            <a:off x="3209925" y="3933825"/>
            <a:ext cx="1343025" cy="361950"/>
          </a:xfrm>
          <a:prstGeom prst="roundRect">
            <a:avLst>
              <a:gd name="adj" fmla="val 5263"/>
            </a:avLst>
          </a:prstGeom>
          <a:solidFill>
            <a:srgbClr val="FFFFFF"/>
          </a:solidFill>
          <a:ln w="0">
            <a:noFill/>
            <a:prstDash val="solid"/>
          </a:ln>
        </p:spPr>
      </p:sp>
      <p:sp>
        <p:nvSpPr>
          <p:cNvPr id="40" name="矩形 39"/>
          <p:cNvSpPr>
            <a:spLocks noGrp="1"/>
          </p:cNvSpPr>
          <p:nvPr/>
        </p:nvSpPr>
        <p:spPr>
          <a:xfrm>
            <a:off x="3228975" y="39433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跌倒监测</a:t>
            </a:r>
            <a:endParaRPr sz="1080" b="1">
              <a:solidFill>
                <a:srgbClr val="3F3A38"/>
              </a:solidFill>
              <a:latin typeface="Noto Sans Hans"/>
              <a:ea typeface="Noto Sans Hans"/>
              <a:cs typeface="Noto Sans Hans"/>
            </a:endParaRPr>
          </a:p>
        </p:txBody>
      </p:sp>
      <p:sp>
        <p:nvSpPr>
          <p:cNvPr id="41" name="圆角矩形 40"/>
          <p:cNvSpPr>
            <a:spLocks noGrp="1"/>
          </p:cNvSpPr>
          <p:nvPr/>
        </p:nvSpPr>
        <p:spPr>
          <a:xfrm>
            <a:off x="1752600" y="4381500"/>
            <a:ext cx="1343025" cy="361950"/>
          </a:xfrm>
          <a:prstGeom prst="roundRect">
            <a:avLst>
              <a:gd name="adj" fmla="val 5263"/>
            </a:avLst>
          </a:prstGeom>
          <a:solidFill>
            <a:srgbClr val="FFFFFF"/>
          </a:solidFill>
          <a:ln w="0">
            <a:noFill/>
            <a:prstDash val="solid"/>
          </a:ln>
        </p:spPr>
      </p:sp>
      <p:sp>
        <p:nvSpPr>
          <p:cNvPr id="42" name="矩形 41"/>
          <p:cNvSpPr>
            <a:spLocks noGrp="1"/>
          </p:cNvSpPr>
          <p:nvPr/>
        </p:nvSpPr>
        <p:spPr>
          <a:xfrm>
            <a:off x="1771650" y="43910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健康管理</a:t>
            </a:r>
            <a:endParaRPr sz="1080" b="1">
              <a:solidFill>
                <a:srgbClr val="3F3A38"/>
              </a:solidFill>
              <a:latin typeface="Noto Sans Hans"/>
              <a:ea typeface="Noto Sans Hans"/>
              <a:cs typeface="Noto Sans Hans"/>
            </a:endParaRPr>
          </a:p>
        </p:txBody>
      </p:sp>
      <p:sp>
        <p:nvSpPr>
          <p:cNvPr id="43" name="圆角矩形 42"/>
          <p:cNvSpPr>
            <a:spLocks noGrp="1"/>
          </p:cNvSpPr>
          <p:nvPr/>
        </p:nvSpPr>
        <p:spPr>
          <a:xfrm>
            <a:off x="3209925" y="4381500"/>
            <a:ext cx="1343025" cy="361950"/>
          </a:xfrm>
          <a:prstGeom prst="roundRect">
            <a:avLst>
              <a:gd name="adj" fmla="val 5263"/>
            </a:avLst>
          </a:prstGeom>
          <a:solidFill>
            <a:srgbClr val="FFFFFF"/>
          </a:solidFill>
          <a:ln w="0">
            <a:noFill/>
            <a:prstDash val="solid"/>
          </a:ln>
        </p:spPr>
      </p:sp>
      <p:sp>
        <p:nvSpPr>
          <p:cNvPr id="44" name="矩形 43"/>
          <p:cNvSpPr>
            <a:spLocks noGrp="1"/>
          </p:cNvSpPr>
          <p:nvPr/>
        </p:nvSpPr>
        <p:spPr>
          <a:xfrm>
            <a:off x="3228975" y="43910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远程康复</a:t>
            </a:r>
            <a:endParaRPr sz="1080" b="1">
              <a:solidFill>
                <a:srgbClr val="3F3A38"/>
              </a:solidFill>
              <a:latin typeface="Noto Sans Hans"/>
              <a:ea typeface="Noto Sans Hans"/>
              <a:cs typeface="Noto Sans Hans"/>
            </a:endParaRPr>
          </a:p>
        </p:txBody>
      </p:sp>
      <p:sp>
        <p:nvSpPr>
          <p:cNvPr id="45" name="矩形 44"/>
          <p:cNvSpPr>
            <a:spLocks noGrp="1"/>
          </p:cNvSpPr>
          <p:nvPr/>
        </p:nvSpPr>
        <p:spPr>
          <a:xfrm>
            <a:off x="476250" y="5048250"/>
            <a:ext cx="1123950" cy="1162050"/>
          </a:xfrm>
          <a:prstGeom prst="rect">
            <a:avLst/>
          </a:prstGeom>
          <a:solidFill>
            <a:srgbClr val="9B7100"/>
          </a:solidFill>
          <a:ln w="0">
            <a:noFill/>
            <a:prstDash val="solid"/>
          </a:ln>
        </p:spPr>
      </p:sp>
      <p:sp>
        <p:nvSpPr>
          <p:cNvPr id="46" name="矩形 45"/>
          <p:cNvSpPr>
            <a:spLocks noGrp="1"/>
          </p:cNvSpPr>
          <p:nvPr/>
        </p:nvSpPr>
        <p:spPr>
          <a:xfrm>
            <a:off x="533400" y="5095875"/>
            <a:ext cx="1009650" cy="36195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陪伴与运营</a:t>
            </a:r>
            <a:endParaRPr sz="1400" b="1">
              <a:solidFill>
                <a:srgbClr val="FFFFFF"/>
              </a:solidFill>
              <a:latin typeface="Noto Sans Hans"/>
              <a:ea typeface="Noto Sans Hans"/>
              <a:cs typeface="Noto Sans Hans"/>
            </a:endParaRPr>
          </a:p>
        </p:txBody>
      </p:sp>
      <p:sp>
        <p:nvSpPr>
          <p:cNvPr id="47" name="矩形 46"/>
          <p:cNvSpPr>
            <a:spLocks noGrp="1"/>
          </p:cNvSpPr>
          <p:nvPr/>
        </p:nvSpPr>
        <p:spPr>
          <a:xfrm>
            <a:off x="552450" y="5486400"/>
            <a:ext cx="971550" cy="628650"/>
          </a:xfrm>
          <a:prstGeom prst="rect">
            <a:avLst/>
          </a:prstGeom>
          <a:noFill/>
          <a:ln w="0">
            <a:noFill/>
            <a:prstDash val="solid"/>
          </a:ln>
        </p:spPr>
        <p:txBody>
          <a:bodyPr wrap="square" lIns="47625" tIns="19050" rIns="47625" bIns="19050" anchor="t">
            <a:normAutofit/>
          </a:bodyPr>
          <a:lstStyle/>
          <a:p>
            <a:pPr algn="ctr">
              <a:defRPr sz="865" b="0">
                <a:solidFill>
                  <a:srgbClr val="FFF4EF"/>
                </a:solidFill>
                <a:latin typeface="Noto Sans Hans"/>
                <a:ea typeface="Noto Sans Hans"/>
                <a:cs typeface="Noto Sans Hans"/>
              </a:defRPr>
            </a:pPr>
            <a:r>
              <a:rPr sz="970" b="0">
                <a:solidFill>
                  <a:srgbClr val="FFF4EF"/>
                </a:solidFill>
                <a:latin typeface="Noto Sans Hans"/>
                <a:ea typeface="Noto Sans Hans"/>
                <a:cs typeface="Noto Sans Hans"/>
              </a:rPr>
              <a:t>机构、社区及居家老人的情感与日常服务需求</a:t>
            </a:r>
            <a:endParaRPr sz="970" b="0">
              <a:solidFill>
                <a:srgbClr val="FFF4EF"/>
              </a:solidFill>
              <a:latin typeface="Noto Sans Hans"/>
              <a:ea typeface="Noto Sans Hans"/>
              <a:cs typeface="Noto Sans Hans"/>
            </a:endParaRPr>
          </a:p>
        </p:txBody>
      </p:sp>
      <p:sp>
        <p:nvSpPr>
          <p:cNvPr id="48" name="矩形 47"/>
          <p:cNvSpPr>
            <a:spLocks noGrp="1"/>
          </p:cNvSpPr>
          <p:nvPr/>
        </p:nvSpPr>
        <p:spPr>
          <a:xfrm>
            <a:off x="1638300" y="5048250"/>
            <a:ext cx="3143250" cy="1162050"/>
          </a:xfrm>
          <a:prstGeom prst="rect">
            <a:avLst/>
          </a:prstGeom>
          <a:solidFill>
            <a:srgbClr val="F5F2F0"/>
          </a:solidFill>
          <a:ln w="0">
            <a:noFill/>
            <a:prstDash val="solid"/>
          </a:ln>
        </p:spPr>
      </p:sp>
      <p:sp>
        <p:nvSpPr>
          <p:cNvPr id="49" name="圆角矩形 48"/>
          <p:cNvSpPr>
            <a:spLocks noGrp="1"/>
          </p:cNvSpPr>
          <p:nvPr/>
        </p:nvSpPr>
        <p:spPr>
          <a:xfrm>
            <a:off x="1752600" y="5191125"/>
            <a:ext cx="1343025" cy="361950"/>
          </a:xfrm>
          <a:prstGeom prst="roundRect">
            <a:avLst>
              <a:gd name="adj" fmla="val 5263"/>
            </a:avLst>
          </a:prstGeom>
          <a:solidFill>
            <a:srgbClr val="FFFFFF"/>
          </a:solidFill>
          <a:ln w="0">
            <a:noFill/>
            <a:prstDash val="solid"/>
          </a:ln>
        </p:spPr>
      </p:sp>
      <p:sp>
        <p:nvSpPr>
          <p:cNvPr id="50" name="矩形 49"/>
          <p:cNvSpPr>
            <a:spLocks noGrp="1"/>
          </p:cNvSpPr>
          <p:nvPr/>
        </p:nvSpPr>
        <p:spPr>
          <a:xfrm>
            <a:off x="1771650" y="52006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陪伴认知</a:t>
            </a:r>
            <a:endParaRPr sz="1080" b="1">
              <a:solidFill>
                <a:srgbClr val="3F3A38"/>
              </a:solidFill>
              <a:latin typeface="Noto Sans Hans"/>
              <a:ea typeface="Noto Sans Hans"/>
              <a:cs typeface="Noto Sans Hans"/>
            </a:endParaRPr>
          </a:p>
        </p:txBody>
      </p:sp>
      <p:sp>
        <p:nvSpPr>
          <p:cNvPr id="51" name="圆角矩形 50"/>
          <p:cNvSpPr>
            <a:spLocks noGrp="1"/>
          </p:cNvSpPr>
          <p:nvPr/>
        </p:nvSpPr>
        <p:spPr>
          <a:xfrm>
            <a:off x="3209925" y="5191125"/>
            <a:ext cx="1343025" cy="361950"/>
          </a:xfrm>
          <a:prstGeom prst="roundRect">
            <a:avLst>
              <a:gd name="adj" fmla="val 5263"/>
            </a:avLst>
          </a:prstGeom>
          <a:solidFill>
            <a:srgbClr val="FFFFFF"/>
          </a:solidFill>
          <a:ln w="0">
            <a:noFill/>
            <a:prstDash val="solid"/>
          </a:ln>
        </p:spPr>
      </p:sp>
      <p:sp>
        <p:nvSpPr>
          <p:cNvPr id="52" name="矩形 51"/>
          <p:cNvSpPr>
            <a:spLocks noGrp="1"/>
          </p:cNvSpPr>
          <p:nvPr/>
        </p:nvSpPr>
        <p:spPr>
          <a:xfrm>
            <a:off x="3228975" y="5200650"/>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配送清洁</a:t>
            </a:r>
            <a:endParaRPr sz="1080" b="1">
              <a:solidFill>
                <a:srgbClr val="3F3A38"/>
              </a:solidFill>
              <a:latin typeface="Noto Sans Hans"/>
              <a:ea typeface="Noto Sans Hans"/>
              <a:cs typeface="Noto Sans Hans"/>
            </a:endParaRPr>
          </a:p>
        </p:txBody>
      </p:sp>
      <p:sp>
        <p:nvSpPr>
          <p:cNvPr id="53" name="圆角矩形 52"/>
          <p:cNvSpPr>
            <a:spLocks noGrp="1"/>
          </p:cNvSpPr>
          <p:nvPr/>
        </p:nvSpPr>
        <p:spPr>
          <a:xfrm>
            <a:off x="1752600" y="5638800"/>
            <a:ext cx="1343025" cy="361950"/>
          </a:xfrm>
          <a:prstGeom prst="roundRect">
            <a:avLst>
              <a:gd name="adj" fmla="val 5263"/>
            </a:avLst>
          </a:prstGeom>
          <a:solidFill>
            <a:srgbClr val="FFFFFF"/>
          </a:solidFill>
          <a:ln w="0">
            <a:noFill/>
            <a:prstDash val="solid"/>
          </a:ln>
        </p:spPr>
      </p:sp>
      <p:sp>
        <p:nvSpPr>
          <p:cNvPr id="54" name="矩形 53"/>
          <p:cNvSpPr>
            <a:spLocks noGrp="1"/>
          </p:cNvSpPr>
          <p:nvPr/>
        </p:nvSpPr>
        <p:spPr>
          <a:xfrm>
            <a:off x="1771650" y="56483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巡检导览</a:t>
            </a:r>
            <a:endParaRPr sz="1080" b="1">
              <a:solidFill>
                <a:srgbClr val="3F3A38"/>
              </a:solidFill>
              <a:latin typeface="Noto Sans Hans"/>
              <a:ea typeface="Noto Sans Hans"/>
              <a:cs typeface="Noto Sans Hans"/>
            </a:endParaRPr>
          </a:p>
        </p:txBody>
      </p:sp>
      <p:sp>
        <p:nvSpPr>
          <p:cNvPr id="55" name="圆角矩形 54"/>
          <p:cNvSpPr>
            <a:spLocks noGrp="1"/>
          </p:cNvSpPr>
          <p:nvPr/>
        </p:nvSpPr>
        <p:spPr>
          <a:xfrm>
            <a:off x="3209925" y="5638800"/>
            <a:ext cx="1343025" cy="361950"/>
          </a:xfrm>
          <a:prstGeom prst="roundRect">
            <a:avLst>
              <a:gd name="adj" fmla="val 5263"/>
            </a:avLst>
          </a:prstGeom>
          <a:solidFill>
            <a:srgbClr val="FFFFFF"/>
          </a:solidFill>
          <a:ln w="0">
            <a:noFill/>
            <a:prstDash val="solid"/>
          </a:ln>
        </p:spPr>
      </p:sp>
      <p:sp>
        <p:nvSpPr>
          <p:cNvPr id="56" name="矩形 55"/>
          <p:cNvSpPr>
            <a:spLocks noGrp="1"/>
          </p:cNvSpPr>
          <p:nvPr/>
        </p:nvSpPr>
        <p:spPr>
          <a:xfrm>
            <a:off x="3228975" y="5648325"/>
            <a:ext cx="1304925" cy="342900"/>
          </a:xfrm>
          <a:prstGeom prst="rect">
            <a:avLst/>
          </a:prstGeom>
          <a:noFill/>
          <a:ln w="0">
            <a:noFill/>
            <a:prstDash val="solid"/>
          </a:ln>
        </p:spPr>
        <p:txBody>
          <a:bodyPr wrap="square" lIns="47625" tIns="19050" rIns="47625" bIns="19050" anchor="ctr">
            <a:normAutofit/>
          </a:bodyPr>
          <a:lstStyle/>
          <a:p>
            <a:pPr algn="ctr">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服务平台</a:t>
            </a:r>
            <a:endParaRPr sz="1080" b="1">
              <a:solidFill>
                <a:srgbClr val="3F3A38"/>
              </a:solidFill>
              <a:latin typeface="Noto Sans Hans"/>
              <a:ea typeface="Noto Sans Hans"/>
              <a:cs typeface="Noto Sans Hans"/>
            </a:endParaRPr>
          </a:p>
        </p:txBody>
      </p:sp>
      <p:sp>
        <p:nvSpPr>
          <p:cNvPr id="57" name="圆角矩形 56"/>
          <p:cNvSpPr>
            <a:spLocks noGrp="1"/>
          </p:cNvSpPr>
          <p:nvPr/>
        </p:nvSpPr>
        <p:spPr>
          <a:xfrm>
            <a:off x="5048250" y="1381125"/>
            <a:ext cx="2952750" cy="1238250"/>
          </a:xfrm>
          <a:prstGeom prst="roundRect">
            <a:avLst>
              <a:gd name="adj" fmla="val 1538"/>
            </a:avLst>
          </a:prstGeom>
          <a:solidFill>
            <a:srgbClr val="F9E8E7"/>
          </a:solidFill>
          <a:ln w="9525">
            <a:solidFill>
              <a:srgbClr val="EEC5C3"/>
            </a:solidFill>
            <a:prstDash val="solid"/>
          </a:ln>
        </p:spPr>
      </p:sp>
      <p:sp>
        <p:nvSpPr>
          <p:cNvPr id="58" name="矩形 57"/>
          <p:cNvSpPr>
            <a:spLocks noGrp="1"/>
          </p:cNvSpPr>
          <p:nvPr/>
        </p:nvSpPr>
        <p:spPr>
          <a:xfrm>
            <a:off x="5191125" y="1476375"/>
            <a:ext cx="2667000" cy="266700"/>
          </a:xfrm>
          <a:prstGeom prst="rect">
            <a:avLst/>
          </a:prstGeom>
          <a:noFill/>
          <a:ln w="0">
            <a:noFill/>
            <a:prstDash val="solid"/>
          </a:ln>
        </p:spPr>
        <p:txBody>
          <a:bodyPr wrap="square" lIns="47625" tIns="19050" rIns="47625" bIns="19050" anchor="ctr">
            <a:normAutofit/>
          </a:bodyPr>
          <a:lstStyle/>
          <a:p>
            <a:pPr algn="l">
              <a:defRPr sz="1125"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形态1｜单品设备</a:t>
            </a:r>
            <a:endParaRPr sz="1200" b="1">
              <a:solidFill>
                <a:srgbClr val="CF0712"/>
              </a:solidFill>
              <a:latin typeface="Noto Sans Hans"/>
              <a:ea typeface="Noto Sans Hans"/>
              <a:cs typeface="Noto Sans Hans"/>
            </a:endParaRPr>
          </a:p>
        </p:txBody>
      </p:sp>
      <p:sp>
        <p:nvSpPr>
          <p:cNvPr id="59" name="矩形 58"/>
          <p:cNvSpPr>
            <a:spLocks noGrp="1"/>
          </p:cNvSpPr>
          <p:nvPr/>
        </p:nvSpPr>
        <p:spPr>
          <a:xfrm>
            <a:off x="5191125" y="1790700"/>
            <a:ext cx="2667000" cy="457200"/>
          </a:xfrm>
          <a:prstGeom prst="rect">
            <a:avLst/>
          </a:prstGeom>
          <a:noFill/>
          <a:ln w="0">
            <a:noFill/>
            <a:prstDash val="solid"/>
          </a:ln>
        </p:spPr>
        <p:txBody>
          <a:bodyPr wrap="square" lIns="47625" tIns="19050" rIns="47625" bIns="19050" anchor="t"/>
          <a:lstStyle/>
          <a:p>
            <a:pPr algn="l" eaLnBrk="1" fontAlgn="auto" latinLnBrk="0" hangingPunct="1">
              <a:lnSpc>
                <a:spcPct val="120000"/>
              </a:lnSpc>
              <a:defRPr sz="975" b="0">
                <a:solidFill>
                  <a:srgbClr val="3F3A38"/>
                </a:solidFill>
                <a:latin typeface="Noto Sans Hans"/>
                <a:ea typeface="Noto Sans Hans"/>
                <a:cs typeface="Noto Sans Hans"/>
              </a:defRPr>
            </a:pPr>
            <a:r>
              <a:rPr sz="1200" b="0">
                <a:solidFill>
                  <a:srgbClr val="3F3A38"/>
                </a:solidFill>
                <a:latin typeface="Noto Sans Hans"/>
                <a:ea typeface="Noto Sans Hans"/>
                <a:cs typeface="Noto Sans Hans"/>
              </a:rPr>
              <a:t>• 独立完成康复、移乘、清洁、监测等单一任务；采购和验收边界最清晰。</a:t>
            </a:r>
            <a:endParaRPr sz="1200" b="0">
              <a:solidFill>
                <a:srgbClr val="3F3A38"/>
              </a:solidFill>
              <a:latin typeface="Noto Sans Hans"/>
              <a:ea typeface="Noto Sans Hans"/>
              <a:cs typeface="Noto Sans Hans"/>
            </a:endParaRPr>
          </a:p>
        </p:txBody>
      </p:sp>
      <p:sp>
        <p:nvSpPr>
          <p:cNvPr id="60" name="矩形 59"/>
          <p:cNvSpPr>
            <a:spLocks noGrp="1"/>
          </p:cNvSpPr>
          <p:nvPr/>
        </p:nvSpPr>
        <p:spPr>
          <a:xfrm>
            <a:off x="5191125" y="2305050"/>
            <a:ext cx="2667000" cy="228600"/>
          </a:xfrm>
          <a:prstGeom prst="rect">
            <a:avLst/>
          </a:prstGeom>
          <a:noFill/>
          <a:ln w="0">
            <a:noFill/>
            <a:prstDash val="solid"/>
          </a:ln>
        </p:spPr>
        <p:txBody>
          <a:bodyPr wrap="square" lIns="47625" tIns="19050" rIns="47625" bIns="19050" anchor="ctr">
            <a:normAutofit/>
          </a:bodyPr>
          <a:lstStyle/>
          <a:p>
            <a:pPr algn="ctr">
              <a:defRPr sz="865" b="1">
                <a:solidFill>
                  <a:srgbClr val="C94A24"/>
                </a:solidFill>
                <a:latin typeface="Noto Sans Hans"/>
                <a:ea typeface="Noto Sans Hans"/>
                <a:cs typeface="Noto Sans Hans"/>
              </a:defRPr>
            </a:pPr>
            <a:r>
              <a:rPr sz="970" b="1">
                <a:solidFill>
                  <a:srgbClr val="C94A24"/>
                </a:solidFill>
                <a:latin typeface="Noto Sans Hans"/>
                <a:ea typeface="Noto Sans Hans"/>
                <a:cs typeface="Noto Sans Hans"/>
              </a:rPr>
              <a:t>外骨骼｜护理机｜配送机</a:t>
            </a:r>
            <a:endParaRPr sz="970" b="1">
              <a:solidFill>
                <a:srgbClr val="C94A24"/>
              </a:solidFill>
              <a:latin typeface="Noto Sans Hans"/>
              <a:ea typeface="Noto Sans Hans"/>
              <a:cs typeface="Noto Sans Hans"/>
            </a:endParaRPr>
          </a:p>
        </p:txBody>
      </p:sp>
      <p:sp>
        <p:nvSpPr>
          <p:cNvPr id="61" name="圆角矩形 60"/>
          <p:cNvSpPr>
            <a:spLocks noGrp="1"/>
          </p:cNvSpPr>
          <p:nvPr/>
        </p:nvSpPr>
        <p:spPr>
          <a:xfrm>
            <a:off x="5048250" y="2857500"/>
            <a:ext cx="2952750" cy="1381125"/>
          </a:xfrm>
          <a:prstGeom prst="roundRect">
            <a:avLst>
              <a:gd name="adj" fmla="val 1379"/>
            </a:avLst>
          </a:prstGeom>
          <a:solidFill>
            <a:srgbClr val="F9E8E7"/>
          </a:solidFill>
          <a:ln w="9525">
            <a:solidFill>
              <a:srgbClr val="EEC5C3"/>
            </a:solidFill>
            <a:prstDash val="solid"/>
          </a:ln>
        </p:spPr>
      </p:sp>
      <p:sp>
        <p:nvSpPr>
          <p:cNvPr id="62" name="矩形 61"/>
          <p:cNvSpPr>
            <a:spLocks noGrp="1"/>
          </p:cNvSpPr>
          <p:nvPr/>
        </p:nvSpPr>
        <p:spPr>
          <a:xfrm>
            <a:off x="5191125" y="2952750"/>
            <a:ext cx="2667000" cy="266700"/>
          </a:xfrm>
          <a:prstGeom prst="rect">
            <a:avLst/>
          </a:prstGeom>
          <a:noFill/>
          <a:ln w="0">
            <a:noFill/>
            <a:prstDash val="solid"/>
          </a:ln>
        </p:spPr>
        <p:txBody>
          <a:bodyPr wrap="square" lIns="47625" tIns="19050" rIns="47625" bIns="19050" anchor="ctr">
            <a:normAutofit/>
          </a:bodyPr>
          <a:lstStyle/>
          <a:p>
            <a:pPr algn="l">
              <a:defRPr sz="1125"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形态2｜场景解决方案</a:t>
            </a:r>
            <a:endParaRPr sz="1200" b="1">
              <a:solidFill>
                <a:srgbClr val="CF0712"/>
              </a:solidFill>
              <a:latin typeface="Noto Sans Hans"/>
              <a:ea typeface="Noto Sans Hans"/>
              <a:cs typeface="Noto Sans Hans"/>
            </a:endParaRPr>
          </a:p>
        </p:txBody>
      </p:sp>
      <p:sp>
        <p:nvSpPr>
          <p:cNvPr id="63" name="矩形 62"/>
          <p:cNvSpPr>
            <a:spLocks noGrp="1"/>
          </p:cNvSpPr>
          <p:nvPr/>
        </p:nvSpPr>
        <p:spPr>
          <a:xfrm>
            <a:off x="5191125" y="3267075"/>
            <a:ext cx="2667000" cy="6000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75" b="0">
                <a:solidFill>
                  <a:srgbClr val="3F3A38"/>
                </a:solidFill>
                <a:latin typeface="Noto Sans Hans"/>
                <a:ea typeface="Noto Sans Hans"/>
                <a:cs typeface="Noto Sans Hans"/>
              </a:defRPr>
            </a:pPr>
            <a:r>
              <a:rPr sz="1200" b="0">
                <a:solidFill>
                  <a:srgbClr val="3F3A38"/>
                </a:solidFill>
                <a:latin typeface="Noto Sans Hans"/>
                <a:ea typeface="Noto Sans Hans"/>
                <a:cs typeface="Noto Sans Hans"/>
              </a:rPr>
              <a:t>• 多设备接入机构流程，与电梯、门禁、护理站和健康档案协同。</a:t>
            </a:r>
            <a:endParaRPr sz="1200" b="0">
              <a:solidFill>
                <a:srgbClr val="3F3A38"/>
              </a:solidFill>
              <a:latin typeface="Noto Sans Hans"/>
              <a:ea typeface="Noto Sans Hans"/>
              <a:cs typeface="Noto Sans Hans"/>
            </a:endParaRPr>
          </a:p>
        </p:txBody>
      </p:sp>
      <p:sp>
        <p:nvSpPr>
          <p:cNvPr id="64" name="矩形 63"/>
          <p:cNvSpPr>
            <a:spLocks noGrp="1"/>
          </p:cNvSpPr>
          <p:nvPr/>
        </p:nvSpPr>
        <p:spPr>
          <a:xfrm>
            <a:off x="5191125" y="3924300"/>
            <a:ext cx="2667000" cy="228600"/>
          </a:xfrm>
          <a:prstGeom prst="rect">
            <a:avLst/>
          </a:prstGeom>
          <a:noFill/>
          <a:ln w="0">
            <a:noFill/>
            <a:prstDash val="solid"/>
          </a:ln>
        </p:spPr>
        <p:txBody>
          <a:bodyPr wrap="square" lIns="47625" tIns="19050" rIns="47625" bIns="19050" anchor="ctr">
            <a:normAutofit/>
          </a:bodyPr>
          <a:lstStyle/>
          <a:p>
            <a:pPr algn="ctr">
              <a:defRPr sz="865" b="1">
                <a:solidFill>
                  <a:srgbClr val="C94A24"/>
                </a:solidFill>
                <a:latin typeface="Noto Sans Hans"/>
                <a:ea typeface="Noto Sans Hans"/>
                <a:cs typeface="Noto Sans Hans"/>
              </a:defRPr>
            </a:pPr>
            <a:r>
              <a:rPr sz="970" b="1">
                <a:solidFill>
                  <a:srgbClr val="C94A24"/>
                </a:solidFill>
                <a:latin typeface="Noto Sans Hans"/>
                <a:ea typeface="Noto Sans Hans"/>
                <a:cs typeface="Noto Sans Hans"/>
              </a:rPr>
              <a:t>康复港｜智慧病区｜多机协同</a:t>
            </a:r>
            <a:endParaRPr sz="970" b="1">
              <a:solidFill>
                <a:srgbClr val="C94A24"/>
              </a:solidFill>
              <a:latin typeface="Noto Sans Hans"/>
              <a:ea typeface="Noto Sans Hans"/>
              <a:cs typeface="Noto Sans Hans"/>
            </a:endParaRPr>
          </a:p>
        </p:txBody>
      </p:sp>
      <p:sp>
        <p:nvSpPr>
          <p:cNvPr id="65" name="圆角矩形 64"/>
          <p:cNvSpPr>
            <a:spLocks noGrp="1"/>
          </p:cNvSpPr>
          <p:nvPr/>
        </p:nvSpPr>
        <p:spPr>
          <a:xfrm>
            <a:off x="5048250" y="4476750"/>
            <a:ext cx="2952750" cy="1571625"/>
          </a:xfrm>
          <a:prstGeom prst="roundRect">
            <a:avLst>
              <a:gd name="adj" fmla="val 1212"/>
            </a:avLst>
          </a:prstGeom>
          <a:solidFill>
            <a:srgbClr val="F9E8E7"/>
          </a:solidFill>
          <a:ln w="9525">
            <a:solidFill>
              <a:srgbClr val="EEC5C3"/>
            </a:solidFill>
            <a:prstDash val="solid"/>
          </a:ln>
        </p:spPr>
      </p:sp>
      <p:sp>
        <p:nvSpPr>
          <p:cNvPr id="66" name="矩形 65"/>
          <p:cNvSpPr>
            <a:spLocks noGrp="1"/>
          </p:cNvSpPr>
          <p:nvPr/>
        </p:nvSpPr>
        <p:spPr>
          <a:xfrm>
            <a:off x="5191125" y="4572000"/>
            <a:ext cx="2667000" cy="266700"/>
          </a:xfrm>
          <a:prstGeom prst="rect">
            <a:avLst/>
          </a:prstGeom>
          <a:noFill/>
          <a:ln w="0">
            <a:noFill/>
            <a:prstDash val="solid"/>
          </a:ln>
        </p:spPr>
        <p:txBody>
          <a:bodyPr wrap="square" lIns="47625" tIns="19050" rIns="47625" bIns="19050" anchor="ctr">
            <a:normAutofit/>
          </a:bodyPr>
          <a:lstStyle/>
          <a:p>
            <a:pPr algn="l">
              <a:defRPr sz="1125"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形态3｜平台 + 运营服务</a:t>
            </a:r>
            <a:endParaRPr sz="1200" b="1">
              <a:solidFill>
                <a:srgbClr val="CF0712"/>
              </a:solidFill>
              <a:latin typeface="Noto Sans Hans"/>
              <a:ea typeface="Noto Sans Hans"/>
              <a:cs typeface="Noto Sans Hans"/>
            </a:endParaRPr>
          </a:p>
        </p:txBody>
      </p:sp>
      <p:sp>
        <p:nvSpPr>
          <p:cNvPr id="67" name="矩形 66"/>
          <p:cNvSpPr>
            <a:spLocks noGrp="1"/>
          </p:cNvSpPr>
          <p:nvPr/>
        </p:nvSpPr>
        <p:spPr>
          <a:xfrm>
            <a:off x="5191125" y="4886325"/>
            <a:ext cx="2667000" cy="7905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75" b="0">
                <a:solidFill>
                  <a:srgbClr val="3F3A38"/>
                </a:solidFill>
                <a:latin typeface="Noto Sans Hans"/>
                <a:ea typeface="Noto Sans Hans"/>
                <a:cs typeface="Noto Sans Hans"/>
              </a:defRPr>
            </a:pPr>
            <a:r>
              <a:rPr sz="1200" b="0">
                <a:solidFill>
                  <a:srgbClr val="3F3A38"/>
                </a:solidFill>
                <a:latin typeface="Noto Sans Hans"/>
                <a:ea typeface="Noto Sans Hans"/>
                <a:cs typeface="Noto Sans Hans"/>
              </a:rPr>
              <a:t>• 通过远程运维、工单、数据和订阅服务形成持续收入，降低一次性采购门槛。</a:t>
            </a:r>
            <a:endParaRPr sz="1200" b="0">
              <a:solidFill>
                <a:srgbClr val="3F3A38"/>
              </a:solidFill>
              <a:latin typeface="Noto Sans Hans"/>
              <a:ea typeface="Noto Sans Hans"/>
              <a:cs typeface="Noto Sans Hans"/>
            </a:endParaRPr>
          </a:p>
        </p:txBody>
      </p:sp>
      <p:sp>
        <p:nvSpPr>
          <p:cNvPr id="68" name="矩形 67"/>
          <p:cNvSpPr>
            <a:spLocks noGrp="1"/>
          </p:cNvSpPr>
          <p:nvPr/>
        </p:nvSpPr>
        <p:spPr>
          <a:xfrm>
            <a:off x="5191125" y="5734050"/>
            <a:ext cx="2667000" cy="228600"/>
          </a:xfrm>
          <a:prstGeom prst="rect">
            <a:avLst/>
          </a:prstGeom>
          <a:noFill/>
          <a:ln w="0">
            <a:noFill/>
            <a:prstDash val="solid"/>
          </a:ln>
        </p:spPr>
        <p:txBody>
          <a:bodyPr wrap="square" lIns="47625" tIns="19050" rIns="47625" bIns="19050" anchor="ctr">
            <a:normAutofit/>
          </a:bodyPr>
          <a:lstStyle/>
          <a:p>
            <a:pPr algn="ctr">
              <a:defRPr sz="865" b="1">
                <a:solidFill>
                  <a:srgbClr val="C94A24"/>
                </a:solidFill>
                <a:latin typeface="Noto Sans Hans"/>
                <a:ea typeface="Noto Sans Hans"/>
                <a:cs typeface="Noto Sans Hans"/>
              </a:defRPr>
            </a:pPr>
            <a:r>
              <a:rPr sz="970" b="1">
                <a:solidFill>
                  <a:srgbClr val="C94A24"/>
                </a:solidFill>
                <a:latin typeface="Noto Sans Hans"/>
                <a:ea typeface="Noto Sans Hans"/>
                <a:cs typeface="Noto Sans Hans"/>
              </a:rPr>
              <a:t>RaaS｜租赁｜按床/按次付费</a:t>
            </a:r>
            <a:endParaRPr sz="970" b="1">
              <a:solidFill>
                <a:srgbClr val="C94A24"/>
              </a:solidFill>
              <a:latin typeface="Noto Sans Hans"/>
              <a:ea typeface="Noto Sans Hans"/>
              <a:cs typeface="Noto Sans Hans"/>
            </a:endParaRPr>
          </a:p>
        </p:txBody>
      </p:sp>
      <p:sp>
        <p:nvSpPr>
          <p:cNvPr id="69" name="矩形 68"/>
          <p:cNvSpPr>
            <a:spLocks noGrp="1"/>
          </p:cNvSpPr>
          <p:nvPr/>
        </p:nvSpPr>
        <p:spPr>
          <a:xfrm>
            <a:off x="5029200" y="6115050"/>
            <a:ext cx="3000375" cy="219075"/>
          </a:xfrm>
          <a:prstGeom prst="rect">
            <a:avLst/>
          </a:prstGeom>
          <a:noFill/>
          <a:ln w="0">
            <a:noFill/>
            <a:prstDash val="solid"/>
          </a:ln>
        </p:spPr>
        <p:txBody>
          <a:bodyPr wrap="square" lIns="47625" tIns="19050" rIns="47625" bIns="19050" anchor="ctr">
            <a:normAutofit/>
          </a:bodyPr>
          <a:lstStyle/>
          <a:p>
            <a:pPr algn="ctr">
              <a:defRPr sz="900" b="1">
                <a:solidFill>
                  <a:srgbClr val="CF0712"/>
                </a:solidFill>
                <a:latin typeface="Noto Sans Hans"/>
                <a:ea typeface="Noto Sans Hans"/>
                <a:cs typeface="Noto Sans Hans"/>
              </a:defRPr>
            </a:pPr>
            <a:r>
              <a:rPr sz="1000" b="1">
                <a:solidFill>
                  <a:srgbClr val="CF0712"/>
                </a:solidFill>
                <a:latin typeface="Noto Sans Hans"/>
                <a:ea typeface="Noto Sans Hans"/>
                <a:cs typeface="Noto Sans Hans"/>
              </a:rPr>
              <a:t>由“交付设备”向“运营结果”升级</a:t>
            </a:r>
            <a:endParaRPr sz="1000" b="1">
              <a:solidFill>
                <a:srgbClr val="CF0712"/>
              </a:solidFill>
              <a:latin typeface="Noto Sans Hans"/>
              <a:ea typeface="Noto Sans Hans"/>
              <a:cs typeface="Noto Sans Hans"/>
            </a:endParaRPr>
          </a:p>
        </p:txBody>
      </p:sp>
      <p:sp>
        <p:nvSpPr>
          <p:cNvPr id="70" name="矩形 69"/>
          <p:cNvSpPr>
            <a:spLocks noGrp="1"/>
          </p:cNvSpPr>
          <p:nvPr/>
        </p:nvSpPr>
        <p:spPr>
          <a:xfrm>
            <a:off x="8229600" y="1314450"/>
            <a:ext cx="3486150" cy="1466850"/>
          </a:xfrm>
          <a:prstGeom prst="rect">
            <a:avLst/>
          </a:prstGeom>
          <a:solidFill>
            <a:srgbClr val="F9E8E7"/>
          </a:solidFill>
          <a:ln w="0">
            <a:noFill/>
            <a:prstDash val="solid"/>
          </a:ln>
        </p:spPr>
      </p:sp>
      <p:sp>
        <p:nvSpPr>
          <p:cNvPr id="71" name="矩形 70"/>
          <p:cNvSpPr>
            <a:spLocks noGrp="1"/>
          </p:cNvSpPr>
          <p:nvPr/>
        </p:nvSpPr>
        <p:spPr>
          <a:xfrm>
            <a:off x="8229600" y="1314450"/>
            <a:ext cx="57150" cy="1466850"/>
          </a:xfrm>
          <a:prstGeom prst="rect">
            <a:avLst/>
          </a:prstGeom>
          <a:solidFill>
            <a:srgbClr val="CF0712"/>
          </a:solidFill>
          <a:ln w="0">
            <a:noFill/>
            <a:prstDash val="solid"/>
          </a:ln>
        </p:spPr>
      </p:sp>
      <p:sp>
        <p:nvSpPr>
          <p:cNvPr id="72" name="矩形 71"/>
          <p:cNvSpPr>
            <a:spLocks noGrp="1"/>
          </p:cNvSpPr>
          <p:nvPr/>
        </p:nvSpPr>
        <p:spPr>
          <a:xfrm>
            <a:off x="8334375" y="1371600"/>
            <a:ext cx="457200" cy="1352550"/>
          </a:xfrm>
          <a:prstGeom prst="rect">
            <a:avLst/>
          </a:prstGeom>
          <a:noFill/>
          <a:ln w="0">
            <a:noFill/>
            <a:prstDash val="solid"/>
          </a:ln>
        </p:spPr>
        <p:txBody>
          <a:bodyPr wrap="square" lIns="47625" tIns="19050" rIns="47625" bIns="19050" anchor="ctr">
            <a:normAutofit/>
          </a:bodyPr>
          <a:lstStyle/>
          <a:p>
            <a:pPr algn="ctr">
              <a:defRPr sz="1350" b="1">
                <a:solidFill>
                  <a:srgbClr val="CF0712"/>
                </a:solidFill>
                <a:latin typeface="Noto Sans Hans"/>
                <a:ea typeface="Noto Sans Hans"/>
                <a:cs typeface="Noto Sans Hans"/>
              </a:defRPr>
            </a:pPr>
            <a:r>
              <a:rPr sz="1400" b="1">
                <a:solidFill>
                  <a:srgbClr val="CF0712"/>
                </a:solidFill>
                <a:latin typeface="Noto Sans Hans"/>
                <a:ea typeface="Noto Sans Hans"/>
                <a:cs typeface="Noto Sans Hans"/>
              </a:rPr>
              <a:t>事前</a:t>
            </a:r>
            <a:endParaRPr sz="1400" b="1">
              <a:solidFill>
                <a:srgbClr val="CF0712"/>
              </a:solidFill>
              <a:latin typeface="Noto Sans Hans"/>
              <a:ea typeface="Noto Sans Hans"/>
              <a:cs typeface="Noto Sans Hans"/>
            </a:endParaRPr>
          </a:p>
        </p:txBody>
      </p:sp>
      <p:sp>
        <p:nvSpPr>
          <p:cNvPr id="73" name="圆角矩形 72"/>
          <p:cNvSpPr>
            <a:spLocks noGrp="1"/>
          </p:cNvSpPr>
          <p:nvPr/>
        </p:nvSpPr>
        <p:spPr>
          <a:xfrm>
            <a:off x="8858250" y="1428750"/>
            <a:ext cx="2714625" cy="585788"/>
          </a:xfrm>
          <a:prstGeom prst="roundRect">
            <a:avLst>
              <a:gd name="adj" fmla="val 3252"/>
            </a:avLst>
          </a:prstGeom>
          <a:solidFill>
            <a:srgbClr val="FFFFFF"/>
          </a:solidFill>
          <a:ln w="0">
            <a:noFill/>
            <a:prstDash val="solid"/>
          </a:ln>
        </p:spPr>
      </p:sp>
      <p:sp>
        <p:nvSpPr>
          <p:cNvPr id="74" name="圆角矩形 73"/>
          <p:cNvSpPr>
            <a:spLocks noGrp="1"/>
          </p:cNvSpPr>
          <p:nvPr/>
        </p:nvSpPr>
        <p:spPr>
          <a:xfrm>
            <a:off x="8982075" y="1524000"/>
            <a:ext cx="228600" cy="228600"/>
          </a:xfrm>
          <a:prstGeom prst="roundRect">
            <a:avLst>
              <a:gd name="adj" fmla="val 8333"/>
            </a:avLst>
          </a:prstGeom>
          <a:solidFill>
            <a:srgbClr val="CF0712"/>
          </a:solidFill>
          <a:ln w="0">
            <a:noFill/>
            <a:prstDash val="solid"/>
          </a:ln>
        </p:spPr>
      </p:sp>
      <p:sp>
        <p:nvSpPr>
          <p:cNvPr id="75" name="矩形 74"/>
          <p:cNvSpPr>
            <a:spLocks noGrp="1"/>
          </p:cNvSpPr>
          <p:nvPr/>
        </p:nvSpPr>
        <p:spPr>
          <a:xfrm>
            <a:off x="8982075" y="1485900"/>
            <a:ext cx="228600" cy="2667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76" name="矩形 75"/>
          <p:cNvSpPr>
            <a:spLocks noGrp="1"/>
          </p:cNvSpPr>
          <p:nvPr/>
        </p:nvSpPr>
        <p:spPr>
          <a:xfrm>
            <a:off x="9267825" y="1476375"/>
            <a:ext cx="2143125" cy="238125"/>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风险识别</a:t>
            </a:r>
            <a:endParaRPr sz="1200" b="1">
              <a:solidFill>
                <a:srgbClr val="CF0712"/>
              </a:solidFill>
              <a:latin typeface="Noto Sans Hans"/>
              <a:ea typeface="Noto Sans Hans"/>
              <a:cs typeface="Noto Sans Hans"/>
            </a:endParaRPr>
          </a:p>
        </p:txBody>
      </p:sp>
      <p:sp>
        <p:nvSpPr>
          <p:cNvPr id="77" name="矩形 76"/>
          <p:cNvSpPr>
            <a:spLocks noGrp="1"/>
          </p:cNvSpPr>
          <p:nvPr/>
        </p:nvSpPr>
        <p:spPr>
          <a:xfrm>
            <a:off x="9267825" y="1724025"/>
            <a:ext cx="2143125" cy="261938"/>
          </a:xfrm>
          <a:prstGeom prst="rect">
            <a:avLst/>
          </a:prstGeom>
          <a:noFill/>
          <a:ln w="0">
            <a:noFill/>
            <a:prstDash val="solid"/>
          </a:ln>
        </p:spPr>
        <p:txBody>
          <a:bodyPr wrap="square" lIns="47625" tIns="19050" rIns="47625" bIns="19050" anchor="t">
            <a:noAutofit/>
          </a:bodyPr>
          <a:lstStyle/>
          <a:p>
            <a:pPr algn="l">
              <a:defRPr sz="865"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跌倒、生命体征与异常行为监测</a:t>
            </a:r>
            <a:endParaRPr sz="1000" b="0">
              <a:solidFill>
                <a:srgbClr val="3F3A38"/>
              </a:solidFill>
              <a:latin typeface="Noto Sans Hans"/>
              <a:ea typeface="Noto Sans Hans"/>
              <a:cs typeface="Noto Sans Hans"/>
            </a:endParaRPr>
          </a:p>
        </p:txBody>
      </p:sp>
      <p:sp>
        <p:nvSpPr>
          <p:cNvPr id="78" name="圆角矩形 77"/>
          <p:cNvSpPr>
            <a:spLocks noGrp="1"/>
          </p:cNvSpPr>
          <p:nvPr/>
        </p:nvSpPr>
        <p:spPr>
          <a:xfrm>
            <a:off x="8858250" y="2066925"/>
            <a:ext cx="2714625" cy="585788"/>
          </a:xfrm>
          <a:prstGeom prst="roundRect">
            <a:avLst>
              <a:gd name="adj" fmla="val 3252"/>
            </a:avLst>
          </a:prstGeom>
          <a:solidFill>
            <a:srgbClr val="FFFFFF"/>
          </a:solidFill>
          <a:ln w="0">
            <a:noFill/>
            <a:prstDash val="solid"/>
          </a:ln>
        </p:spPr>
      </p:sp>
      <p:sp>
        <p:nvSpPr>
          <p:cNvPr id="79" name="圆角矩形 78"/>
          <p:cNvSpPr>
            <a:spLocks noGrp="1"/>
          </p:cNvSpPr>
          <p:nvPr/>
        </p:nvSpPr>
        <p:spPr>
          <a:xfrm>
            <a:off x="8982075" y="2162175"/>
            <a:ext cx="228600" cy="228600"/>
          </a:xfrm>
          <a:prstGeom prst="roundRect">
            <a:avLst>
              <a:gd name="adj" fmla="val 8333"/>
            </a:avLst>
          </a:prstGeom>
          <a:solidFill>
            <a:srgbClr val="CF0712"/>
          </a:solidFill>
          <a:ln w="0">
            <a:noFill/>
            <a:prstDash val="solid"/>
          </a:ln>
        </p:spPr>
      </p:sp>
      <p:sp>
        <p:nvSpPr>
          <p:cNvPr id="80" name="矩形 79"/>
          <p:cNvSpPr>
            <a:spLocks noGrp="1"/>
          </p:cNvSpPr>
          <p:nvPr/>
        </p:nvSpPr>
        <p:spPr>
          <a:xfrm>
            <a:off x="8982075" y="2124075"/>
            <a:ext cx="228600" cy="2667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81" name="矩形 80"/>
          <p:cNvSpPr>
            <a:spLocks noGrp="1"/>
          </p:cNvSpPr>
          <p:nvPr/>
        </p:nvSpPr>
        <p:spPr>
          <a:xfrm>
            <a:off x="9267825" y="2114550"/>
            <a:ext cx="2143125" cy="238125"/>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康复评估</a:t>
            </a:r>
            <a:endParaRPr sz="1200" b="1">
              <a:solidFill>
                <a:srgbClr val="CF0712"/>
              </a:solidFill>
              <a:latin typeface="Noto Sans Hans"/>
              <a:ea typeface="Noto Sans Hans"/>
              <a:cs typeface="Noto Sans Hans"/>
            </a:endParaRPr>
          </a:p>
        </p:txBody>
      </p:sp>
      <p:sp>
        <p:nvSpPr>
          <p:cNvPr id="82" name="矩形 81"/>
          <p:cNvSpPr>
            <a:spLocks noGrp="1"/>
          </p:cNvSpPr>
          <p:nvPr/>
        </p:nvSpPr>
        <p:spPr>
          <a:xfrm>
            <a:off x="9267825" y="2362200"/>
            <a:ext cx="2143125" cy="261938"/>
          </a:xfrm>
          <a:prstGeom prst="rect">
            <a:avLst/>
          </a:prstGeom>
          <a:noFill/>
          <a:ln w="0">
            <a:noFill/>
            <a:prstDash val="solid"/>
          </a:ln>
        </p:spPr>
        <p:txBody>
          <a:bodyPr wrap="square" lIns="47625" tIns="19050" rIns="47625" bIns="19050" anchor="t">
            <a:noAutofit/>
          </a:bodyPr>
          <a:lstStyle/>
          <a:p>
            <a:pPr algn="l">
              <a:defRPr sz="865"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量化功能状态，形成个性化训练方案</a:t>
            </a:r>
            <a:endParaRPr sz="1000" b="0">
              <a:solidFill>
                <a:srgbClr val="3F3A38"/>
              </a:solidFill>
              <a:latin typeface="Noto Sans Hans"/>
              <a:ea typeface="Noto Sans Hans"/>
              <a:cs typeface="Noto Sans Hans"/>
            </a:endParaRPr>
          </a:p>
        </p:txBody>
      </p:sp>
      <p:sp>
        <p:nvSpPr>
          <p:cNvPr id="83" name="矩形 82"/>
          <p:cNvSpPr>
            <a:spLocks noGrp="1"/>
          </p:cNvSpPr>
          <p:nvPr/>
        </p:nvSpPr>
        <p:spPr>
          <a:xfrm>
            <a:off x="8229600" y="2924175"/>
            <a:ext cx="3486150" cy="1714500"/>
          </a:xfrm>
          <a:prstGeom prst="rect">
            <a:avLst/>
          </a:prstGeom>
          <a:solidFill>
            <a:srgbClr val="F9E8E7"/>
          </a:solidFill>
          <a:ln w="0">
            <a:noFill/>
            <a:prstDash val="solid"/>
          </a:ln>
        </p:spPr>
      </p:sp>
      <p:sp>
        <p:nvSpPr>
          <p:cNvPr id="84" name="矩形 83"/>
          <p:cNvSpPr>
            <a:spLocks noGrp="1"/>
          </p:cNvSpPr>
          <p:nvPr/>
        </p:nvSpPr>
        <p:spPr>
          <a:xfrm>
            <a:off x="8229600" y="2924175"/>
            <a:ext cx="57150" cy="1714500"/>
          </a:xfrm>
          <a:prstGeom prst="rect">
            <a:avLst/>
          </a:prstGeom>
          <a:solidFill>
            <a:srgbClr val="CF0712"/>
          </a:solidFill>
          <a:ln w="0">
            <a:noFill/>
            <a:prstDash val="solid"/>
          </a:ln>
        </p:spPr>
      </p:sp>
      <p:sp>
        <p:nvSpPr>
          <p:cNvPr id="85" name="矩形 84"/>
          <p:cNvSpPr>
            <a:spLocks noGrp="1"/>
          </p:cNvSpPr>
          <p:nvPr/>
        </p:nvSpPr>
        <p:spPr>
          <a:xfrm>
            <a:off x="8334375" y="2981325"/>
            <a:ext cx="457200" cy="1600200"/>
          </a:xfrm>
          <a:prstGeom prst="rect">
            <a:avLst/>
          </a:prstGeom>
          <a:noFill/>
          <a:ln w="0">
            <a:noFill/>
            <a:prstDash val="solid"/>
          </a:ln>
        </p:spPr>
        <p:txBody>
          <a:bodyPr wrap="square" lIns="47625" tIns="19050" rIns="47625" bIns="19050" anchor="ctr">
            <a:normAutofit/>
          </a:bodyPr>
          <a:lstStyle/>
          <a:p>
            <a:pPr algn="ctr">
              <a:defRPr sz="1350" b="1">
                <a:solidFill>
                  <a:srgbClr val="CF0712"/>
                </a:solidFill>
                <a:latin typeface="Noto Sans Hans"/>
                <a:ea typeface="Noto Sans Hans"/>
                <a:cs typeface="Noto Sans Hans"/>
              </a:defRPr>
            </a:pPr>
            <a:r>
              <a:rPr sz="1400" b="1">
                <a:solidFill>
                  <a:srgbClr val="CF0712"/>
                </a:solidFill>
                <a:latin typeface="Noto Sans Hans"/>
                <a:ea typeface="Noto Sans Hans"/>
                <a:cs typeface="Noto Sans Hans"/>
              </a:rPr>
              <a:t>事中</a:t>
            </a:r>
            <a:endParaRPr sz="1400" b="1">
              <a:solidFill>
                <a:srgbClr val="CF0712"/>
              </a:solidFill>
              <a:latin typeface="Noto Sans Hans"/>
              <a:ea typeface="Noto Sans Hans"/>
              <a:cs typeface="Noto Sans Hans"/>
            </a:endParaRPr>
          </a:p>
        </p:txBody>
      </p:sp>
      <p:sp>
        <p:nvSpPr>
          <p:cNvPr id="86" name="圆角矩形 85"/>
          <p:cNvSpPr>
            <a:spLocks noGrp="1"/>
          </p:cNvSpPr>
          <p:nvPr/>
        </p:nvSpPr>
        <p:spPr>
          <a:xfrm>
            <a:off x="8858250" y="3038475"/>
            <a:ext cx="2714625" cy="709613"/>
          </a:xfrm>
          <a:prstGeom prst="roundRect">
            <a:avLst>
              <a:gd name="adj" fmla="val 2685"/>
            </a:avLst>
          </a:prstGeom>
          <a:solidFill>
            <a:srgbClr val="FFFFFF"/>
          </a:solidFill>
          <a:ln w="0">
            <a:noFill/>
            <a:prstDash val="solid"/>
          </a:ln>
        </p:spPr>
      </p:sp>
      <p:sp>
        <p:nvSpPr>
          <p:cNvPr id="87" name="圆角矩形 86"/>
          <p:cNvSpPr>
            <a:spLocks noGrp="1"/>
          </p:cNvSpPr>
          <p:nvPr/>
        </p:nvSpPr>
        <p:spPr>
          <a:xfrm>
            <a:off x="8982075" y="3133725"/>
            <a:ext cx="228600" cy="228600"/>
          </a:xfrm>
          <a:prstGeom prst="roundRect">
            <a:avLst>
              <a:gd name="adj" fmla="val 8333"/>
            </a:avLst>
          </a:prstGeom>
          <a:solidFill>
            <a:srgbClr val="CF0712"/>
          </a:solidFill>
          <a:ln w="0">
            <a:noFill/>
            <a:prstDash val="solid"/>
          </a:ln>
        </p:spPr>
      </p:sp>
      <p:sp>
        <p:nvSpPr>
          <p:cNvPr id="88" name="矩形 87"/>
          <p:cNvSpPr>
            <a:spLocks noGrp="1"/>
          </p:cNvSpPr>
          <p:nvPr/>
        </p:nvSpPr>
        <p:spPr>
          <a:xfrm>
            <a:off x="8982075" y="3095625"/>
            <a:ext cx="228600" cy="2667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89" name="矩形 88"/>
          <p:cNvSpPr>
            <a:spLocks noGrp="1"/>
          </p:cNvSpPr>
          <p:nvPr/>
        </p:nvSpPr>
        <p:spPr>
          <a:xfrm>
            <a:off x="9267825" y="3086100"/>
            <a:ext cx="2143125" cy="238125"/>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任务执行</a:t>
            </a:r>
            <a:endParaRPr sz="1200" b="1">
              <a:solidFill>
                <a:srgbClr val="CF0712"/>
              </a:solidFill>
              <a:latin typeface="Noto Sans Hans"/>
              <a:ea typeface="Noto Sans Hans"/>
              <a:cs typeface="Noto Sans Hans"/>
            </a:endParaRPr>
          </a:p>
        </p:txBody>
      </p:sp>
      <p:sp>
        <p:nvSpPr>
          <p:cNvPr id="90" name="矩形 89"/>
          <p:cNvSpPr>
            <a:spLocks noGrp="1"/>
          </p:cNvSpPr>
          <p:nvPr/>
        </p:nvSpPr>
        <p:spPr>
          <a:xfrm>
            <a:off x="9267825" y="3333750"/>
            <a:ext cx="2143125" cy="385763"/>
          </a:xfrm>
          <a:prstGeom prst="rect">
            <a:avLst/>
          </a:prstGeom>
          <a:noFill/>
          <a:ln w="0">
            <a:noFill/>
            <a:prstDash val="solid"/>
          </a:ln>
        </p:spPr>
        <p:txBody>
          <a:bodyPr wrap="square" lIns="47625" tIns="19050" rIns="47625" bIns="19050" anchor="t">
            <a:noAutofit/>
          </a:bodyPr>
          <a:lstStyle/>
          <a:p>
            <a:pPr algn="l">
              <a:defRPr sz="865"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训练、移乘、排泄、配送与清洁</a:t>
            </a:r>
            <a:endParaRPr sz="1000" b="0">
              <a:solidFill>
                <a:srgbClr val="3F3A38"/>
              </a:solidFill>
              <a:latin typeface="Noto Sans Hans"/>
              <a:ea typeface="Noto Sans Hans"/>
              <a:cs typeface="Noto Sans Hans"/>
            </a:endParaRPr>
          </a:p>
        </p:txBody>
      </p:sp>
      <p:sp>
        <p:nvSpPr>
          <p:cNvPr id="91" name="圆角矩形 90"/>
          <p:cNvSpPr>
            <a:spLocks noGrp="1"/>
          </p:cNvSpPr>
          <p:nvPr/>
        </p:nvSpPr>
        <p:spPr>
          <a:xfrm>
            <a:off x="8858250" y="3800475"/>
            <a:ext cx="2714625" cy="709613"/>
          </a:xfrm>
          <a:prstGeom prst="roundRect">
            <a:avLst>
              <a:gd name="adj" fmla="val 2685"/>
            </a:avLst>
          </a:prstGeom>
          <a:solidFill>
            <a:srgbClr val="FFFFFF"/>
          </a:solidFill>
          <a:ln w="0">
            <a:noFill/>
            <a:prstDash val="solid"/>
          </a:ln>
        </p:spPr>
      </p:sp>
      <p:sp>
        <p:nvSpPr>
          <p:cNvPr id="92" name="圆角矩形 91"/>
          <p:cNvSpPr>
            <a:spLocks noGrp="1"/>
          </p:cNvSpPr>
          <p:nvPr/>
        </p:nvSpPr>
        <p:spPr>
          <a:xfrm>
            <a:off x="8982075" y="3895725"/>
            <a:ext cx="228600" cy="228600"/>
          </a:xfrm>
          <a:prstGeom prst="roundRect">
            <a:avLst>
              <a:gd name="adj" fmla="val 8333"/>
            </a:avLst>
          </a:prstGeom>
          <a:solidFill>
            <a:srgbClr val="CF0712"/>
          </a:solidFill>
          <a:ln w="0">
            <a:noFill/>
            <a:prstDash val="solid"/>
          </a:ln>
        </p:spPr>
      </p:sp>
      <p:sp>
        <p:nvSpPr>
          <p:cNvPr id="93" name="矩形 92"/>
          <p:cNvSpPr>
            <a:spLocks noGrp="1"/>
          </p:cNvSpPr>
          <p:nvPr/>
        </p:nvSpPr>
        <p:spPr>
          <a:xfrm>
            <a:off x="8982075" y="3857625"/>
            <a:ext cx="228600" cy="2667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94" name="矩形 93"/>
          <p:cNvSpPr>
            <a:spLocks noGrp="1"/>
          </p:cNvSpPr>
          <p:nvPr/>
        </p:nvSpPr>
        <p:spPr>
          <a:xfrm>
            <a:off x="9267825" y="3848100"/>
            <a:ext cx="2143125" cy="238125"/>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照护协同</a:t>
            </a:r>
            <a:endParaRPr sz="1200" b="1">
              <a:solidFill>
                <a:srgbClr val="CF0712"/>
              </a:solidFill>
              <a:latin typeface="Noto Sans Hans"/>
              <a:ea typeface="Noto Sans Hans"/>
              <a:cs typeface="Noto Sans Hans"/>
            </a:endParaRPr>
          </a:p>
        </p:txBody>
      </p:sp>
      <p:sp>
        <p:nvSpPr>
          <p:cNvPr id="95" name="矩形 94"/>
          <p:cNvSpPr>
            <a:spLocks noGrp="1"/>
          </p:cNvSpPr>
          <p:nvPr/>
        </p:nvSpPr>
        <p:spPr>
          <a:xfrm>
            <a:off x="9267825" y="4095750"/>
            <a:ext cx="2143125" cy="385763"/>
          </a:xfrm>
          <a:prstGeom prst="rect">
            <a:avLst/>
          </a:prstGeom>
          <a:noFill/>
          <a:ln w="0">
            <a:noFill/>
            <a:prstDash val="solid"/>
          </a:ln>
        </p:spPr>
        <p:txBody>
          <a:bodyPr wrap="square" lIns="47625" tIns="19050" rIns="47625" bIns="19050" anchor="t">
            <a:noAutofit/>
          </a:bodyPr>
          <a:lstStyle/>
          <a:p>
            <a:pPr algn="l">
              <a:defRPr sz="865"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人机分工、工单联动与夜间巡检</a:t>
            </a:r>
            <a:endParaRPr sz="1000" b="0">
              <a:solidFill>
                <a:srgbClr val="3F3A38"/>
              </a:solidFill>
              <a:latin typeface="Noto Sans Hans"/>
              <a:ea typeface="Noto Sans Hans"/>
              <a:cs typeface="Noto Sans Hans"/>
            </a:endParaRPr>
          </a:p>
        </p:txBody>
      </p:sp>
      <p:sp>
        <p:nvSpPr>
          <p:cNvPr id="96" name="矩形 95"/>
          <p:cNvSpPr>
            <a:spLocks noGrp="1"/>
          </p:cNvSpPr>
          <p:nvPr/>
        </p:nvSpPr>
        <p:spPr>
          <a:xfrm>
            <a:off x="8229600" y="4781550"/>
            <a:ext cx="3486150" cy="1457325"/>
          </a:xfrm>
          <a:prstGeom prst="rect">
            <a:avLst/>
          </a:prstGeom>
          <a:solidFill>
            <a:srgbClr val="F9E8E7"/>
          </a:solidFill>
          <a:ln w="0">
            <a:noFill/>
            <a:prstDash val="solid"/>
          </a:ln>
        </p:spPr>
      </p:sp>
      <p:sp>
        <p:nvSpPr>
          <p:cNvPr id="97" name="矩形 96"/>
          <p:cNvSpPr>
            <a:spLocks noGrp="1"/>
          </p:cNvSpPr>
          <p:nvPr/>
        </p:nvSpPr>
        <p:spPr>
          <a:xfrm>
            <a:off x="8229600" y="4781550"/>
            <a:ext cx="57150" cy="1457325"/>
          </a:xfrm>
          <a:prstGeom prst="rect">
            <a:avLst/>
          </a:prstGeom>
          <a:solidFill>
            <a:srgbClr val="CF0712"/>
          </a:solidFill>
          <a:ln w="0">
            <a:noFill/>
            <a:prstDash val="solid"/>
          </a:ln>
        </p:spPr>
      </p:sp>
      <p:sp>
        <p:nvSpPr>
          <p:cNvPr id="98" name="矩形 97"/>
          <p:cNvSpPr>
            <a:spLocks noGrp="1"/>
          </p:cNvSpPr>
          <p:nvPr/>
        </p:nvSpPr>
        <p:spPr>
          <a:xfrm>
            <a:off x="8334375" y="4838700"/>
            <a:ext cx="457200" cy="1343025"/>
          </a:xfrm>
          <a:prstGeom prst="rect">
            <a:avLst/>
          </a:prstGeom>
          <a:noFill/>
          <a:ln w="0">
            <a:noFill/>
            <a:prstDash val="solid"/>
          </a:ln>
        </p:spPr>
        <p:txBody>
          <a:bodyPr wrap="square" lIns="47625" tIns="19050" rIns="47625" bIns="19050" anchor="ctr">
            <a:normAutofit/>
          </a:bodyPr>
          <a:lstStyle/>
          <a:p>
            <a:pPr algn="ctr">
              <a:defRPr sz="1350" b="1">
                <a:solidFill>
                  <a:srgbClr val="CF0712"/>
                </a:solidFill>
                <a:latin typeface="Noto Sans Hans"/>
                <a:ea typeface="Noto Sans Hans"/>
                <a:cs typeface="Noto Sans Hans"/>
              </a:defRPr>
            </a:pPr>
            <a:r>
              <a:rPr sz="1400" b="1">
                <a:solidFill>
                  <a:srgbClr val="CF0712"/>
                </a:solidFill>
                <a:latin typeface="Noto Sans Hans"/>
                <a:ea typeface="Noto Sans Hans"/>
                <a:cs typeface="Noto Sans Hans"/>
              </a:rPr>
              <a:t>事后</a:t>
            </a:r>
            <a:endParaRPr sz="1400" b="1">
              <a:solidFill>
                <a:srgbClr val="CF0712"/>
              </a:solidFill>
              <a:latin typeface="Noto Sans Hans"/>
              <a:ea typeface="Noto Sans Hans"/>
              <a:cs typeface="Noto Sans Hans"/>
            </a:endParaRPr>
          </a:p>
        </p:txBody>
      </p:sp>
      <p:sp>
        <p:nvSpPr>
          <p:cNvPr id="99" name="圆角矩形 98"/>
          <p:cNvSpPr>
            <a:spLocks noGrp="1"/>
          </p:cNvSpPr>
          <p:nvPr/>
        </p:nvSpPr>
        <p:spPr>
          <a:xfrm>
            <a:off x="8858250" y="4895850"/>
            <a:ext cx="2714625" cy="581025"/>
          </a:xfrm>
          <a:prstGeom prst="roundRect">
            <a:avLst>
              <a:gd name="adj" fmla="val 3279"/>
            </a:avLst>
          </a:prstGeom>
          <a:solidFill>
            <a:srgbClr val="FFFFFF"/>
          </a:solidFill>
          <a:ln w="0">
            <a:noFill/>
            <a:prstDash val="solid"/>
          </a:ln>
        </p:spPr>
      </p:sp>
      <p:sp>
        <p:nvSpPr>
          <p:cNvPr id="100" name="圆角矩形 99"/>
          <p:cNvSpPr>
            <a:spLocks noGrp="1"/>
          </p:cNvSpPr>
          <p:nvPr/>
        </p:nvSpPr>
        <p:spPr>
          <a:xfrm>
            <a:off x="8982075" y="4991100"/>
            <a:ext cx="228600" cy="228600"/>
          </a:xfrm>
          <a:prstGeom prst="roundRect">
            <a:avLst>
              <a:gd name="adj" fmla="val 8333"/>
            </a:avLst>
          </a:prstGeom>
          <a:solidFill>
            <a:srgbClr val="CF0712"/>
          </a:solidFill>
          <a:ln w="0">
            <a:noFill/>
            <a:prstDash val="solid"/>
          </a:ln>
        </p:spPr>
      </p:sp>
      <p:sp>
        <p:nvSpPr>
          <p:cNvPr id="101" name="矩形 100"/>
          <p:cNvSpPr>
            <a:spLocks noGrp="1"/>
          </p:cNvSpPr>
          <p:nvPr/>
        </p:nvSpPr>
        <p:spPr>
          <a:xfrm>
            <a:off x="8982075" y="4953000"/>
            <a:ext cx="228600" cy="2667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102" name="矩形 101"/>
          <p:cNvSpPr>
            <a:spLocks noGrp="1"/>
          </p:cNvSpPr>
          <p:nvPr/>
        </p:nvSpPr>
        <p:spPr>
          <a:xfrm>
            <a:off x="9267825" y="4943475"/>
            <a:ext cx="2143125" cy="238125"/>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效果追踪</a:t>
            </a:r>
            <a:endParaRPr sz="1200" b="1">
              <a:solidFill>
                <a:srgbClr val="CF0712"/>
              </a:solidFill>
              <a:latin typeface="Noto Sans Hans"/>
              <a:ea typeface="Noto Sans Hans"/>
              <a:cs typeface="Noto Sans Hans"/>
            </a:endParaRPr>
          </a:p>
        </p:txBody>
      </p:sp>
      <p:sp>
        <p:nvSpPr>
          <p:cNvPr id="103" name="矩形 102"/>
          <p:cNvSpPr>
            <a:spLocks noGrp="1"/>
          </p:cNvSpPr>
          <p:nvPr/>
        </p:nvSpPr>
        <p:spPr>
          <a:xfrm>
            <a:off x="9267825" y="5191125"/>
            <a:ext cx="2143125" cy="257175"/>
          </a:xfrm>
          <a:prstGeom prst="rect">
            <a:avLst/>
          </a:prstGeom>
          <a:noFill/>
          <a:ln w="0">
            <a:noFill/>
            <a:prstDash val="solid"/>
          </a:ln>
        </p:spPr>
        <p:txBody>
          <a:bodyPr wrap="square" lIns="47625" tIns="19050" rIns="47625" bIns="19050" anchor="t">
            <a:noAutofit/>
          </a:bodyPr>
          <a:lstStyle/>
          <a:p>
            <a:pPr algn="l">
              <a:defRPr sz="865"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训练进展、服务利用率和安全事件</a:t>
            </a:r>
            <a:endParaRPr sz="1000" b="0">
              <a:solidFill>
                <a:srgbClr val="3F3A38"/>
              </a:solidFill>
              <a:latin typeface="Noto Sans Hans"/>
              <a:ea typeface="Noto Sans Hans"/>
              <a:cs typeface="Noto Sans Hans"/>
            </a:endParaRPr>
          </a:p>
        </p:txBody>
      </p:sp>
      <p:sp>
        <p:nvSpPr>
          <p:cNvPr id="104" name="圆角矩形 103"/>
          <p:cNvSpPr>
            <a:spLocks noGrp="1"/>
          </p:cNvSpPr>
          <p:nvPr/>
        </p:nvSpPr>
        <p:spPr>
          <a:xfrm>
            <a:off x="8858250" y="5529263"/>
            <a:ext cx="2714625" cy="581025"/>
          </a:xfrm>
          <a:prstGeom prst="roundRect">
            <a:avLst>
              <a:gd name="adj" fmla="val 3279"/>
            </a:avLst>
          </a:prstGeom>
          <a:solidFill>
            <a:srgbClr val="FFFFFF"/>
          </a:solidFill>
          <a:ln w="0">
            <a:noFill/>
            <a:prstDash val="solid"/>
          </a:ln>
        </p:spPr>
      </p:sp>
      <p:sp>
        <p:nvSpPr>
          <p:cNvPr id="105" name="圆角矩形 104"/>
          <p:cNvSpPr>
            <a:spLocks noGrp="1"/>
          </p:cNvSpPr>
          <p:nvPr/>
        </p:nvSpPr>
        <p:spPr>
          <a:xfrm>
            <a:off x="8982075" y="5624513"/>
            <a:ext cx="228600" cy="228600"/>
          </a:xfrm>
          <a:prstGeom prst="roundRect">
            <a:avLst>
              <a:gd name="adj" fmla="val 8333"/>
            </a:avLst>
          </a:prstGeom>
          <a:solidFill>
            <a:srgbClr val="CF0712"/>
          </a:solidFill>
          <a:ln w="0">
            <a:noFill/>
            <a:prstDash val="solid"/>
          </a:ln>
        </p:spPr>
      </p:sp>
      <p:sp>
        <p:nvSpPr>
          <p:cNvPr id="106" name="矩形 105"/>
          <p:cNvSpPr>
            <a:spLocks noGrp="1"/>
          </p:cNvSpPr>
          <p:nvPr/>
        </p:nvSpPr>
        <p:spPr>
          <a:xfrm>
            <a:off x="8982075" y="5586413"/>
            <a:ext cx="228600" cy="2667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107" name="矩形 106"/>
          <p:cNvSpPr>
            <a:spLocks noGrp="1"/>
          </p:cNvSpPr>
          <p:nvPr/>
        </p:nvSpPr>
        <p:spPr>
          <a:xfrm>
            <a:off x="9267825" y="5576888"/>
            <a:ext cx="2143125" cy="238125"/>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运营决策</a:t>
            </a:r>
            <a:endParaRPr sz="1200" b="1">
              <a:solidFill>
                <a:srgbClr val="CF0712"/>
              </a:solidFill>
              <a:latin typeface="Noto Sans Hans"/>
              <a:ea typeface="Noto Sans Hans"/>
              <a:cs typeface="Noto Sans Hans"/>
            </a:endParaRPr>
          </a:p>
        </p:txBody>
      </p:sp>
      <p:sp>
        <p:nvSpPr>
          <p:cNvPr id="108" name="矩形 107"/>
          <p:cNvSpPr>
            <a:spLocks noGrp="1"/>
          </p:cNvSpPr>
          <p:nvPr/>
        </p:nvSpPr>
        <p:spPr>
          <a:xfrm>
            <a:off x="9267825" y="5824538"/>
            <a:ext cx="2143125" cy="257175"/>
          </a:xfrm>
          <a:prstGeom prst="rect">
            <a:avLst/>
          </a:prstGeom>
          <a:noFill/>
          <a:ln w="0">
            <a:noFill/>
            <a:prstDash val="solid"/>
          </a:ln>
        </p:spPr>
        <p:txBody>
          <a:bodyPr wrap="square" lIns="47625" tIns="19050" rIns="47625" bIns="19050" anchor="t">
            <a:noAutofit/>
          </a:bodyPr>
          <a:lstStyle/>
          <a:p>
            <a:pPr algn="l">
              <a:defRPr sz="865" b="0">
                <a:solidFill>
                  <a:srgbClr val="3F3A38"/>
                </a:solidFill>
                <a:latin typeface="Noto Sans Hans"/>
                <a:ea typeface="Noto Sans Hans"/>
                <a:cs typeface="Noto Sans Hans"/>
              </a:defRPr>
            </a:pPr>
            <a:r>
              <a:rPr sz="1000" b="0">
                <a:solidFill>
                  <a:srgbClr val="3F3A38"/>
                </a:solidFill>
                <a:latin typeface="Noto Sans Hans"/>
                <a:ea typeface="Noto Sans Hans"/>
                <a:cs typeface="Noto Sans Hans"/>
              </a:rPr>
              <a:t>设备调度、维护、续费与服务转介</a:t>
            </a:r>
            <a:endParaRPr sz="1000" b="0">
              <a:solidFill>
                <a:srgbClr val="3F3A38"/>
              </a:solidFill>
              <a:latin typeface="Noto Sans Hans"/>
              <a:ea typeface="Noto Sans Hans"/>
              <a:cs typeface="Noto Sans Hans"/>
            </a:endParaRPr>
          </a:p>
        </p:txBody>
      </p:sp>
      <p:sp>
        <p:nvSpPr>
          <p:cNvPr id="109" name="矩形 108"/>
          <p:cNvSpPr>
            <a:spLocks noGrp="1"/>
          </p:cNvSpPr>
          <p:nvPr/>
        </p:nvSpPr>
        <p:spPr>
          <a:xfrm>
            <a:off x="476250" y="6553200"/>
            <a:ext cx="10287000" cy="190500"/>
          </a:xfrm>
          <a:prstGeom prst="rect">
            <a:avLst/>
          </a:prstGeom>
          <a:noFill/>
          <a:ln w="0">
            <a:noFill/>
            <a:prstDash val="solid"/>
          </a:ln>
        </p:spPr>
        <p:txBody>
          <a:bodyPr wrap="square" lIns="47625" tIns="19050" rIns="47625" bIns="19050" anchor="ctr">
            <a:normAutofit/>
          </a:bodyPr>
          <a:lstStyle/>
          <a:p>
            <a:pPr algn="l">
              <a:defRPr sz="790" b="0">
                <a:solidFill>
                  <a:srgbClr val="706A67"/>
                </a:solidFill>
                <a:latin typeface="Noto Sans Hans"/>
                <a:ea typeface="Noto Sans Hans"/>
                <a:cs typeface="Noto Sans Hans"/>
              </a:defRPr>
            </a:pPr>
            <a:r>
              <a:rPr sz="790" b="0">
                <a:solidFill>
                  <a:srgbClr val="706A67"/>
                </a:solidFill>
                <a:latin typeface="Noto Sans Hans"/>
                <a:ea typeface="Noto Sans Hans"/>
                <a:cs typeface="Noto Sans Hans"/>
              </a:rPr>
              <a:t>资料来源：养老机器人产业增强基础数据库（重点产品、产业链环节、核心技术）；公开资料整理。</a:t>
            </a:r>
            <a:endParaRPr sz="790" b="0">
              <a:solidFill>
                <a:srgbClr val="706A67"/>
              </a:solidFill>
              <a:latin typeface="Noto Sans Hans"/>
              <a:ea typeface="Noto Sans Hans"/>
              <a:cs typeface="Noto Sans Hans"/>
            </a:endParaRPr>
          </a:p>
        </p:txBody>
      </p:sp>
      <p:sp>
        <p:nvSpPr>
          <p:cNvPr id="110" name="矩形 109"/>
          <p:cNvSpPr>
            <a:spLocks noGrp="1"/>
          </p:cNvSpPr>
          <p:nvPr/>
        </p:nvSpPr>
        <p:spPr>
          <a:xfrm>
            <a:off x="11287125" y="6543675"/>
            <a:ext cx="428625" cy="190500"/>
          </a:xfrm>
          <a:prstGeom prst="rect">
            <a:avLst/>
          </a:prstGeom>
          <a:noFill/>
          <a:ln w="0">
            <a:noFill/>
            <a:prstDash val="solid"/>
          </a:ln>
        </p:spPr>
        <p:txBody>
          <a:bodyPr wrap="square" lIns="47625" tIns="19050" rIns="47625" bIns="19050" anchor="ctr">
            <a:normAutofit/>
          </a:bodyPr>
          <a:lstStyle/>
          <a:p>
            <a:pPr algn="r">
              <a:defRPr sz="900" b="1">
                <a:solidFill>
                  <a:srgbClr val="CF0712"/>
                </a:solidFill>
                <a:latin typeface="Noto Sans Hans"/>
                <a:ea typeface="Noto Sans Hans"/>
                <a:cs typeface="Noto Sans Hans"/>
              </a:defRPr>
            </a:pPr>
            <a:r>
              <a:rPr sz="900" b="1">
                <a:solidFill>
                  <a:srgbClr val="CF0712"/>
                </a:solidFill>
                <a:latin typeface="Noto Sans Hans"/>
                <a:ea typeface="Noto Sans Hans"/>
                <a:cs typeface="Noto Sans Hans"/>
              </a:rPr>
              <a:t>0</a:t>
            </a:r>
            <a:r>
              <a:rPr lang="en-US" sz="900" b="1">
                <a:solidFill>
                  <a:srgbClr val="CF0712"/>
                </a:solidFill>
                <a:latin typeface="Noto Sans Hans"/>
                <a:ea typeface="Noto Sans Hans"/>
                <a:cs typeface="Noto Sans Hans"/>
              </a:rPr>
              <a:t>4</a:t>
            </a:r>
            <a:endParaRPr lang="en-US" sz="900" b="1">
              <a:solidFill>
                <a:srgbClr val="CF0712"/>
              </a:solidFill>
              <a:latin typeface="Noto Sans Hans"/>
              <a:ea typeface="Noto Sans Hans"/>
              <a:cs typeface="Noto Sans H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28600"/>
            <a:ext cx="171450" cy="685800"/>
          </a:xfrm>
          <a:prstGeom prst="rect">
            <a:avLst/>
          </a:prstGeom>
          <a:solidFill>
            <a:srgbClr val="CF0712"/>
          </a:solidFill>
          <a:ln w="0">
            <a:noFill/>
            <a:prstDash val="solid"/>
          </a:ln>
        </p:spPr>
      </p:sp>
      <p:sp>
        <p:nvSpPr>
          <p:cNvPr id="3" name="slide-title"/>
          <p:cNvSpPr>
            <a:spLocks noGrp="1"/>
          </p:cNvSpPr>
          <p:nvPr/>
        </p:nvSpPr>
        <p:spPr>
          <a:xfrm>
            <a:off x="476250" y="200025"/>
            <a:ext cx="11239500" cy="457200"/>
          </a:xfrm>
          <a:prstGeom prst="rect">
            <a:avLst/>
          </a:prstGeom>
          <a:noFill/>
          <a:ln w="0">
            <a:noFill/>
            <a:prstDash val="solid"/>
          </a:ln>
        </p:spPr>
        <p:txBody>
          <a:bodyPr lIns="0" tIns="0" rIns="0" bIns="0" anchor="ctr">
            <a:normAutofit/>
          </a:bodyPr>
          <a:lstStyle/>
          <a:p>
            <a:r>
              <a:rPr sz="2025" b="1">
                <a:solidFill>
                  <a:srgbClr val="CF0712"/>
                </a:solidFill>
                <a:latin typeface="Noto Sans Hans"/>
                <a:ea typeface="Noto Sans Hans"/>
                <a:cs typeface="Noto Sans Hans"/>
              </a:rPr>
              <a:t>【应用领域分析】</a:t>
            </a:r>
            <a:r>
              <a:rPr sz="2025" b="1">
                <a:solidFill>
                  <a:srgbClr val="3F3A38"/>
                </a:solidFill>
                <a:latin typeface="Noto Sans Hans"/>
                <a:ea typeface="Noto Sans Hans"/>
                <a:cs typeface="Noto Sans Hans"/>
              </a:rPr>
              <a:t>康复与机构运营具备近期落地条件，护理和居家陪伴仍需验证利用率</a:t>
            </a:r>
            <a:endParaRPr sz="2025" b="1">
              <a:solidFill>
                <a:srgbClr val="3F3A38"/>
              </a:solidFill>
              <a:latin typeface="Noto Sans Hans"/>
              <a:ea typeface="Noto Sans Hans"/>
              <a:cs typeface="Noto Sans Hans"/>
            </a:endParaRPr>
          </a:p>
        </p:txBody>
      </p:sp>
      <p:sp>
        <p:nvSpPr>
          <p:cNvPr id="4" name="矩形 3"/>
          <p:cNvSpPr>
            <a:spLocks noGrp="1"/>
          </p:cNvSpPr>
          <p:nvPr/>
        </p:nvSpPr>
        <p:spPr>
          <a:xfrm>
            <a:off x="476250" y="657225"/>
            <a:ext cx="11096625" cy="266700"/>
          </a:xfrm>
          <a:prstGeom prst="rect">
            <a:avLst/>
          </a:prstGeom>
          <a:noFill/>
          <a:ln w="0">
            <a:noFill/>
            <a:prstDash val="solid"/>
          </a:ln>
        </p:spPr>
        <p:txBody>
          <a:bodyPr wrap="square" lIns="47625" tIns="19050" rIns="47625" bIns="19050" anchor="ctr">
            <a:normAutofit/>
          </a:bodyPr>
          <a:lstStyle/>
          <a:p>
            <a:pPr algn="l">
              <a:defRPr sz="1125" b="0">
                <a:solidFill>
                  <a:srgbClr val="706A67"/>
                </a:solidFill>
                <a:latin typeface="Noto Sans Hans"/>
                <a:ea typeface="Noto Sans Hans"/>
                <a:cs typeface="Noto Sans Hans"/>
              </a:defRPr>
            </a:pPr>
            <a:r>
              <a:rPr sz="1125" b="0">
                <a:solidFill>
                  <a:srgbClr val="706A67"/>
                </a:solidFill>
                <a:latin typeface="Noto Sans Hans"/>
                <a:ea typeface="Noto Sans Hans"/>
                <a:cs typeface="Noto Sans Hans"/>
              </a:rPr>
              <a:t>产品样本显示护理需求最集中；但从商业闭环和回收期看，康复服务点与机构运营机器人更适合率先规模化</a:t>
            </a:r>
            <a:endParaRPr sz="1125" b="0">
              <a:solidFill>
                <a:srgbClr val="706A67"/>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9D2CE"/>
          </a:solidFill>
          <a:ln w="0">
            <a:noFill/>
            <a:prstDash val="solid"/>
          </a:ln>
        </p:spPr>
      </p:sp>
      <p:sp>
        <p:nvSpPr>
          <p:cNvPr id="6" name="矩形 5"/>
          <p:cNvSpPr>
            <a:spLocks noGrp="1"/>
          </p:cNvSpPr>
          <p:nvPr/>
        </p:nvSpPr>
        <p:spPr>
          <a:xfrm>
            <a:off x="476250" y="1123950"/>
            <a:ext cx="11239500" cy="666750"/>
          </a:xfrm>
          <a:prstGeom prst="rect">
            <a:avLst/>
          </a:prstGeom>
          <a:solidFill>
            <a:srgbClr val="FFF8F7"/>
          </a:solidFill>
          <a:ln w="0">
            <a:noFill/>
            <a:prstDash val="solid"/>
          </a:ln>
        </p:spPr>
      </p:sp>
      <p:sp>
        <p:nvSpPr>
          <p:cNvPr id="7" name="矩形 6"/>
          <p:cNvSpPr>
            <a:spLocks noGrp="1"/>
          </p:cNvSpPr>
          <p:nvPr/>
        </p:nvSpPr>
        <p:spPr>
          <a:xfrm>
            <a:off x="666750" y="1190625"/>
            <a:ext cx="1000125" cy="285750"/>
          </a:xfrm>
          <a:prstGeom prst="rect">
            <a:avLst/>
          </a:prstGeom>
          <a:noFill/>
          <a:ln w="0">
            <a:noFill/>
            <a:prstDash val="solid"/>
          </a:ln>
        </p:spPr>
        <p:txBody>
          <a:bodyPr wrap="square" lIns="47625" tIns="19050" rIns="47625" bIns="19050" anchor="ctr">
            <a:normAutofit/>
          </a:bodyPr>
          <a:lstStyle/>
          <a:p>
            <a:pPr algn="l">
              <a:defRPr sz="1575" b="1">
                <a:solidFill>
                  <a:srgbClr val="CF0712"/>
                </a:solidFill>
                <a:latin typeface="Noto Sans Hans"/>
                <a:ea typeface="Noto Sans Hans"/>
                <a:cs typeface="Noto Sans Hans"/>
              </a:defRPr>
            </a:pPr>
            <a:r>
              <a:rPr sz="1600" b="1">
                <a:solidFill>
                  <a:srgbClr val="CF0712"/>
                </a:solidFill>
                <a:latin typeface="Noto Sans Hans"/>
                <a:ea typeface="Noto Sans Hans"/>
                <a:cs typeface="Noto Sans Hans"/>
              </a:rPr>
              <a:t>3.23亿人</a:t>
            </a:r>
            <a:endParaRPr sz="1600" b="1">
              <a:solidFill>
                <a:srgbClr val="CF0712"/>
              </a:solidFill>
              <a:latin typeface="Noto Sans Hans"/>
              <a:ea typeface="Noto Sans Hans"/>
              <a:cs typeface="Noto Sans Hans"/>
            </a:endParaRPr>
          </a:p>
        </p:txBody>
      </p:sp>
      <p:sp>
        <p:nvSpPr>
          <p:cNvPr id="8" name="矩形 7"/>
          <p:cNvSpPr>
            <a:spLocks noGrp="1"/>
          </p:cNvSpPr>
          <p:nvPr/>
        </p:nvSpPr>
        <p:spPr>
          <a:xfrm>
            <a:off x="666750" y="1476375"/>
            <a:ext cx="1905000" cy="209550"/>
          </a:xfrm>
          <a:prstGeom prst="rect">
            <a:avLst/>
          </a:prstGeom>
          <a:noFill/>
          <a:ln w="0">
            <a:noFill/>
            <a:prstDash val="solid"/>
          </a:ln>
        </p:spPr>
        <p:txBody>
          <a:bodyPr wrap="square" lIns="47625" tIns="19050" rIns="47625" bIns="19050" anchor="ctr">
            <a:normAutofit/>
          </a:bodyPr>
          <a:lstStyle/>
          <a:p>
            <a:pPr algn="l">
              <a:defRPr sz="865" b="0">
                <a:solidFill>
                  <a:srgbClr val="706A67"/>
                </a:solidFill>
                <a:latin typeface="Noto Sans Hans"/>
                <a:ea typeface="Noto Sans Hans"/>
                <a:cs typeface="Noto Sans Hans"/>
              </a:defRPr>
            </a:pPr>
            <a:r>
              <a:rPr sz="970" b="0">
                <a:solidFill>
                  <a:srgbClr val="706A67"/>
                </a:solidFill>
                <a:latin typeface="Noto Sans Hans"/>
                <a:ea typeface="Noto Sans Hans"/>
                <a:cs typeface="Noto Sans Hans"/>
              </a:rPr>
              <a:t>2025年中国60岁及以上人口</a:t>
            </a:r>
            <a:endParaRPr sz="970" b="0">
              <a:solidFill>
                <a:srgbClr val="706A67"/>
              </a:solidFill>
              <a:latin typeface="Noto Sans Hans"/>
              <a:ea typeface="Noto Sans Hans"/>
              <a:cs typeface="Noto Sans Hans"/>
            </a:endParaRPr>
          </a:p>
        </p:txBody>
      </p:sp>
      <p:sp>
        <p:nvSpPr>
          <p:cNvPr id="9" name="矩形 8"/>
          <p:cNvSpPr>
            <a:spLocks noGrp="1"/>
          </p:cNvSpPr>
          <p:nvPr/>
        </p:nvSpPr>
        <p:spPr>
          <a:xfrm>
            <a:off x="2905125" y="1190625"/>
            <a:ext cx="1047750" cy="285750"/>
          </a:xfrm>
          <a:prstGeom prst="rect">
            <a:avLst/>
          </a:prstGeom>
          <a:noFill/>
          <a:ln w="0">
            <a:noFill/>
            <a:prstDash val="solid"/>
          </a:ln>
        </p:spPr>
        <p:txBody>
          <a:bodyPr wrap="square" lIns="47625" tIns="19050" rIns="47625" bIns="19050" anchor="ctr">
            <a:normAutofit/>
          </a:bodyPr>
          <a:lstStyle/>
          <a:p>
            <a:pPr algn="l">
              <a:defRPr sz="1575" b="1">
                <a:solidFill>
                  <a:srgbClr val="CF0712"/>
                </a:solidFill>
                <a:latin typeface="Noto Sans Hans"/>
                <a:ea typeface="Noto Sans Hans"/>
                <a:cs typeface="Noto Sans Hans"/>
              </a:defRPr>
            </a:pPr>
            <a:r>
              <a:rPr sz="1600" b="1">
                <a:solidFill>
                  <a:srgbClr val="CF0712"/>
                </a:solidFill>
                <a:latin typeface="Noto Sans Hans"/>
                <a:ea typeface="Noto Sans Hans"/>
                <a:cs typeface="Noto Sans Hans"/>
              </a:rPr>
              <a:t>1.88亿人</a:t>
            </a:r>
            <a:endParaRPr sz="1600" b="1">
              <a:solidFill>
                <a:srgbClr val="CF0712"/>
              </a:solidFill>
              <a:latin typeface="Noto Sans Hans"/>
              <a:ea typeface="Noto Sans Hans"/>
              <a:cs typeface="Noto Sans Hans"/>
            </a:endParaRPr>
          </a:p>
        </p:txBody>
      </p:sp>
      <p:sp>
        <p:nvSpPr>
          <p:cNvPr id="10" name="矩形 9"/>
          <p:cNvSpPr>
            <a:spLocks noGrp="1"/>
          </p:cNvSpPr>
          <p:nvPr/>
        </p:nvSpPr>
        <p:spPr>
          <a:xfrm>
            <a:off x="2905125" y="1476375"/>
            <a:ext cx="2047875" cy="209550"/>
          </a:xfrm>
          <a:prstGeom prst="rect">
            <a:avLst/>
          </a:prstGeom>
          <a:noFill/>
          <a:ln w="0">
            <a:noFill/>
            <a:prstDash val="solid"/>
          </a:ln>
        </p:spPr>
        <p:txBody>
          <a:bodyPr wrap="square" lIns="47625" tIns="19050" rIns="47625" bIns="19050" anchor="ctr">
            <a:normAutofit/>
          </a:bodyPr>
          <a:lstStyle/>
          <a:p>
            <a:pPr algn="l">
              <a:defRPr sz="865" b="0">
                <a:solidFill>
                  <a:srgbClr val="706A67"/>
                </a:solidFill>
                <a:latin typeface="Noto Sans Hans"/>
                <a:ea typeface="Noto Sans Hans"/>
                <a:cs typeface="Noto Sans Hans"/>
              </a:defRPr>
            </a:pPr>
            <a:r>
              <a:rPr sz="970" b="0">
                <a:solidFill>
                  <a:srgbClr val="706A67"/>
                </a:solidFill>
                <a:latin typeface="Noto Sans Hans"/>
                <a:ea typeface="Noto Sans Hans"/>
                <a:cs typeface="Noto Sans Hans"/>
              </a:rPr>
              <a:t>2024年长期护理保险参保人数</a:t>
            </a:r>
            <a:endParaRPr sz="970" b="0">
              <a:solidFill>
                <a:srgbClr val="706A67"/>
              </a:solidFill>
              <a:latin typeface="Noto Sans Hans"/>
              <a:ea typeface="Noto Sans Hans"/>
              <a:cs typeface="Noto Sans Hans"/>
            </a:endParaRPr>
          </a:p>
        </p:txBody>
      </p:sp>
      <p:sp>
        <p:nvSpPr>
          <p:cNvPr id="11" name="矩形 10"/>
          <p:cNvSpPr>
            <a:spLocks noGrp="1"/>
          </p:cNvSpPr>
          <p:nvPr/>
        </p:nvSpPr>
        <p:spPr>
          <a:xfrm>
            <a:off x="5286375" y="1190625"/>
            <a:ext cx="1000125" cy="285750"/>
          </a:xfrm>
          <a:prstGeom prst="rect">
            <a:avLst/>
          </a:prstGeom>
          <a:noFill/>
          <a:ln w="0">
            <a:noFill/>
            <a:prstDash val="solid"/>
          </a:ln>
        </p:spPr>
        <p:txBody>
          <a:bodyPr wrap="square" lIns="47625" tIns="19050" rIns="47625" bIns="19050" anchor="ctr">
            <a:normAutofit/>
          </a:bodyPr>
          <a:lstStyle/>
          <a:p>
            <a:pPr algn="l">
              <a:defRPr sz="1575" b="1">
                <a:solidFill>
                  <a:srgbClr val="CF0712"/>
                </a:solidFill>
                <a:latin typeface="Noto Sans Hans"/>
                <a:ea typeface="Noto Sans Hans"/>
                <a:cs typeface="Noto Sans Hans"/>
              </a:defRPr>
            </a:pPr>
            <a:r>
              <a:rPr lang="en-US" sz="1600" b="1">
                <a:solidFill>
                  <a:srgbClr val="CF0712"/>
                </a:solidFill>
                <a:latin typeface="Noto Sans Hans"/>
                <a:ea typeface="Noto Sans Hans"/>
                <a:cs typeface="Noto Sans Hans"/>
              </a:rPr>
              <a:t>6</a:t>
            </a:r>
            <a:r>
              <a:rPr lang="zh-CN" altLang="en-US" sz="1600" b="1">
                <a:solidFill>
                  <a:srgbClr val="CF0712"/>
                </a:solidFill>
                <a:latin typeface="Noto Sans Hans"/>
                <a:ea typeface="Noto Sans Hans"/>
                <a:cs typeface="Noto Sans Hans"/>
              </a:rPr>
              <a:t>万</a:t>
            </a:r>
            <a:r>
              <a:rPr lang="en-US" sz="1600" b="1">
                <a:solidFill>
                  <a:srgbClr val="CF0712"/>
                </a:solidFill>
                <a:latin typeface="Noto Sans Hans"/>
                <a:ea typeface="Noto Sans Hans"/>
                <a:cs typeface="Noto Sans Hans"/>
              </a:rPr>
              <a:t>+</a:t>
            </a:r>
            <a:r>
              <a:rPr sz="1600" b="1">
                <a:solidFill>
                  <a:srgbClr val="CF0712"/>
                </a:solidFill>
                <a:latin typeface="Noto Sans Hans"/>
                <a:ea typeface="Noto Sans Hans"/>
                <a:cs typeface="Noto Sans Hans"/>
              </a:rPr>
              <a:t>张</a:t>
            </a:r>
            <a:endParaRPr sz="1600" b="1">
              <a:solidFill>
                <a:srgbClr val="CF0712"/>
              </a:solidFill>
              <a:latin typeface="Noto Sans Hans"/>
              <a:ea typeface="Noto Sans Hans"/>
              <a:cs typeface="Noto Sans Hans"/>
            </a:endParaRPr>
          </a:p>
        </p:txBody>
      </p:sp>
      <p:sp>
        <p:nvSpPr>
          <p:cNvPr id="12" name="矩形 11"/>
          <p:cNvSpPr>
            <a:spLocks noGrp="1"/>
          </p:cNvSpPr>
          <p:nvPr/>
        </p:nvSpPr>
        <p:spPr>
          <a:xfrm>
            <a:off x="5286375" y="1476375"/>
            <a:ext cx="1809750" cy="209550"/>
          </a:xfrm>
          <a:prstGeom prst="rect">
            <a:avLst/>
          </a:prstGeom>
          <a:noFill/>
          <a:ln w="0">
            <a:noFill/>
            <a:prstDash val="solid"/>
          </a:ln>
        </p:spPr>
        <p:txBody>
          <a:bodyPr wrap="square" lIns="47625" tIns="19050" rIns="47625" bIns="19050" anchor="ctr">
            <a:normAutofit/>
          </a:bodyPr>
          <a:lstStyle/>
          <a:p>
            <a:pPr algn="l">
              <a:defRPr sz="865" b="0">
                <a:solidFill>
                  <a:srgbClr val="706A67"/>
                </a:solidFill>
                <a:latin typeface="Noto Sans Hans"/>
                <a:ea typeface="Noto Sans Hans"/>
                <a:cs typeface="Noto Sans Hans"/>
              </a:defRPr>
            </a:pPr>
            <a:r>
              <a:rPr sz="970" b="0">
                <a:solidFill>
                  <a:srgbClr val="706A67"/>
                </a:solidFill>
                <a:latin typeface="Noto Sans Hans"/>
                <a:ea typeface="Noto Sans Hans"/>
                <a:cs typeface="Noto Sans Hans"/>
              </a:rPr>
              <a:t>武汉公开确认养老床位</a:t>
            </a:r>
            <a:endParaRPr sz="970" b="0">
              <a:solidFill>
                <a:srgbClr val="706A67"/>
              </a:solidFill>
              <a:latin typeface="Noto Sans Hans"/>
              <a:ea typeface="Noto Sans Hans"/>
              <a:cs typeface="Noto Sans Hans"/>
            </a:endParaRPr>
          </a:p>
        </p:txBody>
      </p:sp>
      <p:sp>
        <p:nvSpPr>
          <p:cNvPr id="13" name="矩形 12"/>
          <p:cNvSpPr>
            <a:spLocks noGrp="1"/>
          </p:cNvSpPr>
          <p:nvPr/>
        </p:nvSpPr>
        <p:spPr>
          <a:xfrm>
            <a:off x="7715250" y="1200150"/>
            <a:ext cx="762000" cy="247650"/>
          </a:xfrm>
          <a:prstGeom prst="rect">
            <a:avLst/>
          </a:prstGeom>
          <a:noFill/>
          <a:ln w="0">
            <a:noFill/>
            <a:prstDash val="solid"/>
          </a:ln>
        </p:spPr>
        <p:txBody>
          <a:bodyPr wrap="square" lIns="47625" tIns="19050" rIns="47625" bIns="19050" anchor="ctr">
            <a:normAutofit/>
          </a:bodyPr>
          <a:lstStyle/>
          <a:p>
            <a:pPr algn="l">
              <a:defRPr sz="1050" b="1">
                <a:solidFill>
                  <a:srgbClr val="CF0712"/>
                </a:solidFill>
                <a:latin typeface="Noto Sans Hans"/>
                <a:ea typeface="Noto Sans Hans"/>
                <a:cs typeface="Noto Sans Hans"/>
              </a:defRPr>
            </a:pPr>
            <a:r>
              <a:rPr sz="1200" b="1">
                <a:solidFill>
                  <a:srgbClr val="CF0712"/>
                </a:solidFill>
                <a:latin typeface="Noto Sans Hans"/>
                <a:ea typeface="Noto Sans Hans"/>
                <a:cs typeface="Noto Sans Hans"/>
              </a:rPr>
              <a:t>核心判断</a:t>
            </a:r>
            <a:endParaRPr sz="1200" b="1">
              <a:solidFill>
                <a:srgbClr val="CF0712"/>
              </a:solidFill>
              <a:latin typeface="Noto Sans Hans"/>
              <a:ea typeface="Noto Sans Hans"/>
              <a:cs typeface="Noto Sans Hans"/>
            </a:endParaRPr>
          </a:p>
        </p:txBody>
      </p:sp>
      <p:sp>
        <p:nvSpPr>
          <p:cNvPr id="14" name="矩形 13"/>
          <p:cNvSpPr>
            <a:spLocks noGrp="1"/>
          </p:cNvSpPr>
          <p:nvPr/>
        </p:nvSpPr>
        <p:spPr>
          <a:xfrm>
            <a:off x="8477250" y="1162050"/>
            <a:ext cx="3048000" cy="533400"/>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需求基础充足，但项目成败取决于设备利用率、服务收费与运维能力。</a:t>
            </a:r>
            <a:endParaRPr sz="1080" b="1">
              <a:solidFill>
                <a:srgbClr val="3F3A38"/>
              </a:solidFill>
              <a:latin typeface="Noto Sans Hans"/>
              <a:ea typeface="Noto Sans Hans"/>
              <a:cs typeface="Noto Sans Hans"/>
            </a:endParaRPr>
          </a:p>
        </p:txBody>
      </p:sp>
      <p:sp>
        <p:nvSpPr>
          <p:cNvPr id="15" name="矩形 14"/>
          <p:cNvSpPr>
            <a:spLocks noGrp="1"/>
          </p:cNvSpPr>
          <p:nvPr/>
        </p:nvSpPr>
        <p:spPr>
          <a:xfrm>
            <a:off x="476250" y="2000250"/>
            <a:ext cx="3665855" cy="2790825"/>
          </a:xfrm>
          <a:prstGeom prst="rect">
            <a:avLst/>
          </a:prstGeom>
          <a:solidFill>
            <a:srgbClr val="FFFFFF"/>
          </a:solidFill>
          <a:ln w="9525">
            <a:solidFill>
              <a:srgbClr val="D9D2CE"/>
            </a:solidFill>
            <a:prstDash val="solid"/>
          </a:ln>
        </p:spPr>
      </p:sp>
      <p:sp>
        <p:nvSpPr>
          <p:cNvPr id="16" name="矩形 15"/>
          <p:cNvSpPr>
            <a:spLocks noGrp="1"/>
          </p:cNvSpPr>
          <p:nvPr/>
        </p:nvSpPr>
        <p:spPr>
          <a:xfrm>
            <a:off x="4268470" y="2000250"/>
            <a:ext cx="3665855" cy="2790825"/>
          </a:xfrm>
          <a:prstGeom prst="rect">
            <a:avLst/>
          </a:prstGeom>
          <a:solidFill>
            <a:srgbClr val="FFFFFF"/>
          </a:solidFill>
          <a:ln w="9525">
            <a:solidFill>
              <a:srgbClr val="D9D2CE"/>
            </a:solidFill>
            <a:prstDash val="solid"/>
          </a:ln>
        </p:spPr>
      </p:sp>
      <p:sp>
        <p:nvSpPr>
          <p:cNvPr id="17" name="矩形 16"/>
          <p:cNvSpPr>
            <a:spLocks noGrp="1"/>
          </p:cNvSpPr>
          <p:nvPr/>
        </p:nvSpPr>
        <p:spPr>
          <a:xfrm>
            <a:off x="8060690" y="2000250"/>
            <a:ext cx="3665855" cy="2790825"/>
          </a:xfrm>
          <a:prstGeom prst="rect">
            <a:avLst/>
          </a:prstGeom>
          <a:solidFill>
            <a:srgbClr val="FFFFFF"/>
          </a:solidFill>
          <a:ln w="9525">
            <a:solidFill>
              <a:srgbClr val="D9D2CE"/>
            </a:solidFill>
            <a:prstDash val="solid"/>
          </a:ln>
        </p:spPr>
      </p:sp>
      <p:sp>
        <p:nvSpPr>
          <p:cNvPr id="18" name="矩形 17"/>
          <p:cNvSpPr>
            <a:spLocks noGrp="1"/>
          </p:cNvSpPr>
          <p:nvPr/>
        </p:nvSpPr>
        <p:spPr>
          <a:xfrm>
            <a:off x="609600" y="2095500"/>
            <a:ext cx="3371215" cy="266700"/>
          </a:xfrm>
          <a:prstGeom prst="rect">
            <a:avLst/>
          </a:prstGeom>
          <a:noFill/>
          <a:ln w="0">
            <a:noFill/>
            <a:prstDash val="solid"/>
          </a:ln>
        </p:spPr>
        <p:txBody>
          <a:bodyPr wrap="square" lIns="47625" tIns="19050" rIns="47625" bIns="19050" anchor="ctr">
            <a:normAutofit/>
          </a:bodyPr>
          <a:lstStyle/>
          <a:p>
            <a:pPr algn="ctr">
              <a:defRPr sz="1125" b="1">
                <a:solidFill>
                  <a:srgbClr val="3F3A38"/>
                </a:solidFill>
                <a:latin typeface="Noto Sans Hans"/>
                <a:ea typeface="Noto Sans Hans"/>
                <a:cs typeface="Noto Sans Hans"/>
              </a:defRPr>
            </a:pPr>
            <a:r>
              <a:rPr sz="1200" b="1">
                <a:solidFill>
                  <a:srgbClr val="3F3A38"/>
                </a:solidFill>
                <a:latin typeface="Noto Sans Hans"/>
                <a:ea typeface="Noto Sans Hans"/>
                <a:cs typeface="Noto Sans Hans"/>
              </a:rPr>
              <a:t>45个重点产品样本结构</a:t>
            </a:r>
            <a:endParaRPr sz="1200" b="1">
              <a:solidFill>
                <a:srgbClr val="3F3A38"/>
              </a:solidFill>
              <a:latin typeface="Noto Sans Hans"/>
              <a:ea typeface="Noto Sans Hans"/>
              <a:cs typeface="Noto Sans Hans"/>
            </a:endParaRPr>
          </a:p>
        </p:txBody>
      </p:sp>
      <p:sp>
        <p:nvSpPr>
          <p:cNvPr id="19" name="矩形 18"/>
          <p:cNvSpPr>
            <a:spLocks noGrp="1"/>
          </p:cNvSpPr>
          <p:nvPr/>
        </p:nvSpPr>
        <p:spPr>
          <a:xfrm>
            <a:off x="609600" y="2371725"/>
            <a:ext cx="3371215" cy="209550"/>
          </a:xfrm>
          <a:prstGeom prst="rect">
            <a:avLst/>
          </a:prstGeom>
          <a:noFill/>
          <a:ln w="0">
            <a:noFill/>
            <a:prstDash val="solid"/>
          </a:ln>
        </p:spPr>
        <p:txBody>
          <a:bodyPr wrap="square" lIns="47625" tIns="19050" rIns="47625" bIns="19050" anchor="ctr">
            <a:normAutofit/>
          </a:bodyPr>
          <a:lstStyle/>
          <a:p>
            <a:pPr algn="ctr">
              <a:defRPr sz="900" b="1">
                <a:solidFill>
                  <a:srgbClr val="CF0712"/>
                </a:solidFill>
                <a:latin typeface="Noto Sans Hans"/>
                <a:ea typeface="Noto Sans Hans"/>
                <a:cs typeface="Noto Sans Hans"/>
              </a:defRPr>
            </a:pPr>
            <a:r>
              <a:rPr sz="1000" b="1">
                <a:solidFill>
                  <a:srgbClr val="CF0712"/>
                </a:solidFill>
                <a:latin typeface="Noto Sans Hans"/>
                <a:ea typeface="Noto Sans Hans"/>
                <a:cs typeface="Noto Sans Hans"/>
              </a:rPr>
              <a:t>护理与康复合计占62.2%</a:t>
            </a:r>
            <a:endParaRPr sz="1000" b="1">
              <a:solidFill>
                <a:srgbClr val="CF0712"/>
              </a:solidFill>
              <a:latin typeface="Noto Sans Hans"/>
              <a:ea typeface="Noto Sans Hans"/>
              <a:cs typeface="Noto Sans Hans"/>
            </a:endParaRPr>
          </a:p>
        </p:txBody>
      </p:sp>
      <p:sp>
        <p:nvSpPr>
          <p:cNvPr id="20" name="矩形 19"/>
          <p:cNvSpPr>
            <a:spLocks noGrp="1"/>
          </p:cNvSpPr>
          <p:nvPr/>
        </p:nvSpPr>
        <p:spPr>
          <a:xfrm>
            <a:off x="685800" y="2743200"/>
            <a:ext cx="1067435" cy="333375"/>
          </a:xfrm>
          <a:prstGeom prst="rect">
            <a:avLst/>
          </a:prstGeom>
          <a:solidFill>
            <a:srgbClr val="982A32"/>
          </a:solidFill>
          <a:ln w="9525">
            <a:solidFill>
              <a:srgbClr val="FFFFFF"/>
            </a:solidFill>
            <a:prstDash val="solid"/>
          </a:ln>
        </p:spPr>
      </p:sp>
      <p:sp>
        <p:nvSpPr>
          <p:cNvPr id="21" name="矩形 20"/>
          <p:cNvSpPr>
            <a:spLocks noGrp="1"/>
          </p:cNvSpPr>
          <p:nvPr/>
        </p:nvSpPr>
        <p:spPr>
          <a:xfrm>
            <a:off x="685800" y="2781300"/>
            <a:ext cx="1067435" cy="257175"/>
          </a:xfrm>
          <a:prstGeom prst="rect">
            <a:avLst/>
          </a:prstGeom>
          <a:noFill/>
          <a:ln w="0">
            <a:noFill/>
            <a:prstDash val="solid"/>
          </a:ln>
        </p:spPr>
        <p:txBody>
          <a:bodyPr wrap="square" lIns="47625" tIns="19050" rIns="47625" bIns="19050" anchor="ctr">
            <a:normAutofit/>
          </a:bodyPr>
          <a:lstStyle/>
          <a:p>
            <a:pPr algn="ctr">
              <a:defRPr sz="865" b="1">
                <a:solidFill>
                  <a:srgbClr val="FFFFFF"/>
                </a:solidFill>
                <a:latin typeface="Noto Sans Hans"/>
                <a:ea typeface="Noto Sans Hans"/>
                <a:cs typeface="Noto Sans Hans"/>
              </a:defRPr>
            </a:pPr>
            <a:r>
              <a:rPr sz="970" b="1">
                <a:solidFill>
                  <a:srgbClr val="FFFFFF"/>
                </a:solidFill>
                <a:latin typeface="Noto Sans Hans"/>
                <a:ea typeface="Noto Sans Hans"/>
                <a:cs typeface="Noto Sans Hans"/>
              </a:rPr>
              <a:t>护理</a:t>
            </a:r>
            <a:endParaRPr sz="970" b="1">
              <a:solidFill>
                <a:srgbClr val="FFFFFF"/>
              </a:solidFill>
              <a:latin typeface="Noto Sans Hans"/>
              <a:ea typeface="Noto Sans Hans"/>
              <a:cs typeface="Noto Sans Hans"/>
            </a:endParaRPr>
          </a:p>
        </p:txBody>
      </p:sp>
      <p:sp>
        <p:nvSpPr>
          <p:cNvPr id="22" name="矩形 21"/>
          <p:cNvSpPr>
            <a:spLocks noGrp="1"/>
          </p:cNvSpPr>
          <p:nvPr/>
        </p:nvSpPr>
        <p:spPr>
          <a:xfrm>
            <a:off x="1651000" y="2743200"/>
            <a:ext cx="924560" cy="333375"/>
          </a:xfrm>
          <a:prstGeom prst="rect">
            <a:avLst/>
          </a:prstGeom>
          <a:solidFill>
            <a:srgbClr val="CF0712"/>
          </a:solidFill>
          <a:ln w="9525">
            <a:solidFill>
              <a:srgbClr val="FFFFFF"/>
            </a:solidFill>
            <a:prstDash val="solid"/>
          </a:ln>
        </p:spPr>
      </p:sp>
      <p:sp>
        <p:nvSpPr>
          <p:cNvPr id="23" name="矩形 22"/>
          <p:cNvSpPr>
            <a:spLocks noGrp="1"/>
          </p:cNvSpPr>
          <p:nvPr/>
        </p:nvSpPr>
        <p:spPr>
          <a:xfrm>
            <a:off x="1651000" y="2781300"/>
            <a:ext cx="924560" cy="257175"/>
          </a:xfrm>
          <a:prstGeom prst="rect">
            <a:avLst/>
          </a:prstGeom>
          <a:noFill/>
          <a:ln w="0">
            <a:noFill/>
            <a:prstDash val="solid"/>
          </a:ln>
        </p:spPr>
        <p:txBody>
          <a:bodyPr wrap="square" lIns="47625" tIns="19050" rIns="47625" bIns="19050" anchor="ctr">
            <a:normAutofit/>
          </a:bodyPr>
          <a:lstStyle/>
          <a:p>
            <a:pPr algn="ctr">
              <a:defRPr sz="865" b="1">
                <a:solidFill>
                  <a:srgbClr val="FFFFFF"/>
                </a:solidFill>
                <a:latin typeface="Noto Sans Hans"/>
                <a:ea typeface="Noto Sans Hans"/>
                <a:cs typeface="Noto Sans Hans"/>
              </a:defRPr>
            </a:pPr>
            <a:r>
              <a:rPr sz="970" b="1">
                <a:solidFill>
                  <a:srgbClr val="FFFFFF"/>
                </a:solidFill>
                <a:latin typeface="Noto Sans Hans"/>
                <a:ea typeface="Noto Sans Hans"/>
                <a:cs typeface="Noto Sans Hans"/>
              </a:rPr>
              <a:t>康复</a:t>
            </a:r>
            <a:endParaRPr sz="970" b="1">
              <a:solidFill>
                <a:srgbClr val="FFFFFF"/>
              </a:solidFill>
              <a:latin typeface="Noto Sans Hans"/>
              <a:ea typeface="Noto Sans Hans"/>
              <a:cs typeface="Noto Sans Hans"/>
            </a:endParaRPr>
          </a:p>
        </p:txBody>
      </p:sp>
      <p:sp>
        <p:nvSpPr>
          <p:cNvPr id="24" name="矩形 23"/>
          <p:cNvSpPr>
            <a:spLocks noGrp="1"/>
          </p:cNvSpPr>
          <p:nvPr/>
        </p:nvSpPr>
        <p:spPr>
          <a:xfrm>
            <a:off x="2487295" y="2743200"/>
            <a:ext cx="640080" cy="333375"/>
          </a:xfrm>
          <a:prstGeom prst="rect">
            <a:avLst/>
          </a:prstGeom>
          <a:solidFill>
            <a:srgbClr val="C94A24"/>
          </a:solidFill>
          <a:ln w="9525">
            <a:solidFill>
              <a:srgbClr val="FFFFFF"/>
            </a:solidFill>
            <a:prstDash val="solid"/>
          </a:ln>
        </p:spPr>
      </p:sp>
      <p:sp>
        <p:nvSpPr>
          <p:cNvPr id="25" name="矩形 24"/>
          <p:cNvSpPr>
            <a:spLocks noGrp="1"/>
          </p:cNvSpPr>
          <p:nvPr/>
        </p:nvSpPr>
        <p:spPr>
          <a:xfrm>
            <a:off x="2487295" y="2781300"/>
            <a:ext cx="640080" cy="257175"/>
          </a:xfrm>
          <a:prstGeom prst="rect">
            <a:avLst/>
          </a:prstGeom>
          <a:noFill/>
          <a:ln w="0">
            <a:noFill/>
            <a:prstDash val="solid"/>
          </a:ln>
        </p:spPr>
        <p:txBody>
          <a:bodyPr wrap="square" lIns="47625" tIns="19050" rIns="47625" bIns="19050" anchor="ctr">
            <a:normAutofit/>
          </a:bodyPr>
          <a:lstStyle/>
          <a:p>
            <a:pPr algn="ctr">
              <a:defRPr sz="865" b="1">
                <a:solidFill>
                  <a:srgbClr val="FFFFFF"/>
                </a:solidFill>
                <a:latin typeface="Noto Sans Hans"/>
                <a:ea typeface="Noto Sans Hans"/>
                <a:cs typeface="Noto Sans Hans"/>
              </a:defRPr>
            </a:pPr>
            <a:r>
              <a:rPr sz="970" b="1">
                <a:solidFill>
                  <a:srgbClr val="FFFFFF"/>
                </a:solidFill>
                <a:latin typeface="Noto Sans Hans"/>
                <a:ea typeface="Noto Sans Hans"/>
                <a:cs typeface="Noto Sans Hans"/>
              </a:rPr>
              <a:t>陪伴</a:t>
            </a:r>
            <a:endParaRPr sz="970" b="1">
              <a:solidFill>
                <a:srgbClr val="FFFFFF"/>
              </a:solidFill>
              <a:latin typeface="Noto Sans Hans"/>
              <a:ea typeface="Noto Sans Hans"/>
              <a:cs typeface="Noto Sans Hans"/>
            </a:endParaRPr>
          </a:p>
        </p:txBody>
      </p:sp>
      <p:sp>
        <p:nvSpPr>
          <p:cNvPr id="26" name="矩形 25"/>
          <p:cNvSpPr>
            <a:spLocks noGrp="1"/>
          </p:cNvSpPr>
          <p:nvPr/>
        </p:nvSpPr>
        <p:spPr>
          <a:xfrm>
            <a:off x="3066415" y="2743200"/>
            <a:ext cx="568960" cy="333375"/>
          </a:xfrm>
          <a:prstGeom prst="rect">
            <a:avLst/>
          </a:prstGeom>
          <a:solidFill>
            <a:srgbClr val="D9A596"/>
          </a:solidFill>
          <a:ln w="9525">
            <a:solidFill>
              <a:srgbClr val="FFFFFF"/>
            </a:solidFill>
            <a:prstDash val="solid"/>
          </a:ln>
        </p:spPr>
      </p:sp>
      <p:sp>
        <p:nvSpPr>
          <p:cNvPr id="27" name="矩形 26"/>
          <p:cNvSpPr>
            <a:spLocks noGrp="1"/>
          </p:cNvSpPr>
          <p:nvPr/>
        </p:nvSpPr>
        <p:spPr>
          <a:xfrm>
            <a:off x="3066415" y="2781300"/>
            <a:ext cx="568960" cy="257175"/>
          </a:xfrm>
          <a:prstGeom prst="rect">
            <a:avLst/>
          </a:prstGeom>
          <a:noFill/>
          <a:ln w="0">
            <a:noFill/>
            <a:prstDash val="solid"/>
          </a:ln>
        </p:spPr>
        <p:txBody>
          <a:bodyPr wrap="square" lIns="47625" tIns="19050" rIns="47625" bIns="19050" anchor="ctr">
            <a:normAutofit/>
          </a:bodyPr>
          <a:lstStyle/>
          <a:p>
            <a:pPr algn="ctr">
              <a:defRPr sz="865" b="1">
                <a:solidFill>
                  <a:srgbClr val="FFFFFF"/>
                </a:solidFill>
                <a:latin typeface="Noto Sans Hans"/>
                <a:ea typeface="Noto Sans Hans"/>
                <a:cs typeface="Noto Sans Hans"/>
              </a:defRPr>
            </a:pPr>
            <a:r>
              <a:rPr sz="970" b="1">
                <a:solidFill>
                  <a:srgbClr val="FFFFFF"/>
                </a:solidFill>
                <a:latin typeface="Noto Sans Hans"/>
                <a:ea typeface="Noto Sans Hans"/>
                <a:cs typeface="Noto Sans Hans"/>
              </a:rPr>
              <a:t>其他</a:t>
            </a:r>
            <a:endParaRPr sz="970" b="1">
              <a:solidFill>
                <a:srgbClr val="FFFFFF"/>
              </a:solidFill>
              <a:latin typeface="Noto Sans Hans"/>
              <a:ea typeface="Noto Sans Hans"/>
              <a:cs typeface="Noto Sans Hans"/>
            </a:endParaRPr>
          </a:p>
        </p:txBody>
      </p:sp>
      <p:sp>
        <p:nvSpPr>
          <p:cNvPr id="28" name="矩形 27"/>
          <p:cNvSpPr>
            <a:spLocks noGrp="1"/>
          </p:cNvSpPr>
          <p:nvPr/>
        </p:nvSpPr>
        <p:spPr>
          <a:xfrm>
            <a:off x="762000" y="3352800"/>
            <a:ext cx="125730" cy="114300"/>
          </a:xfrm>
          <a:prstGeom prst="rect">
            <a:avLst/>
          </a:prstGeom>
          <a:solidFill>
            <a:srgbClr val="982A32"/>
          </a:solidFill>
          <a:ln w="0">
            <a:noFill/>
            <a:prstDash val="solid"/>
          </a:ln>
        </p:spPr>
      </p:sp>
      <p:sp>
        <p:nvSpPr>
          <p:cNvPr id="29" name="矩形 28"/>
          <p:cNvSpPr>
            <a:spLocks noGrp="1"/>
          </p:cNvSpPr>
          <p:nvPr/>
        </p:nvSpPr>
        <p:spPr>
          <a:xfrm>
            <a:off x="952500" y="3286125"/>
            <a:ext cx="821690" cy="247650"/>
          </a:xfrm>
          <a:prstGeom prst="rect">
            <a:avLst/>
          </a:prstGeom>
          <a:noFill/>
          <a:ln w="0">
            <a:noFill/>
            <a:prstDash val="solid"/>
          </a:ln>
        </p:spPr>
        <p:txBody>
          <a:bodyPr wrap="square" lIns="47625" tIns="19050" rIns="47625" bIns="19050" anchor="ctr">
            <a:normAutofit/>
          </a:bodyPr>
          <a:lstStyle/>
          <a:p>
            <a:pPr algn="l">
              <a:defRPr sz="940" b="1">
                <a:solidFill>
                  <a:srgbClr val="3F3A38"/>
                </a:solidFill>
                <a:latin typeface="Noto Sans Hans"/>
                <a:ea typeface="Noto Sans Hans"/>
                <a:cs typeface="Noto Sans Hans"/>
              </a:defRPr>
            </a:pPr>
            <a:r>
              <a:rPr sz="1040" b="1">
                <a:solidFill>
                  <a:srgbClr val="3F3A38"/>
                </a:solidFill>
                <a:latin typeface="Noto Sans Hans"/>
                <a:ea typeface="Noto Sans Hans"/>
                <a:cs typeface="Noto Sans Hans"/>
              </a:rPr>
              <a:t>护理</a:t>
            </a:r>
            <a:endParaRPr sz="1040" b="1">
              <a:solidFill>
                <a:srgbClr val="3F3A38"/>
              </a:solidFill>
              <a:latin typeface="Noto Sans Hans"/>
              <a:ea typeface="Noto Sans Hans"/>
              <a:cs typeface="Noto Sans Hans"/>
            </a:endParaRPr>
          </a:p>
        </p:txBody>
      </p:sp>
      <p:sp>
        <p:nvSpPr>
          <p:cNvPr id="30" name="矩形 29"/>
          <p:cNvSpPr>
            <a:spLocks noGrp="1"/>
          </p:cNvSpPr>
          <p:nvPr/>
        </p:nvSpPr>
        <p:spPr>
          <a:xfrm>
            <a:off x="1714500" y="3286125"/>
            <a:ext cx="631190" cy="247650"/>
          </a:xfrm>
          <a:prstGeom prst="rect">
            <a:avLst/>
          </a:prstGeom>
          <a:noFill/>
          <a:ln w="0">
            <a:noFill/>
            <a:prstDash val="solid"/>
          </a:ln>
        </p:spPr>
        <p:txBody>
          <a:bodyPr wrap="square" lIns="47625" tIns="19050" rIns="47625" bIns="19050" anchor="ctr">
            <a:normAutofit/>
          </a:bodyPr>
          <a:lstStyle/>
          <a:p>
            <a:pPr algn="r">
              <a:defRPr sz="975" b="1">
                <a:solidFill>
                  <a:srgbClr val="CF0712"/>
                </a:solidFill>
                <a:latin typeface="Noto Sans Hans"/>
                <a:ea typeface="Noto Sans Hans"/>
                <a:cs typeface="Noto Sans Hans"/>
              </a:defRPr>
            </a:pPr>
            <a:r>
              <a:rPr sz="1080" b="1">
                <a:solidFill>
                  <a:srgbClr val="CF0712"/>
                </a:solidFill>
                <a:latin typeface="Noto Sans Hans"/>
                <a:ea typeface="Noto Sans Hans"/>
                <a:cs typeface="Noto Sans Hans"/>
              </a:rPr>
              <a:t>15项</a:t>
            </a:r>
            <a:endParaRPr sz="1080" b="1">
              <a:solidFill>
                <a:srgbClr val="CF0712"/>
              </a:solidFill>
              <a:latin typeface="Noto Sans Hans"/>
              <a:ea typeface="Noto Sans Hans"/>
              <a:cs typeface="Noto Sans Hans"/>
            </a:endParaRPr>
          </a:p>
        </p:txBody>
      </p:sp>
      <p:sp>
        <p:nvSpPr>
          <p:cNvPr id="31" name="矩形 30"/>
          <p:cNvSpPr>
            <a:spLocks noGrp="1"/>
          </p:cNvSpPr>
          <p:nvPr/>
        </p:nvSpPr>
        <p:spPr>
          <a:xfrm>
            <a:off x="2428875" y="3362325"/>
            <a:ext cx="1158240" cy="95250"/>
          </a:xfrm>
          <a:prstGeom prst="rect">
            <a:avLst/>
          </a:prstGeom>
          <a:solidFill>
            <a:srgbClr val="EEE8E5"/>
          </a:solidFill>
          <a:ln w="0">
            <a:noFill/>
            <a:prstDash val="solid"/>
          </a:ln>
        </p:spPr>
      </p:sp>
      <p:sp>
        <p:nvSpPr>
          <p:cNvPr id="32" name="矩形 31"/>
          <p:cNvSpPr>
            <a:spLocks noGrp="1"/>
          </p:cNvSpPr>
          <p:nvPr/>
        </p:nvSpPr>
        <p:spPr>
          <a:xfrm>
            <a:off x="2428875" y="3362325"/>
            <a:ext cx="1158240" cy="95250"/>
          </a:xfrm>
          <a:prstGeom prst="rect">
            <a:avLst/>
          </a:prstGeom>
          <a:solidFill>
            <a:srgbClr val="982A32"/>
          </a:solidFill>
          <a:ln w="0">
            <a:noFill/>
            <a:prstDash val="solid"/>
          </a:ln>
        </p:spPr>
      </p:sp>
      <p:sp>
        <p:nvSpPr>
          <p:cNvPr id="33" name="矩形 32"/>
          <p:cNvSpPr>
            <a:spLocks noGrp="1"/>
          </p:cNvSpPr>
          <p:nvPr/>
        </p:nvSpPr>
        <p:spPr>
          <a:xfrm>
            <a:off x="762000" y="3676650"/>
            <a:ext cx="125730" cy="114300"/>
          </a:xfrm>
          <a:prstGeom prst="rect">
            <a:avLst/>
          </a:prstGeom>
          <a:solidFill>
            <a:srgbClr val="CF0712"/>
          </a:solidFill>
          <a:ln w="0">
            <a:noFill/>
            <a:prstDash val="solid"/>
          </a:ln>
        </p:spPr>
      </p:sp>
      <p:sp>
        <p:nvSpPr>
          <p:cNvPr id="34" name="矩形 33"/>
          <p:cNvSpPr>
            <a:spLocks noGrp="1"/>
          </p:cNvSpPr>
          <p:nvPr/>
        </p:nvSpPr>
        <p:spPr>
          <a:xfrm>
            <a:off x="952500" y="3609975"/>
            <a:ext cx="821690" cy="247650"/>
          </a:xfrm>
          <a:prstGeom prst="rect">
            <a:avLst/>
          </a:prstGeom>
          <a:noFill/>
          <a:ln w="0">
            <a:noFill/>
            <a:prstDash val="solid"/>
          </a:ln>
        </p:spPr>
        <p:txBody>
          <a:bodyPr wrap="square" lIns="47625" tIns="19050" rIns="47625" bIns="19050" anchor="ctr">
            <a:normAutofit/>
          </a:bodyPr>
          <a:lstStyle/>
          <a:p>
            <a:pPr algn="l">
              <a:defRPr sz="940" b="1">
                <a:solidFill>
                  <a:srgbClr val="3F3A38"/>
                </a:solidFill>
                <a:latin typeface="Noto Sans Hans"/>
                <a:ea typeface="Noto Sans Hans"/>
                <a:cs typeface="Noto Sans Hans"/>
              </a:defRPr>
            </a:pPr>
            <a:r>
              <a:rPr sz="1040" b="1">
                <a:solidFill>
                  <a:srgbClr val="3F3A38"/>
                </a:solidFill>
                <a:latin typeface="Noto Sans Hans"/>
                <a:ea typeface="Noto Sans Hans"/>
                <a:cs typeface="Noto Sans Hans"/>
              </a:rPr>
              <a:t>康复</a:t>
            </a:r>
            <a:endParaRPr sz="1040" b="1">
              <a:solidFill>
                <a:srgbClr val="3F3A38"/>
              </a:solidFill>
              <a:latin typeface="Noto Sans Hans"/>
              <a:ea typeface="Noto Sans Hans"/>
              <a:cs typeface="Noto Sans Hans"/>
            </a:endParaRPr>
          </a:p>
        </p:txBody>
      </p:sp>
      <p:sp>
        <p:nvSpPr>
          <p:cNvPr id="35" name="矩形 34"/>
          <p:cNvSpPr>
            <a:spLocks noGrp="1"/>
          </p:cNvSpPr>
          <p:nvPr/>
        </p:nvSpPr>
        <p:spPr>
          <a:xfrm>
            <a:off x="1714500" y="3609975"/>
            <a:ext cx="631190" cy="247650"/>
          </a:xfrm>
          <a:prstGeom prst="rect">
            <a:avLst/>
          </a:prstGeom>
          <a:noFill/>
          <a:ln w="0">
            <a:noFill/>
            <a:prstDash val="solid"/>
          </a:ln>
        </p:spPr>
        <p:txBody>
          <a:bodyPr wrap="square" lIns="47625" tIns="19050" rIns="47625" bIns="19050" anchor="ctr">
            <a:normAutofit/>
          </a:bodyPr>
          <a:lstStyle/>
          <a:p>
            <a:pPr algn="r">
              <a:defRPr sz="975" b="1">
                <a:solidFill>
                  <a:srgbClr val="CF0712"/>
                </a:solidFill>
                <a:latin typeface="Noto Sans Hans"/>
                <a:ea typeface="Noto Sans Hans"/>
                <a:cs typeface="Noto Sans Hans"/>
              </a:defRPr>
            </a:pPr>
            <a:r>
              <a:rPr sz="1080" b="1">
                <a:solidFill>
                  <a:srgbClr val="CF0712"/>
                </a:solidFill>
                <a:latin typeface="Noto Sans Hans"/>
                <a:ea typeface="Noto Sans Hans"/>
                <a:cs typeface="Noto Sans Hans"/>
              </a:rPr>
              <a:t>13项</a:t>
            </a:r>
            <a:endParaRPr sz="1080" b="1">
              <a:solidFill>
                <a:srgbClr val="CF0712"/>
              </a:solidFill>
              <a:latin typeface="Noto Sans Hans"/>
              <a:ea typeface="Noto Sans Hans"/>
              <a:cs typeface="Noto Sans Hans"/>
            </a:endParaRPr>
          </a:p>
        </p:txBody>
      </p:sp>
      <p:sp>
        <p:nvSpPr>
          <p:cNvPr id="36" name="矩形 35"/>
          <p:cNvSpPr>
            <a:spLocks noGrp="1"/>
          </p:cNvSpPr>
          <p:nvPr/>
        </p:nvSpPr>
        <p:spPr>
          <a:xfrm>
            <a:off x="2428875" y="3686175"/>
            <a:ext cx="1158240" cy="95250"/>
          </a:xfrm>
          <a:prstGeom prst="rect">
            <a:avLst/>
          </a:prstGeom>
          <a:solidFill>
            <a:srgbClr val="EEE8E5"/>
          </a:solidFill>
          <a:ln w="0">
            <a:noFill/>
            <a:prstDash val="solid"/>
          </a:ln>
        </p:spPr>
      </p:sp>
      <p:sp>
        <p:nvSpPr>
          <p:cNvPr id="37" name="矩形 36"/>
          <p:cNvSpPr>
            <a:spLocks noGrp="1"/>
          </p:cNvSpPr>
          <p:nvPr/>
        </p:nvSpPr>
        <p:spPr>
          <a:xfrm>
            <a:off x="2428875" y="3686175"/>
            <a:ext cx="1003935" cy="95250"/>
          </a:xfrm>
          <a:prstGeom prst="rect">
            <a:avLst/>
          </a:prstGeom>
          <a:solidFill>
            <a:srgbClr val="CF0712"/>
          </a:solidFill>
          <a:ln w="0">
            <a:noFill/>
            <a:prstDash val="solid"/>
          </a:ln>
        </p:spPr>
      </p:sp>
      <p:sp>
        <p:nvSpPr>
          <p:cNvPr id="38" name="矩形 37"/>
          <p:cNvSpPr>
            <a:spLocks noGrp="1"/>
          </p:cNvSpPr>
          <p:nvPr/>
        </p:nvSpPr>
        <p:spPr>
          <a:xfrm>
            <a:off x="762000" y="4000500"/>
            <a:ext cx="125730" cy="114300"/>
          </a:xfrm>
          <a:prstGeom prst="rect">
            <a:avLst/>
          </a:prstGeom>
          <a:solidFill>
            <a:srgbClr val="C94A24"/>
          </a:solidFill>
          <a:ln w="0">
            <a:noFill/>
            <a:prstDash val="solid"/>
          </a:ln>
        </p:spPr>
      </p:sp>
      <p:sp>
        <p:nvSpPr>
          <p:cNvPr id="39" name="矩形 38"/>
          <p:cNvSpPr>
            <a:spLocks noGrp="1"/>
          </p:cNvSpPr>
          <p:nvPr/>
        </p:nvSpPr>
        <p:spPr>
          <a:xfrm>
            <a:off x="952500" y="3933825"/>
            <a:ext cx="821690" cy="247650"/>
          </a:xfrm>
          <a:prstGeom prst="rect">
            <a:avLst/>
          </a:prstGeom>
          <a:noFill/>
          <a:ln w="0">
            <a:noFill/>
            <a:prstDash val="solid"/>
          </a:ln>
        </p:spPr>
        <p:txBody>
          <a:bodyPr wrap="square" lIns="47625" tIns="19050" rIns="47625" bIns="19050" anchor="ctr">
            <a:normAutofit/>
          </a:bodyPr>
          <a:lstStyle/>
          <a:p>
            <a:pPr algn="l">
              <a:defRPr sz="940" b="1">
                <a:solidFill>
                  <a:srgbClr val="3F3A38"/>
                </a:solidFill>
                <a:latin typeface="Noto Sans Hans"/>
                <a:ea typeface="Noto Sans Hans"/>
                <a:cs typeface="Noto Sans Hans"/>
              </a:defRPr>
            </a:pPr>
            <a:r>
              <a:rPr sz="1040" b="1">
                <a:solidFill>
                  <a:srgbClr val="3F3A38"/>
                </a:solidFill>
                <a:latin typeface="Noto Sans Hans"/>
                <a:ea typeface="Noto Sans Hans"/>
                <a:cs typeface="Noto Sans Hans"/>
              </a:rPr>
              <a:t>陪伴</a:t>
            </a:r>
            <a:endParaRPr sz="1040" b="1">
              <a:solidFill>
                <a:srgbClr val="3F3A38"/>
              </a:solidFill>
              <a:latin typeface="Noto Sans Hans"/>
              <a:ea typeface="Noto Sans Hans"/>
              <a:cs typeface="Noto Sans Hans"/>
            </a:endParaRPr>
          </a:p>
        </p:txBody>
      </p:sp>
      <p:sp>
        <p:nvSpPr>
          <p:cNvPr id="40" name="矩形 39"/>
          <p:cNvSpPr>
            <a:spLocks noGrp="1"/>
          </p:cNvSpPr>
          <p:nvPr/>
        </p:nvSpPr>
        <p:spPr>
          <a:xfrm>
            <a:off x="1714500" y="3933825"/>
            <a:ext cx="631190" cy="247650"/>
          </a:xfrm>
          <a:prstGeom prst="rect">
            <a:avLst/>
          </a:prstGeom>
          <a:noFill/>
          <a:ln w="0">
            <a:noFill/>
            <a:prstDash val="solid"/>
          </a:ln>
        </p:spPr>
        <p:txBody>
          <a:bodyPr wrap="square" lIns="47625" tIns="19050" rIns="47625" bIns="19050" anchor="ctr">
            <a:normAutofit/>
          </a:bodyPr>
          <a:lstStyle/>
          <a:p>
            <a:pPr algn="r">
              <a:defRPr sz="975" b="1">
                <a:solidFill>
                  <a:srgbClr val="CF0712"/>
                </a:solidFill>
                <a:latin typeface="Noto Sans Hans"/>
                <a:ea typeface="Noto Sans Hans"/>
                <a:cs typeface="Noto Sans Hans"/>
              </a:defRPr>
            </a:pPr>
            <a:r>
              <a:rPr sz="1080" b="1">
                <a:solidFill>
                  <a:srgbClr val="CF0712"/>
                </a:solidFill>
                <a:latin typeface="Noto Sans Hans"/>
                <a:ea typeface="Noto Sans Hans"/>
                <a:cs typeface="Noto Sans Hans"/>
              </a:rPr>
              <a:t>9项</a:t>
            </a:r>
            <a:endParaRPr sz="1080" b="1">
              <a:solidFill>
                <a:srgbClr val="CF0712"/>
              </a:solidFill>
              <a:latin typeface="Noto Sans Hans"/>
              <a:ea typeface="Noto Sans Hans"/>
              <a:cs typeface="Noto Sans Hans"/>
            </a:endParaRPr>
          </a:p>
        </p:txBody>
      </p:sp>
      <p:sp>
        <p:nvSpPr>
          <p:cNvPr id="41" name="矩形 40"/>
          <p:cNvSpPr>
            <a:spLocks noGrp="1"/>
          </p:cNvSpPr>
          <p:nvPr/>
        </p:nvSpPr>
        <p:spPr>
          <a:xfrm>
            <a:off x="2428875" y="4010025"/>
            <a:ext cx="1158240" cy="95250"/>
          </a:xfrm>
          <a:prstGeom prst="rect">
            <a:avLst/>
          </a:prstGeom>
          <a:solidFill>
            <a:srgbClr val="EEE8E5"/>
          </a:solidFill>
          <a:ln w="0">
            <a:noFill/>
            <a:prstDash val="solid"/>
          </a:ln>
        </p:spPr>
      </p:sp>
      <p:sp>
        <p:nvSpPr>
          <p:cNvPr id="42" name="矩形 41"/>
          <p:cNvSpPr>
            <a:spLocks noGrp="1"/>
          </p:cNvSpPr>
          <p:nvPr/>
        </p:nvSpPr>
        <p:spPr>
          <a:xfrm>
            <a:off x="2428875" y="4010025"/>
            <a:ext cx="694690" cy="95250"/>
          </a:xfrm>
          <a:prstGeom prst="rect">
            <a:avLst/>
          </a:prstGeom>
          <a:solidFill>
            <a:srgbClr val="C94A24"/>
          </a:solidFill>
          <a:ln w="0">
            <a:noFill/>
            <a:prstDash val="solid"/>
          </a:ln>
        </p:spPr>
      </p:sp>
      <p:sp>
        <p:nvSpPr>
          <p:cNvPr id="43" name="矩形 42"/>
          <p:cNvSpPr>
            <a:spLocks noGrp="1"/>
          </p:cNvSpPr>
          <p:nvPr/>
        </p:nvSpPr>
        <p:spPr>
          <a:xfrm>
            <a:off x="762000" y="4324350"/>
            <a:ext cx="125730" cy="114300"/>
          </a:xfrm>
          <a:prstGeom prst="rect">
            <a:avLst/>
          </a:prstGeom>
          <a:solidFill>
            <a:srgbClr val="D9A596"/>
          </a:solidFill>
          <a:ln w="0">
            <a:noFill/>
            <a:prstDash val="solid"/>
          </a:ln>
        </p:spPr>
      </p:sp>
      <p:sp>
        <p:nvSpPr>
          <p:cNvPr id="44" name="矩形 43"/>
          <p:cNvSpPr>
            <a:spLocks noGrp="1"/>
          </p:cNvSpPr>
          <p:nvPr/>
        </p:nvSpPr>
        <p:spPr>
          <a:xfrm>
            <a:off x="952500" y="4257675"/>
            <a:ext cx="821690" cy="247650"/>
          </a:xfrm>
          <a:prstGeom prst="rect">
            <a:avLst/>
          </a:prstGeom>
          <a:noFill/>
          <a:ln w="0">
            <a:noFill/>
            <a:prstDash val="solid"/>
          </a:ln>
        </p:spPr>
        <p:txBody>
          <a:bodyPr wrap="square" lIns="47625" tIns="19050" rIns="47625" bIns="19050" anchor="ctr">
            <a:normAutofit/>
          </a:bodyPr>
          <a:lstStyle/>
          <a:p>
            <a:pPr algn="l">
              <a:defRPr sz="940" b="1">
                <a:solidFill>
                  <a:srgbClr val="3F3A38"/>
                </a:solidFill>
                <a:latin typeface="Noto Sans Hans"/>
                <a:ea typeface="Noto Sans Hans"/>
                <a:cs typeface="Noto Sans Hans"/>
              </a:defRPr>
            </a:pPr>
            <a:r>
              <a:rPr sz="1040" b="1">
                <a:solidFill>
                  <a:srgbClr val="3F3A38"/>
                </a:solidFill>
                <a:latin typeface="Noto Sans Hans"/>
                <a:ea typeface="Noto Sans Hans"/>
                <a:cs typeface="Noto Sans Hans"/>
              </a:rPr>
              <a:t>其他</a:t>
            </a:r>
            <a:endParaRPr sz="1040" b="1">
              <a:solidFill>
                <a:srgbClr val="3F3A38"/>
              </a:solidFill>
              <a:latin typeface="Noto Sans Hans"/>
              <a:ea typeface="Noto Sans Hans"/>
              <a:cs typeface="Noto Sans Hans"/>
            </a:endParaRPr>
          </a:p>
        </p:txBody>
      </p:sp>
      <p:sp>
        <p:nvSpPr>
          <p:cNvPr id="45" name="矩形 44"/>
          <p:cNvSpPr>
            <a:spLocks noGrp="1"/>
          </p:cNvSpPr>
          <p:nvPr/>
        </p:nvSpPr>
        <p:spPr>
          <a:xfrm>
            <a:off x="1714500" y="4257675"/>
            <a:ext cx="631190" cy="247650"/>
          </a:xfrm>
          <a:prstGeom prst="rect">
            <a:avLst/>
          </a:prstGeom>
          <a:noFill/>
          <a:ln w="0">
            <a:noFill/>
            <a:prstDash val="solid"/>
          </a:ln>
        </p:spPr>
        <p:txBody>
          <a:bodyPr wrap="square" lIns="47625" tIns="19050" rIns="47625" bIns="19050" anchor="ctr">
            <a:normAutofit/>
          </a:bodyPr>
          <a:lstStyle/>
          <a:p>
            <a:pPr algn="r">
              <a:defRPr sz="975" b="1">
                <a:solidFill>
                  <a:srgbClr val="CF0712"/>
                </a:solidFill>
                <a:latin typeface="Noto Sans Hans"/>
                <a:ea typeface="Noto Sans Hans"/>
                <a:cs typeface="Noto Sans Hans"/>
              </a:defRPr>
            </a:pPr>
            <a:r>
              <a:rPr sz="1080" b="1">
                <a:solidFill>
                  <a:srgbClr val="CF0712"/>
                </a:solidFill>
                <a:latin typeface="Noto Sans Hans"/>
                <a:ea typeface="Noto Sans Hans"/>
                <a:cs typeface="Noto Sans Hans"/>
              </a:rPr>
              <a:t>8项</a:t>
            </a:r>
            <a:endParaRPr sz="1080" b="1">
              <a:solidFill>
                <a:srgbClr val="CF0712"/>
              </a:solidFill>
              <a:latin typeface="Noto Sans Hans"/>
              <a:ea typeface="Noto Sans Hans"/>
              <a:cs typeface="Noto Sans Hans"/>
            </a:endParaRPr>
          </a:p>
        </p:txBody>
      </p:sp>
      <p:sp>
        <p:nvSpPr>
          <p:cNvPr id="46" name="矩形 45"/>
          <p:cNvSpPr>
            <a:spLocks noGrp="1"/>
          </p:cNvSpPr>
          <p:nvPr/>
        </p:nvSpPr>
        <p:spPr>
          <a:xfrm>
            <a:off x="2428875" y="4333875"/>
            <a:ext cx="1158240" cy="95250"/>
          </a:xfrm>
          <a:prstGeom prst="rect">
            <a:avLst/>
          </a:prstGeom>
          <a:solidFill>
            <a:srgbClr val="EEE8E5"/>
          </a:solidFill>
          <a:ln w="0">
            <a:noFill/>
            <a:prstDash val="solid"/>
          </a:ln>
        </p:spPr>
      </p:sp>
      <p:sp>
        <p:nvSpPr>
          <p:cNvPr id="47" name="矩形 46"/>
          <p:cNvSpPr>
            <a:spLocks noGrp="1"/>
          </p:cNvSpPr>
          <p:nvPr/>
        </p:nvSpPr>
        <p:spPr>
          <a:xfrm>
            <a:off x="2428875" y="4333875"/>
            <a:ext cx="617220" cy="95250"/>
          </a:xfrm>
          <a:prstGeom prst="rect">
            <a:avLst/>
          </a:prstGeom>
          <a:solidFill>
            <a:srgbClr val="D9A596"/>
          </a:solidFill>
          <a:ln w="0">
            <a:noFill/>
            <a:prstDash val="solid"/>
          </a:ln>
        </p:spPr>
      </p:sp>
      <p:sp>
        <p:nvSpPr>
          <p:cNvPr id="48" name="矩形 47"/>
          <p:cNvSpPr>
            <a:spLocks noGrp="1"/>
          </p:cNvSpPr>
          <p:nvPr/>
        </p:nvSpPr>
        <p:spPr>
          <a:xfrm>
            <a:off x="647700" y="4572000"/>
            <a:ext cx="3286760" cy="190500"/>
          </a:xfrm>
          <a:prstGeom prst="rect">
            <a:avLst/>
          </a:prstGeom>
          <a:noFill/>
          <a:ln w="0">
            <a:noFill/>
            <a:prstDash val="solid"/>
          </a:ln>
        </p:spPr>
        <p:txBody>
          <a:bodyPr wrap="square" lIns="47625" tIns="19050" rIns="47625" bIns="19050" anchor="ctr">
            <a:noAutofit/>
          </a:bodyPr>
          <a:lstStyle/>
          <a:p>
            <a:pPr algn="l">
              <a:defRPr sz="735" b="0">
                <a:solidFill>
                  <a:srgbClr val="706A67"/>
                </a:solidFill>
                <a:latin typeface="Noto Sans Hans"/>
                <a:ea typeface="Noto Sans Hans"/>
                <a:cs typeface="Noto Sans Hans"/>
              </a:defRPr>
            </a:pPr>
            <a:r>
              <a:rPr sz="840" b="0">
                <a:solidFill>
                  <a:srgbClr val="706A67"/>
                </a:solidFill>
                <a:latin typeface="Noto Sans Hans"/>
                <a:ea typeface="Noto Sans Hans"/>
                <a:cs typeface="Noto Sans Hans"/>
              </a:rPr>
              <a:t>注：其他含生活照料、健康管理、平台、理疗、助行及多场景产品。</a:t>
            </a:r>
            <a:endParaRPr sz="840" b="0">
              <a:solidFill>
                <a:srgbClr val="706A67"/>
              </a:solidFill>
              <a:latin typeface="Noto Sans Hans"/>
              <a:ea typeface="Noto Sans Hans"/>
              <a:cs typeface="Noto Sans Hans"/>
            </a:endParaRPr>
          </a:p>
        </p:txBody>
      </p:sp>
      <p:sp>
        <p:nvSpPr>
          <p:cNvPr id="49" name="矩形 48"/>
          <p:cNvSpPr>
            <a:spLocks noGrp="1"/>
          </p:cNvSpPr>
          <p:nvPr/>
        </p:nvSpPr>
        <p:spPr>
          <a:xfrm>
            <a:off x="4401820" y="2095500"/>
            <a:ext cx="3371215" cy="266700"/>
          </a:xfrm>
          <a:prstGeom prst="rect">
            <a:avLst/>
          </a:prstGeom>
          <a:noFill/>
          <a:ln w="0">
            <a:noFill/>
            <a:prstDash val="solid"/>
          </a:ln>
        </p:spPr>
        <p:txBody>
          <a:bodyPr wrap="square" lIns="47625" tIns="19050" rIns="47625" bIns="19050" anchor="ctr">
            <a:normAutofit/>
          </a:bodyPr>
          <a:lstStyle/>
          <a:p>
            <a:pPr algn="ctr">
              <a:defRPr sz="1125" b="1">
                <a:solidFill>
                  <a:srgbClr val="3F3A38"/>
                </a:solidFill>
                <a:latin typeface="Noto Sans Hans"/>
                <a:ea typeface="Noto Sans Hans"/>
                <a:cs typeface="Noto Sans Hans"/>
              </a:defRPr>
            </a:pPr>
            <a:r>
              <a:rPr sz="1200" b="1">
                <a:solidFill>
                  <a:srgbClr val="3F3A38"/>
                </a:solidFill>
                <a:latin typeface="Noto Sans Hans"/>
                <a:ea typeface="Noto Sans Hans"/>
                <a:cs typeface="Noto Sans Hans"/>
              </a:rPr>
              <a:t>三大赛道综合评分</a:t>
            </a:r>
            <a:endParaRPr sz="1200" b="1">
              <a:solidFill>
                <a:srgbClr val="3F3A38"/>
              </a:solidFill>
              <a:latin typeface="Noto Sans Hans"/>
              <a:ea typeface="Noto Sans Hans"/>
              <a:cs typeface="Noto Sans Hans"/>
            </a:endParaRPr>
          </a:p>
        </p:txBody>
      </p:sp>
      <p:sp>
        <p:nvSpPr>
          <p:cNvPr id="50" name="矩形 49"/>
          <p:cNvSpPr>
            <a:spLocks noGrp="1"/>
          </p:cNvSpPr>
          <p:nvPr/>
        </p:nvSpPr>
        <p:spPr>
          <a:xfrm>
            <a:off x="4401820" y="2371725"/>
            <a:ext cx="3371215" cy="209550"/>
          </a:xfrm>
          <a:prstGeom prst="rect">
            <a:avLst/>
          </a:prstGeom>
          <a:noFill/>
          <a:ln w="0">
            <a:noFill/>
            <a:prstDash val="solid"/>
          </a:ln>
        </p:spPr>
        <p:txBody>
          <a:bodyPr wrap="square" lIns="47625" tIns="19050" rIns="47625" bIns="19050" anchor="ctr">
            <a:normAutofit/>
          </a:bodyPr>
          <a:lstStyle/>
          <a:p>
            <a:pPr algn="ctr">
              <a:defRPr sz="900" b="1">
                <a:solidFill>
                  <a:srgbClr val="CF0712"/>
                </a:solidFill>
                <a:latin typeface="Noto Sans Hans"/>
                <a:ea typeface="Noto Sans Hans"/>
                <a:cs typeface="Noto Sans Hans"/>
              </a:defRPr>
            </a:pPr>
            <a:r>
              <a:rPr sz="1000" b="1">
                <a:solidFill>
                  <a:srgbClr val="CF0712"/>
                </a:solidFill>
                <a:latin typeface="Noto Sans Hans"/>
                <a:ea typeface="Noto Sans Hans"/>
                <a:cs typeface="Noto Sans Hans"/>
              </a:rPr>
              <a:t>康复兼顾成熟度、付费与武汉协同</a:t>
            </a:r>
            <a:endParaRPr sz="1000" b="1">
              <a:solidFill>
                <a:srgbClr val="CF0712"/>
              </a:solidFill>
              <a:latin typeface="Noto Sans Hans"/>
              <a:ea typeface="Noto Sans Hans"/>
              <a:cs typeface="Noto Sans Hans"/>
            </a:endParaRPr>
          </a:p>
        </p:txBody>
      </p:sp>
      <p:sp>
        <p:nvSpPr>
          <p:cNvPr id="51" name="矩形 50"/>
          <p:cNvSpPr>
            <a:spLocks noGrp="1"/>
          </p:cNvSpPr>
          <p:nvPr/>
        </p:nvSpPr>
        <p:spPr>
          <a:xfrm>
            <a:off x="4516120" y="2790825"/>
            <a:ext cx="579120" cy="285750"/>
          </a:xfrm>
          <a:prstGeom prst="rect">
            <a:avLst/>
          </a:prstGeom>
          <a:noFill/>
          <a:ln w="0">
            <a:noFill/>
            <a:prstDash val="solid"/>
          </a:ln>
        </p:spPr>
        <p:txBody>
          <a:bodyPr wrap="square" lIns="47625" tIns="19050" rIns="47625" bIns="19050" anchor="ctr">
            <a:normAutofit/>
          </a:bodyPr>
          <a:lstStyle/>
          <a:p>
            <a:pPr algn="l">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康复</a:t>
            </a:r>
            <a:endParaRPr sz="1080" b="1">
              <a:solidFill>
                <a:srgbClr val="3F3A38"/>
              </a:solidFill>
              <a:latin typeface="Noto Sans Hans"/>
              <a:ea typeface="Noto Sans Hans"/>
              <a:cs typeface="Noto Sans Hans"/>
            </a:endParaRPr>
          </a:p>
        </p:txBody>
      </p:sp>
      <p:sp>
        <p:nvSpPr>
          <p:cNvPr id="52" name="矩形 51"/>
          <p:cNvSpPr>
            <a:spLocks noGrp="1"/>
          </p:cNvSpPr>
          <p:nvPr/>
        </p:nvSpPr>
        <p:spPr>
          <a:xfrm>
            <a:off x="5125720" y="2867025"/>
            <a:ext cx="2085975" cy="171450"/>
          </a:xfrm>
          <a:prstGeom prst="rect">
            <a:avLst/>
          </a:prstGeom>
          <a:solidFill>
            <a:srgbClr val="EEE8E5"/>
          </a:solidFill>
          <a:ln w="0">
            <a:noFill/>
            <a:prstDash val="solid"/>
          </a:ln>
        </p:spPr>
      </p:sp>
      <p:sp>
        <p:nvSpPr>
          <p:cNvPr id="53" name="矩形 52"/>
          <p:cNvSpPr>
            <a:spLocks noGrp="1"/>
          </p:cNvSpPr>
          <p:nvPr/>
        </p:nvSpPr>
        <p:spPr>
          <a:xfrm>
            <a:off x="5125720" y="2867025"/>
            <a:ext cx="1727200" cy="171450"/>
          </a:xfrm>
          <a:prstGeom prst="rect">
            <a:avLst/>
          </a:prstGeom>
          <a:solidFill>
            <a:srgbClr val="CF0712"/>
          </a:solidFill>
          <a:ln w="0">
            <a:noFill/>
            <a:prstDash val="solid"/>
          </a:ln>
        </p:spPr>
      </p:sp>
      <p:sp>
        <p:nvSpPr>
          <p:cNvPr id="54" name="矩形 53"/>
          <p:cNvSpPr>
            <a:spLocks noGrp="1"/>
          </p:cNvSpPr>
          <p:nvPr/>
        </p:nvSpPr>
        <p:spPr>
          <a:xfrm>
            <a:off x="7030720" y="2790825"/>
            <a:ext cx="441960" cy="295275"/>
          </a:xfrm>
          <a:prstGeom prst="rect">
            <a:avLst/>
          </a:prstGeom>
          <a:noFill/>
          <a:ln w="0">
            <a:noFill/>
            <a:prstDash val="solid"/>
          </a:ln>
        </p:spPr>
        <p:txBody>
          <a:bodyPr wrap="square" lIns="47625" tIns="19050" rIns="47625" bIns="19050" anchor="ctr">
            <a:noAutofit/>
          </a:bodyPr>
          <a:lstStyle/>
          <a:p>
            <a:pPr algn="r">
              <a:defRPr sz="975" b="1">
                <a:solidFill>
                  <a:srgbClr val="CF0712"/>
                </a:solidFill>
                <a:latin typeface="Noto Sans Hans"/>
                <a:ea typeface="Noto Sans Hans"/>
                <a:cs typeface="Noto Sans Hans"/>
              </a:defRPr>
            </a:pPr>
            <a:r>
              <a:rPr sz="1080" b="1">
                <a:solidFill>
                  <a:srgbClr val="CF0712"/>
                </a:solidFill>
                <a:latin typeface="Noto Sans Hans"/>
                <a:ea typeface="Noto Sans Hans"/>
                <a:cs typeface="Noto Sans Hans"/>
              </a:rPr>
              <a:t>82.8</a:t>
            </a:r>
            <a:endParaRPr sz="1080" b="1">
              <a:solidFill>
                <a:srgbClr val="CF0712"/>
              </a:solidFill>
              <a:latin typeface="Noto Sans Hans"/>
              <a:ea typeface="Noto Sans Hans"/>
              <a:cs typeface="Noto Sans Hans"/>
            </a:endParaRPr>
          </a:p>
        </p:txBody>
      </p:sp>
      <p:sp>
        <p:nvSpPr>
          <p:cNvPr id="55" name="矩形 54"/>
          <p:cNvSpPr>
            <a:spLocks noGrp="1"/>
          </p:cNvSpPr>
          <p:nvPr/>
        </p:nvSpPr>
        <p:spPr>
          <a:xfrm>
            <a:off x="4516120" y="3419475"/>
            <a:ext cx="579120" cy="285750"/>
          </a:xfrm>
          <a:prstGeom prst="rect">
            <a:avLst/>
          </a:prstGeom>
          <a:noFill/>
          <a:ln w="0">
            <a:noFill/>
            <a:prstDash val="solid"/>
          </a:ln>
        </p:spPr>
        <p:txBody>
          <a:bodyPr wrap="square" lIns="47625" tIns="19050" rIns="47625" bIns="19050" anchor="ctr">
            <a:normAutofit/>
          </a:bodyPr>
          <a:lstStyle/>
          <a:p>
            <a:pPr algn="l">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护理</a:t>
            </a:r>
            <a:endParaRPr sz="1080" b="1">
              <a:solidFill>
                <a:srgbClr val="3F3A38"/>
              </a:solidFill>
              <a:latin typeface="Noto Sans Hans"/>
              <a:ea typeface="Noto Sans Hans"/>
              <a:cs typeface="Noto Sans Hans"/>
            </a:endParaRPr>
          </a:p>
        </p:txBody>
      </p:sp>
      <p:sp>
        <p:nvSpPr>
          <p:cNvPr id="56" name="矩形 55"/>
          <p:cNvSpPr>
            <a:spLocks noGrp="1"/>
          </p:cNvSpPr>
          <p:nvPr/>
        </p:nvSpPr>
        <p:spPr>
          <a:xfrm>
            <a:off x="5125720" y="3495675"/>
            <a:ext cx="2085975" cy="171450"/>
          </a:xfrm>
          <a:prstGeom prst="rect">
            <a:avLst/>
          </a:prstGeom>
          <a:solidFill>
            <a:srgbClr val="EEE8E5"/>
          </a:solidFill>
          <a:ln w="0">
            <a:noFill/>
            <a:prstDash val="solid"/>
          </a:ln>
        </p:spPr>
      </p:sp>
      <p:sp>
        <p:nvSpPr>
          <p:cNvPr id="57" name="矩形 56"/>
          <p:cNvSpPr>
            <a:spLocks noGrp="1"/>
          </p:cNvSpPr>
          <p:nvPr/>
        </p:nvSpPr>
        <p:spPr>
          <a:xfrm>
            <a:off x="5125720" y="3495675"/>
            <a:ext cx="1570355" cy="171450"/>
          </a:xfrm>
          <a:prstGeom prst="rect">
            <a:avLst/>
          </a:prstGeom>
          <a:solidFill>
            <a:srgbClr val="C94A24"/>
          </a:solidFill>
          <a:ln w="0">
            <a:noFill/>
            <a:prstDash val="solid"/>
          </a:ln>
        </p:spPr>
      </p:sp>
      <p:sp>
        <p:nvSpPr>
          <p:cNvPr id="58" name="矩形 57"/>
          <p:cNvSpPr>
            <a:spLocks noGrp="1"/>
          </p:cNvSpPr>
          <p:nvPr/>
        </p:nvSpPr>
        <p:spPr>
          <a:xfrm>
            <a:off x="7030720" y="3419475"/>
            <a:ext cx="441960" cy="295275"/>
          </a:xfrm>
          <a:prstGeom prst="rect">
            <a:avLst/>
          </a:prstGeom>
          <a:noFill/>
          <a:ln w="0">
            <a:noFill/>
            <a:prstDash val="solid"/>
          </a:ln>
        </p:spPr>
        <p:txBody>
          <a:bodyPr wrap="square" lIns="47625" tIns="19050" rIns="47625" bIns="19050" anchor="ctr">
            <a:noAutofit/>
          </a:bodyPr>
          <a:lstStyle/>
          <a:p>
            <a:pPr algn="r">
              <a:defRPr sz="975" b="1">
                <a:solidFill>
                  <a:srgbClr val="C94A24"/>
                </a:solidFill>
                <a:latin typeface="Noto Sans Hans"/>
                <a:ea typeface="Noto Sans Hans"/>
                <a:cs typeface="Noto Sans Hans"/>
              </a:defRPr>
            </a:pPr>
            <a:r>
              <a:rPr sz="1080" b="1">
                <a:solidFill>
                  <a:srgbClr val="C94A24"/>
                </a:solidFill>
                <a:latin typeface="Noto Sans Hans"/>
                <a:ea typeface="Noto Sans Hans"/>
                <a:cs typeface="Noto Sans Hans"/>
              </a:rPr>
              <a:t>75.3</a:t>
            </a:r>
            <a:endParaRPr sz="1080" b="1">
              <a:solidFill>
                <a:srgbClr val="C94A24"/>
              </a:solidFill>
              <a:latin typeface="Noto Sans Hans"/>
              <a:ea typeface="Noto Sans Hans"/>
              <a:cs typeface="Noto Sans Hans"/>
            </a:endParaRPr>
          </a:p>
        </p:txBody>
      </p:sp>
      <p:sp>
        <p:nvSpPr>
          <p:cNvPr id="59" name="矩形 58"/>
          <p:cNvSpPr>
            <a:spLocks noGrp="1"/>
          </p:cNvSpPr>
          <p:nvPr/>
        </p:nvSpPr>
        <p:spPr>
          <a:xfrm>
            <a:off x="4516120" y="4048125"/>
            <a:ext cx="579120" cy="285750"/>
          </a:xfrm>
          <a:prstGeom prst="rect">
            <a:avLst/>
          </a:prstGeom>
          <a:noFill/>
          <a:ln w="0">
            <a:noFill/>
            <a:prstDash val="solid"/>
          </a:ln>
        </p:spPr>
        <p:txBody>
          <a:bodyPr wrap="square" lIns="47625" tIns="19050" rIns="47625" bIns="19050" anchor="ctr">
            <a:normAutofit/>
          </a:bodyPr>
          <a:lstStyle/>
          <a:p>
            <a:pPr algn="l">
              <a:defRPr sz="975" b="1">
                <a:solidFill>
                  <a:srgbClr val="3F3A38"/>
                </a:solidFill>
                <a:latin typeface="Noto Sans Hans"/>
                <a:ea typeface="Noto Sans Hans"/>
                <a:cs typeface="Noto Sans Hans"/>
              </a:defRPr>
            </a:pPr>
            <a:r>
              <a:rPr sz="1080" b="1">
                <a:solidFill>
                  <a:srgbClr val="3F3A38"/>
                </a:solidFill>
                <a:latin typeface="Noto Sans Hans"/>
                <a:ea typeface="Noto Sans Hans"/>
                <a:cs typeface="Noto Sans Hans"/>
              </a:rPr>
              <a:t>陪伴</a:t>
            </a:r>
            <a:endParaRPr sz="1080" b="1">
              <a:solidFill>
                <a:srgbClr val="3F3A38"/>
              </a:solidFill>
              <a:latin typeface="Noto Sans Hans"/>
              <a:ea typeface="Noto Sans Hans"/>
              <a:cs typeface="Noto Sans Hans"/>
            </a:endParaRPr>
          </a:p>
        </p:txBody>
      </p:sp>
      <p:sp>
        <p:nvSpPr>
          <p:cNvPr id="60" name="矩形 59"/>
          <p:cNvSpPr>
            <a:spLocks noGrp="1"/>
          </p:cNvSpPr>
          <p:nvPr/>
        </p:nvSpPr>
        <p:spPr>
          <a:xfrm>
            <a:off x="5125720" y="4124325"/>
            <a:ext cx="2085975" cy="171450"/>
          </a:xfrm>
          <a:prstGeom prst="rect">
            <a:avLst/>
          </a:prstGeom>
          <a:solidFill>
            <a:srgbClr val="EEE8E5"/>
          </a:solidFill>
          <a:ln w="0">
            <a:noFill/>
            <a:prstDash val="solid"/>
          </a:ln>
        </p:spPr>
      </p:sp>
      <p:sp>
        <p:nvSpPr>
          <p:cNvPr id="61" name="矩形 60"/>
          <p:cNvSpPr>
            <a:spLocks noGrp="1"/>
          </p:cNvSpPr>
          <p:nvPr/>
        </p:nvSpPr>
        <p:spPr>
          <a:xfrm>
            <a:off x="5125720" y="4124325"/>
            <a:ext cx="1468120" cy="171450"/>
          </a:xfrm>
          <a:prstGeom prst="rect">
            <a:avLst/>
          </a:prstGeom>
          <a:solidFill>
            <a:srgbClr val="9B7100"/>
          </a:solidFill>
          <a:ln w="0">
            <a:noFill/>
            <a:prstDash val="solid"/>
          </a:ln>
        </p:spPr>
      </p:sp>
      <p:sp>
        <p:nvSpPr>
          <p:cNvPr id="62" name="矩形 61"/>
          <p:cNvSpPr>
            <a:spLocks noGrp="1"/>
          </p:cNvSpPr>
          <p:nvPr/>
        </p:nvSpPr>
        <p:spPr>
          <a:xfrm>
            <a:off x="7030720" y="4048125"/>
            <a:ext cx="441960" cy="295275"/>
          </a:xfrm>
          <a:prstGeom prst="rect">
            <a:avLst/>
          </a:prstGeom>
          <a:noFill/>
          <a:ln w="0">
            <a:noFill/>
            <a:prstDash val="solid"/>
          </a:ln>
        </p:spPr>
        <p:txBody>
          <a:bodyPr wrap="square" lIns="47625" tIns="19050" rIns="47625" bIns="19050" anchor="ctr">
            <a:noAutofit/>
          </a:bodyPr>
          <a:lstStyle/>
          <a:p>
            <a:pPr algn="r">
              <a:defRPr sz="975" b="1">
                <a:solidFill>
                  <a:srgbClr val="9B7100"/>
                </a:solidFill>
                <a:latin typeface="Noto Sans Hans"/>
                <a:ea typeface="Noto Sans Hans"/>
                <a:cs typeface="Noto Sans Hans"/>
              </a:defRPr>
            </a:pPr>
            <a:r>
              <a:rPr sz="1080" b="1">
                <a:solidFill>
                  <a:srgbClr val="9B7100"/>
                </a:solidFill>
                <a:latin typeface="Noto Sans Hans"/>
                <a:ea typeface="Noto Sans Hans"/>
                <a:cs typeface="Noto Sans Hans"/>
              </a:rPr>
              <a:t>70.4</a:t>
            </a:r>
            <a:endParaRPr sz="1080" b="1">
              <a:solidFill>
                <a:srgbClr val="9B7100"/>
              </a:solidFill>
              <a:latin typeface="Noto Sans Hans"/>
              <a:ea typeface="Noto Sans Hans"/>
              <a:cs typeface="Noto Sans Hans"/>
            </a:endParaRPr>
          </a:p>
        </p:txBody>
      </p:sp>
      <p:sp>
        <p:nvSpPr>
          <p:cNvPr id="63" name="矩形 62"/>
          <p:cNvSpPr>
            <a:spLocks noGrp="1"/>
          </p:cNvSpPr>
          <p:nvPr/>
        </p:nvSpPr>
        <p:spPr>
          <a:xfrm>
            <a:off x="4525645" y="4362450"/>
            <a:ext cx="947420" cy="238125"/>
          </a:xfrm>
          <a:prstGeom prst="rect">
            <a:avLst/>
          </a:prstGeom>
          <a:noFill/>
          <a:ln w="0">
            <a:noFill/>
            <a:prstDash val="solid"/>
          </a:ln>
        </p:spPr>
        <p:txBody>
          <a:bodyPr wrap="square" lIns="47625" tIns="19050" rIns="47625" bIns="19050" anchor="ctr">
            <a:normAutofit/>
          </a:bodyPr>
          <a:lstStyle/>
          <a:p>
            <a:pPr algn="l">
              <a:defRPr sz="865" b="1">
                <a:solidFill>
                  <a:srgbClr val="CF0712"/>
                </a:solidFill>
                <a:latin typeface="Noto Sans Hans"/>
                <a:ea typeface="Noto Sans Hans"/>
                <a:cs typeface="Noto Sans Hans"/>
              </a:defRPr>
            </a:pPr>
            <a:r>
              <a:rPr sz="970" b="1">
                <a:solidFill>
                  <a:srgbClr val="CF0712"/>
                </a:solidFill>
                <a:latin typeface="Noto Sans Hans"/>
                <a:ea typeface="Noto Sans Hans"/>
                <a:cs typeface="Noto Sans Hans"/>
              </a:rPr>
              <a:t>近期优先布局</a:t>
            </a:r>
            <a:endParaRPr sz="970" b="1">
              <a:solidFill>
                <a:srgbClr val="CF0712"/>
              </a:solidFill>
              <a:latin typeface="Noto Sans Hans"/>
              <a:ea typeface="Noto Sans Hans"/>
              <a:cs typeface="Noto Sans Hans"/>
            </a:endParaRPr>
          </a:p>
        </p:txBody>
      </p:sp>
      <p:sp>
        <p:nvSpPr>
          <p:cNvPr id="64" name="矩形 63"/>
          <p:cNvSpPr>
            <a:spLocks noGrp="1"/>
          </p:cNvSpPr>
          <p:nvPr/>
        </p:nvSpPr>
        <p:spPr>
          <a:xfrm>
            <a:off x="5411470" y="4362450"/>
            <a:ext cx="2191385" cy="238125"/>
          </a:xfrm>
          <a:prstGeom prst="rect">
            <a:avLst/>
          </a:prstGeom>
          <a:noFill/>
          <a:ln w="0">
            <a:noFill/>
            <a:prstDash val="solid"/>
          </a:ln>
        </p:spPr>
        <p:txBody>
          <a:bodyPr wrap="square" lIns="47625" tIns="19050" rIns="47625" bIns="19050" anchor="ctr">
            <a:normAutofit/>
          </a:bodyPr>
          <a:lstStyle/>
          <a:p>
            <a:pPr algn="r">
              <a:defRPr sz="865" b="1">
                <a:solidFill>
                  <a:srgbClr val="3F3A38"/>
                </a:solidFill>
                <a:latin typeface="Noto Sans Hans"/>
                <a:ea typeface="Noto Sans Hans"/>
                <a:cs typeface="Noto Sans Hans"/>
              </a:defRPr>
            </a:pPr>
            <a:r>
              <a:rPr sz="970" b="1">
                <a:solidFill>
                  <a:srgbClr val="3F3A38"/>
                </a:solidFill>
                <a:latin typeface="Noto Sans Hans"/>
                <a:ea typeface="Noto Sans Hans"/>
                <a:cs typeface="Noto Sans Hans"/>
              </a:rPr>
              <a:t>康复中心 + 区域服务网络</a:t>
            </a:r>
            <a:endParaRPr sz="970" b="1">
              <a:solidFill>
                <a:srgbClr val="3F3A38"/>
              </a:solidFill>
              <a:latin typeface="Noto Sans Hans"/>
              <a:ea typeface="Noto Sans Hans"/>
              <a:cs typeface="Noto Sans Hans"/>
            </a:endParaRPr>
          </a:p>
        </p:txBody>
      </p:sp>
      <p:sp>
        <p:nvSpPr>
          <p:cNvPr id="65" name="矩形 64"/>
          <p:cNvSpPr>
            <a:spLocks noGrp="1"/>
          </p:cNvSpPr>
          <p:nvPr/>
        </p:nvSpPr>
        <p:spPr>
          <a:xfrm>
            <a:off x="8194040" y="2095500"/>
            <a:ext cx="3371215" cy="266700"/>
          </a:xfrm>
          <a:prstGeom prst="rect">
            <a:avLst/>
          </a:prstGeom>
          <a:noFill/>
          <a:ln w="0">
            <a:noFill/>
            <a:prstDash val="solid"/>
          </a:ln>
        </p:spPr>
        <p:txBody>
          <a:bodyPr wrap="square" lIns="47625" tIns="19050" rIns="47625" bIns="19050" anchor="ctr">
            <a:normAutofit/>
          </a:bodyPr>
          <a:lstStyle/>
          <a:p>
            <a:pPr algn="ctr">
              <a:defRPr sz="1125" b="1">
                <a:solidFill>
                  <a:srgbClr val="3F3A38"/>
                </a:solidFill>
                <a:latin typeface="Noto Sans Hans"/>
                <a:ea typeface="Noto Sans Hans"/>
                <a:cs typeface="Noto Sans Hans"/>
              </a:defRPr>
            </a:pPr>
            <a:r>
              <a:rPr sz="1200" b="1">
                <a:solidFill>
                  <a:srgbClr val="3F3A38"/>
                </a:solidFill>
                <a:latin typeface="Noto Sans Hans"/>
                <a:ea typeface="Noto Sans Hans"/>
                <a:cs typeface="Noto Sans Hans"/>
              </a:rPr>
              <a:t>基准情景投资回收期</a:t>
            </a:r>
            <a:endParaRPr sz="1200" b="1">
              <a:solidFill>
                <a:srgbClr val="3F3A38"/>
              </a:solidFill>
              <a:latin typeface="Noto Sans Hans"/>
              <a:ea typeface="Noto Sans Hans"/>
              <a:cs typeface="Noto Sans Hans"/>
            </a:endParaRPr>
          </a:p>
        </p:txBody>
      </p:sp>
      <p:sp>
        <p:nvSpPr>
          <p:cNvPr id="66" name="矩形 65"/>
          <p:cNvSpPr>
            <a:spLocks noGrp="1"/>
          </p:cNvSpPr>
          <p:nvPr/>
        </p:nvSpPr>
        <p:spPr>
          <a:xfrm>
            <a:off x="8194040" y="2371725"/>
            <a:ext cx="3371215" cy="209550"/>
          </a:xfrm>
          <a:prstGeom prst="rect">
            <a:avLst/>
          </a:prstGeom>
          <a:noFill/>
          <a:ln w="0">
            <a:noFill/>
            <a:prstDash val="solid"/>
          </a:ln>
        </p:spPr>
        <p:txBody>
          <a:bodyPr wrap="square" lIns="47625" tIns="19050" rIns="47625" bIns="19050" anchor="ctr">
            <a:normAutofit/>
          </a:bodyPr>
          <a:lstStyle/>
          <a:p>
            <a:pPr algn="ctr">
              <a:defRPr sz="900" b="1">
                <a:solidFill>
                  <a:srgbClr val="CF0712"/>
                </a:solidFill>
                <a:latin typeface="Noto Sans Hans"/>
                <a:ea typeface="Noto Sans Hans"/>
                <a:cs typeface="Noto Sans Hans"/>
              </a:defRPr>
            </a:pPr>
            <a:r>
              <a:rPr sz="1000" b="1">
                <a:solidFill>
                  <a:srgbClr val="CF0712"/>
                </a:solidFill>
                <a:latin typeface="Noto Sans Hans"/>
                <a:ea typeface="Noto Sans Hans"/>
                <a:cs typeface="Noto Sans Hans"/>
              </a:rPr>
              <a:t>利用率越高、付费越明确，回收越快</a:t>
            </a:r>
            <a:endParaRPr sz="1000" b="1">
              <a:solidFill>
                <a:srgbClr val="CF0712"/>
              </a:solidFill>
              <a:latin typeface="Noto Sans Hans"/>
              <a:ea typeface="Noto Sans Hans"/>
              <a:cs typeface="Noto Sans Hans"/>
            </a:endParaRPr>
          </a:p>
        </p:txBody>
      </p:sp>
      <p:sp>
        <p:nvSpPr>
          <p:cNvPr id="67" name="矩形 66"/>
          <p:cNvSpPr>
            <a:spLocks noGrp="1"/>
          </p:cNvSpPr>
          <p:nvPr/>
        </p:nvSpPr>
        <p:spPr>
          <a:xfrm>
            <a:off x="8251190" y="2743200"/>
            <a:ext cx="1000760" cy="266700"/>
          </a:xfrm>
          <a:prstGeom prst="rect">
            <a:avLst/>
          </a:prstGeom>
          <a:noFill/>
          <a:ln w="0">
            <a:noFill/>
            <a:prstDash val="solid"/>
          </a:ln>
        </p:spPr>
        <p:txBody>
          <a:bodyPr wrap="square" lIns="47625" tIns="19050" rIns="47625" bIns="19050" anchor="ctr">
            <a:normAutofit/>
          </a:bodyPr>
          <a:lstStyle/>
          <a:p>
            <a:pPr algn="l">
              <a:defRPr sz="885"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康复服务点</a:t>
            </a:r>
            <a:endParaRPr sz="990" b="1">
              <a:solidFill>
                <a:srgbClr val="3F3A38"/>
              </a:solidFill>
              <a:latin typeface="Noto Sans Hans"/>
              <a:ea typeface="Noto Sans Hans"/>
              <a:cs typeface="Noto Sans Hans"/>
            </a:endParaRPr>
          </a:p>
        </p:txBody>
      </p:sp>
      <p:sp>
        <p:nvSpPr>
          <p:cNvPr id="68" name="矩形 67"/>
          <p:cNvSpPr>
            <a:spLocks noGrp="1"/>
          </p:cNvSpPr>
          <p:nvPr/>
        </p:nvSpPr>
        <p:spPr>
          <a:xfrm>
            <a:off x="9213215" y="2819400"/>
            <a:ext cx="1685290" cy="133350"/>
          </a:xfrm>
          <a:prstGeom prst="rect">
            <a:avLst/>
          </a:prstGeom>
          <a:solidFill>
            <a:srgbClr val="EEE8E5"/>
          </a:solidFill>
          <a:ln w="0">
            <a:noFill/>
            <a:prstDash val="solid"/>
          </a:ln>
        </p:spPr>
      </p:sp>
      <p:sp>
        <p:nvSpPr>
          <p:cNvPr id="69" name="矩形 68"/>
          <p:cNvSpPr>
            <a:spLocks noGrp="1"/>
          </p:cNvSpPr>
          <p:nvPr/>
        </p:nvSpPr>
        <p:spPr>
          <a:xfrm>
            <a:off x="9213215" y="2819400"/>
            <a:ext cx="403860" cy="133350"/>
          </a:xfrm>
          <a:prstGeom prst="rect">
            <a:avLst/>
          </a:prstGeom>
          <a:solidFill>
            <a:srgbClr val="CF0712"/>
          </a:solidFill>
          <a:ln w="0">
            <a:noFill/>
            <a:prstDash val="solid"/>
          </a:ln>
        </p:spPr>
      </p:sp>
      <p:sp>
        <p:nvSpPr>
          <p:cNvPr id="70" name="矩形 69"/>
          <p:cNvSpPr>
            <a:spLocks noGrp="1"/>
          </p:cNvSpPr>
          <p:nvPr/>
        </p:nvSpPr>
        <p:spPr>
          <a:xfrm>
            <a:off x="10765790" y="2743200"/>
            <a:ext cx="494665" cy="276225"/>
          </a:xfrm>
          <a:prstGeom prst="rect">
            <a:avLst/>
          </a:prstGeom>
          <a:noFill/>
          <a:ln w="0">
            <a:noFill/>
            <a:prstDash val="solid"/>
          </a:ln>
        </p:spPr>
        <p:txBody>
          <a:bodyPr wrap="square" lIns="47625" tIns="19050" rIns="47625" bIns="19050" anchor="ctr">
            <a:normAutofit/>
          </a:bodyPr>
          <a:lstStyle/>
          <a:p>
            <a:pPr algn="r">
              <a:defRPr sz="885" b="1">
                <a:solidFill>
                  <a:srgbClr val="CF0712"/>
                </a:solidFill>
                <a:latin typeface="Noto Sans Hans"/>
                <a:ea typeface="Noto Sans Hans"/>
                <a:cs typeface="Noto Sans Hans"/>
              </a:defRPr>
            </a:pPr>
            <a:r>
              <a:rPr sz="990" b="1">
                <a:solidFill>
                  <a:srgbClr val="CF0712"/>
                </a:solidFill>
                <a:latin typeface="Noto Sans Hans"/>
                <a:ea typeface="Noto Sans Hans"/>
                <a:cs typeface="Noto Sans Hans"/>
              </a:rPr>
              <a:t>3.6年</a:t>
            </a:r>
            <a:endParaRPr sz="990" b="1">
              <a:solidFill>
                <a:srgbClr val="CF0712"/>
              </a:solidFill>
              <a:latin typeface="Noto Sans Hans"/>
              <a:ea typeface="Noto Sans Hans"/>
              <a:cs typeface="Noto Sans Hans"/>
            </a:endParaRPr>
          </a:p>
        </p:txBody>
      </p:sp>
      <p:sp>
        <p:nvSpPr>
          <p:cNvPr id="71" name="矩形 70"/>
          <p:cNvSpPr>
            <a:spLocks noGrp="1"/>
          </p:cNvSpPr>
          <p:nvPr/>
        </p:nvSpPr>
        <p:spPr>
          <a:xfrm>
            <a:off x="8251190" y="3181350"/>
            <a:ext cx="1000760" cy="266700"/>
          </a:xfrm>
          <a:prstGeom prst="rect">
            <a:avLst/>
          </a:prstGeom>
          <a:noFill/>
          <a:ln w="0">
            <a:noFill/>
            <a:prstDash val="solid"/>
          </a:ln>
        </p:spPr>
        <p:txBody>
          <a:bodyPr wrap="square" lIns="47625" tIns="19050" rIns="47625" bIns="19050" anchor="ctr">
            <a:normAutofit/>
          </a:bodyPr>
          <a:lstStyle/>
          <a:p>
            <a:pPr algn="l">
              <a:defRPr sz="885"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机构配送巡检</a:t>
            </a:r>
            <a:endParaRPr sz="990" b="1">
              <a:solidFill>
                <a:srgbClr val="3F3A38"/>
              </a:solidFill>
              <a:latin typeface="Noto Sans Hans"/>
              <a:ea typeface="Noto Sans Hans"/>
              <a:cs typeface="Noto Sans Hans"/>
            </a:endParaRPr>
          </a:p>
        </p:txBody>
      </p:sp>
      <p:sp>
        <p:nvSpPr>
          <p:cNvPr id="72" name="矩形 71"/>
          <p:cNvSpPr>
            <a:spLocks noGrp="1"/>
          </p:cNvSpPr>
          <p:nvPr/>
        </p:nvSpPr>
        <p:spPr>
          <a:xfrm>
            <a:off x="9213215" y="3257550"/>
            <a:ext cx="1685290" cy="133350"/>
          </a:xfrm>
          <a:prstGeom prst="rect">
            <a:avLst/>
          </a:prstGeom>
          <a:solidFill>
            <a:srgbClr val="EEE8E5"/>
          </a:solidFill>
          <a:ln w="0">
            <a:noFill/>
            <a:prstDash val="solid"/>
          </a:ln>
        </p:spPr>
      </p:sp>
      <p:sp>
        <p:nvSpPr>
          <p:cNvPr id="73" name="矩形 72"/>
          <p:cNvSpPr>
            <a:spLocks noGrp="1"/>
          </p:cNvSpPr>
          <p:nvPr/>
        </p:nvSpPr>
        <p:spPr>
          <a:xfrm>
            <a:off x="9213215" y="3257550"/>
            <a:ext cx="505460" cy="133350"/>
          </a:xfrm>
          <a:prstGeom prst="rect">
            <a:avLst/>
          </a:prstGeom>
          <a:solidFill>
            <a:srgbClr val="C94A24"/>
          </a:solidFill>
          <a:ln w="0">
            <a:noFill/>
            <a:prstDash val="solid"/>
          </a:ln>
        </p:spPr>
      </p:sp>
      <p:sp>
        <p:nvSpPr>
          <p:cNvPr id="74" name="矩形 73"/>
          <p:cNvSpPr>
            <a:spLocks noGrp="1"/>
          </p:cNvSpPr>
          <p:nvPr/>
        </p:nvSpPr>
        <p:spPr>
          <a:xfrm>
            <a:off x="10765790" y="3181350"/>
            <a:ext cx="494665" cy="276225"/>
          </a:xfrm>
          <a:prstGeom prst="rect">
            <a:avLst/>
          </a:prstGeom>
          <a:noFill/>
          <a:ln w="0">
            <a:noFill/>
            <a:prstDash val="solid"/>
          </a:ln>
        </p:spPr>
        <p:txBody>
          <a:bodyPr wrap="square" lIns="47625" tIns="19050" rIns="47625" bIns="19050" anchor="ctr">
            <a:normAutofit/>
          </a:bodyPr>
          <a:lstStyle/>
          <a:p>
            <a:pPr algn="r">
              <a:defRPr sz="885" b="1">
                <a:solidFill>
                  <a:srgbClr val="C94A24"/>
                </a:solidFill>
                <a:latin typeface="Noto Sans Hans"/>
                <a:ea typeface="Noto Sans Hans"/>
                <a:cs typeface="Noto Sans Hans"/>
              </a:defRPr>
            </a:pPr>
            <a:r>
              <a:rPr sz="990" b="1">
                <a:solidFill>
                  <a:srgbClr val="C94A24"/>
                </a:solidFill>
                <a:latin typeface="Noto Sans Hans"/>
                <a:ea typeface="Noto Sans Hans"/>
                <a:cs typeface="Noto Sans Hans"/>
              </a:rPr>
              <a:t>4.5年</a:t>
            </a:r>
            <a:endParaRPr sz="990" b="1">
              <a:solidFill>
                <a:srgbClr val="C94A24"/>
              </a:solidFill>
              <a:latin typeface="Noto Sans Hans"/>
              <a:ea typeface="Noto Sans Hans"/>
              <a:cs typeface="Noto Sans Hans"/>
            </a:endParaRPr>
          </a:p>
        </p:txBody>
      </p:sp>
      <p:sp>
        <p:nvSpPr>
          <p:cNvPr id="75" name="矩形 74"/>
          <p:cNvSpPr>
            <a:spLocks noGrp="1"/>
          </p:cNvSpPr>
          <p:nvPr/>
        </p:nvSpPr>
        <p:spPr>
          <a:xfrm>
            <a:off x="8251190" y="3619500"/>
            <a:ext cx="1000760" cy="266700"/>
          </a:xfrm>
          <a:prstGeom prst="rect">
            <a:avLst/>
          </a:prstGeom>
          <a:noFill/>
          <a:ln w="0">
            <a:noFill/>
            <a:prstDash val="solid"/>
          </a:ln>
        </p:spPr>
        <p:txBody>
          <a:bodyPr wrap="square" lIns="47625" tIns="19050" rIns="47625" bIns="19050" anchor="ctr">
            <a:normAutofit/>
          </a:bodyPr>
          <a:lstStyle/>
          <a:p>
            <a:pPr algn="l">
              <a:defRPr sz="885"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二便护理</a:t>
            </a:r>
            <a:endParaRPr sz="990" b="1">
              <a:solidFill>
                <a:srgbClr val="3F3A38"/>
              </a:solidFill>
              <a:latin typeface="Noto Sans Hans"/>
              <a:ea typeface="Noto Sans Hans"/>
              <a:cs typeface="Noto Sans Hans"/>
            </a:endParaRPr>
          </a:p>
        </p:txBody>
      </p:sp>
      <p:sp>
        <p:nvSpPr>
          <p:cNvPr id="76" name="矩形 75"/>
          <p:cNvSpPr>
            <a:spLocks noGrp="1"/>
          </p:cNvSpPr>
          <p:nvPr/>
        </p:nvSpPr>
        <p:spPr>
          <a:xfrm>
            <a:off x="9213215" y="3695700"/>
            <a:ext cx="1685290" cy="133350"/>
          </a:xfrm>
          <a:prstGeom prst="rect">
            <a:avLst/>
          </a:prstGeom>
          <a:solidFill>
            <a:srgbClr val="EEE8E5"/>
          </a:solidFill>
          <a:ln w="0">
            <a:noFill/>
            <a:prstDash val="solid"/>
          </a:ln>
        </p:spPr>
      </p:sp>
      <p:sp>
        <p:nvSpPr>
          <p:cNvPr id="77" name="矩形 76"/>
          <p:cNvSpPr>
            <a:spLocks noGrp="1"/>
          </p:cNvSpPr>
          <p:nvPr/>
        </p:nvSpPr>
        <p:spPr>
          <a:xfrm>
            <a:off x="9213215" y="3695700"/>
            <a:ext cx="786130" cy="133350"/>
          </a:xfrm>
          <a:prstGeom prst="rect">
            <a:avLst/>
          </a:prstGeom>
          <a:solidFill>
            <a:srgbClr val="D97946"/>
          </a:solidFill>
          <a:ln w="0">
            <a:noFill/>
            <a:prstDash val="solid"/>
          </a:ln>
        </p:spPr>
      </p:sp>
      <p:sp>
        <p:nvSpPr>
          <p:cNvPr id="78" name="矩形 77"/>
          <p:cNvSpPr>
            <a:spLocks noGrp="1"/>
          </p:cNvSpPr>
          <p:nvPr/>
        </p:nvSpPr>
        <p:spPr>
          <a:xfrm>
            <a:off x="10765790" y="3619500"/>
            <a:ext cx="494665" cy="276225"/>
          </a:xfrm>
          <a:prstGeom prst="rect">
            <a:avLst/>
          </a:prstGeom>
          <a:noFill/>
          <a:ln w="0">
            <a:noFill/>
            <a:prstDash val="solid"/>
          </a:ln>
        </p:spPr>
        <p:txBody>
          <a:bodyPr wrap="square" lIns="47625" tIns="19050" rIns="47625" bIns="19050" anchor="ctr">
            <a:normAutofit/>
          </a:bodyPr>
          <a:lstStyle/>
          <a:p>
            <a:pPr algn="r">
              <a:defRPr sz="885" b="1">
                <a:solidFill>
                  <a:srgbClr val="D97946"/>
                </a:solidFill>
                <a:latin typeface="Noto Sans Hans"/>
                <a:ea typeface="Noto Sans Hans"/>
                <a:cs typeface="Noto Sans Hans"/>
              </a:defRPr>
            </a:pPr>
            <a:r>
              <a:rPr sz="990" b="1">
                <a:solidFill>
                  <a:srgbClr val="D97946"/>
                </a:solidFill>
                <a:latin typeface="Noto Sans Hans"/>
                <a:ea typeface="Noto Sans Hans"/>
                <a:cs typeface="Noto Sans Hans"/>
              </a:rPr>
              <a:t>7.0年</a:t>
            </a:r>
            <a:endParaRPr sz="990" b="1">
              <a:solidFill>
                <a:srgbClr val="D97946"/>
              </a:solidFill>
              <a:latin typeface="Noto Sans Hans"/>
              <a:ea typeface="Noto Sans Hans"/>
              <a:cs typeface="Noto Sans Hans"/>
            </a:endParaRPr>
          </a:p>
        </p:txBody>
      </p:sp>
      <p:sp>
        <p:nvSpPr>
          <p:cNvPr id="79" name="矩形 78"/>
          <p:cNvSpPr>
            <a:spLocks noGrp="1"/>
          </p:cNvSpPr>
          <p:nvPr/>
        </p:nvSpPr>
        <p:spPr>
          <a:xfrm>
            <a:off x="8251190" y="4057650"/>
            <a:ext cx="1000760" cy="266700"/>
          </a:xfrm>
          <a:prstGeom prst="rect">
            <a:avLst/>
          </a:prstGeom>
          <a:noFill/>
          <a:ln w="0">
            <a:noFill/>
            <a:prstDash val="solid"/>
          </a:ln>
        </p:spPr>
        <p:txBody>
          <a:bodyPr wrap="square" lIns="47625" tIns="19050" rIns="47625" bIns="19050" anchor="ctr">
            <a:normAutofit/>
          </a:bodyPr>
          <a:lstStyle/>
          <a:p>
            <a:pPr algn="l">
              <a:defRPr sz="885" b="1">
                <a:solidFill>
                  <a:srgbClr val="3F3A38"/>
                </a:solidFill>
                <a:latin typeface="Noto Sans Hans"/>
                <a:ea typeface="Noto Sans Hans"/>
                <a:cs typeface="Noto Sans Hans"/>
              </a:defRPr>
            </a:pPr>
            <a:r>
              <a:rPr sz="990" b="1">
                <a:solidFill>
                  <a:srgbClr val="3F3A38"/>
                </a:solidFill>
                <a:latin typeface="Noto Sans Hans"/>
                <a:ea typeface="Noto Sans Hans"/>
                <a:cs typeface="Noto Sans Hans"/>
              </a:rPr>
              <a:t>居家陪伴</a:t>
            </a:r>
            <a:endParaRPr sz="990" b="1">
              <a:solidFill>
                <a:srgbClr val="3F3A38"/>
              </a:solidFill>
              <a:latin typeface="Noto Sans Hans"/>
              <a:ea typeface="Noto Sans Hans"/>
              <a:cs typeface="Noto Sans Hans"/>
            </a:endParaRPr>
          </a:p>
        </p:txBody>
      </p:sp>
      <p:sp>
        <p:nvSpPr>
          <p:cNvPr id="80" name="矩形 79"/>
          <p:cNvSpPr>
            <a:spLocks noGrp="1"/>
          </p:cNvSpPr>
          <p:nvPr/>
        </p:nvSpPr>
        <p:spPr>
          <a:xfrm>
            <a:off x="9213215" y="4133850"/>
            <a:ext cx="1685290" cy="133350"/>
          </a:xfrm>
          <a:prstGeom prst="rect">
            <a:avLst/>
          </a:prstGeom>
          <a:solidFill>
            <a:srgbClr val="EEE8E5"/>
          </a:solidFill>
          <a:ln w="0">
            <a:noFill/>
            <a:prstDash val="solid"/>
          </a:ln>
        </p:spPr>
      </p:sp>
      <p:sp>
        <p:nvSpPr>
          <p:cNvPr id="81" name="矩形 80"/>
          <p:cNvSpPr>
            <a:spLocks noGrp="1"/>
          </p:cNvSpPr>
          <p:nvPr/>
        </p:nvSpPr>
        <p:spPr>
          <a:xfrm>
            <a:off x="9213215" y="4133850"/>
            <a:ext cx="1629410" cy="133350"/>
          </a:xfrm>
          <a:prstGeom prst="rect">
            <a:avLst/>
          </a:prstGeom>
          <a:solidFill>
            <a:srgbClr val="9B7100"/>
          </a:solidFill>
          <a:ln w="0">
            <a:noFill/>
            <a:prstDash val="solid"/>
          </a:ln>
        </p:spPr>
      </p:sp>
      <p:sp>
        <p:nvSpPr>
          <p:cNvPr id="82" name="矩形 81"/>
          <p:cNvSpPr>
            <a:spLocks noGrp="1"/>
          </p:cNvSpPr>
          <p:nvPr/>
        </p:nvSpPr>
        <p:spPr>
          <a:xfrm>
            <a:off x="10765790" y="4057650"/>
            <a:ext cx="494665" cy="276225"/>
          </a:xfrm>
          <a:prstGeom prst="rect">
            <a:avLst/>
          </a:prstGeom>
          <a:noFill/>
          <a:ln w="0">
            <a:noFill/>
            <a:prstDash val="solid"/>
          </a:ln>
        </p:spPr>
        <p:txBody>
          <a:bodyPr wrap="square" lIns="47625" tIns="19050" rIns="47625" bIns="19050" anchor="ctr">
            <a:noAutofit/>
          </a:bodyPr>
          <a:lstStyle/>
          <a:p>
            <a:pPr algn="r">
              <a:defRPr sz="885" b="1">
                <a:solidFill>
                  <a:srgbClr val="9B7100"/>
                </a:solidFill>
                <a:latin typeface="Noto Sans Hans"/>
                <a:ea typeface="Noto Sans Hans"/>
                <a:cs typeface="Noto Sans Hans"/>
              </a:defRPr>
            </a:pPr>
            <a:r>
              <a:rPr sz="990" b="1">
                <a:solidFill>
                  <a:srgbClr val="9B7100"/>
                </a:solidFill>
                <a:latin typeface="Noto Sans Hans"/>
                <a:ea typeface="Noto Sans Hans"/>
                <a:cs typeface="Noto Sans Hans"/>
              </a:rPr>
              <a:t>14.5年</a:t>
            </a:r>
            <a:endParaRPr sz="990" b="1">
              <a:solidFill>
                <a:srgbClr val="9B7100"/>
              </a:solidFill>
              <a:latin typeface="Noto Sans Hans"/>
              <a:ea typeface="Noto Sans Hans"/>
              <a:cs typeface="Noto Sans Hans"/>
            </a:endParaRPr>
          </a:p>
        </p:txBody>
      </p:sp>
      <p:sp>
        <p:nvSpPr>
          <p:cNvPr id="83" name="矩形 82"/>
          <p:cNvSpPr>
            <a:spLocks noGrp="1"/>
          </p:cNvSpPr>
          <p:nvPr/>
        </p:nvSpPr>
        <p:spPr>
          <a:xfrm>
            <a:off x="8270240" y="4572000"/>
            <a:ext cx="3213735" cy="190500"/>
          </a:xfrm>
          <a:prstGeom prst="rect">
            <a:avLst/>
          </a:prstGeom>
          <a:noFill/>
          <a:ln w="0">
            <a:noFill/>
            <a:prstDash val="solid"/>
          </a:ln>
        </p:spPr>
        <p:txBody>
          <a:bodyPr wrap="square" lIns="47625" tIns="19050" rIns="47625" bIns="19050" anchor="ctr">
            <a:normAutofit/>
          </a:bodyPr>
          <a:lstStyle/>
          <a:p>
            <a:pPr algn="l">
              <a:defRPr sz="735" b="0">
                <a:solidFill>
                  <a:srgbClr val="706A67"/>
                </a:solidFill>
                <a:latin typeface="Noto Sans Hans"/>
                <a:ea typeface="Noto Sans Hans"/>
                <a:cs typeface="Noto Sans Hans"/>
              </a:defRPr>
            </a:pPr>
            <a:r>
              <a:rPr sz="840" b="0">
                <a:solidFill>
                  <a:srgbClr val="706A67"/>
                </a:solidFill>
                <a:latin typeface="Noto Sans Hans"/>
                <a:ea typeface="Noto Sans Hans"/>
                <a:cs typeface="Noto Sans Hans"/>
              </a:rPr>
              <a:t>注：数据库基准情景测算，不代表项目实际收益。</a:t>
            </a:r>
            <a:endParaRPr sz="840" b="0">
              <a:solidFill>
                <a:srgbClr val="706A67"/>
              </a:solidFill>
              <a:latin typeface="Noto Sans Hans"/>
              <a:ea typeface="Noto Sans Hans"/>
              <a:cs typeface="Noto Sans Hans"/>
            </a:endParaRPr>
          </a:p>
        </p:txBody>
      </p:sp>
      <p:sp>
        <p:nvSpPr>
          <p:cNvPr id="84" name="矩形 83"/>
          <p:cNvSpPr>
            <a:spLocks noGrp="1"/>
          </p:cNvSpPr>
          <p:nvPr/>
        </p:nvSpPr>
        <p:spPr>
          <a:xfrm>
            <a:off x="476250" y="4953000"/>
            <a:ext cx="11239500" cy="1362075"/>
          </a:xfrm>
          <a:prstGeom prst="rect">
            <a:avLst/>
          </a:prstGeom>
          <a:solidFill>
            <a:srgbClr val="F5F2F0"/>
          </a:solidFill>
          <a:ln w="0">
            <a:noFill/>
            <a:prstDash val="solid"/>
          </a:ln>
        </p:spPr>
      </p:sp>
      <p:sp>
        <p:nvSpPr>
          <p:cNvPr id="85" name="矩形 84"/>
          <p:cNvSpPr>
            <a:spLocks noGrp="1"/>
          </p:cNvSpPr>
          <p:nvPr/>
        </p:nvSpPr>
        <p:spPr>
          <a:xfrm>
            <a:off x="619125" y="5067300"/>
            <a:ext cx="1219200" cy="266700"/>
          </a:xfrm>
          <a:prstGeom prst="rect">
            <a:avLst/>
          </a:prstGeom>
          <a:noFill/>
          <a:ln w="0">
            <a:noFill/>
            <a:prstDash val="solid"/>
          </a:ln>
        </p:spPr>
        <p:txBody>
          <a:bodyPr wrap="square" lIns="47625" tIns="19050" rIns="47625" bIns="19050" anchor="ctr">
            <a:normAutofit/>
          </a:bodyPr>
          <a:lstStyle/>
          <a:p>
            <a:pPr algn="l">
              <a:defRPr sz="1200" b="1">
                <a:solidFill>
                  <a:srgbClr val="CF0712"/>
                </a:solidFill>
                <a:latin typeface="Noto Sans Hans"/>
                <a:ea typeface="Noto Sans Hans"/>
                <a:cs typeface="Noto Sans Hans"/>
              </a:defRPr>
            </a:pPr>
            <a:r>
              <a:rPr sz="1400" b="1">
                <a:solidFill>
                  <a:srgbClr val="CF0712"/>
                </a:solidFill>
                <a:latin typeface="Noto Sans Hans"/>
                <a:ea typeface="Noto Sans Hans"/>
                <a:cs typeface="Noto Sans Hans"/>
              </a:rPr>
              <a:t>应用布局建议</a:t>
            </a:r>
            <a:endParaRPr sz="1400" b="1">
              <a:solidFill>
                <a:srgbClr val="CF0712"/>
              </a:solidFill>
              <a:latin typeface="Noto Sans Hans"/>
              <a:ea typeface="Noto Sans Hans"/>
              <a:cs typeface="Noto Sans Hans"/>
            </a:endParaRPr>
          </a:p>
        </p:txBody>
      </p:sp>
      <p:sp>
        <p:nvSpPr>
          <p:cNvPr id="86" name="圆角矩形 85"/>
          <p:cNvSpPr>
            <a:spLocks noGrp="1"/>
          </p:cNvSpPr>
          <p:nvPr/>
        </p:nvSpPr>
        <p:spPr>
          <a:xfrm>
            <a:off x="1952625" y="5067300"/>
            <a:ext cx="3048000" cy="1104900"/>
          </a:xfrm>
          <a:prstGeom prst="roundRect">
            <a:avLst>
              <a:gd name="adj" fmla="val 1724"/>
            </a:avLst>
          </a:prstGeom>
          <a:solidFill>
            <a:srgbClr val="FFFFFF"/>
          </a:solidFill>
          <a:ln w="9525">
            <a:solidFill>
              <a:srgbClr val="D9D2CE"/>
            </a:solidFill>
            <a:prstDash val="solid"/>
          </a:ln>
        </p:spPr>
      </p:sp>
      <p:sp>
        <p:nvSpPr>
          <p:cNvPr id="87" name="矩形 86"/>
          <p:cNvSpPr>
            <a:spLocks noGrp="1"/>
          </p:cNvSpPr>
          <p:nvPr/>
        </p:nvSpPr>
        <p:spPr>
          <a:xfrm>
            <a:off x="2066925" y="5143500"/>
            <a:ext cx="685800" cy="228600"/>
          </a:xfrm>
          <a:prstGeom prst="rect">
            <a:avLst/>
          </a:prstGeom>
          <a:noFill/>
          <a:ln w="0">
            <a:noFill/>
            <a:prstDash val="solid"/>
          </a:ln>
        </p:spPr>
        <p:txBody>
          <a:bodyPr wrap="square" lIns="47625" tIns="19050" rIns="47625" bIns="19050" anchor="ctr">
            <a:normAutofit/>
          </a:bodyPr>
          <a:lstStyle/>
          <a:p>
            <a:pPr algn="l">
              <a:defRPr sz="975" b="1">
                <a:solidFill>
                  <a:srgbClr val="CF0712"/>
                </a:solidFill>
                <a:latin typeface="Noto Sans Hans"/>
                <a:ea typeface="Noto Sans Hans"/>
                <a:cs typeface="Noto Sans Hans"/>
              </a:defRPr>
            </a:pPr>
            <a:r>
              <a:rPr sz="1080" b="1">
                <a:solidFill>
                  <a:srgbClr val="CF0712"/>
                </a:solidFill>
                <a:latin typeface="Noto Sans Hans"/>
                <a:ea typeface="Noto Sans Hans"/>
                <a:cs typeface="Noto Sans Hans"/>
              </a:rPr>
              <a:t>近期落地</a:t>
            </a:r>
            <a:endParaRPr sz="1080" b="1">
              <a:solidFill>
                <a:srgbClr val="CF0712"/>
              </a:solidFill>
              <a:latin typeface="Noto Sans Hans"/>
              <a:ea typeface="Noto Sans Hans"/>
              <a:cs typeface="Noto Sans Hans"/>
            </a:endParaRPr>
          </a:p>
        </p:txBody>
      </p:sp>
      <p:sp>
        <p:nvSpPr>
          <p:cNvPr id="88" name="矩形 87"/>
          <p:cNvSpPr>
            <a:spLocks noGrp="1"/>
          </p:cNvSpPr>
          <p:nvPr/>
        </p:nvSpPr>
        <p:spPr>
          <a:xfrm>
            <a:off x="2790825" y="5124450"/>
            <a:ext cx="2095500" cy="304800"/>
          </a:xfrm>
          <a:prstGeom prst="rect">
            <a:avLst/>
          </a:prstGeom>
          <a:noFill/>
          <a:ln w="0">
            <a:noFill/>
            <a:prstDash val="solid"/>
          </a:ln>
        </p:spPr>
        <p:txBody>
          <a:bodyPr wrap="square" lIns="47625" tIns="19050" rIns="47625" bIns="19050" anchor="ctr"/>
          <a:lstStyle/>
          <a:p>
            <a:pPr algn="l">
              <a:defRPr sz="915" b="1">
                <a:solidFill>
                  <a:srgbClr val="3F3A38"/>
                </a:solidFill>
                <a:latin typeface="Noto Sans Hans"/>
                <a:ea typeface="Noto Sans Hans"/>
                <a:cs typeface="Noto Sans Hans"/>
              </a:defRPr>
            </a:pPr>
            <a:r>
              <a:rPr sz="1000" b="1">
                <a:solidFill>
                  <a:srgbClr val="3F3A38"/>
                </a:solidFill>
                <a:latin typeface="Noto Sans Hans"/>
                <a:ea typeface="Noto Sans Hans"/>
                <a:cs typeface="Noto Sans Hans"/>
              </a:rPr>
              <a:t>康复机器人示范中心 + 机构配送/巡检试点</a:t>
            </a:r>
            <a:endParaRPr sz="1000" b="1">
              <a:solidFill>
                <a:srgbClr val="3F3A38"/>
              </a:solidFill>
              <a:latin typeface="Noto Sans Hans"/>
              <a:ea typeface="Noto Sans Hans"/>
              <a:cs typeface="Noto Sans Hans"/>
            </a:endParaRPr>
          </a:p>
        </p:txBody>
      </p:sp>
      <p:sp>
        <p:nvSpPr>
          <p:cNvPr id="89" name="矩形 88"/>
          <p:cNvSpPr>
            <a:spLocks noGrp="1"/>
          </p:cNvSpPr>
          <p:nvPr/>
        </p:nvSpPr>
        <p:spPr>
          <a:xfrm>
            <a:off x="2085975" y="5486400"/>
            <a:ext cx="2781300" cy="5619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0">
                <a:solidFill>
                  <a:srgbClr val="3F3A38"/>
                </a:solidFill>
                <a:latin typeface="Noto Sans Hans"/>
                <a:ea typeface="Noto Sans Hans"/>
                <a:cs typeface="Noto Sans Hans"/>
              </a:defRPr>
            </a:pPr>
            <a:r>
              <a:rPr sz="1070" b="0">
                <a:solidFill>
                  <a:srgbClr val="3F3A38"/>
                </a:solidFill>
                <a:latin typeface="Noto Sans Hans"/>
                <a:ea typeface="Noto Sans Hans"/>
                <a:cs typeface="Noto Sans Hans"/>
              </a:rPr>
              <a:t>付费主体和价值指标较明确，可用真实利用率快速验证规模化条件。</a:t>
            </a:r>
            <a:endParaRPr sz="1070" b="0">
              <a:solidFill>
                <a:srgbClr val="3F3A38"/>
              </a:solidFill>
              <a:latin typeface="Noto Sans Hans"/>
              <a:ea typeface="Noto Sans Hans"/>
              <a:cs typeface="Noto Sans Hans"/>
            </a:endParaRPr>
          </a:p>
        </p:txBody>
      </p:sp>
      <p:sp>
        <p:nvSpPr>
          <p:cNvPr id="90" name="圆角矩形 89"/>
          <p:cNvSpPr>
            <a:spLocks noGrp="1"/>
          </p:cNvSpPr>
          <p:nvPr/>
        </p:nvSpPr>
        <p:spPr>
          <a:xfrm>
            <a:off x="5162550" y="5067300"/>
            <a:ext cx="3048000" cy="1104900"/>
          </a:xfrm>
          <a:prstGeom prst="roundRect">
            <a:avLst>
              <a:gd name="adj" fmla="val 1724"/>
            </a:avLst>
          </a:prstGeom>
          <a:solidFill>
            <a:srgbClr val="FFFFFF"/>
          </a:solidFill>
          <a:ln w="9525">
            <a:solidFill>
              <a:srgbClr val="D9D2CE"/>
            </a:solidFill>
            <a:prstDash val="solid"/>
          </a:ln>
        </p:spPr>
      </p:sp>
      <p:sp>
        <p:nvSpPr>
          <p:cNvPr id="91" name="矩形 90"/>
          <p:cNvSpPr>
            <a:spLocks noGrp="1"/>
          </p:cNvSpPr>
          <p:nvPr/>
        </p:nvSpPr>
        <p:spPr>
          <a:xfrm>
            <a:off x="5276850" y="5143500"/>
            <a:ext cx="685800" cy="228600"/>
          </a:xfrm>
          <a:prstGeom prst="rect">
            <a:avLst/>
          </a:prstGeom>
          <a:noFill/>
          <a:ln w="0">
            <a:noFill/>
            <a:prstDash val="solid"/>
          </a:ln>
        </p:spPr>
        <p:txBody>
          <a:bodyPr wrap="square" lIns="47625" tIns="19050" rIns="47625" bIns="19050" anchor="ctr">
            <a:normAutofit/>
          </a:bodyPr>
          <a:lstStyle/>
          <a:p>
            <a:pPr algn="l">
              <a:defRPr sz="975" b="1">
                <a:solidFill>
                  <a:srgbClr val="C94A24"/>
                </a:solidFill>
                <a:latin typeface="Noto Sans Hans"/>
                <a:ea typeface="Noto Sans Hans"/>
                <a:cs typeface="Noto Sans Hans"/>
              </a:defRPr>
            </a:pPr>
            <a:r>
              <a:rPr sz="1080" b="1">
                <a:solidFill>
                  <a:srgbClr val="C94A24"/>
                </a:solidFill>
                <a:latin typeface="Noto Sans Hans"/>
                <a:ea typeface="Noto Sans Hans"/>
                <a:cs typeface="Noto Sans Hans"/>
              </a:rPr>
              <a:t>中期培育</a:t>
            </a:r>
            <a:endParaRPr sz="1080" b="1">
              <a:solidFill>
                <a:srgbClr val="C94A24"/>
              </a:solidFill>
              <a:latin typeface="Noto Sans Hans"/>
              <a:ea typeface="Noto Sans Hans"/>
              <a:cs typeface="Noto Sans Hans"/>
            </a:endParaRPr>
          </a:p>
        </p:txBody>
      </p:sp>
      <p:sp>
        <p:nvSpPr>
          <p:cNvPr id="92" name="矩形 91"/>
          <p:cNvSpPr>
            <a:spLocks noGrp="1"/>
          </p:cNvSpPr>
          <p:nvPr/>
        </p:nvSpPr>
        <p:spPr>
          <a:xfrm>
            <a:off x="6000750" y="5124450"/>
            <a:ext cx="2095500" cy="304800"/>
          </a:xfrm>
          <a:prstGeom prst="rect">
            <a:avLst/>
          </a:prstGeom>
          <a:noFill/>
          <a:ln w="0">
            <a:noFill/>
            <a:prstDash val="solid"/>
          </a:ln>
        </p:spPr>
        <p:txBody>
          <a:bodyPr wrap="square" lIns="47625" tIns="19050" rIns="47625" bIns="19050" anchor="ctr">
            <a:noAutofit/>
          </a:bodyPr>
          <a:lstStyle/>
          <a:p>
            <a:pPr algn="l">
              <a:defRPr sz="915" b="1">
                <a:solidFill>
                  <a:srgbClr val="3F3A38"/>
                </a:solidFill>
                <a:latin typeface="Noto Sans Hans"/>
                <a:ea typeface="Noto Sans Hans"/>
                <a:cs typeface="Noto Sans Hans"/>
              </a:defRPr>
            </a:pPr>
            <a:r>
              <a:rPr sz="1020" b="1">
                <a:solidFill>
                  <a:srgbClr val="3F3A38"/>
                </a:solidFill>
                <a:latin typeface="Noto Sans Hans"/>
                <a:ea typeface="Noto Sans Hans"/>
                <a:cs typeface="Noto Sans Hans"/>
              </a:rPr>
              <a:t>移乘、二便、助浴等物理护理机器人</a:t>
            </a:r>
            <a:endParaRPr sz="1020" b="1">
              <a:solidFill>
                <a:srgbClr val="3F3A38"/>
              </a:solidFill>
              <a:latin typeface="Noto Sans Hans"/>
              <a:ea typeface="Noto Sans Hans"/>
              <a:cs typeface="Noto Sans Hans"/>
            </a:endParaRPr>
          </a:p>
        </p:txBody>
      </p:sp>
      <p:sp>
        <p:nvSpPr>
          <p:cNvPr id="93" name="矩形 92"/>
          <p:cNvSpPr>
            <a:spLocks noGrp="1"/>
          </p:cNvSpPr>
          <p:nvPr/>
        </p:nvSpPr>
        <p:spPr>
          <a:xfrm>
            <a:off x="5295900" y="5486400"/>
            <a:ext cx="2781300" cy="5619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0">
                <a:solidFill>
                  <a:srgbClr val="3F3A38"/>
                </a:solidFill>
                <a:latin typeface="Noto Sans Hans"/>
                <a:ea typeface="Noto Sans Hans"/>
                <a:cs typeface="Noto Sans Hans"/>
              </a:defRPr>
            </a:pPr>
            <a:r>
              <a:rPr sz="1070" b="0">
                <a:solidFill>
                  <a:srgbClr val="3F3A38"/>
                </a:solidFill>
                <a:latin typeface="Noto Sans Hans"/>
                <a:ea typeface="Noto Sans Hans"/>
                <a:cs typeface="Noto Sans Hans"/>
              </a:rPr>
              <a:t>先做安全、耗材和护理流程验证，再按里程碑投资和复制。</a:t>
            </a:r>
            <a:endParaRPr sz="1070" b="0">
              <a:solidFill>
                <a:srgbClr val="3F3A38"/>
              </a:solidFill>
              <a:latin typeface="Noto Sans Hans"/>
              <a:ea typeface="Noto Sans Hans"/>
              <a:cs typeface="Noto Sans Hans"/>
            </a:endParaRPr>
          </a:p>
        </p:txBody>
      </p:sp>
      <p:sp>
        <p:nvSpPr>
          <p:cNvPr id="94" name="圆角矩形 93"/>
          <p:cNvSpPr>
            <a:spLocks noGrp="1"/>
          </p:cNvSpPr>
          <p:nvPr/>
        </p:nvSpPr>
        <p:spPr>
          <a:xfrm>
            <a:off x="8372475" y="5067300"/>
            <a:ext cx="3048000" cy="1104900"/>
          </a:xfrm>
          <a:prstGeom prst="roundRect">
            <a:avLst>
              <a:gd name="adj" fmla="val 1724"/>
            </a:avLst>
          </a:prstGeom>
          <a:solidFill>
            <a:srgbClr val="FFFFFF"/>
          </a:solidFill>
          <a:ln w="9525">
            <a:solidFill>
              <a:srgbClr val="D9D2CE"/>
            </a:solidFill>
            <a:prstDash val="solid"/>
          </a:ln>
        </p:spPr>
      </p:sp>
      <p:sp>
        <p:nvSpPr>
          <p:cNvPr id="95" name="矩形 94"/>
          <p:cNvSpPr>
            <a:spLocks noGrp="1"/>
          </p:cNvSpPr>
          <p:nvPr/>
        </p:nvSpPr>
        <p:spPr>
          <a:xfrm>
            <a:off x="8486775" y="5143500"/>
            <a:ext cx="685800" cy="228600"/>
          </a:xfrm>
          <a:prstGeom prst="rect">
            <a:avLst/>
          </a:prstGeom>
          <a:noFill/>
          <a:ln w="0">
            <a:noFill/>
            <a:prstDash val="solid"/>
          </a:ln>
        </p:spPr>
        <p:txBody>
          <a:bodyPr wrap="square" lIns="47625" tIns="19050" rIns="47625" bIns="19050" anchor="ctr">
            <a:normAutofit/>
          </a:bodyPr>
          <a:lstStyle/>
          <a:p>
            <a:pPr algn="l">
              <a:defRPr sz="975" b="1">
                <a:solidFill>
                  <a:srgbClr val="9B7100"/>
                </a:solidFill>
                <a:latin typeface="Noto Sans Hans"/>
                <a:ea typeface="Noto Sans Hans"/>
                <a:cs typeface="Noto Sans Hans"/>
              </a:defRPr>
            </a:pPr>
            <a:r>
              <a:rPr sz="1080" b="1">
                <a:solidFill>
                  <a:srgbClr val="9B7100"/>
                </a:solidFill>
                <a:latin typeface="Noto Sans Hans"/>
                <a:ea typeface="Noto Sans Hans"/>
                <a:cs typeface="Noto Sans Hans"/>
              </a:rPr>
              <a:t>持续观察</a:t>
            </a:r>
            <a:endParaRPr sz="1080" b="1">
              <a:solidFill>
                <a:srgbClr val="9B7100"/>
              </a:solidFill>
              <a:latin typeface="Noto Sans Hans"/>
              <a:ea typeface="Noto Sans Hans"/>
              <a:cs typeface="Noto Sans Hans"/>
            </a:endParaRPr>
          </a:p>
        </p:txBody>
      </p:sp>
      <p:sp>
        <p:nvSpPr>
          <p:cNvPr id="96" name="矩形 95"/>
          <p:cNvSpPr>
            <a:spLocks noGrp="1"/>
          </p:cNvSpPr>
          <p:nvPr/>
        </p:nvSpPr>
        <p:spPr>
          <a:xfrm>
            <a:off x="9210675" y="5124450"/>
            <a:ext cx="2095500" cy="304800"/>
          </a:xfrm>
          <a:prstGeom prst="rect">
            <a:avLst/>
          </a:prstGeom>
          <a:noFill/>
          <a:ln w="0">
            <a:noFill/>
            <a:prstDash val="solid"/>
          </a:ln>
        </p:spPr>
        <p:txBody>
          <a:bodyPr wrap="square" lIns="47625" tIns="19050" rIns="47625" bIns="19050" anchor="ctr">
            <a:normAutofit/>
          </a:bodyPr>
          <a:lstStyle/>
          <a:p>
            <a:pPr algn="l">
              <a:defRPr sz="915" b="1">
                <a:solidFill>
                  <a:srgbClr val="3F3A38"/>
                </a:solidFill>
                <a:latin typeface="Noto Sans Hans"/>
                <a:ea typeface="Noto Sans Hans"/>
                <a:cs typeface="Noto Sans Hans"/>
              </a:defRPr>
            </a:pPr>
            <a:r>
              <a:rPr sz="1020" b="1">
                <a:solidFill>
                  <a:srgbClr val="3F3A38"/>
                </a:solidFill>
                <a:latin typeface="Noto Sans Hans"/>
                <a:ea typeface="Noto Sans Hans"/>
                <a:cs typeface="Noto Sans Hans"/>
              </a:rPr>
              <a:t>居家陪伴与通用具身养老机器人</a:t>
            </a:r>
            <a:endParaRPr sz="1020" b="1">
              <a:solidFill>
                <a:srgbClr val="3F3A38"/>
              </a:solidFill>
              <a:latin typeface="Noto Sans Hans"/>
              <a:ea typeface="Noto Sans Hans"/>
              <a:cs typeface="Noto Sans Hans"/>
            </a:endParaRPr>
          </a:p>
        </p:txBody>
      </p:sp>
      <p:sp>
        <p:nvSpPr>
          <p:cNvPr id="97" name="矩形 96"/>
          <p:cNvSpPr>
            <a:spLocks noGrp="1"/>
          </p:cNvSpPr>
          <p:nvPr/>
        </p:nvSpPr>
        <p:spPr>
          <a:xfrm>
            <a:off x="8505825" y="5486400"/>
            <a:ext cx="2781300" cy="5619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65" b="0">
                <a:solidFill>
                  <a:srgbClr val="3F3A38"/>
                </a:solidFill>
                <a:latin typeface="Noto Sans Hans"/>
                <a:ea typeface="Noto Sans Hans"/>
                <a:cs typeface="Noto Sans Hans"/>
              </a:defRPr>
            </a:pPr>
            <a:r>
              <a:rPr sz="1070" b="0">
                <a:solidFill>
                  <a:srgbClr val="3F3A38"/>
                </a:solidFill>
                <a:latin typeface="Noto Sans Hans"/>
                <a:ea typeface="Noto Sans Hans"/>
                <a:cs typeface="Noto Sans Hans"/>
              </a:rPr>
              <a:t>重点验证激活率、续费率、售后半径和隐私合规，不以硬件销量代替服务价值。</a:t>
            </a:r>
            <a:endParaRPr sz="1070" b="0">
              <a:solidFill>
                <a:srgbClr val="3F3A38"/>
              </a:solidFill>
              <a:latin typeface="Noto Sans Hans"/>
              <a:ea typeface="Noto Sans Hans"/>
              <a:cs typeface="Noto Sans Hans"/>
            </a:endParaRPr>
          </a:p>
        </p:txBody>
      </p:sp>
      <p:sp>
        <p:nvSpPr>
          <p:cNvPr id="98" name="矩形 97"/>
          <p:cNvSpPr>
            <a:spLocks noGrp="1"/>
          </p:cNvSpPr>
          <p:nvPr/>
        </p:nvSpPr>
        <p:spPr>
          <a:xfrm>
            <a:off x="476250" y="6553200"/>
            <a:ext cx="10287000" cy="190500"/>
          </a:xfrm>
          <a:prstGeom prst="rect">
            <a:avLst/>
          </a:prstGeom>
          <a:noFill/>
          <a:ln w="0">
            <a:noFill/>
            <a:prstDash val="solid"/>
          </a:ln>
        </p:spPr>
        <p:txBody>
          <a:bodyPr wrap="square" lIns="47625" tIns="19050" rIns="47625" bIns="19050" anchor="ctr">
            <a:normAutofit/>
          </a:bodyPr>
          <a:lstStyle/>
          <a:p>
            <a:pPr algn="l">
              <a:defRPr sz="790" b="0">
                <a:solidFill>
                  <a:srgbClr val="706A67"/>
                </a:solidFill>
                <a:latin typeface="Noto Sans Hans"/>
                <a:ea typeface="Noto Sans Hans"/>
                <a:cs typeface="Noto Sans Hans"/>
              </a:defRPr>
            </a:pPr>
            <a:r>
              <a:rPr sz="790" b="0">
                <a:solidFill>
                  <a:srgbClr val="706A67"/>
                </a:solidFill>
                <a:latin typeface="Noto Sans Hans"/>
                <a:ea typeface="Noto Sans Hans"/>
                <a:cs typeface="Noto Sans Hans"/>
              </a:rPr>
              <a:t>资料来源：国家统计局、国家医疗保障局、武汉市财政局；养老机器人产业增强基础数据库。</a:t>
            </a:r>
            <a:endParaRPr sz="790" b="0">
              <a:solidFill>
                <a:srgbClr val="706A67"/>
              </a:solidFill>
              <a:latin typeface="Noto Sans Hans"/>
              <a:ea typeface="Noto Sans Hans"/>
              <a:cs typeface="Noto Sans Hans"/>
            </a:endParaRPr>
          </a:p>
        </p:txBody>
      </p:sp>
      <p:sp>
        <p:nvSpPr>
          <p:cNvPr id="99" name="矩形 98"/>
          <p:cNvSpPr>
            <a:spLocks noGrp="1"/>
          </p:cNvSpPr>
          <p:nvPr/>
        </p:nvSpPr>
        <p:spPr>
          <a:xfrm>
            <a:off x="11287125" y="6543675"/>
            <a:ext cx="428625" cy="190500"/>
          </a:xfrm>
          <a:prstGeom prst="rect">
            <a:avLst/>
          </a:prstGeom>
          <a:noFill/>
          <a:ln w="0">
            <a:noFill/>
            <a:prstDash val="solid"/>
          </a:ln>
        </p:spPr>
        <p:txBody>
          <a:bodyPr wrap="square" lIns="47625" tIns="19050" rIns="47625" bIns="19050" anchor="ctr">
            <a:normAutofit/>
          </a:bodyPr>
          <a:lstStyle/>
          <a:p>
            <a:pPr algn="r">
              <a:defRPr sz="900" b="1">
                <a:solidFill>
                  <a:srgbClr val="CF0712"/>
                </a:solidFill>
                <a:latin typeface="Noto Sans Hans"/>
                <a:ea typeface="Noto Sans Hans"/>
                <a:cs typeface="Noto Sans Hans"/>
              </a:defRPr>
            </a:pPr>
            <a:r>
              <a:rPr sz="900" b="1">
                <a:solidFill>
                  <a:srgbClr val="CF0712"/>
                </a:solidFill>
                <a:latin typeface="Noto Sans Hans"/>
                <a:ea typeface="Noto Sans Hans"/>
                <a:cs typeface="Noto Sans Hans"/>
              </a:rPr>
              <a:t>0</a:t>
            </a:r>
            <a:r>
              <a:rPr lang="en-US" sz="900" b="1">
                <a:solidFill>
                  <a:srgbClr val="CF0712"/>
                </a:solidFill>
                <a:latin typeface="Noto Sans Hans"/>
                <a:ea typeface="Noto Sans Hans"/>
                <a:cs typeface="Noto Sans Hans"/>
              </a:rPr>
              <a:t>5</a:t>
            </a:r>
            <a:endParaRPr lang="en-US" sz="900" b="1">
              <a:solidFill>
                <a:srgbClr val="CF0712"/>
              </a:solidFill>
              <a:latin typeface="Noto Sans Hans"/>
              <a:ea typeface="Noto Sans Hans"/>
              <a:cs typeface="Noto Sans H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28600"/>
            <a:ext cx="171450" cy="685800"/>
          </a:xfrm>
          <a:prstGeom prst="rect">
            <a:avLst/>
          </a:prstGeom>
          <a:solidFill>
            <a:srgbClr val="D00914"/>
          </a:solidFill>
          <a:ln w="0">
            <a:noFill/>
            <a:prstDash val="solid"/>
          </a:ln>
        </p:spPr>
      </p:sp>
      <p:sp>
        <p:nvSpPr>
          <p:cNvPr id="3" name="slide-title"/>
          <p:cNvSpPr>
            <a:spLocks noGrp="1"/>
          </p:cNvSpPr>
          <p:nvPr/>
        </p:nvSpPr>
        <p:spPr>
          <a:xfrm>
            <a:off x="476250" y="200025"/>
            <a:ext cx="11239500" cy="457200"/>
          </a:xfrm>
          <a:prstGeom prst="rect">
            <a:avLst/>
          </a:prstGeom>
          <a:noFill/>
          <a:ln w="0">
            <a:noFill/>
            <a:prstDash val="solid"/>
          </a:ln>
        </p:spPr>
        <p:txBody>
          <a:bodyPr lIns="0" tIns="0" rIns="0" bIns="0" anchor="ctr">
            <a:normAutofit/>
          </a:bodyPr>
          <a:lstStyle/>
          <a:p>
            <a:r>
              <a:rPr lang="en-US" sz="2025" b="1">
                <a:solidFill>
                  <a:srgbClr val="D00914"/>
                </a:solidFill>
                <a:latin typeface="Noto Sans Hans"/>
                <a:ea typeface="Noto Sans Hans"/>
                <a:cs typeface="Noto Sans Hans"/>
              </a:rPr>
              <a:t>1.3</a:t>
            </a:r>
            <a:r>
              <a:rPr sz="2025" b="1">
                <a:solidFill>
                  <a:srgbClr val="D00914"/>
                </a:solidFill>
                <a:latin typeface="Noto Sans Hans"/>
                <a:ea typeface="Noto Sans Hans"/>
                <a:cs typeface="Noto Sans Hans"/>
              </a:rPr>
              <a:t>【技术路线图】</a:t>
            </a:r>
            <a:r>
              <a:rPr sz="2025" b="1">
                <a:solidFill>
                  <a:srgbClr val="403A38"/>
                </a:solidFill>
                <a:latin typeface="Noto Sans Hans"/>
                <a:ea typeface="Noto Sans Hans"/>
                <a:cs typeface="Noto Sans Hans"/>
              </a:rPr>
              <a:t>养老机器人将沿“可感知—可交互—可安全执行—可持续运营”分层演进</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57225"/>
            <a:ext cx="11096625" cy="266700"/>
          </a:xfrm>
          <a:prstGeom prst="rect">
            <a:avLst/>
          </a:prstGeom>
          <a:noFill/>
          <a:ln w="0">
            <a:noFill/>
            <a:prstDash val="solid"/>
          </a:ln>
        </p:spPr>
        <p:txBody>
          <a:bodyPr wrap="square" lIns="47625" tIns="19050" rIns="47625" bIns="19050" anchor="ctr">
            <a:normAutofit/>
          </a:bodyPr>
          <a:lstStyle/>
          <a:p>
            <a:pPr algn="l">
              <a:defRPr sz="1125" b="0">
                <a:solidFill>
                  <a:srgbClr val="716B68"/>
                </a:solidFill>
                <a:latin typeface="Noto Sans Hans"/>
                <a:ea typeface="Noto Sans Hans"/>
                <a:cs typeface="Noto Sans Hans"/>
              </a:defRPr>
            </a:pPr>
            <a:r>
              <a:rPr sz="1125" b="0">
                <a:solidFill>
                  <a:srgbClr val="716B68"/>
                </a:solidFill>
                <a:latin typeface="Noto Sans Hans"/>
                <a:ea typeface="Noto Sans Hans"/>
                <a:cs typeface="Noto Sans Hans"/>
              </a:rPr>
              <a:t>2025—2027年以成熟模块导入和接口标准化为主，2028—2030年突破人体接触安全与临床闭环，2030年后迈向具身智能与多机协同</a:t>
            </a:r>
            <a:endParaRPr sz="112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9D2CE"/>
          </a:solidFill>
          <a:ln w="0">
            <a:noFill/>
            <a:prstDash val="solid"/>
          </a:ln>
        </p:spPr>
      </p:sp>
      <p:sp>
        <p:nvSpPr>
          <p:cNvPr id="6" name="矩形 5"/>
          <p:cNvSpPr>
            <a:spLocks noGrp="1"/>
          </p:cNvSpPr>
          <p:nvPr/>
        </p:nvSpPr>
        <p:spPr>
          <a:xfrm>
            <a:off x="1952625" y="1276350"/>
            <a:ext cx="3000375" cy="495300"/>
          </a:xfrm>
          <a:prstGeom prst="rect">
            <a:avLst/>
          </a:prstGeom>
          <a:solidFill>
            <a:srgbClr val="91252F"/>
          </a:solidFill>
          <a:ln w="0">
            <a:noFill/>
            <a:prstDash val="solid"/>
          </a:ln>
        </p:spPr>
      </p:sp>
      <p:sp>
        <p:nvSpPr>
          <p:cNvPr id="7" name="矩形 6"/>
          <p:cNvSpPr>
            <a:spLocks noGrp="1"/>
          </p:cNvSpPr>
          <p:nvPr/>
        </p:nvSpPr>
        <p:spPr>
          <a:xfrm>
            <a:off x="2028825" y="1304925"/>
            <a:ext cx="2847975" cy="238125"/>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近期｜2025—2027</a:t>
            </a:r>
            <a:endParaRPr sz="1200" b="1">
              <a:solidFill>
                <a:srgbClr val="FFFFFF"/>
              </a:solidFill>
              <a:latin typeface="Noto Sans Hans"/>
              <a:ea typeface="Noto Sans Hans"/>
              <a:cs typeface="Noto Sans Hans"/>
            </a:endParaRPr>
          </a:p>
        </p:txBody>
      </p:sp>
      <p:sp>
        <p:nvSpPr>
          <p:cNvPr id="8" name="矩形 7"/>
          <p:cNvSpPr>
            <a:spLocks noGrp="1"/>
          </p:cNvSpPr>
          <p:nvPr/>
        </p:nvSpPr>
        <p:spPr>
          <a:xfrm>
            <a:off x="2028825" y="1533525"/>
            <a:ext cx="2847975" cy="190500"/>
          </a:xfrm>
          <a:prstGeom prst="rect">
            <a:avLst/>
          </a:prstGeom>
          <a:noFill/>
          <a:ln w="0">
            <a:noFill/>
            <a:prstDash val="solid"/>
          </a:ln>
        </p:spPr>
        <p:txBody>
          <a:bodyPr wrap="square" lIns="47625" tIns="19050" rIns="47625" bIns="19050" anchor="ctr">
            <a:normAutofit/>
          </a:bodyPr>
          <a:lstStyle/>
          <a:p>
            <a:pPr algn="ctr">
              <a:defRPr sz="865" b="0">
                <a:solidFill>
                  <a:srgbClr val="FFF5F0"/>
                </a:solidFill>
                <a:latin typeface="Noto Sans Hans"/>
                <a:ea typeface="Noto Sans Hans"/>
                <a:cs typeface="Noto Sans Hans"/>
              </a:defRPr>
            </a:pPr>
            <a:r>
              <a:rPr sz="970" b="0">
                <a:solidFill>
                  <a:srgbClr val="FFF5F0"/>
                </a:solidFill>
                <a:latin typeface="Noto Sans Hans"/>
                <a:ea typeface="Noto Sans Hans"/>
                <a:cs typeface="Noto Sans Hans"/>
              </a:rPr>
              <a:t>场景导入与标准补课</a:t>
            </a:r>
            <a:endParaRPr sz="970" b="0">
              <a:solidFill>
                <a:srgbClr val="FFF5F0"/>
              </a:solidFill>
              <a:latin typeface="Noto Sans Hans"/>
              <a:ea typeface="Noto Sans Hans"/>
              <a:cs typeface="Noto Sans Hans"/>
            </a:endParaRPr>
          </a:p>
        </p:txBody>
      </p:sp>
      <p:sp>
        <p:nvSpPr>
          <p:cNvPr id="9" name="矩形 8"/>
          <p:cNvSpPr>
            <a:spLocks noGrp="1"/>
          </p:cNvSpPr>
          <p:nvPr/>
        </p:nvSpPr>
        <p:spPr>
          <a:xfrm>
            <a:off x="5048250" y="1276350"/>
            <a:ext cx="3190875" cy="495300"/>
          </a:xfrm>
          <a:prstGeom prst="rect">
            <a:avLst/>
          </a:prstGeom>
          <a:solidFill>
            <a:srgbClr val="C94722"/>
          </a:solidFill>
          <a:ln w="0">
            <a:noFill/>
            <a:prstDash val="solid"/>
          </a:ln>
        </p:spPr>
      </p:sp>
      <p:sp>
        <p:nvSpPr>
          <p:cNvPr id="10" name="矩形 9"/>
          <p:cNvSpPr>
            <a:spLocks noGrp="1"/>
          </p:cNvSpPr>
          <p:nvPr/>
        </p:nvSpPr>
        <p:spPr>
          <a:xfrm>
            <a:off x="5124450" y="1304925"/>
            <a:ext cx="3038475" cy="238125"/>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中期｜2028—2030</a:t>
            </a:r>
            <a:endParaRPr sz="1200" b="1">
              <a:solidFill>
                <a:srgbClr val="FFFFFF"/>
              </a:solidFill>
              <a:latin typeface="Noto Sans Hans"/>
              <a:ea typeface="Noto Sans Hans"/>
              <a:cs typeface="Noto Sans Hans"/>
            </a:endParaRPr>
          </a:p>
        </p:txBody>
      </p:sp>
      <p:sp>
        <p:nvSpPr>
          <p:cNvPr id="11" name="矩形 10"/>
          <p:cNvSpPr>
            <a:spLocks noGrp="1"/>
          </p:cNvSpPr>
          <p:nvPr/>
        </p:nvSpPr>
        <p:spPr>
          <a:xfrm>
            <a:off x="5124450" y="1533525"/>
            <a:ext cx="3038475" cy="190500"/>
          </a:xfrm>
          <a:prstGeom prst="rect">
            <a:avLst/>
          </a:prstGeom>
          <a:noFill/>
          <a:ln w="0">
            <a:noFill/>
            <a:prstDash val="solid"/>
          </a:ln>
        </p:spPr>
        <p:txBody>
          <a:bodyPr wrap="square" lIns="47625" tIns="19050" rIns="47625" bIns="19050" anchor="ctr">
            <a:normAutofit/>
          </a:bodyPr>
          <a:lstStyle/>
          <a:p>
            <a:pPr algn="ctr">
              <a:defRPr sz="865" b="0">
                <a:solidFill>
                  <a:srgbClr val="FFF5F0"/>
                </a:solidFill>
                <a:latin typeface="Noto Sans Hans"/>
                <a:ea typeface="Noto Sans Hans"/>
                <a:cs typeface="Noto Sans Hans"/>
              </a:defRPr>
            </a:pPr>
            <a:r>
              <a:rPr sz="970" b="0">
                <a:solidFill>
                  <a:srgbClr val="FFF5F0"/>
                </a:solidFill>
                <a:latin typeface="Noto Sans Hans"/>
                <a:ea typeface="Noto Sans Hans"/>
                <a:cs typeface="Noto Sans Hans"/>
              </a:rPr>
              <a:t>关键能力融合与规模验证</a:t>
            </a:r>
            <a:endParaRPr sz="970" b="0">
              <a:solidFill>
                <a:srgbClr val="FFF5F0"/>
              </a:solidFill>
              <a:latin typeface="Noto Sans Hans"/>
              <a:ea typeface="Noto Sans Hans"/>
              <a:cs typeface="Noto Sans Hans"/>
            </a:endParaRPr>
          </a:p>
        </p:txBody>
      </p:sp>
      <p:sp>
        <p:nvSpPr>
          <p:cNvPr id="12" name="矩形 11"/>
          <p:cNvSpPr>
            <a:spLocks noGrp="1"/>
          </p:cNvSpPr>
          <p:nvPr/>
        </p:nvSpPr>
        <p:spPr>
          <a:xfrm>
            <a:off x="8334375" y="1276350"/>
            <a:ext cx="3381375" cy="495300"/>
          </a:xfrm>
          <a:prstGeom prst="rect">
            <a:avLst/>
          </a:prstGeom>
          <a:solidFill>
            <a:srgbClr val="9A7000"/>
          </a:solidFill>
          <a:ln w="0">
            <a:noFill/>
            <a:prstDash val="solid"/>
          </a:ln>
        </p:spPr>
      </p:sp>
      <p:sp>
        <p:nvSpPr>
          <p:cNvPr id="13" name="矩形 12"/>
          <p:cNvSpPr>
            <a:spLocks noGrp="1"/>
          </p:cNvSpPr>
          <p:nvPr/>
        </p:nvSpPr>
        <p:spPr>
          <a:xfrm>
            <a:off x="8410575" y="1304925"/>
            <a:ext cx="3228975" cy="238125"/>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远期｜2030年后</a:t>
            </a:r>
            <a:endParaRPr sz="1200" b="1">
              <a:solidFill>
                <a:srgbClr val="FFFFFF"/>
              </a:solidFill>
              <a:latin typeface="Noto Sans Hans"/>
              <a:ea typeface="Noto Sans Hans"/>
              <a:cs typeface="Noto Sans Hans"/>
            </a:endParaRPr>
          </a:p>
        </p:txBody>
      </p:sp>
      <p:sp>
        <p:nvSpPr>
          <p:cNvPr id="14" name="矩形 13"/>
          <p:cNvSpPr>
            <a:spLocks noGrp="1"/>
          </p:cNvSpPr>
          <p:nvPr/>
        </p:nvSpPr>
        <p:spPr>
          <a:xfrm>
            <a:off x="8410575" y="1533525"/>
            <a:ext cx="3228975" cy="190500"/>
          </a:xfrm>
          <a:prstGeom prst="rect">
            <a:avLst/>
          </a:prstGeom>
          <a:noFill/>
          <a:ln w="0">
            <a:noFill/>
            <a:prstDash val="solid"/>
          </a:ln>
        </p:spPr>
        <p:txBody>
          <a:bodyPr wrap="square" lIns="47625" tIns="19050" rIns="47625" bIns="19050" anchor="ctr">
            <a:normAutofit/>
          </a:bodyPr>
          <a:lstStyle/>
          <a:p>
            <a:pPr algn="ctr">
              <a:defRPr sz="865" b="0">
                <a:solidFill>
                  <a:srgbClr val="FFF5F0"/>
                </a:solidFill>
                <a:latin typeface="Noto Sans Hans"/>
                <a:ea typeface="Noto Sans Hans"/>
                <a:cs typeface="Noto Sans Hans"/>
              </a:defRPr>
            </a:pPr>
            <a:r>
              <a:rPr sz="970" b="0">
                <a:solidFill>
                  <a:srgbClr val="FFF5F0"/>
                </a:solidFill>
                <a:latin typeface="Noto Sans Hans"/>
                <a:ea typeface="Noto Sans Hans"/>
                <a:cs typeface="Noto Sans Hans"/>
              </a:rPr>
              <a:t>自主决策与生态运营</a:t>
            </a:r>
            <a:endParaRPr sz="970" b="0">
              <a:solidFill>
                <a:srgbClr val="FFF5F0"/>
              </a:solidFill>
              <a:latin typeface="Noto Sans Hans"/>
              <a:ea typeface="Noto Sans Hans"/>
              <a:cs typeface="Noto Sans Hans"/>
            </a:endParaRPr>
          </a:p>
        </p:txBody>
      </p:sp>
      <p:sp>
        <p:nvSpPr>
          <p:cNvPr id="15" name="矩形 14"/>
          <p:cNvSpPr>
            <a:spLocks noGrp="1"/>
          </p:cNvSpPr>
          <p:nvPr/>
        </p:nvSpPr>
        <p:spPr>
          <a:xfrm>
            <a:off x="457200" y="1847850"/>
            <a:ext cx="1428750" cy="1000125"/>
          </a:xfrm>
          <a:prstGeom prst="rect">
            <a:avLst/>
          </a:prstGeom>
          <a:solidFill>
            <a:srgbClr val="91252F"/>
          </a:solidFill>
          <a:ln w="0">
            <a:noFill/>
            <a:prstDash val="solid"/>
          </a:ln>
        </p:spPr>
      </p:sp>
      <p:sp>
        <p:nvSpPr>
          <p:cNvPr id="16" name="矩形 15"/>
          <p:cNvSpPr>
            <a:spLocks noGrp="1"/>
          </p:cNvSpPr>
          <p:nvPr/>
        </p:nvSpPr>
        <p:spPr>
          <a:xfrm>
            <a:off x="533400" y="1924050"/>
            <a:ext cx="1276350" cy="285750"/>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感知与交互</a:t>
            </a:r>
            <a:endParaRPr sz="1400" b="1">
              <a:solidFill>
                <a:srgbClr val="FFFFFF"/>
              </a:solidFill>
              <a:latin typeface="Noto Sans Hans"/>
              <a:ea typeface="Noto Sans Hans"/>
              <a:cs typeface="Noto Sans Hans"/>
            </a:endParaRPr>
          </a:p>
        </p:txBody>
      </p:sp>
      <p:sp>
        <p:nvSpPr>
          <p:cNvPr id="17" name="矩形 16"/>
          <p:cNvSpPr>
            <a:spLocks noGrp="1"/>
          </p:cNvSpPr>
          <p:nvPr/>
        </p:nvSpPr>
        <p:spPr>
          <a:xfrm>
            <a:off x="571500" y="2266950"/>
            <a:ext cx="1200150" cy="504825"/>
          </a:xfrm>
          <a:prstGeom prst="rect">
            <a:avLst/>
          </a:prstGeom>
          <a:noFill/>
          <a:ln w="0">
            <a:noFill/>
            <a:prstDash val="solid"/>
          </a:ln>
        </p:spPr>
        <p:txBody>
          <a:bodyPr wrap="square" lIns="47625" tIns="19050" rIns="47625" bIns="19050" anchor="t">
            <a:normAutofit/>
          </a:bodyPr>
          <a:lstStyle/>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看得见、听得懂</a:t>
            </a:r>
            <a:endParaRPr sz="970" b="0">
              <a:solidFill>
                <a:srgbClr val="FFF5EF"/>
              </a:solidFill>
              <a:latin typeface="Noto Sans Hans"/>
              <a:ea typeface="Noto Sans Hans"/>
              <a:cs typeface="Noto Sans Hans"/>
            </a:endParaRPr>
          </a:p>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理解老人状态</a:t>
            </a:r>
            <a:endParaRPr sz="970" b="0">
              <a:solidFill>
                <a:srgbClr val="FFF5EF"/>
              </a:solidFill>
              <a:latin typeface="Noto Sans Hans"/>
              <a:ea typeface="Noto Sans Hans"/>
              <a:cs typeface="Noto Sans Hans"/>
            </a:endParaRPr>
          </a:p>
        </p:txBody>
      </p:sp>
      <p:sp>
        <p:nvSpPr>
          <p:cNvPr id="18" name="矩形 17"/>
          <p:cNvSpPr>
            <a:spLocks noGrp="1"/>
          </p:cNvSpPr>
          <p:nvPr/>
        </p:nvSpPr>
        <p:spPr>
          <a:xfrm>
            <a:off x="457200" y="2924175"/>
            <a:ext cx="1428750" cy="1000125"/>
          </a:xfrm>
          <a:prstGeom prst="rect">
            <a:avLst/>
          </a:prstGeom>
          <a:solidFill>
            <a:srgbClr val="C94722"/>
          </a:solidFill>
          <a:ln w="0">
            <a:noFill/>
            <a:prstDash val="solid"/>
          </a:ln>
        </p:spPr>
      </p:sp>
      <p:sp>
        <p:nvSpPr>
          <p:cNvPr id="19" name="矩形 18"/>
          <p:cNvSpPr>
            <a:spLocks noGrp="1"/>
          </p:cNvSpPr>
          <p:nvPr/>
        </p:nvSpPr>
        <p:spPr>
          <a:xfrm>
            <a:off x="533400" y="3000375"/>
            <a:ext cx="1276350" cy="285750"/>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认知与决策</a:t>
            </a:r>
            <a:endParaRPr sz="1400" b="1">
              <a:solidFill>
                <a:srgbClr val="FFFFFF"/>
              </a:solidFill>
              <a:latin typeface="Noto Sans Hans"/>
              <a:ea typeface="Noto Sans Hans"/>
              <a:cs typeface="Noto Sans Hans"/>
            </a:endParaRPr>
          </a:p>
        </p:txBody>
      </p:sp>
      <p:sp>
        <p:nvSpPr>
          <p:cNvPr id="20" name="矩形 19"/>
          <p:cNvSpPr>
            <a:spLocks noGrp="1"/>
          </p:cNvSpPr>
          <p:nvPr/>
        </p:nvSpPr>
        <p:spPr>
          <a:xfrm>
            <a:off x="495300" y="3343275"/>
            <a:ext cx="1313815" cy="504825"/>
          </a:xfrm>
          <a:prstGeom prst="rect">
            <a:avLst/>
          </a:prstGeom>
          <a:noFill/>
          <a:ln w="0">
            <a:noFill/>
            <a:prstDash val="solid"/>
          </a:ln>
        </p:spPr>
        <p:txBody>
          <a:bodyPr wrap="square" lIns="47625" tIns="19050" rIns="47625" bIns="19050" anchor="t">
            <a:normAutofit/>
          </a:bodyPr>
          <a:lstStyle/>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理解任务、规划动作</a:t>
            </a:r>
            <a:endParaRPr sz="970" b="0">
              <a:solidFill>
                <a:srgbClr val="FFF5EF"/>
              </a:solidFill>
              <a:latin typeface="Noto Sans Hans"/>
              <a:ea typeface="Noto Sans Hans"/>
              <a:cs typeface="Noto Sans Hans"/>
            </a:endParaRPr>
          </a:p>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形成个性化服务</a:t>
            </a:r>
            <a:endParaRPr sz="970" b="0">
              <a:solidFill>
                <a:srgbClr val="FFF5EF"/>
              </a:solidFill>
              <a:latin typeface="Noto Sans Hans"/>
              <a:ea typeface="Noto Sans Hans"/>
              <a:cs typeface="Noto Sans Hans"/>
            </a:endParaRPr>
          </a:p>
        </p:txBody>
      </p:sp>
      <p:sp>
        <p:nvSpPr>
          <p:cNvPr id="21" name="矩形 20"/>
          <p:cNvSpPr>
            <a:spLocks noGrp="1"/>
          </p:cNvSpPr>
          <p:nvPr/>
        </p:nvSpPr>
        <p:spPr>
          <a:xfrm>
            <a:off x="457200" y="4000500"/>
            <a:ext cx="1428750" cy="1000125"/>
          </a:xfrm>
          <a:prstGeom prst="rect">
            <a:avLst/>
          </a:prstGeom>
          <a:solidFill>
            <a:srgbClr val="D66D2B"/>
          </a:solidFill>
          <a:ln w="0">
            <a:noFill/>
            <a:prstDash val="solid"/>
          </a:ln>
        </p:spPr>
      </p:sp>
      <p:sp>
        <p:nvSpPr>
          <p:cNvPr id="22" name="矩形 21"/>
          <p:cNvSpPr>
            <a:spLocks noGrp="1"/>
          </p:cNvSpPr>
          <p:nvPr/>
        </p:nvSpPr>
        <p:spPr>
          <a:xfrm>
            <a:off x="533400" y="4076700"/>
            <a:ext cx="1276350" cy="285750"/>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执行与康复</a:t>
            </a:r>
            <a:endParaRPr sz="1400" b="1">
              <a:solidFill>
                <a:srgbClr val="FFFFFF"/>
              </a:solidFill>
              <a:latin typeface="Noto Sans Hans"/>
              <a:ea typeface="Noto Sans Hans"/>
              <a:cs typeface="Noto Sans Hans"/>
            </a:endParaRPr>
          </a:p>
        </p:txBody>
      </p:sp>
      <p:sp>
        <p:nvSpPr>
          <p:cNvPr id="23" name="矩形 22"/>
          <p:cNvSpPr>
            <a:spLocks noGrp="1"/>
          </p:cNvSpPr>
          <p:nvPr/>
        </p:nvSpPr>
        <p:spPr>
          <a:xfrm>
            <a:off x="533400" y="4419600"/>
            <a:ext cx="1314450" cy="504825"/>
          </a:xfrm>
          <a:prstGeom prst="rect">
            <a:avLst/>
          </a:prstGeom>
          <a:noFill/>
          <a:ln w="0">
            <a:noFill/>
            <a:prstDash val="solid"/>
          </a:ln>
        </p:spPr>
        <p:txBody>
          <a:bodyPr wrap="square" lIns="47625" tIns="19050" rIns="47625" bIns="19050" anchor="t">
            <a:normAutofit/>
          </a:bodyPr>
          <a:lstStyle/>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安全接触、柔顺助力</a:t>
            </a:r>
            <a:endParaRPr sz="970" b="0">
              <a:solidFill>
                <a:srgbClr val="FFF5EF"/>
              </a:solidFill>
              <a:latin typeface="Noto Sans Hans"/>
              <a:ea typeface="Noto Sans Hans"/>
              <a:cs typeface="Noto Sans Hans"/>
            </a:endParaRPr>
          </a:p>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完成护理与训练</a:t>
            </a:r>
            <a:endParaRPr sz="970" b="0">
              <a:solidFill>
                <a:srgbClr val="FFF5EF"/>
              </a:solidFill>
              <a:latin typeface="Noto Sans Hans"/>
              <a:ea typeface="Noto Sans Hans"/>
              <a:cs typeface="Noto Sans Hans"/>
            </a:endParaRPr>
          </a:p>
        </p:txBody>
      </p:sp>
      <p:sp>
        <p:nvSpPr>
          <p:cNvPr id="24" name="矩形 23"/>
          <p:cNvSpPr>
            <a:spLocks noGrp="1"/>
          </p:cNvSpPr>
          <p:nvPr/>
        </p:nvSpPr>
        <p:spPr>
          <a:xfrm>
            <a:off x="457200" y="5076825"/>
            <a:ext cx="1428750" cy="1200150"/>
          </a:xfrm>
          <a:prstGeom prst="rect">
            <a:avLst/>
          </a:prstGeom>
          <a:solidFill>
            <a:srgbClr val="9A7000"/>
          </a:solidFill>
          <a:ln w="0">
            <a:noFill/>
            <a:prstDash val="solid"/>
          </a:ln>
        </p:spPr>
      </p:sp>
      <p:sp>
        <p:nvSpPr>
          <p:cNvPr id="25" name="矩形 24"/>
          <p:cNvSpPr>
            <a:spLocks noGrp="1"/>
          </p:cNvSpPr>
          <p:nvPr/>
        </p:nvSpPr>
        <p:spPr>
          <a:xfrm>
            <a:off x="533400" y="5153025"/>
            <a:ext cx="1276350" cy="285750"/>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平台与安全</a:t>
            </a:r>
            <a:endParaRPr sz="1400" b="1">
              <a:solidFill>
                <a:srgbClr val="FFFFFF"/>
              </a:solidFill>
              <a:latin typeface="Noto Sans Hans"/>
              <a:ea typeface="Noto Sans Hans"/>
              <a:cs typeface="Noto Sans Hans"/>
            </a:endParaRPr>
          </a:p>
        </p:txBody>
      </p:sp>
      <p:sp>
        <p:nvSpPr>
          <p:cNvPr id="26" name="矩形 25"/>
          <p:cNvSpPr>
            <a:spLocks noGrp="1"/>
          </p:cNvSpPr>
          <p:nvPr/>
        </p:nvSpPr>
        <p:spPr>
          <a:xfrm>
            <a:off x="495300" y="5495925"/>
            <a:ext cx="1313815" cy="704850"/>
          </a:xfrm>
          <a:prstGeom prst="rect">
            <a:avLst/>
          </a:prstGeom>
          <a:noFill/>
          <a:ln w="0">
            <a:noFill/>
            <a:prstDash val="solid"/>
          </a:ln>
        </p:spPr>
        <p:txBody>
          <a:bodyPr wrap="square" lIns="47625" tIns="19050" rIns="47625" bIns="19050" anchor="t">
            <a:normAutofit/>
          </a:bodyPr>
          <a:lstStyle/>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设备接入、远程运维</a:t>
            </a:r>
            <a:endParaRPr sz="970" b="0">
              <a:solidFill>
                <a:srgbClr val="FFF5EF"/>
              </a:solidFill>
              <a:latin typeface="Noto Sans Hans"/>
              <a:ea typeface="Noto Sans Hans"/>
              <a:cs typeface="Noto Sans Hans"/>
            </a:endParaRPr>
          </a:p>
          <a:p>
            <a:pPr algn="ctr">
              <a:defRPr sz="865" b="0">
                <a:solidFill>
                  <a:srgbClr val="FFF5EF"/>
                </a:solidFill>
                <a:latin typeface="Noto Sans Hans"/>
                <a:ea typeface="Noto Sans Hans"/>
                <a:cs typeface="Noto Sans Hans"/>
              </a:defRPr>
            </a:pPr>
            <a:r>
              <a:rPr sz="970" b="0">
                <a:solidFill>
                  <a:srgbClr val="FFF5EF"/>
                </a:solidFill>
                <a:latin typeface="Noto Sans Hans"/>
                <a:ea typeface="Noto Sans Hans"/>
                <a:cs typeface="Noto Sans Hans"/>
              </a:rPr>
              <a:t>数据与支付闭环</a:t>
            </a:r>
            <a:endParaRPr sz="970" b="0">
              <a:solidFill>
                <a:srgbClr val="FFF5EF"/>
              </a:solidFill>
              <a:latin typeface="Noto Sans Hans"/>
              <a:ea typeface="Noto Sans Hans"/>
              <a:cs typeface="Noto Sans Hans"/>
            </a:endParaRPr>
          </a:p>
        </p:txBody>
      </p:sp>
      <p:sp>
        <p:nvSpPr>
          <p:cNvPr id="27" name="矩形 26"/>
          <p:cNvSpPr>
            <a:spLocks noGrp="1"/>
          </p:cNvSpPr>
          <p:nvPr/>
        </p:nvSpPr>
        <p:spPr>
          <a:xfrm>
            <a:off x="1952625" y="1847850"/>
            <a:ext cx="3000375" cy="1000125"/>
          </a:xfrm>
          <a:prstGeom prst="rect">
            <a:avLst/>
          </a:prstGeom>
          <a:solidFill>
            <a:srgbClr val="FFFFFF"/>
          </a:solidFill>
          <a:ln w="9525">
            <a:solidFill>
              <a:srgbClr val="D9D2CE"/>
            </a:solidFill>
            <a:prstDash val="solid"/>
          </a:ln>
        </p:spPr>
      </p:sp>
      <p:sp>
        <p:nvSpPr>
          <p:cNvPr id="28" name="圆角矩形 27"/>
          <p:cNvSpPr>
            <a:spLocks noGrp="1"/>
          </p:cNvSpPr>
          <p:nvPr/>
        </p:nvSpPr>
        <p:spPr>
          <a:xfrm>
            <a:off x="2066925" y="1924050"/>
            <a:ext cx="2771775" cy="247650"/>
          </a:xfrm>
          <a:prstGeom prst="roundRect">
            <a:avLst>
              <a:gd name="adj" fmla="val 7692"/>
            </a:avLst>
          </a:prstGeom>
          <a:solidFill>
            <a:srgbClr val="F9E8E7"/>
          </a:solidFill>
          <a:ln w="0">
            <a:noFill/>
            <a:prstDash val="solid"/>
          </a:ln>
        </p:spPr>
      </p:sp>
      <p:sp>
        <p:nvSpPr>
          <p:cNvPr id="29" name="矩形 28"/>
          <p:cNvSpPr>
            <a:spLocks noGrp="1"/>
          </p:cNvSpPr>
          <p:nvPr/>
        </p:nvSpPr>
        <p:spPr>
          <a:xfrm>
            <a:off x="2085975" y="1933575"/>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3D视觉与空间感知</a:t>
            </a:r>
            <a:endParaRPr sz="970" b="1">
              <a:solidFill>
                <a:srgbClr val="91252F"/>
              </a:solidFill>
              <a:latin typeface="Noto Sans Hans"/>
              <a:ea typeface="Noto Sans Hans"/>
              <a:cs typeface="Noto Sans Hans"/>
            </a:endParaRPr>
          </a:p>
        </p:txBody>
      </p:sp>
      <p:sp>
        <p:nvSpPr>
          <p:cNvPr id="30" name="圆角矩形 29"/>
          <p:cNvSpPr>
            <a:spLocks noGrp="1"/>
          </p:cNvSpPr>
          <p:nvPr/>
        </p:nvSpPr>
        <p:spPr>
          <a:xfrm>
            <a:off x="2066925" y="2206625"/>
            <a:ext cx="2771775" cy="247650"/>
          </a:xfrm>
          <a:prstGeom prst="roundRect">
            <a:avLst>
              <a:gd name="adj" fmla="val 7692"/>
            </a:avLst>
          </a:prstGeom>
          <a:solidFill>
            <a:srgbClr val="F9E8E7"/>
          </a:solidFill>
          <a:ln w="0">
            <a:noFill/>
            <a:prstDash val="solid"/>
          </a:ln>
        </p:spPr>
      </p:sp>
      <p:sp>
        <p:nvSpPr>
          <p:cNvPr id="31" name="矩形 30"/>
          <p:cNvSpPr>
            <a:spLocks noGrp="1"/>
          </p:cNvSpPr>
          <p:nvPr/>
        </p:nvSpPr>
        <p:spPr>
          <a:xfrm>
            <a:off x="2085975" y="2216150"/>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生命体征/毫米波</a:t>
            </a:r>
            <a:endParaRPr sz="970" b="1">
              <a:solidFill>
                <a:srgbClr val="91252F"/>
              </a:solidFill>
              <a:latin typeface="Noto Sans Hans"/>
              <a:ea typeface="Noto Sans Hans"/>
              <a:cs typeface="Noto Sans Hans"/>
            </a:endParaRPr>
          </a:p>
        </p:txBody>
      </p:sp>
      <p:sp>
        <p:nvSpPr>
          <p:cNvPr id="32" name="圆角矩形 31"/>
          <p:cNvSpPr>
            <a:spLocks noGrp="1"/>
          </p:cNvSpPr>
          <p:nvPr/>
        </p:nvSpPr>
        <p:spPr>
          <a:xfrm>
            <a:off x="2066925" y="2489200"/>
            <a:ext cx="2771775" cy="247650"/>
          </a:xfrm>
          <a:prstGeom prst="roundRect">
            <a:avLst>
              <a:gd name="adj" fmla="val 7692"/>
            </a:avLst>
          </a:prstGeom>
          <a:solidFill>
            <a:srgbClr val="F9E8E7"/>
          </a:solidFill>
          <a:ln w="0">
            <a:noFill/>
            <a:prstDash val="solid"/>
          </a:ln>
        </p:spPr>
      </p:sp>
      <p:sp>
        <p:nvSpPr>
          <p:cNvPr id="33" name="矩形 32"/>
          <p:cNvSpPr>
            <a:spLocks noGrp="1"/>
          </p:cNvSpPr>
          <p:nvPr/>
        </p:nvSpPr>
        <p:spPr>
          <a:xfrm>
            <a:off x="2085975" y="2498725"/>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适老语音与方言</a:t>
            </a:r>
            <a:endParaRPr sz="970" b="1">
              <a:solidFill>
                <a:srgbClr val="91252F"/>
              </a:solidFill>
              <a:latin typeface="Noto Sans Hans"/>
              <a:ea typeface="Noto Sans Hans"/>
              <a:cs typeface="Noto Sans Hans"/>
            </a:endParaRPr>
          </a:p>
        </p:txBody>
      </p:sp>
      <p:sp>
        <p:nvSpPr>
          <p:cNvPr id="34" name="矩形 33"/>
          <p:cNvSpPr>
            <a:spLocks noGrp="1"/>
          </p:cNvSpPr>
          <p:nvPr/>
        </p:nvSpPr>
        <p:spPr>
          <a:xfrm>
            <a:off x="5048250" y="1847850"/>
            <a:ext cx="3190875" cy="1000125"/>
          </a:xfrm>
          <a:prstGeom prst="rect">
            <a:avLst/>
          </a:prstGeom>
          <a:solidFill>
            <a:srgbClr val="FFFFFF"/>
          </a:solidFill>
          <a:ln w="9525">
            <a:solidFill>
              <a:srgbClr val="D9D2CE"/>
            </a:solidFill>
            <a:prstDash val="solid"/>
          </a:ln>
        </p:spPr>
      </p:sp>
      <p:sp>
        <p:nvSpPr>
          <p:cNvPr id="35" name="圆角矩形 34"/>
          <p:cNvSpPr>
            <a:spLocks noGrp="1"/>
          </p:cNvSpPr>
          <p:nvPr/>
        </p:nvSpPr>
        <p:spPr>
          <a:xfrm>
            <a:off x="5162550" y="1924050"/>
            <a:ext cx="2962275" cy="247650"/>
          </a:xfrm>
          <a:prstGeom prst="roundRect">
            <a:avLst>
              <a:gd name="adj" fmla="val 7692"/>
            </a:avLst>
          </a:prstGeom>
          <a:solidFill>
            <a:srgbClr val="FBEDE5"/>
          </a:solidFill>
          <a:ln w="0">
            <a:noFill/>
            <a:prstDash val="solid"/>
          </a:ln>
        </p:spPr>
      </p:sp>
      <p:sp>
        <p:nvSpPr>
          <p:cNvPr id="36" name="矩形 35"/>
          <p:cNvSpPr>
            <a:spLocks noGrp="1"/>
          </p:cNvSpPr>
          <p:nvPr/>
        </p:nvSpPr>
        <p:spPr>
          <a:xfrm>
            <a:off x="5181600" y="1933575"/>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柔性电子皮肤</a:t>
            </a:r>
            <a:endParaRPr sz="970" b="1">
              <a:solidFill>
                <a:srgbClr val="C94722"/>
              </a:solidFill>
              <a:latin typeface="Noto Sans Hans"/>
              <a:ea typeface="Noto Sans Hans"/>
              <a:cs typeface="Noto Sans Hans"/>
            </a:endParaRPr>
          </a:p>
        </p:txBody>
      </p:sp>
      <p:sp>
        <p:nvSpPr>
          <p:cNvPr id="37" name="圆角矩形 36"/>
          <p:cNvSpPr>
            <a:spLocks noGrp="1"/>
          </p:cNvSpPr>
          <p:nvPr/>
        </p:nvSpPr>
        <p:spPr>
          <a:xfrm>
            <a:off x="5162550" y="2206625"/>
            <a:ext cx="2962275" cy="247650"/>
          </a:xfrm>
          <a:prstGeom prst="roundRect">
            <a:avLst>
              <a:gd name="adj" fmla="val 7692"/>
            </a:avLst>
          </a:prstGeom>
          <a:solidFill>
            <a:srgbClr val="FBEDE5"/>
          </a:solidFill>
          <a:ln w="0">
            <a:noFill/>
            <a:prstDash val="solid"/>
          </a:ln>
        </p:spPr>
      </p:sp>
      <p:sp>
        <p:nvSpPr>
          <p:cNvPr id="38" name="矩形 37"/>
          <p:cNvSpPr>
            <a:spLocks noGrp="1"/>
          </p:cNvSpPr>
          <p:nvPr/>
        </p:nvSpPr>
        <p:spPr>
          <a:xfrm>
            <a:off x="5181600" y="2216150"/>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六维力觉融合</a:t>
            </a:r>
            <a:endParaRPr sz="970" b="1">
              <a:solidFill>
                <a:srgbClr val="C94722"/>
              </a:solidFill>
              <a:latin typeface="Noto Sans Hans"/>
              <a:ea typeface="Noto Sans Hans"/>
              <a:cs typeface="Noto Sans Hans"/>
            </a:endParaRPr>
          </a:p>
        </p:txBody>
      </p:sp>
      <p:sp>
        <p:nvSpPr>
          <p:cNvPr id="39" name="圆角矩形 38"/>
          <p:cNvSpPr>
            <a:spLocks noGrp="1"/>
          </p:cNvSpPr>
          <p:nvPr/>
        </p:nvSpPr>
        <p:spPr>
          <a:xfrm>
            <a:off x="5162550" y="2489200"/>
            <a:ext cx="2962275" cy="247650"/>
          </a:xfrm>
          <a:prstGeom prst="roundRect">
            <a:avLst>
              <a:gd name="adj" fmla="val 7692"/>
            </a:avLst>
          </a:prstGeom>
          <a:solidFill>
            <a:srgbClr val="FBEDE5"/>
          </a:solidFill>
          <a:ln w="0">
            <a:noFill/>
            <a:prstDash val="solid"/>
          </a:ln>
        </p:spPr>
      </p:sp>
      <p:sp>
        <p:nvSpPr>
          <p:cNvPr id="40" name="矩形 39"/>
          <p:cNvSpPr>
            <a:spLocks noGrp="1"/>
          </p:cNvSpPr>
          <p:nvPr/>
        </p:nvSpPr>
        <p:spPr>
          <a:xfrm>
            <a:off x="5181600" y="2498725"/>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多模态情绪识别</a:t>
            </a:r>
            <a:endParaRPr sz="970" b="1">
              <a:solidFill>
                <a:srgbClr val="C94722"/>
              </a:solidFill>
              <a:latin typeface="Noto Sans Hans"/>
              <a:ea typeface="Noto Sans Hans"/>
              <a:cs typeface="Noto Sans Hans"/>
            </a:endParaRPr>
          </a:p>
        </p:txBody>
      </p:sp>
      <p:sp>
        <p:nvSpPr>
          <p:cNvPr id="41" name="矩形 40"/>
          <p:cNvSpPr>
            <a:spLocks noGrp="1"/>
          </p:cNvSpPr>
          <p:nvPr/>
        </p:nvSpPr>
        <p:spPr>
          <a:xfrm>
            <a:off x="8334375" y="1847850"/>
            <a:ext cx="3381375" cy="1000125"/>
          </a:xfrm>
          <a:prstGeom prst="rect">
            <a:avLst/>
          </a:prstGeom>
          <a:solidFill>
            <a:srgbClr val="FFFFFF"/>
          </a:solidFill>
          <a:ln w="9525">
            <a:solidFill>
              <a:srgbClr val="D9D2CE"/>
            </a:solidFill>
            <a:prstDash val="solid"/>
          </a:ln>
        </p:spPr>
      </p:sp>
      <p:sp>
        <p:nvSpPr>
          <p:cNvPr id="42" name="圆角矩形 41"/>
          <p:cNvSpPr>
            <a:spLocks noGrp="1"/>
          </p:cNvSpPr>
          <p:nvPr/>
        </p:nvSpPr>
        <p:spPr>
          <a:xfrm>
            <a:off x="8448675" y="1924050"/>
            <a:ext cx="3152775" cy="247650"/>
          </a:xfrm>
          <a:prstGeom prst="roundRect">
            <a:avLst>
              <a:gd name="adj" fmla="val 7692"/>
            </a:avLst>
          </a:prstGeom>
          <a:solidFill>
            <a:srgbClr val="F7F1DF"/>
          </a:solidFill>
          <a:ln w="0">
            <a:noFill/>
            <a:prstDash val="solid"/>
          </a:ln>
        </p:spPr>
      </p:sp>
      <p:sp>
        <p:nvSpPr>
          <p:cNvPr id="43" name="矩形 42"/>
          <p:cNvSpPr>
            <a:spLocks noGrp="1"/>
          </p:cNvSpPr>
          <p:nvPr/>
        </p:nvSpPr>
        <p:spPr>
          <a:xfrm>
            <a:off x="8467725" y="1933575"/>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全域环境理解</a:t>
            </a:r>
            <a:endParaRPr sz="970" b="1">
              <a:solidFill>
                <a:srgbClr val="9A7000"/>
              </a:solidFill>
              <a:latin typeface="Noto Sans Hans"/>
              <a:ea typeface="Noto Sans Hans"/>
              <a:cs typeface="Noto Sans Hans"/>
            </a:endParaRPr>
          </a:p>
        </p:txBody>
      </p:sp>
      <p:sp>
        <p:nvSpPr>
          <p:cNvPr id="44" name="圆角矩形 43"/>
          <p:cNvSpPr>
            <a:spLocks noGrp="1"/>
          </p:cNvSpPr>
          <p:nvPr/>
        </p:nvSpPr>
        <p:spPr>
          <a:xfrm>
            <a:off x="8448675" y="2206625"/>
            <a:ext cx="3152775" cy="247650"/>
          </a:xfrm>
          <a:prstGeom prst="roundRect">
            <a:avLst>
              <a:gd name="adj" fmla="val 7692"/>
            </a:avLst>
          </a:prstGeom>
          <a:solidFill>
            <a:srgbClr val="F7F1DF"/>
          </a:solidFill>
          <a:ln w="0">
            <a:noFill/>
            <a:prstDash val="solid"/>
          </a:ln>
        </p:spPr>
      </p:sp>
      <p:sp>
        <p:nvSpPr>
          <p:cNvPr id="45" name="矩形 44"/>
          <p:cNvSpPr>
            <a:spLocks noGrp="1"/>
          </p:cNvSpPr>
          <p:nvPr/>
        </p:nvSpPr>
        <p:spPr>
          <a:xfrm>
            <a:off x="8467725" y="2216150"/>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无感连续监测</a:t>
            </a:r>
            <a:endParaRPr sz="970" b="1">
              <a:solidFill>
                <a:srgbClr val="9A7000"/>
              </a:solidFill>
              <a:latin typeface="Noto Sans Hans"/>
              <a:ea typeface="Noto Sans Hans"/>
              <a:cs typeface="Noto Sans Hans"/>
            </a:endParaRPr>
          </a:p>
        </p:txBody>
      </p:sp>
      <p:sp>
        <p:nvSpPr>
          <p:cNvPr id="46" name="圆角矩形 45"/>
          <p:cNvSpPr>
            <a:spLocks noGrp="1"/>
          </p:cNvSpPr>
          <p:nvPr/>
        </p:nvSpPr>
        <p:spPr>
          <a:xfrm>
            <a:off x="8448675" y="2489200"/>
            <a:ext cx="3152775" cy="247650"/>
          </a:xfrm>
          <a:prstGeom prst="roundRect">
            <a:avLst>
              <a:gd name="adj" fmla="val 7692"/>
            </a:avLst>
          </a:prstGeom>
          <a:solidFill>
            <a:srgbClr val="F7F1DF"/>
          </a:solidFill>
          <a:ln w="0">
            <a:noFill/>
            <a:prstDash val="solid"/>
          </a:ln>
        </p:spPr>
      </p:sp>
      <p:sp>
        <p:nvSpPr>
          <p:cNvPr id="47" name="矩形 46"/>
          <p:cNvSpPr>
            <a:spLocks noGrp="1"/>
          </p:cNvSpPr>
          <p:nvPr/>
        </p:nvSpPr>
        <p:spPr>
          <a:xfrm>
            <a:off x="8467725" y="2498725"/>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认知友好交互</a:t>
            </a:r>
            <a:endParaRPr sz="970" b="1">
              <a:solidFill>
                <a:srgbClr val="9A7000"/>
              </a:solidFill>
              <a:latin typeface="Noto Sans Hans"/>
              <a:ea typeface="Noto Sans Hans"/>
              <a:cs typeface="Noto Sans Hans"/>
            </a:endParaRPr>
          </a:p>
        </p:txBody>
      </p:sp>
      <p:sp>
        <p:nvSpPr>
          <p:cNvPr id="48" name="矩形 47"/>
          <p:cNvSpPr>
            <a:spLocks noGrp="1"/>
          </p:cNvSpPr>
          <p:nvPr/>
        </p:nvSpPr>
        <p:spPr>
          <a:xfrm>
            <a:off x="1952625" y="2924175"/>
            <a:ext cx="3000375" cy="1000125"/>
          </a:xfrm>
          <a:prstGeom prst="rect">
            <a:avLst/>
          </a:prstGeom>
          <a:solidFill>
            <a:srgbClr val="FCFAF8"/>
          </a:solidFill>
          <a:ln w="9525">
            <a:solidFill>
              <a:srgbClr val="D9D2CE"/>
            </a:solidFill>
            <a:prstDash val="solid"/>
          </a:ln>
        </p:spPr>
      </p:sp>
      <p:sp>
        <p:nvSpPr>
          <p:cNvPr id="49" name="圆角矩形 48"/>
          <p:cNvSpPr>
            <a:spLocks noGrp="1"/>
          </p:cNvSpPr>
          <p:nvPr/>
        </p:nvSpPr>
        <p:spPr>
          <a:xfrm>
            <a:off x="2066925" y="3000375"/>
            <a:ext cx="2771775" cy="247650"/>
          </a:xfrm>
          <a:prstGeom prst="roundRect">
            <a:avLst>
              <a:gd name="adj" fmla="val 7692"/>
            </a:avLst>
          </a:prstGeom>
          <a:solidFill>
            <a:srgbClr val="F9E8E7"/>
          </a:solidFill>
          <a:ln w="0">
            <a:noFill/>
            <a:prstDash val="solid"/>
          </a:ln>
        </p:spPr>
      </p:sp>
      <p:sp>
        <p:nvSpPr>
          <p:cNvPr id="50" name="矩形 49"/>
          <p:cNvSpPr>
            <a:spLocks noGrp="1"/>
          </p:cNvSpPr>
          <p:nvPr/>
        </p:nvSpPr>
        <p:spPr>
          <a:xfrm>
            <a:off x="2085975" y="3009900"/>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大模型养老智能体</a:t>
            </a:r>
            <a:endParaRPr sz="970" b="1">
              <a:solidFill>
                <a:srgbClr val="91252F"/>
              </a:solidFill>
              <a:latin typeface="Noto Sans Hans"/>
              <a:ea typeface="Noto Sans Hans"/>
              <a:cs typeface="Noto Sans Hans"/>
            </a:endParaRPr>
          </a:p>
        </p:txBody>
      </p:sp>
      <p:sp>
        <p:nvSpPr>
          <p:cNvPr id="51" name="圆角矩形 50"/>
          <p:cNvSpPr>
            <a:spLocks noGrp="1"/>
          </p:cNvSpPr>
          <p:nvPr/>
        </p:nvSpPr>
        <p:spPr>
          <a:xfrm>
            <a:off x="2066925" y="3282950"/>
            <a:ext cx="2771775" cy="247650"/>
          </a:xfrm>
          <a:prstGeom prst="roundRect">
            <a:avLst>
              <a:gd name="adj" fmla="val 7692"/>
            </a:avLst>
          </a:prstGeom>
          <a:solidFill>
            <a:srgbClr val="F9E8E7"/>
          </a:solidFill>
          <a:ln w="0">
            <a:noFill/>
            <a:prstDash val="solid"/>
          </a:ln>
        </p:spPr>
      </p:sp>
      <p:sp>
        <p:nvSpPr>
          <p:cNvPr id="52" name="矩形 51"/>
          <p:cNvSpPr>
            <a:spLocks noGrp="1"/>
          </p:cNvSpPr>
          <p:nvPr/>
        </p:nvSpPr>
        <p:spPr>
          <a:xfrm>
            <a:off x="2085975" y="3292475"/>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规则+人工接管</a:t>
            </a:r>
            <a:endParaRPr sz="970" b="1">
              <a:solidFill>
                <a:srgbClr val="91252F"/>
              </a:solidFill>
              <a:latin typeface="Noto Sans Hans"/>
              <a:ea typeface="Noto Sans Hans"/>
              <a:cs typeface="Noto Sans Hans"/>
            </a:endParaRPr>
          </a:p>
        </p:txBody>
      </p:sp>
      <p:sp>
        <p:nvSpPr>
          <p:cNvPr id="53" name="圆角矩形 52"/>
          <p:cNvSpPr>
            <a:spLocks noGrp="1"/>
          </p:cNvSpPr>
          <p:nvPr/>
        </p:nvSpPr>
        <p:spPr>
          <a:xfrm>
            <a:off x="2066925" y="3565525"/>
            <a:ext cx="2771775" cy="247650"/>
          </a:xfrm>
          <a:prstGeom prst="roundRect">
            <a:avLst>
              <a:gd name="adj" fmla="val 7692"/>
            </a:avLst>
          </a:prstGeom>
          <a:solidFill>
            <a:srgbClr val="F9E8E7"/>
          </a:solidFill>
          <a:ln w="0">
            <a:noFill/>
            <a:prstDash val="solid"/>
          </a:ln>
        </p:spPr>
      </p:sp>
      <p:sp>
        <p:nvSpPr>
          <p:cNvPr id="54" name="矩形 53"/>
          <p:cNvSpPr>
            <a:spLocks noGrp="1"/>
          </p:cNvSpPr>
          <p:nvPr/>
        </p:nvSpPr>
        <p:spPr>
          <a:xfrm>
            <a:off x="2085975" y="3575050"/>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知识库与工单协同</a:t>
            </a:r>
            <a:endParaRPr sz="970" b="1">
              <a:solidFill>
                <a:srgbClr val="91252F"/>
              </a:solidFill>
              <a:latin typeface="Noto Sans Hans"/>
              <a:ea typeface="Noto Sans Hans"/>
              <a:cs typeface="Noto Sans Hans"/>
            </a:endParaRPr>
          </a:p>
        </p:txBody>
      </p:sp>
      <p:sp>
        <p:nvSpPr>
          <p:cNvPr id="55" name="矩形 54"/>
          <p:cNvSpPr>
            <a:spLocks noGrp="1"/>
          </p:cNvSpPr>
          <p:nvPr/>
        </p:nvSpPr>
        <p:spPr>
          <a:xfrm>
            <a:off x="5048250" y="2924175"/>
            <a:ext cx="3190875" cy="1000125"/>
          </a:xfrm>
          <a:prstGeom prst="rect">
            <a:avLst/>
          </a:prstGeom>
          <a:solidFill>
            <a:srgbClr val="FCFAF8"/>
          </a:solidFill>
          <a:ln w="9525">
            <a:solidFill>
              <a:srgbClr val="D9D2CE"/>
            </a:solidFill>
            <a:prstDash val="solid"/>
          </a:ln>
        </p:spPr>
      </p:sp>
      <p:sp>
        <p:nvSpPr>
          <p:cNvPr id="56" name="圆角矩形 55"/>
          <p:cNvSpPr>
            <a:spLocks noGrp="1"/>
          </p:cNvSpPr>
          <p:nvPr/>
        </p:nvSpPr>
        <p:spPr>
          <a:xfrm>
            <a:off x="5162550" y="3000375"/>
            <a:ext cx="2962275" cy="247650"/>
          </a:xfrm>
          <a:prstGeom prst="roundRect">
            <a:avLst>
              <a:gd name="adj" fmla="val 7692"/>
            </a:avLst>
          </a:prstGeom>
          <a:solidFill>
            <a:srgbClr val="FBEDE5"/>
          </a:solidFill>
          <a:ln w="0">
            <a:noFill/>
            <a:prstDash val="solid"/>
          </a:ln>
        </p:spPr>
      </p:sp>
      <p:sp>
        <p:nvSpPr>
          <p:cNvPr id="57" name="矩形 56"/>
          <p:cNvSpPr>
            <a:spLocks noGrp="1"/>
          </p:cNvSpPr>
          <p:nvPr/>
        </p:nvSpPr>
        <p:spPr>
          <a:xfrm>
            <a:off x="5181600" y="3009900"/>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VLA具身模型</a:t>
            </a:r>
            <a:endParaRPr sz="970" b="1">
              <a:solidFill>
                <a:srgbClr val="C94722"/>
              </a:solidFill>
              <a:latin typeface="Noto Sans Hans"/>
              <a:ea typeface="Noto Sans Hans"/>
              <a:cs typeface="Noto Sans Hans"/>
            </a:endParaRPr>
          </a:p>
        </p:txBody>
      </p:sp>
      <p:sp>
        <p:nvSpPr>
          <p:cNvPr id="58" name="圆角矩形 57"/>
          <p:cNvSpPr>
            <a:spLocks noGrp="1"/>
          </p:cNvSpPr>
          <p:nvPr/>
        </p:nvSpPr>
        <p:spPr>
          <a:xfrm>
            <a:off x="5162550" y="3282950"/>
            <a:ext cx="2962275" cy="247650"/>
          </a:xfrm>
          <a:prstGeom prst="roundRect">
            <a:avLst>
              <a:gd name="adj" fmla="val 7692"/>
            </a:avLst>
          </a:prstGeom>
          <a:solidFill>
            <a:srgbClr val="FBEDE5"/>
          </a:solidFill>
          <a:ln w="0">
            <a:noFill/>
            <a:prstDash val="solid"/>
          </a:ln>
        </p:spPr>
      </p:sp>
      <p:sp>
        <p:nvSpPr>
          <p:cNvPr id="59" name="矩形 58"/>
          <p:cNvSpPr>
            <a:spLocks noGrp="1"/>
          </p:cNvSpPr>
          <p:nvPr/>
        </p:nvSpPr>
        <p:spPr>
          <a:xfrm>
            <a:off x="5181600" y="3292475"/>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数字孪生仿真</a:t>
            </a:r>
            <a:endParaRPr sz="970" b="1">
              <a:solidFill>
                <a:srgbClr val="C94722"/>
              </a:solidFill>
              <a:latin typeface="Noto Sans Hans"/>
              <a:ea typeface="Noto Sans Hans"/>
              <a:cs typeface="Noto Sans Hans"/>
            </a:endParaRPr>
          </a:p>
        </p:txBody>
      </p:sp>
      <p:sp>
        <p:nvSpPr>
          <p:cNvPr id="60" name="圆角矩形 59"/>
          <p:cNvSpPr>
            <a:spLocks noGrp="1"/>
          </p:cNvSpPr>
          <p:nvPr/>
        </p:nvSpPr>
        <p:spPr>
          <a:xfrm>
            <a:off x="5162550" y="3565525"/>
            <a:ext cx="2962275" cy="247650"/>
          </a:xfrm>
          <a:prstGeom prst="roundRect">
            <a:avLst>
              <a:gd name="adj" fmla="val 7692"/>
            </a:avLst>
          </a:prstGeom>
          <a:solidFill>
            <a:srgbClr val="FBEDE5"/>
          </a:solidFill>
          <a:ln w="0">
            <a:noFill/>
            <a:prstDash val="solid"/>
          </a:ln>
        </p:spPr>
      </p:sp>
      <p:sp>
        <p:nvSpPr>
          <p:cNvPr id="61" name="矩形 60"/>
          <p:cNvSpPr>
            <a:spLocks noGrp="1"/>
          </p:cNvSpPr>
          <p:nvPr/>
        </p:nvSpPr>
        <p:spPr>
          <a:xfrm>
            <a:off x="5181600" y="3575050"/>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技能学习与迁移</a:t>
            </a:r>
            <a:endParaRPr sz="970" b="1">
              <a:solidFill>
                <a:srgbClr val="C94722"/>
              </a:solidFill>
              <a:latin typeface="Noto Sans Hans"/>
              <a:ea typeface="Noto Sans Hans"/>
              <a:cs typeface="Noto Sans Hans"/>
            </a:endParaRPr>
          </a:p>
        </p:txBody>
      </p:sp>
      <p:sp>
        <p:nvSpPr>
          <p:cNvPr id="62" name="矩形 61"/>
          <p:cNvSpPr>
            <a:spLocks noGrp="1"/>
          </p:cNvSpPr>
          <p:nvPr/>
        </p:nvSpPr>
        <p:spPr>
          <a:xfrm>
            <a:off x="8334375" y="2924175"/>
            <a:ext cx="3381375" cy="1000125"/>
          </a:xfrm>
          <a:prstGeom prst="rect">
            <a:avLst/>
          </a:prstGeom>
          <a:solidFill>
            <a:srgbClr val="FCFAF8"/>
          </a:solidFill>
          <a:ln w="9525">
            <a:solidFill>
              <a:srgbClr val="D9D2CE"/>
            </a:solidFill>
            <a:prstDash val="solid"/>
          </a:ln>
        </p:spPr>
      </p:sp>
      <p:sp>
        <p:nvSpPr>
          <p:cNvPr id="63" name="圆角矩形 62"/>
          <p:cNvSpPr>
            <a:spLocks noGrp="1"/>
          </p:cNvSpPr>
          <p:nvPr/>
        </p:nvSpPr>
        <p:spPr>
          <a:xfrm>
            <a:off x="8448675" y="3000375"/>
            <a:ext cx="3152775" cy="247650"/>
          </a:xfrm>
          <a:prstGeom prst="roundRect">
            <a:avLst>
              <a:gd name="adj" fmla="val 7692"/>
            </a:avLst>
          </a:prstGeom>
          <a:solidFill>
            <a:srgbClr val="F7F1DF"/>
          </a:solidFill>
          <a:ln w="0">
            <a:noFill/>
            <a:prstDash val="solid"/>
          </a:ln>
        </p:spPr>
      </p:sp>
      <p:sp>
        <p:nvSpPr>
          <p:cNvPr id="64" name="矩形 63"/>
          <p:cNvSpPr>
            <a:spLocks noGrp="1"/>
          </p:cNvSpPr>
          <p:nvPr/>
        </p:nvSpPr>
        <p:spPr>
          <a:xfrm>
            <a:off x="8467725" y="3009900"/>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多机器人自主协同</a:t>
            </a:r>
            <a:endParaRPr sz="970" b="1">
              <a:solidFill>
                <a:srgbClr val="9A7000"/>
              </a:solidFill>
              <a:latin typeface="Noto Sans Hans"/>
              <a:ea typeface="Noto Sans Hans"/>
              <a:cs typeface="Noto Sans Hans"/>
            </a:endParaRPr>
          </a:p>
        </p:txBody>
      </p:sp>
      <p:sp>
        <p:nvSpPr>
          <p:cNvPr id="65" name="圆角矩形 64"/>
          <p:cNvSpPr>
            <a:spLocks noGrp="1"/>
          </p:cNvSpPr>
          <p:nvPr/>
        </p:nvSpPr>
        <p:spPr>
          <a:xfrm>
            <a:off x="8448675" y="3282950"/>
            <a:ext cx="3152775" cy="247650"/>
          </a:xfrm>
          <a:prstGeom prst="roundRect">
            <a:avLst>
              <a:gd name="adj" fmla="val 7692"/>
            </a:avLst>
          </a:prstGeom>
          <a:solidFill>
            <a:srgbClr val="F7F1DF"/>
          </a:solidFill>
          <a:ln w="0">
            <a:noFill/>
            <a:prstDash val="solid"/>
          </a:ln>
        </p:spPr>
      </p:sp>
      <p:sp>
        <p:nvSpPr>
          <p:cNvPr id="66" name="矩形 65"/>
          <p:cNvSpPr>
            <a:spLocks noGrp="1"/>
          </p:cNvSpPr>
          <p:nvPr/>
        </p:nvSpPr>
        <p:spPr>
          <a:xfrm>
            <a:off x="8467725" y="3292475"/>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个体化长期记忆</a:t>
            </a:r>
            <a:endParaRPr sz="970" b="1">
              <a:solidFill>
                <a:srgbClr val="9A7000"/>
              </a:solidFill>
              <a:latin typeface="Noto Sans Hans"/>
              <a:ea typeface="Noto Sans Hans"/>
              <a:cs typeface="Noto Sans Hans"/>
            </a:endParaRPr>
          </a:p>
        </p:txBody>
      </p:sp>
      <p:sp>
        <p:nvSpPr>
          <p:cNvPr id="67" name="圆角矩形 66"/>
          <p:cNvSpPr>
            <a:spLocks noGrp="1"/>
          </p:cNvSpPr>
          <p:nvPr/>
        </p:nvSpPr>
        <p:spPr>
          <a:xfrm>
            <a:off x="8448675" y="3565525"/>
            <a:ext cx="3152775" cy="247650"/>
          </a:xfrm>
          <a:prstGeom prst="roundRect">
            <a:avLst>
              <a:gd name="adj" fmla="val 7692"/>
            </a:avLst>
          </a:prstGeom>
          <a:solidFill>
            <a:srgbClr val="F7F1DF"/>
          </a:solidFill>
          <a:ln w="0">
            <a:noFill/>
            <a:prstDash val="solid"/>
          </a:ln>
        </p:spPr>
      </p:sp>
      <p:sp>
        <p:nvSpPr>
          <p:cNvPr id="68" name="矩形 67"/>
          <p:cNvSpPr>
            <a:spLocks noGrp="1"/>
          </p:cNvSpPr>
          <p:nvPr/>
        </p:nvSpPr>
        <p:spPr>
          <a:xfrm>
            <a:off x="8467725" y="3575050"/>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跨场景任务泛化</a:t>
            </a:r>
            <a:endParaRPr sz="970" b="1">
              <a:solidFill>
                <a:srgbClr val="9A7000"/>
              </a:solidFill>
              <a:latin typeface="Noto Sans Hans"/>
              <a:ea typeface="Noto Sans Hans"/>
              <a:cs typeface="Noto Sans Hans"/>
            </a:endParaRPr>
          </a:p>
        </p:txBody>
      </p:sp>
      <p:sp>
        <p:nvSpPr>
          <p:cNvPr id="69" name="矩形 68"/>
          <p:cNvSpPr>
            <a:spLocks noGrp="1"/>
          </p:cNvSpPr>
          <p:nvPr/>
        </p:nvSpPr>
        <p:spPr>
          <a:xfrm>
            <a:off x="1952625" y="4000500"/>
            <a:ext cx="3000375" cy="1000125"/>
          </a:xfrm>
          <a:prstGeom prst="rect">
            <a:avLst/>
          </a:prstGeom>
          <a:solidFill>
            <a:srgbClr val="FFFFFF"/>
          </a:solidFill>
          <a:ln w="9525">
            <a:solidFill>
              <a:srgbClr val="D9D2CE"/>
            </a:solidFill>
            <a:prstDash val="solid"/>
          </a:ln>
        </p:spPr>
      </p:sp>
      <p:sp>
        <p:nvSpPr>
          <p:cNvPr id="70" name="圆角矩形 69"/>
          <p:cNvSpPr>
            <a:spLocks noGrp="1"/>
          </p:cNvSpPr>
          <p:nvPr/>
        </p:nvSpPr>
        <p:spPr>
          <a:xfrm>
            <a:off x="2066925" y="4076700"/>
            <a:ext cx="2771775" cy="247650"/>
          </a:xfrm>
          <a:prstGeom prst="roundRect">
            <a:avLst>
              <a:gd name="adj" fmla="val 7692"/>
            </a:avLst>
          </a:prstGeom>
          <a:solidFill>
            <a:srgbClr val="F9E8E7"/>
          </a:solidFill>
          <a:ln w="0">
            <a:noFill/>
            <a:prstDash val="solid"/>
          </a:ln>
        </p:spPr>
      </p:sp>
      <p:sp>
        <p:nvSpPr>
          <p:cNvPr id="71" name="矩形 70"/>
          <p:cNvSpPr>
            <a:spLocks noGrp="1"/>
          </p:cNvSpPr>
          <p:nvPr/>
        </p:nvSpPr>
        <p:spPr>
          <a:xfrm>
            <a:off x="2085975" y="4086225"/>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自主移动与群控</a:t>
            </a:r>
            <a:endParaRPr sz="970" b="1">
              <a:solidFill>
                <a:srgbClr val="91252F"/>
              </a:solidFill>
              <a:latin typeface="Noto Sans Hans"/>
              <a:ea typeface="Noto Sans Hans"/>
              <a:cs typeface="Noto Sans Hans"/>
            </a:endParaRPr>
          </a:p>
        </p:txBody>
      </p:sp>
      <p:sp>
        <p:nvSpPr>
          <p:cNvPr id="72" name="圆角矩形 71"/>
          <p:cNvSpPr>
            <a:spLocks noGrp="1"/>
          </p:cNvSpPr>
          <p:nvPr/>
        </p:nvSpPr>
        <p:spPr>
          <a:xfrm>
            <a:off x="2066925" y="4359275"/>
            <a:ext cx="2771775" cy="247650"/>
          </a:xfrm>
          <a:prstGeom prst="roundRect">
            <a:avLst>
              <a:gd name="adj" fmla="val 7692"/>
            </a:avLst>
          </a:prstGeom>
          <a:solidFill>
            <a:srgbClr val="F9E8E7"/>
          </a:solidFill>
          <a:ln w="0">
            <a:noFill/>
            <a:prstDash val="solid"/>
          </a:ln>
        </p:spPr>
      </p:sp>
      <p:sp>
        <p:nvSpPr>
          <p:cNvPr id="73" name="矩形 72"/>
          <p:cNvSpPr>
            <a:spLocks noGrp="1"/>
          </p:cNvSpPr>
          <p:nvPr/>
        </p:nvSpPr>
        <p:spPr>
          <a:xfrm>
            <a:off x="2085975" y="4368800"/>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外骨骼步态控制</a:t>
            </a:r>
            <a:endParaRPr sz="970" b="1">
              <a:solidFill>
                <a:srgbClr val="91252F"/>
              </a:solidFill>
              <a:latin typeface="Noto Sans Hans"/>
              <a:ea typeface="Noto Sans Hans"/>
              <a:cs typeface="Noto Sans Hans"/>
            </a:endParaRPr>
          </a:p>
        </p:txBody>
      </p:sp>
      <p:sp>
        <p:nvSpPr>
          <p:cNvPr id="74" name="圆角矩形 73"/>
          <p:cNvSpPr>
            <a:spLocks noGrp="1"/>
          </p:cNvSpPr>
          <p:nvPr/>
        </p:nvSpPr>
        <p:spPr>
          <a:xfrm>
            <a:off x="2066925" y="4641850"/>
            <a:ext cx="2771775" cy="247650"/>
          </a:xfrm>
          <a:prstGeom prst="roundRect">
            <a:avLst>
              <a:gd name="adj" fmla="val 7692"/>
            </a:avLst>
          </a:prstGeom>
          <a:solidFill>
            <a:srgbClr val="F9E8E7"/>
          </a:solidFill>
          <a:ln w="0">
            <a:noFill/>
            <a:prstDash val="solid"/>
          </a:ln>
        </p:spPr>
      </p:sp>
      <p:sp>
        <p:nvSpPr>
          <p:cNvPr id="75" name="矩形 74"/>
          <p:cNvSpPr>
            <a:spLocks noGrp="1"/>
          </p:cNvSpPr>
          <p:nvPr/>
        </p:nvSpPr>
        <p:spPr>
          <a:xfrm>
            <a:off x="2085975" y="4651375"/>
            <a:ext cx="2733675" cy="2286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污物处理/清洁</a:t>
            </a:r>
            <a:endParaRPr sz="970" b="1">
              <a:solidFill>
                <a:srgbClr val="91252F"/>
              </a:solidFill>
              <a:latin typeface="Noto Sans Hans"/>
              <a:ea typeface="Noto Sans Hans"/>
              <a:cs typeface="Noto Sans Hans"/>
            </a:endParaRPr>
          </a:p>
        </p:txBody>
      </p:sp>
      <p:sp>
        <p:nvSpPr>
          <p:cNvPr id="76" name="矩形 75"/>
          <p:cNvSpPr>
            <a:spLocks noGrp="1"/>
          </p:cNvSpPr>
          <p:nvPr/>
        </p:nvSpPr>
        <p:spPr>
          <a:xfrm>
            <a:off x="5048250" y="4000500"/>
            <a:ext cx="3190875" cy="1000125"/>
          </a:xfrm>
          <a:prstGeom prst="rect">
            <a:avLst/>
          </a:prstGeom>
          <a:solidFill>
            <a:srgbClr val="FFFFFF"/>
          </a:solidFill>
          <a:ln w="9525">
            <a:solidFill>
              <a:srgbClr val="D9D2CE"/>
            </a:solidFill>
            <a:prstDash val="solid"/>
          </a:ln>
        </p:spPr>
      </p:sp>
      <p:sp>
        <p:nvSpPr>
          <p:cNvPr id="77" name="圆角矩形 76"/>
          <p:cNvSpPr>
            <a:spLocks noGrp="1"/>
          </p:cNvSpPr>
          <p:nvPr/>
        </p:nvSpPr>
        <p:spPr>
          <a:xfrm>
            <a:off x="5162550" y="4076700"/>
            <a:ext cx="2962275" cy="247650"/>
          </a:xfrm>
          <a:prstGeom prst="roundRect">
            <a:avLst>
              <a:gd name="adj" fmla="val 7692"/>
            </a:avLst>
          </a:prstGeom>
          <a:solidFill>
            <a:srgbClr val="FBEDE5"/>
          </a:solidFill>
          <a:ln w="0">
            <a:noFill/>
            <a:prstDash val="solid"/>
          </a:ln>
        </p:spPr>
      </p:sp>
      <p:sp>
        <p:nvSpPr>
          <p:cNvPr id="78" name="矩形 77"/>
          <p:cNvSpPr>
            <a:spLocks noGrp="1"/>
          </p:cNvSpPr>
          <p:nvPr/>
        </p:nvSpPr>
        <p:spPr>
          <a:xfrm>
            <a:off x="5181600" y="4086225"/>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人体接触柔顺控制</a:t>
            </a:r>
            <a:endParaRPr sz="970" b="1">
              <a:solidFill>
                <a:srgbClr val="C94722"/>
              </a:solidFill>
              <a:latin typeface="Noto Sans Hans"/>
              <a:ea typeface="Noto Sans Hans"/>
              <a:cs typeface="Noto Sans Hans"/>
            </a:endParaRPr>
          </a:p>
        </p:txBody>
      </p:sp>
      <p:sp>
        <p:nvSpPr>
          <p:cNvPr id="79" name="圆角矩形 78"/>
          <p:cNvSpPr>
            <a:spLocks noGrp="1"/>
          </p:cNvSpPr>
          <p:nvPr/>
        </p:nvSpPr>
        <p:spPr>
          <a:xfrm>
            <a:off x="5162550" y="4359275"/>
            <a:ext cx="2962275" cy="247650"/>
          </a:xfrm>
          <a:prstGeom prst="roundRect">
            <a:avLst>
              <a:gd name="adj" fmla="val 7692"/>
            </a:avLst>
          </a:prstGeom>
          <a:solidFill>
            <a:srgbClr val="FBEDE5"/>
          </a:solidFill>
          <a:ln w="0">
            <a:noFill/>
            <a:prstDash val="solid"/>
          </a:ln>
        </p:spPr>
      </p:sp>
      <p:sp>
        <p:nvSpPr>
          <p:cNvPr id="80" name="矩形 79"/>
          <p:cNvSpPr>
            <a:spLocks noGrp="1"/>
          </p:cNvSpPr>
          <p:nvPr/>
        </p:nvSpPr>
        <p:spPr>
          <a:xfrm>
            <a:off x="5181600" y="4368800"/>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脑机/肌电闭环康复</a:t>
            </a:r>
            <a:endParaRPr sz="970" b="1">
              <a:solidFill>
                <a:srgbClr val="C94722"/>
              </a:solidFill>
              <a:latin typeface="Noto Sans Hans"/>
              <a:ea typeface="Noto Sans Hans"/>
              <a:cs typeface="Noto Sans Hans"/>
            </a:endParaRPr>
          </a:p>
        </p:txBody>
      </p:sp>
      <p:sp>
        <p:nvSpPr>
          <p:cNvPr id="81" name="圆角矩形 80"/>
          <p:cNvSpPr>
            <a:spLocks noGrp="1"/>
          </p:cNvSpPr>
          <p:nvPr/>
        </p:nvSpPr>
        <p:spPr>
          <a:xfrm>
            <a:off x="5162550" y="4641850"/>
            <a:ext cx="2962275" cy="247650"/>
          </a:xfrm>
          <a:prstGeom prst="roundRect">
            <a:avLst>
              <a:gd name="adj" fmla="val 7692"/>
            </a:avLst>
          </a:prstGeom>
          <a:solidFill>
            <a:srgbClr val="FBEDE5"/>
          </a:solidFill>
          <a:ln w="0">
            <a:noFill/>
            <a:prstDash val="solid"/>
          </a:ln>
        </p:spPr>
      </p:sp>
      <p:sp>
        <p:nvSpPr>
          <p:cNvPr id="82" name="矩形 81"/>
          <p:cNvSpPr>
            <a:spLocks noGrp="1"/>
          </p:cNvSpPr>
          <p:nvPr/>
        </p:nvSpPr>
        <p:spPr>
          <a:xfrm>
            <a:off x="5181600" y="4651375"/>
            <a:ext cx="2924175" cy="228600"/>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移乘助浴安全验证</a:t>
            </a:r>
            <a:endParaRPr sz="970" b="1">
              <a:solidFill>
                <a:srgbClr val="C94722"/>
              </a:solidFill>
              <a:latin typeface="Noto Sans Hans"/>
              <a:ea typeface="Noto Sans Hans"/>
              <a:cs typeface="Noto Sans Hans"/>
            </a:endParaRPr>
          </a:p>
        </p:txBody>
      </p:sp>
      <p:sp>
        <p:nvSpPr>
          <p:cNvPr id="83" name="矩形 82"/>
          <p:cNvSpPr>
            <a:spLocks noGrp="1"/>
          </p:cNvSpPr>
          <p:nvPr/>
        </p:nvSpPr>
        <p:spPr>
          <a:xfrm>
            <a:off x="8334375" y="4000500"/>
            <a:ext cx="3381375" cy="1000125"/>
          </a:xfrm>
          <a:prstGeom prst="rect">
            <a:avLst/>
          </a:prstGeom>
          <a:solidFill>
            <a:srgbClr val="FFFFFF"/>
          </a:solidFill>
          <a:ln w="9525">
            <a:solidFill>
              <a:srgbClr val="D9D2CE"/>
            </a:solidFill>
            <a:prstDash val="solid"/>
          </a:ln>
        </p:spPr>
      </p:sp>
      <p:sp>
        <p:nvSpPr>
          <p:cNvPr id="84" name="圆角矩形 83"/>
          <p:cNvSpPr>
            <a:spLocks noGrp="1"/>
          </p:cNvSpPr>
          <p:nvPr/>
        </p:nvSpPr>
        <p:spPr>
          <a:xfrm>
            <a:off x="8448675" y="4076700"/>
            <a:ext cx="3152775" cy="247650"/>
          </a:xfrm>
          <a:prstGeom prst="roundRect">
            <a:avLst>
              <a:gd name="adj" fmla="val 7692"/>
            </a:avLst>
          </a:prstGeom>
          <a:solidFill>
            <a:srgbClr val="F7F1DF"/>
          </a:solidFill>
          <a:ln w="0">
            <a:noFill/>
            <a:prstDash val="solid"/>
          </a:ln>
        </p:spPr>
      </p:sp>
      <p:sp>
        <p:nvSpPr>
          <p:cNvPr id="85" name="矩形 84"/>
          <p:cNvSpPr>
            <a:spLocks noGrp="1"/>
          </p:cNvSpPr>
          <p:nvPr/>
        </p:nvSpPr>
        <p:spPr>
          <a:xfrm>
            <a:off x="8467725" y="4086225"/>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通用生活照料</a:t>
            </a:r>
            <a:endParaRPr sz="970" b="1">
              <a:solidFill>
                <a:srgbClr val="9A7000"/>
              </a:solidFill>
              <a:latin typeface="Noto Sans Hans"/>
              <a:ea typeface="Noto Sans Hans"/>
              <a:cs typeface="Noto Sans Hans"/>
            </a:endParaRPr>
          </a:p>
        </p:txBody>
      </p:sp>
      <p:sp>
        <p:nvSpPr>
          <p:cNvPr id="86" name="圆角矩形 85"/>
          <p:cNvSpPr>
            <a:spLocks noGrp="1"/>
          </p:cNvSpPr>
          <p:nvPr/>
        </p:nvSpPr>
        <p:spPr>
          <a:xfrm>
            <a:off x="8448675" y="4359275"/>
            <a:ext cx="3152775" cy="247650"/>
          </a:xfrm>
          <a:prstGeom prst="roundRect">
            <a:avLst>
              <a:gd name="adj" fmla="val 7692"/>
            </a:avLst>
          </a:prstGeom>
          <a:solidFill>
            <a:srgbClr val="F7F1DF"/>
          </a:solidFill>
          <a:ln w="0">
            <a:noFill/>
            <a:prstDash val="solid"/>
          </a:ln>
        </p:spPr>
      </p:sp>
      <p:sp>
        <p:nvSpPr>
          <p:cNvPr id="87" name="矩形 86"/>
          <p:cNvSpPr>
            <a:spLocks noGrp="1"/>
          </p:cNvSpPr>
          <p:nvPr/>
        </p:nvSpPr>
        <p:spPr>
          <a:xfrm>
            <a:off x="8467725" y="4368800"/>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高自由度灵巧操作</a:t>
            </a:r>
            <a:endParaRPr sz="970" b="1">
              <a:solidFill>
                <a:srgbClr val="9A7000"/>
              </a:solidFill>
              <a:latin typeface="Noto Sans Hans"/>
              <a:ea typeface="Noto Sans Hans"/>
              <a:cs typeface="Noto Sans Hans"/>
            </a:endParaRPr>
          </a:p>
        </p:txBody>
      </p:sp>
      <p:sp>
        <p:nvSpPr>
          <p:cNvPr id="88" name="圆角矩形 87"/>
          <p:cNvSpPr>
            <a:spLocks noGrp="1"/>
          </p:cNvSpPr>
          <p:nvPr/>
        </p:nvSpPr>
        <p:spPr>
          <a:xfrm>
            <a:off x="8448675" y="4641850"/>
            <a:ext cx="3152775" cy="247650"/>
          </a:xfrm>
          <a:prstGeom prst="roundRect">
            <a:avLst>
              <a:gd name="adj" fmla="val 7692"/>
            </a:avLst>
          </a:prstGeom>
          <a:solidFill>
            <a:srgbClr val="F7F1DF"/>
          </a:solidFill>
          <a:ln w="0">
            <a:noFill/>
            <a:prstDash val="solid"/>
          </a:ln>
        </p:spPr>
      </p:sp>
      <p:sp>
        <p:nvSpPr>
          <p:cNvPr id="89" name="矩形 88"/>
          <p:cNvSpPr>
            <a:spLocks noGrp="1"/>
          </p:cNvSpPr>
          <p:nvPr/>
        </p:nvSpPr>
        <p:spPr>
          <a:xfrm>
            <a:off x="8467725" y="4651375"/>
            <a:ext cx="3114675" cy="2286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主动康复协同</a:t>
            </a:r>
            <a:endParaRPr sz="970" b="1">
              <a:solidFill>
                <a:srgbClr val="9A7000"/>
              </a:solidFill>
              <a:latin typeface="Noto Sans Hans"/>
              <a:ea typeface="Noto Sans Hans"/>
              <a:cs typeface="Noto Sans Hans"/>
            </a:endParaRPr>
          </a:p>
        </p:txBody>
      </p:sp>
      <p:sp>
        <p:nvSpPr>
          <p:cNvPr id="90" name="矩形 89"/>
          <p:cNvSpPr>
            <a:spLocks noGrp="1"/>
          </p:cNvSpPr>
          <p:nvPr/>
        </p:nvSpPr>
        <p:spPr>
          <a:xfrm>
            <a:off x="1952625" y="5076825"/>
            <a:ext cx="3000375" cy="1200150"/>
          </a:xfrm>
          <a:prstGeom prst="rect">
            <a:avLst/>
          </a:prstGeom>
          <a:solidFill>
            <a:srgbClr val="FCFAF8"/>
          </a:solidFill>
          <a:ln w="9525">
            <a:solidFill>
              <a:srgbClr val="D9D2CE"/>
            </a:solidFill>
            <a:prstDash val="solid"/>
          </a:ln>
        </p:spPr>
      </p:sp>
      <p:sp>
        <p:nvSpPr>
          <p:cNvPr id="91" name="圆角矩形 90"/>
          <p:cNvSpPr>
            <a:spLocks noGrp="1"/>
          </p:cNvSpPr>
          <p:nvPr/>
        </p:nvSpPr>
        <p:spPr>
          <a:xfrm>
            <a:off x="2066925" y="5153025"/>
            <a:ext cx="2771775" cy="314325"/>
          </a:xfrm>
          <a:prstGeom prst="roundRect">
            <a:avLst>
              <a:gd name="adj" fmla="val 6061"/>
            </a:avLst>
          </a:prstGeom>
          <a:solidFill>
            <a:srgbClr val="F9E8E7"/>
          </a:solidFill>
          <a:ln w="0">
            <a:noFill/>
            <a:prstDash val="solid"/>
          </a:ln>
        </p:spPr>
      </p:sp>
      <p:sp>
        <p:nvSpPr>
          <p:cNvPr id="92" name="矩形 91"/>
          <p:cNvSpPr>
            <a:spLocks noGrp="1"/>
          </p:cNvSpPr>
          <p:nvPr/>
        </p:nvSpPr>
        <p:spPr>
          <a:xfrm>
            <a:off x="2085975" y="5162550"/>
            <a:ext cx="2733675" cy="295275"/>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云边协同/远程运维</a:t>
            </a:r>
            <a:endParaRPr sz="970" b="1">
              <a:solidFill>
                <a:srgbClr val="91252F"/>
              </a:solidFill>
              <a:latin typeface="Noto Sans Hans"/>
              <a:ea typeface="Noto Sans Hans"/>
              <a:cs typeface="Noto Sans Hans"/>
            </a:endParaRPr>
          </a:p>
        </p:txBody>
      </p:sp>
      <p:sp>
        <p:nvSpPr>
          <p:cNvPr id="93" name="圆角矩形 92"/>
          <p:cNvSpPr>
            <a:spLocks noGrp="1"/>
          </p:cNvSpPr>
          <p:nvPr/>
        </p:nvSpPr>
        <p:spPr>
          <a:xfrm>
            <a:off x="2066925" y="5502275"/>
            <a:ext cx="2771775" cy="314325"/>
          </a:xfrm>
          <a:prstGeom prst="roundRect">
            <a:avLst>
              <a:gd name="adj" fmla="val 6061"/>
            </a:avLst>
          </a:prstGeom>
          <a:solidFill>
            <a:srgbClr val="F9E8E7"/>
          </a:solidFill>
          <a:ln w="0">
            <a:noFill/>
            <a:prstDash val="solid"/>
          </a:ln>
        </p:spPr>
      </p:sp>
      <p:sp>
        <p:nvSpPr>
          <p:cNvPr id="94" name="矩形 93"/>
          <p:cNvSpPr>
            <a:spLocks noGrp="1"/>
          </p:cNvSpPr>
          <p:nvPr/>
        </p:nvSpPr>
        <p:spPr>
          <a:xfrm>
            <a:off x="2085975" y="5511800"/>
            <a:ext cx="2733675" cy="295275"/>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功能安全/网络安全</a:t>
            </a:r>
            <a:endParaRPr sz="970" b="1">
              <a:solidFill>
                <a:srgbClr val="91252F"/>
              </a:solidFill>
              <a:latin typeface="Noto Sans Hans"/>
              <a:ea typeface="Noto Sans Hans"/>
              <a:cs typeface="Noto Sans Hans"/>
            </a:endParaRPr>
          </a:p>
        </p:txBody>
      </p:sp>
      <p:sp>
        <p:nvSpPr>
          <p:cNvPr id="95" name="圆角矩形 94"/>
          <p:cNvSpPr>
            <a:spLocks noGrp="1"/>
          </p:cNvSpPr>
          <p:nvPr/>
        </p:nvSpPr>
        <p:spPr>
          <a:xfrm>
            <a:off x="2066925" y="5851525"/>
            <a:ext cx="2771775" cy="314325"/>
          </a:xfrm>
          <a:prstGeom prst="roundRect">
            <a:avLst>
              <a:gd name="adj" fmla="val 6061"/>
            </a:avLst>
          </a:prstGeom>
          <a:solidFill>
            <a:srgbClr val="F9E8E7"/>
          </a:solidFill>
          <a:ln w="0">
            <a:noFill/>
            <a:prstDash val="solid"/>
          </a:ln>
        </p:spPr>
      </p:sp>
      <p:sp>
        <p:nvSpPr>
          <p:cNvPr id="96" name="矩形 95"/>
          <p:cNvSpPr>
            <a:spLocks noGrp="1"/>
          </p:cNvSpPr>
          <p:nvPr/>
        </p:nvSpPr>
        <p:spPr>
          <a:xfrm>
            <a:off x="2085975" y="5861050"/>
            <a:ext cx="2733675" cy="295275"/>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接入标准与接口</a:t>
            </a:r>
            <a:endParaRPr sz="970" b="1">
              <a:solidFill>
                <a:srgbClr val="91252F"/>
              </a:solidFill>
              <a:latin typeface="Noto Sans Hans"/>
              <a:ea typeface="Noto Sans Hans"/>
              <a:cs typeface="Noto Sans Hans"/>
            </a:endParaRPr>
          </a:p>
        </p:txBody>
      </p:sp>
      <p:sp>
        <p:nvSpPr>
          <p:cNvPr id="97" name="矩形 96"/>
          <p:cNvSpPr>
            <a:spLocks noGrp="1"/>
          </p:cNvSpPr>
          <p:nvPr/>
        </p:nvSpPr>
        <p:spPr>
          <a:xfrm>
            <a:off x="5048250" y="5076825"/>
            <a:ext cx="3190875" cy="1200150"/>
          </a:xfrm>
          <a:prstGeom prst="rect">
            <a:avLst/>
          </a:prstGeom>
          <a:solidFill>
            <a:srgbClr val="FCFAF8"/>
          </a:solidFill>
          <a:ln w="9525">
            <a:solidFill>
              <a:srgbClr val="D9D2CE"/>
            </a:solidFill>
            <a:prstDash val="solid"/>
          </a:ln>
        </p:spPr>
      </p:sp>
      <p:sp>
        <p:nvSpPr>
          <p:cNvPr id="98" name="圆角矩形 97"/>
          <p:cNvSpPr>
            <a:spLocks noGrp="1"/>
          </p:cNvSpPr>
          <p:nvPr/>
        </p:nvSpPr>
        <p:spPr>
          <a:xfrm>
            <a:off x="5162550" y="5153025"/>
            <a:ext cx="2962275" cy="314325"/>
          </a:xfrm>
          <a:prstGeom prst="roundRect">
            <a:avLst>
              <a:gd name="adj" fmla="val 6061"/>
            </a:avLst>
          </a:prstGeom>
          <a:solidFill>
            <a:srgbClr val="FBEDE5"/>
          </a:solidFill>
          <a:ln w="0">
            <a:noFill/>
            <a:prstDash val="solid"/>
          </a:ln>
        </p:spPr>
      </p:sp>
      <p:sp>
        <p:nvSpPr>
          <p:cNvPr id="99" name="矩形 98"/>
          <p:cNvSpPr>
            <a:spLocks noGrp="1"/>
          </p:cNvSpPr>
          <p:nvPr/>
        </p:nvSpPr>
        <p:spPr>
          <a:xfrm>
            <a:off x="5181600" y="5162550"/>
            <a:ext cx="2924175" cy="295275"/>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场景评测与认证</a:t>
            </a:r>
            <a:endParaRPr sz="970" b="1">
              <a:solidFill>
                <a:srgbClr val="C94722"/>
              </a:solidFill>
              <a:latin typeface="Noto Sans Hans"/>
              <a:ea typeface="Noto Sans Hans"/>
              <a:cs typeface="Noto Sans Hans"/>
            </a:endParaRPr>
          </a:p>
        </p:txBody>
      </p:sp>
      <p:sp>
        <p:nvSpPr>
          <p:cNvPr id="100" name="圆角矩形 99"/>
          <p:cNvSpPr>
            <a:spLocks noGrp="1"/>
          </p:cNvSpPr>
          <p:nvPr/>
        </p:nvSpPr>
        <p:spPr>
          <a:xfrm>
            <a:off x="5162550" y="5502275"/>
            <a:ext cx="2962275" cy="314325"/>
          </a:xfrm>
          <a:prstGeom prst="roundRect">
            <a:avLst>
              <a:gd name="adj" fmla="val 6061"/>
            </a:avLst>
          </a:prstGeom>
          <a:solidFill>
            <a:srgbClr val="FBEDE5"/>
          </a:solidFill>
          <a:ln w="0">
            <a:noFill/>
            <a:prstDash val="solid"/>
          </a:ln>
        </p:spPr>
      </p:sp>
      <p:sp>
        <p:nvSpPr>
          <p:cNvPr id="101" name="矩形 100"/>
          <p:cNvSpPr>
            <a:spLocks noGrp="1"/>
          </p:cNvSpPr>
          <p:nvPr/>
        </p:nvSpPr>
        <p:spPr>
          <a:xfrm>
            <a:off x="5181600" y="5511800"/>
            <a:ext cx="2924175" cy="295275"/>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真实世界</a:t>
            </a:r>
            <a:r>
              <a:rPr lang="zh-CN" sz="970" b="1">
                <a:solidFill>
                  <a:srgbClr val="C94722"/>
                </a:solidFill>
                <a:latin typeface="Noto Sans Hans"/>
                <a:ea typeface="Noto Sans Hans"/>
                <a:cs typeface="Noto Sans Hans"/>
              </a:rPr>
              <a:t>安全数据</a:t>
            </a:r>
            <a:endParaRPr lang="zh-CN" sz="970" b="1">
              <a:solidFill>
                <a:srgbClr val="C94722"/>
              </a:solidFill>
              <a:latin typeface="Noto Sans Hans"/>
              <a:ea typeface="Noto Sans Hans"/>
              <a:cs typeface="Noto Sans Hans"/>
            </a:endParaRPr>
          </a:p>
        </p:txBody>
      </p:sp>
      <p:sp>
        <p:nvSpPr>
          <p:cNvPr id="102" name="圆角矩形 101"/>
          <p:cNvSpPr>
            <a:spLocks noGrp="1"/>
          </p:cNvSpPr>
          <p:nvPr/>
        </p:nvSpPr>
        <p:spPr>
          <a:xfrm>
            <a:off x="5162550" y="5851525"/>
            <a:ext cx="2962275" cy="314325"/>
          </a:xfrm>
          <a:prstGeom prst="roundRect">
            <a:avLst>
              <a:gd name="adj" fmla="val 6061"/>
            </a:avLst>
          </a:prstGeom>
          <a:solidFill>
            <a:srgbClr val="FBEDE5"/>
          </a:solidFill>
          <a:ln w="0">
            <a:noFill/>
            <a:prstDash val="solid"/>
          </a:ln>
        </p:spPr>
      </p:sp>
      <p:sp>
        <p:nvSpPr>
          <p:cNvPr id="103" name="矩形 102"/>
          <p:cNvSpPr>
            <a:spLocks noGrp="1"/>
          </p:cNvSpPr>
          <p:nvPr/>
        </p:nvSpPr>
        <p:spPr>
          <a:xfrm>
            <a:off x="5181600" y="5861050"/>
            <a:ext cx="2924175" cy="295275"/>
          </a:xfrm>
          <a:prstGeom prst="rect">
            <a:avLst/>
          </a:prstGeom>
          <a:noFill/>
          <a:ln w="0">
            <a:noFill/>
            <a:prstDash val="solid"/>
          </a:ln>
        </p:spPr>
        <p:txBody>
          <a:bodyPr wrap="square" lIns="47625" tIns="19050" rIns="47625" bIns="19050" anchor="ctr">
            <a:normAutofit/>
          </a:bodyPr>
          <a:lstStyle/>
          <a:p>
            <a:pPr algn="ctr">
              <a:defRPr sz="865" b="1">
                <a:solidFill>
                  <a:srgbClr val="C94722"/>
                </a:solidFill>
                <a:latin typeface="Noto Sans Hans"/>
                <a:ea typeface="Noto Sans Hans"/>
                <a:cs typeface="Noto Sans Hans"/>
              </a:defRPr>
            </a:pPr>
            <a:r>
              <a:rPr sz="970" b="1">
                <a:solidFill>
                  <a:srgbClr val="C94722"/>
                </a:solidFill>
                <a:latin typeface="Noto Sans Hans"/>
                <a:ea typeface="Noto Sans Hans"/>
                <a:cs typeface="Noto Sans Hans"/>
              </a:rPr>
              <a:t>租赁</a:t>
            </a:r>
            <a:r>
              <a:rPr lang="zh-CN" sz="970" b="1">
                <a:solidFill>
                  <a:srgbClr val="C94722"/>
                </a:solidFill>
                <a:latin typeface="Noto Sans Hans"/>
                <a:ea typeface="Noto Sans Hans"/>
                <a:cs typeface="Noto Sans Hans"/>
              </a:rPr>
              <a:t>及按成效</a:t>
            </a:r>
            <a:r>
              <a:rPr sz="970" b="1">
                <a:solidFill>
                  <a:srgbClr val="C94722"/>
                </a:solidFill>
                <a:latin typeface="Noto Sans Hans"/>
                <a:ea typeface="Noto Sans Hans"/>
                <a:cs typeface="Noto Sans Hans"/>
              </a:rPr>
              <a:t>付费</a:t>
            </a:r>
            <a:endParaRPr sz="970" b="1">
              <a:solidFill>
                <a:srgbClr val="C94722"/>
              </a:solidFill>
              <a:latin typeface="Noto Sans Hans"/>
              <a:ea typeface="Noto Sans Hans"/>
              <a:cs typeface="Noto Sans Hans"/>
            </a:endParaRPr>
          </a:p>
        </p:txBody>
      </p:sp>
      <p:sp>
        <p:nvSpPr>
          <p:cNvPr id="104" name="矩形 103"/>
          <p:cNvSpPr>
            <a:spLocks noGrp="1"/>
          </p:cNvSpPr>
          <p:nvPr/>
        </p:nvSpPr>
        <p:spPr>
          <a:xfrm>
            <a:off x="8334375" y="5076825"/>
            <a:ext cx="3381375" cy="1200150"/>
          </a:xfrm>
          <a:prstGeom prst="rect">
            <a:avLst/>
          </a:prstGeom>
          <a:solidFill>
            <a:srgbClr val="FCFAF8"/>
          </a:solidFill>
          <a:ln w="9525">
            <a:solidFill>
              <a:srgbClr val="D9D2CE"/>
            </a:solidFill>
            <a:prstDash val="solid"/>
          </a:ln>
        </p:spPr>
      </p:sp>
      <p:sp>
        <p:nvSpPr>
          <p:cNvPr id="105" name="圆角矩形 104"/>
          <p:cNvSpPr>
            <a:spLocks noGrp="1"/>
          </p:cNvSpPr>
          <p:nvPr/>
        </p:nvSpPr>
        <p:spPr>
          <a:xfrm>
            <a:off x="8448675" y="5153025"/>
            <a:ext cx="3152775" cy="314325"/>
          </a:xfrm>
          <a:prstGeom prst="roundRect">
            <a:avLst>
              <a:gd name="adj" fmla="val 6061"/>
            </a:avLst>
          </a:prstGeom>
          <a:solidFill>
            <a:srgbClr val="F7F1DF"/>
          </a:solidFill>
          <a:ln w="0">
            <a:noFill/>
            <a:prstDash val="solid"/>
          </a:ln>
        </p:spPr>
      </p:sp>
      <p:sp>
        <p:nvSpPr>
          <p:cNvPr id="106" name="矩形 105"/>
          <p:cNvSpPr>
            <a:spLocks noGrp="1"/>
          </p:cNvSpPr>
          <p:nvPr/>
        </p:nvSpPr>
        <p:spPr>
          <a:xfrm>
            <a:off x="8467725" y="5162550"/>
            <a:ext cx="3114675" cy="295275"/>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数字孪生运营</a:t>
            </a:r>
            <a:endParaRPr sz="970" b="1">
              <a:solidFill>
                <a:srgbClr val="9A7000"/>
              </a:solidFill>
              <a:latin typeface="Noto Sans Hans"/>
              <a:ea typeface="Noto Sans Hans"/>
              <a:cs typeface="Noto Sans Hans"/>
            </a:endParaRPr>
          </a:p>
        </p:txBody>
      </p:sp>
      <p:sp>
        <p:nvSpPr>
          <p:cNvPr id="107" name="圆角矩形 106"/>
          <p:cNvSpPr>
            <a:spLocks noGrp="1"/>
          </p:cNvSpPr>
          <p:nvPr/>
        </p:nvSpPr>
        <p:spPr>
          <a:xfrm>
            <a:off x="8448675" y="5502275"/>
            <a:ext cx="3152775" cy="314325"/>
          </a:xfrm>
          <a:prstGeom prst="roundRect">
            <a:avLst>
              <a:gd name="adj" fmla="val 6061"/>
            </a:avLst>
          </a:prstGeom>
          <a:solidFill>
            <a:srgbClr val="F7F1DF"/>
          </a:solidFill>
          <a:ln w="0">
            <a:noFill/>
            <a:prstDash val="solid"/>
          </a:ln>
        </p:spPr>
      </p:sp>
      <p:sp>
        <p:nvSpPr>
          <p:cNvPr id="108" name="矩形 107"/>
          <p:cNvSpPr>
            <a:spLocks noGrp="1"/>
          </p:cNvSpPr>
          <p:nvPr/>
        </p:nvSpPr>
        <p:spPr>
          <a:xfrm>
            <a:off x="8467725" y="5511800"/>
            <a:ext cx="3114675" cy="295275"/>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跨机构设备网络</a:t>
            </a:r>
            <a:endParaRPr sz="970" b="1">
              <a:solidFill>
                <a:srgbClr val="9A7000"/>
              </a:solidFill>
              <a:latin typeface="Noto Sans Hans"/>
              <a:ea typeface="Noto Sans Hans"/>
              <a:cs typeface="Noto Sans Hans"/>
            </a:endParaRPr>
          </a:p>
        </p:txBody>
      </p:sp>
      <p:sp>
        <p:nvSpPr>
          <p:cNvPr id="109" name="圆角矩形 108"/>
          <p:cNvSpPr>
            <a:spLocks noGrp="1"/>
          </p:cNvSpPr>
          <p:nvPr/>
        </p:nvSpPr>
        <p:spPr>
          <a:xfrm>
            <a:off x="8448675" y="5851525"/>
            <a:ext cx="3152775" cy="314325"/>
          </a:xfrm>
          <a:prstGeom prst="roundRect">
            <a:avLst>
              <a:gd name="adj" fmla="val 6061"/>
            </a:avLst>
          </a:prstGeom>
          <a:solidFill>
            <a:srgbClr val="F7F1DF"/>
          </a:solidFill>
          <a:ln w="0">
            <a:noFill/>
            <a:prstDash val="solid"/>
          </a:ln>
        </p:spPr>
      </p:sp>
      <p:sp>
        <p:nvSpPr>
          <p:cNvPr id="110" name="矩形 109"/>
          <p:cNvSpPr>
            <a:spLocks noGrp="1"/>
          </p:cNvSpPr>
          <p:nvPr/>
        </p:nvSpPr>
        <p:spPr>
          <a:xfrm>
            <a:off x="8467725" y="5861050"/>
            <a:ext cx="3114675" cy="295275"/>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服务效果自动结算</a:t>
            </a:r>
            <a:endParaRPr sz="970" b="1">
              <a:solidFill>
                <a:srgbClr val="9A7000"/>
              </a:solidFill>
              <a:latin typeface="Noto Sans Hans"/>
              <a:ea typeface="Noto Sans Hans"/>
              <a:cs typeface="Noto Sans Hans"/>
            </a:endParaRPr>
          </a:p>
        </p:txBody>
      </p:sp>
      <p:sp>
        <p:nvSpPr>
          <p:cNvPr id="111" name="矩形 110"/>
          <p:cNvSpPr>
            <a:spLocks noGrp="1"/>
          </p:cNvSpPr>
          <p:nvPr/>
        </p:nvSpPr>
        <p:spPr>
          <a:xfrm>
            <a:off x="476250" y="6334125"/>
            <a:ext cx="666750" cy="190500"/>
          </a:xfrm>
          <a:prstGeom prst="rect">
            <a:avLst/>
          </a:prstGeom>
          <a:noFill/>
          <a:ln w="0">
            <a:noFill/>
            <a:prstDash val="solid"/>
          </a:ln>
        </p:spPr>
        <p:txBody>
          <a:bodyPr wrap="square" lIns="47625" tIns="19050" rIns="47625" bIns="19050" anchor="ctr">
            <a:normAutofit/>
          </a:bodyPr>
          <a:lstStyle/>
          <a:p>
            <a:pPr algn="l">
              <a:defRPr sz="825" b="1">
                <a:solidFill>
                  <a:srgbClr val="D00914"/>
                </a:solidFill>
                <a:latin typeface="Noto Sans Hans"/>
                <a:ea typeface="Noto Sans Hans"/>
                <a:cs typeface="Noto Sans Hans"/>
              </a:defRPr>
            </a:pPr>
            <a:r>
              <a:rPr sz="930" b="1">
                <a:solidFill>
                  <a:srgbClr val="D00914"/>
                </a:solidFill>
                <a:latin typeface="Noto Sans Hans"/>
                <a:ea typeface="Noto Sans Hans"/>
                <a:cs typeface="Noto Sans Hans"/>
              </a:rPr>
              <a:t>技术主线</a:t>
            </a:r>
            <a:endParaRPr sz="930" b="1">
              <a:solidFill>
                <a:srgbClr val="D00914"/>
              </a:solidFill>
              <a:latin typeface="Noto Sans Hans"/>
              <a:ea typeface="Noto Sans Hans"/>
              <a:cs typeface="Noto Sans Hans"/>
            </a:endParaRPr>
          </a:p>
        </p:txBody>
      </p:sp>
      <p:sp>
        <p:nvSpPr>
          <p:cNvPr id="112" name="矩形 111"/>
          <p:cNvSpPr>
            <a:spLocks noGrp="1"/>
          </p:cNvSpPr>
          <p:nvPr/>
        </p:nvSpPr>
        <p:spPr>
          <a:xfrm>
            <a:off x="1190625" y="6334125"/>
            <a:ext cx="7429500" cy="190500"/>
          </a:xfrm>
          <a:prstGeom prst="rect">
            <a:avLst/>
          </a:prstGeom>
          <a:noFill/>
          <a:ln w="0">
            <a:noFill/>
            <a:prstDash val="solid"/>
          </a:ln>
        </p:spPr>
        <p:txBody>
          <a:bodyPr wrap="square" lIns="47625" tIns="19050" rIns="47625" bIns="19050" anchor="ctr">
            <a:normAutofit/>
          </a:bodyPr>
          <a:lstStyle/>
          <a:p>
            <a:pPr algn="l">
              <a:defRPr sz="825" b="1">
                <a:solidFill>
                  <a:srgbClr val="403A38"/>
                </a:solidFill>
                <a:latin typeface="Noto Sans Hans"/>
                <a:ea typeface="Noto Sans Hans"/>
                <a:cs typeface="Noto Sans Hans"/>
              </a:defRPr>
            </a:pPr>
            <a:r>
              <a:rPr sz="930" b="1">
                <a:solidFill>
                  <a:srgbClr val="403A38"/>
                </a:solidFill>
                <a:latin typeface="Noto Sans Hans"/>
                <a:ea typeface="Noto Sans Hans"/>
                <a:cs typeface="Noto Sans Hans"/>
              </a:rPr>
              <a:t>成熟模块组合应用 → 人体接触安全与临床验证 → 具身智能、平台运营和支付闭环</a:t>
            </a:r>
            <a:endParaRPr sz="930" b="1">
              <a:solidFill>
                <a:srgbClr val="403A38"/>
              </a:solidFill>
              <a:latin typeface="Noto Sans Hans"/>
              <a:ea typeface="Noto Sans Hans"/>
              <a:cs typeface="Noto Sans Hans"/>
            </a:endParaRPr>
          </a:p>
        </p:txBody>
      </p:sp>
      <p:sp>
        <p:nvSpPr>
          <p:cNvPr id="113" name="矩形 112"/>
          <p:cNvSpPr>
            <a:spLocks noGrp="1"/>
          </p:cNvSpPr>
          <p:nvPr/>
        </p:nvSpPr>
        <p:spPr>
          <a:xfrm>
            <a:off x="8620125" y="6334125"/>
            <a:ext cx="3048000" cy="190500"/>
          </a:xfrm>
          <a:prstGeom prst="rect">
            <a:avLst/>
          </a:prstGeom>
          <a:noFill/>
          <a:ln w="0">
            <a:noFill/>
            <a:prstDash val="solid"/>
          </a:ln>
        </p:spPr>
        <p:txBody>
          <a:bodyPr wrap="square" lIns="47625" tIns="19050" rIns="47625" bIns="19050" anchor="ctr">
            <a:normAutofit/>
          </a:bodyPr>
          <a:lstStyle/>
          <a:p>
            <a:pPr algn="r">
              <a:defRPr sz="825" b="1">
                <a:solidFill>
                  <a:srgbClr val="D00914"/>
                </a:solidFill>
                <a:latin typeface="Noto Sans Hans"/>
                <a:ea typeface="Noto Sans Hans"/>
                <a:cs typeface="Noto Sans Hans"/>
              </a:defRPr>
            </a:pPr>
            <a:r>
              <a:rPr sz="930" b="1">
                <a:solidFill>
                  <a:srgbClr val="D00914"/>
                </a:solidFill>
                <a:latin typeface="Noto Sans Hans"/>
                <a:ea typeface="Noto Sans Hans"/>
                <a:cs typeface="Noto Sans Hans"/>
              </a:rPr>
              <a:t>投资逻辑：近期做场景，中期做平台，远期做生态</a:t>
            </a:r>
            <a:endParaRPr sz="930" b="1">
              <a:solidFill>
                <a:srgbClr val="D00914"/>
              </a:solidFill>
              <a:latin typeface="Noto Sans Hans"/>
              <a:ea typeface="Noto Sans Hans"/>
              <a:cs typeface="Noto Sans Hans"/>
            </a:endParaRPr>
          </a:p>
        </p:txBody>
      </p:sp>
      <p:sp>
        <p:nvSpPr>
          <p:cNvPr id="114" name="矩形 113"/>
          <p:cNvSpPr>
            <a:spLocks noGrp="1"/>
          </p:cNvSpPr>
          <p:nvPr/>
        </p:nvSpPr>
        <p:spPr>
          <a:xfrm>
            <a:off x="476250" y="6553200"/>
            <a:ext cx="10287000" cy="190500"/>
          </a:xfrm>
          <a:prstGeom prst="rect">
            <a:avLst/>
          </a:prstGeom>
          <a:noFill/>
          <a:ln w="0">
            <a:noFill/>
            <a:prstDash val="solid"/>
          </a:ln>
        </p:spPr>
        <p:txBody>
          <a:bodyPr wrap="square" lIns="47625" tIns="19050" rIns="47625" bIns="19050" anchor="ctr">
            <a:normAutofit/>
          </a:bodyPr>
          <a:lstStyle/>
          <a:p>
            <a:pPr algn="l">
              <a:defRPr sz="765" b="0">
                <a:solidFill>
                  <a:srgbClr val="716B68"/>
                </a:solidFill>
                <a:latin typeface="Noto Sans Hans"/>
                <a:ea typeface="Noto Sans Hans"/>
                <a:cs typeface="Noto Sans Hans"/>
              </a:defRPr>
            </a:pPr>
            <a:r>
              <a:rPr sz="765" b="0">
                <a:solidFill>
                  <a:srgbClr val="716B68"/>
                </a:solidFill>
                <a:latin typeface="Noto Sans Hans"/>
                <a:ea typeface="Noto Sans Hans"/>
                <a:cs typeface="Noto Sans Hans"/>
              </a:rPr>
              <a:t>资料来源：养老机器人产业增强基础数据库（30项核心技术）；工信部、国家药监局、武汉市公开资料。</a:t>
            </a:r>
            <a:endParaRPr sz="765" b="0">
              <a:solidFill>
                <a:srgbClr val="716B68"/>
              </a:solidFill>
              <a:latin typeface="Noto Sans Hans"/>
              <a:ea typeface="Noto Sans Hans"/>
              <a:cs typeface="Noto Sans Hans"/>
            </a:endParaRPr>
          </a:p>
        </p:txBody>
      </p:sp>
      <p:sp>
        <p:nvSpPr>
          <p:cNvPr id="115" name="矩形 114"/>
          <p:cNvSpPr>
            <a:spLocks noGrp="1"/>
          </p:cNvSpPr>
          <p:nvPr/>
        </p:nvSpPr>
        <p:spPr>
          <a:xfrm>
            <a:off x="11287125" y="6543675"/>
            <a:ext cx="428625" cy="190500"/>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0</a:t>
            </a:r>
            <a:r>
              <a:rPr lang="en-US" sz="900" b="1">
                <a:solidFill>
                  <a:srgbClr val="D00914"/>
                </a:solidFill>
                <a:latin typeface="Noto Sans Hans"/>
                <a:ea typeface="Noto Sans Hans"/>
                <a:cs typeface="Noto Sans Hans"/>
              </a:rPr>
              <a:t>6</a:t>
            </a:r>
            <a:endParaRPr lang="en-US" sz="900" b="1">
              <a:solidFill>
                <a:srgbClr val="D00914"/>
              </a:solidFill>
              <a:latin typeface="Noto Sans Hans"/>
              <a:ea typeface="Noto Sans Hans"/>
              <a:cs typeface="Noto Sans H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28600"/>
            <a:ext cx="171450" cy="685800"/>
          </a:xfrm>
          <a:prstGeom prst="rect">
            <a:avLst/>
          </a:prstGeom>
          <a:solidFill>
            <a:srgbClr val="D00914"/>
          </a:solidFill>
          <a:ln w="0">
            <a:noFill/>
            <a:prstDash val="solid"/>
          </a:ln>
        </p:spPr>
      </p:sp>
      <p:sp>
        <p:nvSpPr>
          <p:cNvPr id="3" name="slide-title"/>
          <p:cNvSpPr>
            <a:spLocks noGrp="1"/>
          </p:cNvSpPr>
          <p:nvPr/>
        </p:nvSpPr>
        <p:spPr>
          <a:xfrm>
            <a:off x="476250" y="200025"/>
            <a:ext cx="11239500" cy="4572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【成熟度与优先级】</a:t>
            </a:r>
            <a:r>
              <a:rPr sz="2025" b="1">
                <a:solidFill>
                  <a:srgbClr val="403A38"/>
                </a:solidFill>
                <a:latin typeface="Noto Sans Hans"/>
                <a:ea typeface="Noto Sans Hans"/>
                <a:cs typeface="Noto Sans Hans"/>
              </a:rPr>
              <a:t>短期优先部署成熟模块，中期集中攻关安全接触、康复闭环与平台标准</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57225"/>
            <a:ext cx="11096625" cy="266700"/>
          </a:xfrm>
          <a:prstGeom prst="rect">
            <a:avLst/>
          </a:prstGeom>
          <a:noFill/>
          <a:ln w="0">
            <a:noFill/>
            <a:prstDash val="solid"/>
          </a:ln>
        </p:spPr>
        <p:txBody>
          <a:bodyPr wrap="square" lIns="47625" tIns="19050" rIns="47625" bIns="19050" anchor="ctr">
            <a:normAutofit/>
          </a:bodyPr>
          <a:lstStyle/>
          <a:p>
            <a:pPr algn="l">
              <a:defRPr sz="1125" b="0">
                <a:solidFill>
                  <a:srgbClr val="716B68"/>
                </a:solidFill>
                <a:latin typeface="Noto Sans Hans"/>
                <a:ea typeface="Noto Sans Hans"/>
                <a:cs typeface="Noto Sans Hans"/>
              </a:defRPr>
            </a:pPr>
            <a:r>
              <a:rPr sz="1125" b="0">
                <a:solidFill>
                  <a:srgbClr val="716B68"/>
                </a:solidFill>
                <a:latin typeface="Noto Sans Hans"/>
                <a:ea typeface="Noto Sans Hans"/>
                <a:cs typeface="Noto Sans Hans"/>
              </a:rPr>
              <a:t>技术成熟度不能单独决定投入顺序，还需结合武汉场景价值、验证周期和形成持续收入的能力</a:t>
            </a:r>
            <a:endParaRPr sz="112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9D2CE"/>
          </a:solidFill>
          <a:ln w="0">
            <a:noFill/>
            <a:prstDash val="solid"/>
          </a:ln>
        </p:spPr>
      </p:sp>
      <p:sp>
        <p:nvSpPr>
          <p:cNvPr id="6" name="矩形 5"/>
          <p:cNvSpPr>
            <a:spLocks noGrp="1"/>
          </p:cNvSpPr>
          <p:nvPr/>
        </p:nvSpPr>
        <p:spPr>
          <a:xfrm>
            <a:off x="571500" y="1057275"/>
            <a:ext cx="6762750" cy="285750"/>
          </a:xfrm>
          <a:prstGeom prst="rect">
            <a:avLst/>
          </a:prstGeom>
          <a:noFill/>
          <a:ln w="0">
            <a:noFill/>
            <a:prstDash val="solid"/>
          </a:ln>
        </p:spPr>
        <p:txBody>
          <a:bodyPr wrap="square" lIns="47625" tIns="19050" rIns="47625" bIns="19050" anchor="ctr">
            <a:normAutofit/>
          </a:bodyPr>
          <a:lstStyle/>
          <a:p>
            <a:pPr algn="ctr">
              <a:defRPr sz="120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养老机器人关键技术成熟度曲线</a:t>
            </a:r>
            <a:endParaRPr sz="1200" b="1">
              <a:solidFill>
                <a:srgbClr val="403A38"/>
              </a:solidFill>
              <a:latin typeface="Noto Sans Hans"/>
              <a:ea typeface="Noto Sans Hans"/>
              <a:cs typeface="Noto Sans Hans"/>
            </a:endParaRPr>
          </a:p>
        </p:txBody>
      </p:sp>
      <p:sp>
        <p:nvSpPr>
          <p:cNvPr id="7" name="矩形 6"/>
          <p:cNvSpPr>
            <a:spLocks noGrp="1"/>
          </p:cNvSpPr>
          <p:nvPr/>
        </p:nvSpPr>
        <p:spPr>
          <a:xfrm>
            <a:off x="619125" y="1485900"/>
            <a:ext cx="6667500" cy="4524375"/>
          </a:xfrm>
          <a:prstGeom prst="rect">
            <a:avLst/>
          </a:prstGeom>
          <a:solidFill>
            <a:srgbClr val="FFFFFF"/>
          </a:solidFill>
          <a:ln w="9525">
            <a:solidFill>
              <a:srgbClr val="D9D2CE"/>
            </a:solidFill>
            <a:prstDash val="solid"/>
          </a:ln>
        </p:spPr>
      </p:sp>
      <p:sp>
        <p:nvSpPr>
          <p:cNvPr id="8" name="矩形 7"/>
          <p:cNvSpPr>
            <a:spLocks noGrp="1"/>
          </p:cNvSpPr>
          <p:nvPr/>
        </p:nvSpPr>
        <p:spPr>
          <a:xfrm>
            <a:off x="714375" y="1562100"/>
            <a:ext cx="1524000" cy="219075"/>
          </a:xfrm>
          <a:prstGeom prst="rect">
            <a:avLst/>
          </a:prstGeom>
          <a:noFill/>
          <a:ln w="0">
            <a:noFill/>
            <a:prstDash val="solid"/>
          </a:ln>
        </p:spPr>
        <p:txBody>
          <a:bodyPr wrap="square" lIns="47625" tIns="19050" rIns="47625" bIns="19050" anchor="ctr">
            <a:normAutofit/>
          </a:bodyPr>
          <a:lstStyle/>
          <a:p>
            <a:pPr algn="ctr">
              <a:defRPr sz="900" b="1">
                <a:solidFill>
                  <a:srgbClr val="716B68"/>
                </a:solidFill>
                <a:latin typeface="Noto Sans Hans"/>
                <a:ea typeface="Noto Sans Hans"/>
                <a:cs typeface="Noto Sans Hans"/>
              </a:defRPr>
            </a:pPr>
            <a:r>
              <a:rPr sz="1000" b="1">
                <a:solidFill>
                  <a:srgbClr val="716B68"/>
                </a:solidFill>
                <a:latin typeface="Noto Sans Hans"/>
                <a:ea typeface="Noto Sans Hans"/>
                <a:cs typeface="Noto Sans Hans"/>
              </a:rPr>
              <a:t>成熟应用期</a:t>
            </a:r>
            <a:endParaRPr sz="1000" b="1">
              <a:solidFill>
                <a:srgbClr val="716B68"/>
              </a:solidFill>
              <a:latin typeface="Noto Sans Hans"/>
              <a:ea typeface="Noto Sans Hans"/>
              <a:cs typeface="Noto Sans Hans"/>
            </a:endParaRPr>
          </a:p>
        </p:txBody>
      </p:sp>
      <p:sp>
        <p:nvSpPr>
          <p:cNvPr id="9" name="矩形 8"/>
          <p:cNvSpPr>
            <a:spLocks noGrp="1"/>
          </p:cNvSpPr>
          <p:nvPr/>
        </p:nvSpPr>
        <p:spPr>
          <a:xfrm>
            <a:off x="2381250" y="1562100"/>
            <a:ext cx="1524000" cy="219075"/>
          </a:xfrm>
          <a:prstGeom prst="rect">
            <a:avLst/>
          </a:prstGeom>
          <a:noFill/>
          <a:ln w="0">
            <a:noFill/>
            <a:prstDash val="solid"/>
          </a:ln>
        </p:spPr>
        <p:txBody>
          <a:bodyPr wrap="square" lIns="47625" tIns="19050" rIns="47625" bIns="19050" anchor="ctr">
            <a:normAutofit/>
          </a:bodyPr>
          <a:lstStyle/>
          <a:p>
            <a:pPr algn="ctr">
              <a:defRPr sz="900" b="1">
                <a:solidFill>
                  <a:srgbClr val="716B68"/>
                </a:solidFill>
                <a:latin typeface="Noto Sans Hans"/>
                <a:ea typeface="Noto Sans Hans"/>
                <a:cs typeface="Noto Sans Hans"/>
              </a:defRPr>
            </a:pPr>
            <a:r>
              <a:rPr sz="1000" b="1">
                <a:solidFill>
                  <a:srgbClr val="716B68"/>
                </a:solidFill>
                <a:latin typeface="Noto Sans Hans"/>
                <a:ea typeface="Noto Sans Hans"/>
                <a:cs typeface="Noto Sans Hans"/>
              </a:rPr>
              <a:t>规模验证期</a:t>
            </a:r>
            <a:endParaRPr sz="1000" b="1">
              <a:solidFill>
                <a:srgbClr val="716B68"/>
              </a:solidFill>
              <a:latin typeface="Noto Sans Hans"/>
              <a:ea typeface="Noto Sans Hans"/>
              <a:cs typeface="Noto Sans Hans"/>
            </a:endParaRPr>
          </a:p>
        </p:txBody>
      </p:sp>
      <p:sp>
        <p:nvSpPr>
          <p:cNvPr id="10" name="矩形 9"/>
          <p:cNvSpPr>
            <a:spLocks noGrp="1"/>
          </p:cNvSpPr>
          <p:nvPr/>
        </p:nvSpPr>
        <p:spPr>
          <a:xfrm>
            <a:off x="2286000" y="1809750"/>
            <a:ext cx="9525" cy="4000500"/>
          </a:xfrm>
          <a:prstGeom prst="rect">
            <a:avLst/>
          </a:prstGeom>
          <a:solidFill>
            <a:srgbClr val="D9D2CE"/>
          </a:solidFill>
          <a:ln w="0">
            <a:noFill/>
            <a:prstDash val="solid"/>
          </a:ln>
        </p:spPr>
      </p:sp>
      <p:sp>
        <p:nvSpPr>
          <p:cNvPr id="11" name="矩形 10"/>
          <p:cNvSpPr>
            <a:spLocks noGrp="1"/>
          </p:cNvSpPr>
          <p:nvPr/>
        </p:nvSpPr>
        <p:spPr>
          <a:xfrm>
            <a:off x="4095750" y="1562100"/>
            <a:ext cx="1524000" cy="219075"/>
          </a:xfrm>
          <a:prstGeom prst="rect">
            <a:avLst/>
          </a:prstGeom>
          <a:noFill/>
          <a:ln w="0">
            <a:noFill/>
            <a:prstDash val="solid"/>
          </a:ln>
        </p:spPr>
        <p:txBody>
          <a:bodyPr wrap="square" lIns="47625" tIns="19050" rIns="47625" bIns="19050" anchor="ctr">
            <a:normAutofit/>
          </a:bodyPr>
          <a:lstStyle/>
          <a:p>
            <a:pPr algn="ctr">
              <a:defRPr sz="900" b="1">
                <a:solidFill>
                  <a:srgbClr val="716B68"/>
                </a:solidFill>
                <a:latin typeface="Noto Sans Hans"/>
                <a:ea typeface="Noto Sans Hans"/>
                <a:cs typeface="Noto Sans Hans"/>
              </a:defRPr>
            </a:pPr>
            <a:r>
              <a:rPr sz="1000" b="1">
                <a:solidFill>
                  <a:srgbClr val="716B68"/>
                </a:solidFill>
                <a:latin typeface="Noto Sans Hans"/>
                <a:ea typeface="Noto Sans Hans"/>
                <a:cs typeface="Noto Sans Hans"/>
              </a:rPr>
              <a:t>融合突破期</a:t>
            </a:r>
            <a:endParaRPr sz="1000" b="1">
              <a:solidFill>
                <a:srgbClr val="716B68"/>
              </a:solidFill>
              <a:latin typeface="Noto Sans Hans"/>
              <a:ea typeface="Noto Sans Hans"/>
              <a:cs typeface="Noto Sans Hans"/>
            </a:endParaRPr>
          </a:p>
        </p:txBody>
      </p:sp>
      <p:sp>
        <p:nvSpPr>
          <p:cNvPr id="12" name="矩形 11"/>
          <p:cNvSpPr>
            <a:spLocks noGrp="1"/>
          </p:cNvSpPr>
          <p:nvPr/>
        </p:nvSpPr>
        <p:spPr>
          <a:xfrm>
            <a:off x="3952875" y="1809750"/>
            <a:ext cx="9525" cy="4000500"/>
          </a:xfrm>
          <a:prstGeom prst="rect">
            <a:avLst/>
          </a:prstGeom>
          <a:solidFill>
            <a:srgbClr val="D9D2CE"/>
          </a:solidFill>
          <a:ln w="0">
            <a:noFill/>
            <a:prstDash val="solid"/>
          </a:ln>
        </p:spPr>
      </p:sp>
      <p:sp>
        <p:nvSpPr>
          <p:cNvPr id="13" name="矩形 12"/>
          <p:cNvSpPr>
            <a:spLocks noGrp="1"/>
          </p:cNvSpPr>
          <p:nvPr/>
        </p:nvSpPr>
        <p:spPr>
          <a:xfrm>
            <a:off x="5810250" y="1562100"/>
            <a:ext cx="1524000" cy="219075"/>
          </a:xfrm>
          <a:prstGeom prst="rect">
            <a:avLst/>
          </a:prstGeom>
          <a:noFill/>
          <a:ln w="0">
            <a:noFill/>
            <a:prstDash val="solid"/>
          </a:ln>
        </p:spPr>
        <p:txBody>
          <a:bodyPr wrap="square" lIns="47625" tIns="19050" rIns="47625" bIns="19050" anchor="ctr">
            <a:normAutofit/>
          </a:bodyPr>
          <a:lstStyle/>
          <a:p>
            <a:pPr algn="ctr">
              <a:defRPr sz="900" b="1">
                <a:solidFill>
                  <a:srgbClr val="716B68"/>
                </a:solidFill>
                <a:latin typeface="Noto Sans Hans"/>
                <a:ea typeface="Noto Sans Hans"/>
                <a:cs typeface="Noto Sans Hans"/>
              </a:defRPr>
            </a:pPr>
            <a:r>
              <a:rPr sz="1000" b="1">
                <a:solidFill>
                  <a:srgbClr val="716B68"/>
                </a:solidFill>
                <a:latin typeface="Noto Sans Hans"/>
                <a:ea typeface="Noto Sans Hans"/>
                <a:cs typeface="Noto Sans Hans"/>
              </a:rPr>
              <a:t>前沿储备期</a:t>
            </a:r>
            <a:endParaRPr sz="1000" b="1">
              <a:solidFill>
                <a:srgbClr val="716B68"/>
              </a:solidFill>
              <a:latin typeface="Noto Sans Hans"/>
              <a:ea typeface="Noto Sans Hans"/>
              <a:cs typeface="Noto Sans Hans"/>
            </a:endParaRPr>
          </a:p>
        </p:txBody>
      </p:sp>
      <p:sp>
        <p:nvSpPr>
          <p:cNvPr id="14" name="矩形 13"/>
          <p:cNvSpPr>
            <a:spLocks noGrp="1"/>
          </p:cNvSpPr>
          <p:nvPr/>
        </p:nvSpPr>
        <p:spPr>
          <a:xfrm>
            <a:off x="5619750" y="1809750"/>
            <a:ext cx="9525" cy="4000500"/>
          </a:xfrm>
          <a:prstGeom prst="rect">
            <a:avLst/>
          </a:prstGeom>
          <a:solidFill>
            <a:srgbClr val="D9D2CE"/>
          </a:solidFill>
          <a:ln w="0">
            <a:noFill/>
            <a:prstDash val="solid"/>
          </a:ln>
        </p:spPr>
      </p:sp>
      <p:sp>
        <p:nvSpPr>
          <p:cNvPr id="15" name="矩形 14"/>
          <p:cNvSpPr>
            <a:spLocks noGrp="1"/>
          </p:cNvSpPr>
          <p:nvPr/>
        </p:nvSpPr>
        <p:spPr>
          <a:xfrm>
            <a:off x="666750" y="1905000"/>
            <a:ext cx="457200" cy="190500"/>
          </a:xfrm>
          <a:prstGeom prst="rect">
            <a:avLst/>
          </a:prstGeom>
          <a:noFill/>
          <a:ln w="0">
            <a:noFill/>
            <a:prstDash val="solid"/>
          </a:ln>
        </p:spPr>
        <p:txBody>
          <a:bodyPr wrap="square" lIns="47625" tIns="19050" rIns="47625" bIns="19050" anchor="ctr">
            <a:normAutofit/>
          </a:bodyPr>
          <a:lstStyle/>
          <a:p>
            <a:pPr algn="l">
              <a:defRPr sz="750" b="0">
                <a:solidFill>
                  <a:srgbClr val="716B68"/>
                </a:solidFill>
                <a:latin typeface="Noto Sans Hans"/>
                <a:ea typeface="Noto Sans Hans"/>
                <a:cs typeface="Noto Sans Hans"/>
              </a:defRPr>
            </a:pPr>
            <a:r>
              <a:rPr sz="850" b="0">
                <a:solidFill>
                  <a:srgbClr val="716B68"/>
                </a:solidFill>
                <a:latin typeface="Noto Sans Hans"/>
                <a:ea typeface="Noto Sans Hans"/>
                <a:cs typeface="Noto Sans Hans"/>
              </a:rPr>
              <a:t>TRL 9</a:t>
            </a:r>
            <a:endParaRPr sz="850" b="0">
              <a:solidFill>
                <a:srgbClr val="716B68"/>
              </a:solidFill>
              <a:latin typeface="Noto Sans Hans"/>
              <a:ea typeface="Noto Sans Hans"/>
              <a:cs typeface="Noto Sans Hans"/>
            </a:endParaRPr>
          </a:p>
        </p:txBody>
      </p:sp>
      <p:sp>
        <p:nvSpPr>
          <p:cNvPr id="16" name="矩形 15"/>
          <p:cNvSpPr>
            <a:spLocks noGrp="1"/>
          </p:cNvSpPr>
          <p:nvPr/>
        </p:nvSpPr>
        <p:spPr>
          <a:xfrm>
            <a:off x="666750" y="5581650"/>
            <a:ext cx="457200" cy="190500"/>
          </a:xfrm>
          <a:prstGeom prst="rect">
            <a:avLst/>
          </a:prstGeom>
          <a:noFill/>
          <a:ln w="0">
            <a:noFill/>
            <a:prstDash val="solid"/>
          </a:ln>
        </p:spPr>
        <p:txBody>
          <a:bodyPr wrap="square" lIns="47625" tIns="19050" rIns="47625" bIns="19050" anchor="ctr">
            <a:normAutofit/>
          </a:bodyPr>
          <a:lstStyle/>
          <a:p>
            <a:pPr algn="l">
              <a:defRPr sz="750" b="0">
                <a:solidFill>
                  <a:srgbClr val="716B68"/>
                </a:solidFill>
                <a:latin typeface="Noto Sans Hans"/>
                <a:ea typeface="Noto Sans Hans"/>
                <a:cs typeface="Noto Sans Hans"/>
              </a:defRPr>
            </a:pPr>
            <a:r>
              <a:rPr sz="850" b="0">
                <a:solidFill>
                  <a:srgbClr val="716B68"/>
                </a:solidFill>
                <a:latin typeface="Noto Sans Hans"/>
                <a:ea typeface="Noto Sans Hans"/>
                <a:cs typeface="Noto Sans Hans"/>
              </a:rPr>
              <a:t>TRL 4</a:t>
            </a:r>
            <a:endParaRPr sz="850" b="0">
              <a:solidFill>
                <a:srgbClr val="716B68"/>
              </a:solidFill>
              <a:latin typeface="Noto Sans Hans"/>
              <a:ea typeface="Noto Sans Hans"/>
              <a:cs typeface="Noto Sans Hans"/>
            </a:endParaRPr>
          </a:p>
        </p:txBody>
      </p:sp>
      <p:sp>
        <p:nvSpPr>
          <p:cNvPr id="17" name="椭圆 16"/>
          <p:cNvSpPr>
            <a:spLocks noGrp="1"/>
          </p:cNvSpPr>
          <p:nvPr/>
        </p:nvSpPr>
        <p:spPr>
          <a:xfrm>
            <a:off x="1584960" y="2105977"/>
            <a:ext cx="133350" cy="133350"/>
          </a:xfrm>
          <a:prstGeom prst="ellipse">
            <a:avLst/>
          </a:prstGeom>
          <a:solidFill>
            <a:srgbClr val="91252F"/>
          </a:solidFill>
          <a:ln w="9525">
            <a:solidFill>
              <a:srgbClr val="FFFFFF"/>
            </a:solidFill>
            <a:prstDash val="solid"/>
          </a:ln>
        </p:spPr>
      </p:sp>
      <p:sp>
        <p:nvSpPr>
          <p:cNvPr id="18" name="矩形 17"/>
          <p:cNvSpPr>
            <a:spLocks noGrp="1"/>
          </p:cNvSpPr>
          <p:nvPr/>
        </p:nvSpPr>
        <p:spPr>
          <a:xfrm>
            <a:off x="1099185" y="1915477"/>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1252F"/>
                </a:solidFill>
                <a:latin typeface="Noto Sans Hans"/>
                <a:ea typeface="Noto Sans Hans"/>
                <a:cs typeface="Noto Sans Hans"/>
              </a:defRPr>
            </a:pPr>
            <a:r>
              <a:rPr sz="840" b="1">
                <a:solidFill>
                  <a:srgbClr val="91252F"/>
                </a:solidFill>
                <a:latin typeface="Noto Sans Hans"/>
                <a:ea typeface="Noto Sans Hans"/>
                <a:cs typeface="Noto Sans Hans"/>
              </a:rPr>
              <a:t>自主移动/群控</a:t>
            </a:r>
            <a:endParaRPr sz="840" b="1">
              <a:solidFill>
                <a:srgbClr val="91252F"/>
              </a:solidFill>
              <a:latin typeface="Noto Sans Hans"/>
              <a:ea typeface="Noto Sans Hans"/>
              <a:cs typeface="Noto Sans Hans"/>
            </a:endParaRPr>
          </a:p>
        </p:txBody>
      </p:sp>
      <p:sp>
        <p:nvSpPr>
          <p:cNvPr id="19" name="椭圆 18"/>
          <p:cNvSpPr>
            <a:spLocks noGrp="1"/>
          </p:cNvSpPr>
          <p:nvPr/>
        </p:nvSpPr>
        <p:spPr>
          <a:xfrm>
            <a:off x="1815465" y="2241233"/>
            <a:ext cx="133350" cy="133350"/>
          </a:xfrm>
          <a:prstGeom prst="ellipse">
            <a:avLst/>
          </a:prstGeom>
          <a:solidFill>
            <a:srgbClr val="91252F"/>
          </a:solidFill>
          <a:ln w="9525">
            <a:solidFill>
              <a:srgbClr val="FFFFFF"/>
            </a:solidFill>
            <a:prstDash val="solid"/>
          </a:ln>
        </p:spPr>
      </p:sp>
      <p:sp>
        <p:nvSpPr>
          <p:cNvPr id="20" name="矩形 19"/>
          <p:cNvSpPr>
            <a:spLocks noGrp="1"/>
          </p:cNvSpPr>
          <p:nvPr/>
        </p:nvSpPr>
        <p:spPr>
          <a:xfrm>
            <a:off x="1329690" y="2403158"/>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1252F"/>
                </a:solidFill>
                <a:latin typeface="Noto Sans Hans"/>
                <a:ea typeface="Noto Sans Hans"/>
                <a:cs typeface="Noto Sans Hans"/>
              </a:defRPr>
            </a:pPr>
            <a:r>
              <a:rPr sz="840" b="1">
                <a:solidFill>
                  <a:srgbClr val="91252F"/>
                </a:solidFill>
                <a:latin typeface="Noto Sans Hans"/>
                <a:ea typeface="Noto Sans Hans"/>
                <a:cs typeface="Noto Sans Hans"/>
              </a:rPr>
              <a:t>3D视觉</a:t>
            </a:r>
            <a:endParaRPr sz="840" b="1">
              <a:solidFill>
                <a:srgbClr val="91252F"/>
              </a:solidFill>
              <a:latin typeface="Noto Sans Hans"/>
              <a:ea typeface="Noto Sans Hans"/>
              <a:cs typeface="Noto Sans Hans"/>
            </a:endParaRPr>
          </a:p>
        </p:txBody>
      </p:sp>
      <p:sp>
        <p:nvSpPr>
          <p:cNvPr id="21" name="椭圆 20"/>
          <p:cNvSpPr>
            <a:spLocks noGrp="1"/>
          </p:cNvSpPr>
          <p:nvPr/>
        </p:nvSpPr>
        <p:spPr>
          <a:xfrm>
            <a:off x="2161223" y="2376488"/>
            <a:ext cx="133350" cy="133350"/>
          </a:xfrm>
          <a:prstGeom prst="ellipse">
            <a:avLst/>
          </a:prstGeom>
          <a:solidFill>
            <a:srgbClr val="91252F"/>
          </a:solidFill>
          <a:ln w="9525">
            <a:solidFill>
              <a:srgbClr val="FFFFFF"/>
            </a:solidFill>
            <a:prstDash val="solid"/>
          </a:ln>
        </p:spPr>
      </p:sp>
      <p:sp>
        <p:nvSpPr>
          <p:cNvPr id="22" name="矩形 21"/>
          <p:cNvSpPr>
            <a:spLocks noGrp="1"/>
          </p:cNvSpPr>
          <p:nvPr/>
        </p:nvSpPr>
        <p:spPr>
          <a:xfrm>
            <a:off x="1675447" y="2538413"/>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1252F"/>
                </a:solidFill>
                <a:latin typeface="Noto Sans Hans"/>
                <a:ea typeface="Noto Sans Hans"/>
                <a:cs typeface="Noto Sans Hans"/>
              </a:defRPr>
            </a:pPr>
            <a:r>
              <a:rPr sz="840" b="1">
                <a:solidFill>
                  <a:srgbClr val="91252F"/>
                </a:solidFill>
                <a:latin typeface="Noto Sans Hans"/>
                <a:ea typeface="Noto Sans Hans"/>
                <a:cs typeface="Noto Sans Hans"/>
              </a:rPr>
              <a:t>多模态交互</a:t>
            </a:r>
            <a:endParaRPr sz="840" b="1">
              <a:solidFill>
                <a:srgbClr val="91252F"/>
              </a:solidFill>
              <a:latin typeface="Noto Sans Hans"/>
              <a:ea typeface="Noto Sans Hans"/>
              <a:cs typeface="Noto Sans Hans"/>
            </a:endParaRPr>
          </a:p>
        </p:txBody>
      </p:sp>
      <p:sp>
        <p:nvSpPr>
          <p:cNvPr id="23" name="椭圆 22"/>
          <p:cNvSpPr>
            <a:spLocks noGrp="1"/>
          </p:cNvSpPr>
          <p:nvPr/>
        </p:nvSpPr>
        <p:spPr>
          <a:xfrm>
            <a:off x="2564606" y="2579370"/>
            <a:ext cx="133350" cy="133350"/>
          </a:xfrm>
          <a:prstGeom prst="ellipse">
            <a:avLst/>
          </a:prstGeom>
          <a:solidFill>
            <a:srgbClr val="D00914"/>
          </a:solidFill>
          <a:ln w="9525">
            <a:solidFill>
              <a:srgbClr val="FFFFFF"/>
            </a:solidFill>
            <a:prstDash val="solid"/>
          </a:ln>
        </p:spPr>
      </p:sp>
      <p:sp>
        <p:nvSpPr>
          <p:cNvPr id="24" name="矩形 23"/>
          <p:cNvSpPr>
            <a:spLocks noGrp="1"/>
          </p:cNvSpPr>
          <p:nvPr/>
        </p:nvSpPr>
        <p:spPr>
          <a:xfrm>
            <a:off x="2078831" y="2388870"/>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D00914"/>
                </a:solidFill>
                <a:latin typeface="Noto Sans Hans"/>
                <a:ea typeface="Noto Sans Hans"/>
                <a:cs typeface="Noto Sans Hans"/>
              </a:defRPr>
            </a:pPr>
            <a:r>
              <a:rPr sz="840" b="1">
                <a:solidFill>
                  <a:srgbClr val="D00914"/>
                </a:solidFill>
                <a:latin typeface="Noto Sans Hans"/>
                <a:ea typeface="Noto Sans Hans"/>
                <a:cs typeface="Noto Sans Hans"/>
              </a:rPr>
              <a:t>生命体征监测</a:t>
            </a:r>
            <a:endParaRPr sz="840" b="1">
              <a:solidFill>
                <a:srgbClr val="D00914"/>
              </a:solidFill>
              <a:latin typeface="Noto Sans Hans"/>
              <a:ea typeface="Noto Sans Hans"/>
              <a:cs typeface="Noto Sans Hans"/>
            </a:endParaRPr>
          </a:p>
        </p:txBody>
      </p:sp>
      <p:sp>
        <p:nvSpPr>
          <p:cNvPr id="25" name="椭圆 24"/>
          <p:cNvSpPr>
            <a:spLocks noGrp="1"/>
          </p:cNvSpPr>
          <p:nvPr/>
        </p:nvSpPr>
        <p:spPr>
          <a:xfrm>
            <a:off x="2967990" y="2849880"/>
            <a:ext cx="133350" cy="133350"/>
          </a:xfrm>
          <a:prstGeom prst="ellipse">
            <a:avLst/>
          </a:prstGeom>
          <a:solidFill>
            <a:srgbClr val="D00914"/>
          </a:solidFill>
          <a:ln w="9525">
            <a:solidFill>
              <a:srgbClr val="FFFFFF"/>
            </a:solidFill>
            <a:prstDash val="solid"/>
          </a:ln>
        </p:spPr>
      </p:sp>
      <p:sp>
        <p:nvSpPr>
          <p:cNvPr id="26" name="矩形 25"/>
          <p:cNvSpPr>
            <a:spLocks noGrp="1"/>
          </p:cNvSpPr>
          <p:nvPr/>
        </p:nvSpPr>
        <p:spPr>
          <a:xfrm>
            <a:off x="2482215" y="3011805"/>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D00914"/>
                </a:solidFill>
                <a:latin typeface="Noto Sans Hans"/>
                <a:ea typeface="Noto Sans Hans"/>
                <a:cs typeface="Noto Sans Hans"/>
              </a:defRPr>
            </a:pPr>
            <a:r>
              <a:rPr sz="840" b="1">
                <a:solidFill>
                  <a:srgbClr val="D00914"/>
                </a:solidFill>
                <a:latin typeface="Noto Sans Hans"/>
                <a:ea typeface="Noto Sans Hans"/>
                <a:cs typeface="Noto Sans Hans"/>
              </a:rPr>
              <a:t>外骨骼控制</a:t>
            </a:r>
            <a:endParaRPr sz="840" b="1">
              <a:solidFill>
                <a:srgbClr val="D00914"/>
              </a:solidFill>
              <a:latin typeface="Noto Sans Hans"/>
              <a:ea typeface="Noto Sans Hans"/>
              <a:cs typeface="Noto Sans Hans"/>
            </a:endParaRPr>
          </a:p>
        </p:txBody>
      </p:sp>
      <p:sp>
        <p:nvSpPr>
          <p:cNvPr id="27" name="椭圆 26"/>
          <p:cNvSpPr>
            <a:spLocks noGrp="1"/>
          </p:cNvSpPr>
          <p:nvPr/>
        </p:nvSpPr>
        <p:spPr>
          <a:xfrm>
            <a:off x="3371374" y="3188018"/>
            <a:ext cx="133350" cy="133350"/>
          </a:xfrm>
          <a:prstGeom prst="ellipse">
            <a:avLst/>
          </a:prstGeom>
          <a:solidFill>
            <a:srgbClr val="C94722"/>
          </a:solidFill>
          <a:ln w="9525">
            <a:solidFill>
              <a:srgbClr val="FFFFFF"/>
            </a:solidFill>
            <a:prstDash val="solid"/>
          </a:ln>
        </p:spPr>
      </p:sp>
      <p:sp>
        <p:nvSpPr>
          <p:cNvPr id="28" name="矩形 27"/>
          <p:cNvSpPr>
            <a:spLocks noGrp="1"/>
          </p:cNvSpPr>
          <p:nvPr/>
        </p:nvSpPr>
        <p:spPr>
          <a:xfrm>
            <a:off x="2742089" y="3349943"/>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C94722"/>
                </a:solidFill>
                <a:latin typeface="Noto Sans Hans"/>
                <a:ea typeface="Noto Sans Hans"/>
                <a:cs typeface="Noto Sans Hans"/>
              </a:defRPr>
            </a:pPr>
            <a:r>
              <a:rPr lang="zh-CN" sz="840" b="1">
                <a:solidFill>
                  <a:srgbClr val="C94722"/>
                </a:solidFill>
                <a:latin typeface="Noto Sans Hans"/>
                <a:ea typeface="Noto Sans Hans"/>
                <a:cs typeface="Noto Sans Hans"/>
              </a:rPr>
              <a:t>云端本地协同</a:t>
            </a:r>
            <a:r>
              <a:rPr sz="840" b="1">
                <a:solidFill>
                  <a:srgbClr val="C94722"/>
                </a:solidFill>
                <a:latin typeface="Noto Sans Hans"/>
                <a:ea typeface="Noto Sans Hans"/>
                <a:cs typeface="Noto Sans Hans"/>
              </a:rPr>
              <a:t>运维</a:t>
            </a:r>
            <a:endParaRPr sz="840" b="1">
              <a:solidFill>
                <a:srgbClr val="C94722"/>
              </a:solidFill>
              <a:latin typeface="Noto Sans Hans"/>
              <a:ea typeface="Noto Sans Hans"/>
              <a:cs typeface="Noto Sans Hans"/>
            </a:endParaRPr>
          </a:p>
        </p:txBody>
      </p:sp>
      <p:sp>
        <p:nvSpPr>
          <p:cNvPr id="29" name="椭圆 28"/>
          <p:cNvSpPr>
            <a:spLocks noGrp="1"/>
          </p:cNvSpPr>
          <p:nvPr/>
        </p:nvSpPr>
        <p:spPr>
          <a:xfrm>
            <a:off x="3717131" y="3390900"/>
            <a:ext cx="133350" cy="133350"/>
          </a:xfrm>
          <a:prstGeom prst="ellipse">
            <a:avLst/>
          </a:prstGeom>
          <a:solidFill>
            <a:srgbClr val="C94722"/>
          </a:solidFill>
          <a:ln w="9525">
            <a:solidFill>
              <a:srgbClr val="FFFFFF"/>
            </a:solidFill>
            <a:prstDash val="solid"/>
          </a:ln>
        </p:spPr>
      </p:sp>
      <p:sp>
        <p:nvSpPr>
          <p:cNvPr id="30" name="矩形 29"/>
          <p:cNvSpPr>
            <a:spLocks noGrp="1"/>
          </p:cNvSpPr>
          <p:nvPr/>
        </p:nvSpPr>
        <p:spPr>
          <a:xfrm>
            <a:off x="3231356" y="3200400"/>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C94722"/>
                </a:solidFill>
                <a:latin typeface="Noto Sans Hans"/>
                <a:ea typeface="Noto Sans Hans"/>
                <a:cs typeface="Noto Sans Hans"/>
              </a:defRPr>
            </a:pPr>
            <a:r>
              <a:rPr sz="840" b="1">
                <a:solidFill>
                  <a:srgbClr val="C94722"/>
                </a:solidFill>
                <a:latin typeface="Noto Sans Hans"/>
                <a:ea typeface="Noto Sans Hans"/>
                <a:cs typeface="Noto Sans Hans"/>
              </a:rPr>
              <a:t>污物处理</a:t>
            </a:r>
            <a:endParaRPr sz="840" b="1">
              <a:solidFill>
                <a:srgbClr val="C94722"/>
              </a:solidFill>
              <a:latin typeface="Noto Sans Hans"/>
              <a:ea typeface="Noto Sans Hans"/>
              <a:cs typeface="Noto Sans Hans"/>
            </a:endParaRPr>
          </a:p>
        </p:txBody>
      </p:sp>
      <p:sp>
        <p:nvSpPr>
          <p:cNvPr id="31" name="椭圆 30"/>
          <p:cNvSpPr>
            <a:spLocks noGrp="1"/>
          </p:cNvSpPr>
          <p:nvPr/>
        </p:nvSpPr>
        <p:spPr>
          <a:xfrm>
            <a:off x="4120515" y="3729038"/>
            <a:ext cx="133350" cy="133350"/>
          </a:xfrm>
          <a:prstGeom prst="ellipse">
            <a:avLst/>
          </a:prstGeom>
          <a:solidFill>
            <a:srgbClr val="C94722"/>
          </a:solidFill>
          <a:ln w="9525">
            <a:solidFill>
              <a:srgbClr val="FFFFFF"/>
            </a:solidFill>
            <a:prstDash val="solid"/>
          </a:ln>
        </p:spPr>
      </p:sp>
      <p:sp>
        <p:nvSpPr>
          <p:cNvPr id="32" name="矩形 31"/>
          <p:cNvSpPr>
            <a:spLocks noGrp="1"/>
          </p:cNvSpPr>
          <p:nvPr/>
        </p:nvSpPr>
        <p:spPr>
          <a:xfrm>
            <a:off x="3634740" y="3890963"/>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C94722"/>
                </a:solidFill>
                <a:latin typeface="Noto Sans Hans"/>
                <a:ea typeface="Noto Sans Hans"/>
                <a:cs typeface="Noto Sans Hans"/>
              </a:defRPr>
            </a:pPr>
            <a:r>
              <a:rPr sz="840" b="1">
                <a:solidFill>
                  <a:srgbClr val="C94722"/>
                </a:solidFill>
                <a:latin typeface="Noto Sans Hans"/>
                <a:ea typeface="Noto Sans Hans"/>
                <a:cs typeface="Noto Sans Hans"/>
              </a:rPr>
              <a:t>功能安全</a:t>
            </a:r>
            <a:endParaRPr sz="840" b="1">
              <a:solidFill>
                <a:srgbClr val="C94722"/>
              </a:solidFill>
              <a:latin typeface="Noto Sans Hans"/>
              <a:ea typeface="Noto Sans Hans"/>
              <a:cs typeface="Noto Sans Hans"/>
            </a:endParaRPr>
          </a:p>
        </p:txBody>
      </p:sp>
      <p:sp>
        <p:nvSpPr>
          <p:cNvPr id="33" name="椭圆 32"/>
          <p:cNvSpPr>
            <a:spLocks noGrp="1"/>
          </p:cNvSpPr>
          <p:nvPr/>
        </p:nvSpPr>
        <p:spPr>
          <a:xfrm>
            <a:off x="4466273" y="3931920"/>
            <a:ext cx="133350" cy="133350"/>
          </a:xfrm>
          <a:prstGeom prst="ellipse">
            <a:avLst/>
          </a:prstGeom>
          <a:solidFill>
            <a:srgbClr val="C94722"/>
          </a:solidFill>
          <a:ln w="9525">
            <a:solidFill>
              <a:srgbClr val="FFFFFF"/>
            </a:solidFill>
            <a:prstDash val="solid"/>
          </a:ln>
        </p:spPr>
      </p:sp>
      <p:sp>
        <p:nvSpPr>
          <p:cNvPr id="34" name="矩形 33"/>
          <p:cNvSpPr>
            <a:spLocks noGrp="1"/>
          </p:cNvSpPr>
          <p:nvPr/>
        </p:nvSpPr>
        <p:spPr>
          <a:xfrm>
            <a:off x="3980498" y="4093845"/>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C94722"/>
                </a:solidFill>
                <a:latin typeface="Noto Sans Hans"/>
                <a:ea typeface="Noto Sans Hans"/>
                <a:cs typeface="Noto Sans Hans"/>
              </a:defRPr>
            </a:pPr>
            <a:r>
              <a:rPr sz="840" b="1">
                <a:solidFill>
                  <a:srgbClr val="C94722"/>
                </a:solidFill>
                <a:latin typeface="Noto Sans Hans"/>
                <a:ea typeface="Noto Sans Hans"/>
                <a:cs typeface="Noto Sans Hans"/>
              </a:rPr>
              <a:t>柔顺控制</a:t>
            </a:r>
            <a:endParaRPr sz="840" b="1">
              <a:solidFill>
                <a:srgbClr val="C94722"/>
              </a:solidFill>
              <a:latin typeface="Noto Sans Hans"/>
              <a:ea typeface="Noto Sans Hans"/>
              <a:cs typeface="Noto Sans Hans"/>
            </a:endParaRPr>
          </a:p>
        </p:txBody>
      </p:sp>
      <p:sp>
        <p:nvSpPr>
          <p:cNvPr id="35" name="椭圆 34"/>
          <p:cNvSpPr>
            <a:spLocks noGrp="1"/>
          </p:cNvSpPr>
          <p:nvPr/>
        </p:nvSpPr>
        <p:spPr>
          <a:xfrm>
            <a:off x="4754404" y="3390900"/>
            <a:ext cx="133350" cy="133350"/>
          </a:xfrm>
          <a:prstGeom prst="ellipse">
            <a:avLst/>
          </a:prstGeom>
          <a:solidFill>
            <a:srgbClr val="C94722"/>
          </a:solidFill>
          <a:ln w="9525">
            <a:solidFill>
              <a:srgbClr val="FFFFFF"/>
            </a:solidFill>
            <a:prstDash val="solid"/>
          </a:ln>
        </p:spPr>
      </p:sp>
      <p:sp>
        <p:nvSpPr>
          <p:cNvPr id="36" name="矩形 35"/>
          <p:cNvSpPr>
            <a:spLocks noGrp="1"/>
          </p:cNvSpPr>
          <p:nvPr/>
        </p:nvSpPr>
        <p:spPr>
          <a:xfrm>
            <a:off x="4268629" y="3200400"/>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C94722"/>
                </a:solidFill>
                <a:latin typeface="Noto Sans Hans"/>
                <a:ea typeface="Noto Sans Hans"/>
                <a:cs typeface="Noto Sans Hans"/>
              </a:defRPr>
            </a:pPr>
            <a:r>
              <a:rPr sz="840" b="1">
                <a:solidFill>
                  <a:srgbClr val="C94722"/>
                </a:solidFill>
                <a:latin typeface="Noto Sans Hans"/>
                <a:ea typeface="Noto Sans Hans"/>
                <a:cs typeface="Noto Sans Hans"/>
              </a:rPr>
              <a:t>适老语音</a:t>
            </a:r>
            <a:endParaRPr sz="840" b="1">
              <a:solidFill>
                <a:srgbClr val="C94722"/>
              </a:solidFill>
              <a:latin typeface="Noto Sans Hans"/>
              <a:ea typeface="Noto Sans Hans"/>
              <a:cs typeface="Noto Sans Hans"/>
            </a:endParaRPr>
          </a:p>
        </p:txBody>
      </p:sp>
      <p:sp>
        <p:nvSpPr>
          <p:cNvPr id="37" name="椭圆 36"/>
          <p:cNvSpPr>
            <a:spLocks noGrp="1"/>
          </p:cNvSpPr>
          <p:nvPr/>
        </p:nvSpPr>
        <p:spPr>
          <a:xfrm>
            <a:off x="5157788" y="4608195"/>
            <a:ext cx="133350" cy="133350"/>
          </a:xfrm>
          <a:prstGeom prst="ellipse">
            <a:avLst/>
          </a:prstGeom>
          <a:solidFill>
            <a:srgbClr val="9A7000"/>
          </a:solidFill>
          <a:ln w="9525">
            <a:solidFill>
              <a:srgbClr val="FFFFFF"/>
            </a:solidFill>
            <a:prstDash val="solid"/>
          </a:ln>
        </p:spPr>
      </p:sp>
      <p:sp>
        <p:nvSpPr>
          <p:cNvPr id="38" name="矩形 37"/>
          <p:cNvSpPr>
            <a:spLocks noGrp="1"/>
          </p:cNvSpPr>
          <p:nvPr/>
        </p:nvSpPr>
        <p:spPr>
          <a:xfrm>
            <a:off x="4672013" y="4417695"/>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A7000"/>
                </a:solidFill>
                <a:latin typeface="Noto Sans Hans"/>
                <a:ea typeface="Noto Sans Hans"/>
                <a:cs typeface="Noto Sans Hans"/>
              </a:defRPr>
            </a:pPr>
            <a:r>
              <a:rPr sz="840" b="1">
                <a:solidFill>
                  <a:srgbClr val="9A7000"/>
                </a:solidFill>
                <a:latin typeface="Noto Sans Hans"/>
                <a:ea typeface="Noto Sans Hans"/>
                <a:cs typeface="Noto Sans Hans"/>
              </a:rPr>
              <a:t>脑机</a:t>
            </a:r>
            <a:r>
              <a:rPr lang="zh-CN" sz="840" b="1">
                <a:solidFill>
                  <a:srgbClr val="9A7000"/>
                </a:solidFill>
                <a:latin typeface="Noto Sans Hans"/>
                <a:ea typeface="Noto Sans Hans"/>
                <a:cs typeface="Noto Sans Hans"/>
              </a:rPr>
              <a:t>反馈</a:t>
            </a:r>
            <a:r>
              <a:rPr sz="840" b="1">
                <a:solidFill>
                  <a:srgbClr val="9A7000"/>
                </a:solidFill>
                <a:latin typeface="Noto Sans Hans"/>
                <a:ea typeface="Noto Sans Hans"/>
                <a:cs typeface="Noto Sans Hans"/>
              </a:rPr>
              <a:t>康复</a:t>
            </a:r>
            <a:endParaRPr sz="840" b="1">
              <a:solidFill>
                <a:srgbClr val="9A7000"/>
              </a:solidFill>
              <a:latin typeface="Noto Sans Hans"/>
              <a:ea typeface="Noto Sans Hans"/>
              <a:cs typeface="Noto Sans Hans"/>
            </a:endParaRPr>
          </a:p>
        </p:txBody>
      </p:sp>
      <p:sp>
        <p:nvSpPr>
          <p:cNvPr id="39" name="椭圆 38"/>
          <p:cNvSpPr>
            <a:spLocks noGrp="1"/>
          </p:cNvSpPr>
          <p:nvPr/>
        </p:nvSpPr>
        <p:spPr>
          <a:xfrm>
            <a:off x="5561171" y="4743450"/>
            <a:ext cx="133350" cy="133350"/>
          </a:xfrm>
          <a:prstGeom prst="ellipse">
            <a:avLst/>
          </a:prstGeom>
          <a:solidFill>
            <a:srgbClr val="9A7000"/>
          </a:solidFill>
          <a:ln w="9525">
            <a:solidFill>
              <a:srgbClr val="FFFFFF"/>
            </a:solidFill>
            <a:prstDash val="solid"/>
          </a:ln>
        </p:spPr>
      </p:sp>
      <p:sp>
        <p:nvSpPr>
          <p:cNvPr id="40" name="矩形 39"/>
          <p:cNvSpPr>
            <a:spLocks noGrp="1"/>
          </p:cNvSpPr>
          <p:nvPr/>
        </p:nvSpPr>
        <p:spPr>
          <a:xfrm>
            <a:off x="5075396" y="4905375"/>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A7000"/>
                </a:solidFill>
                <a:latin typeface="Noto Sans Hans"/>
                <a:ea typeface="Noto Sans Hans"/>
                <a:cs typeface="Noto Sans Hans"/>
              </a:defRPr>
            </a:pPr>
            <a:r>
              <a:rPr sz="840" b="1">
                <a:solidFill>
                  <a:srgbClr val="9A7000"/>
                </a:solidFill>
                <a:latin typeface="Noto Sans Hans"/>
                <a:ea typeface="Noto Sans Hans"/>
                <a:cs typeface="Noto Sans Hans"/>
              </a:rPr>
              <a:t>数字孪生</a:t>
            </a:r>
            <a:endParaRPr sz="840" b="1">
              <a:solidFill>
                <a:srgbClr val="9A7000"/>
              </a:solidFill>
              <a:latin typeface="Noto Sans Hans"/>
              <a:ea typeface="Noto Sans Hans"/>
              <a:cs typeface="Noto Sans Hans"/>
            </a:endParaRPr>
          </a:p>
        </p:txBody>
      </p:sp>
      <p:sp>
        <p:nvSpPr>
          <p:cNvPr id="41" name="椭圆 40"/>
          <p:cNvSpPr>
            <a:spLocks noGrp="1"/>
          </p:cNvSpPr>
          <p:nvPr/>
        </p:nvSpPr>
        <p:spPr>
          <a:xfrm>
            <a:off x="5849302" y="4202430"/>
            <a:ext cx="133350" cy="133350"/>
          </a:xfrm>
          <a:prstGeom prst="ellipse">
            <a:avLst/>
          </a:prstGeom>
          <a:solidFill>
            <a:srgbClr val="9A7000"/>
          </a:solidFill>
          <a:ln w="9525">
            <a:solidFill>
              <a:srgbClr val="FFFFFF"/>
            </a:solidFill>
            <a:prstDash val="solid"/>
          </a:ln>
        </p:spPr>
      </p:sp>
      <p:sp>
        <p:nvSpPr>
          <p:cNvPr id="42" name="矩形 41"/>
          <p:cNvSpPr>
            <a:spLocks noGrp="1"/>
          </p:cNvSpPr>
          <p:nvPr/>
        </p:nvSpPr>
        <p:spPr>
          <a:xfrm>
            <a:off x="5363527" y="4011930"/>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A7000"/>
                </a:solidFill>
                <a:latin typeface="Noto Sans Hans"/>
                <a:ea typeface="Noto Sans Hans"/>
                <a:cs typeface="Noto Sans Hans"/>
              </a:defRPr>
            </a:pPr>
            <a:r>
              <a:rPr sz="840" b="1">
                <a:solidFill>
                  <a:srgbClr val="9A7000"/>
                </a:solidFill>
                <a:latin typeface="Noto Sans Hans"/>
                <a:ea typeface="Noto Sans Hans"/>
                <a:cs typeface="Noto Sans Hans"/>
              </a:rPr>
              <a:t>设备接入标准</a:t>
            </a:r>
            <a:endParaRPr sz="840" b="1">
              <a:solidFill>
                <a:srgbClr val="9A7000"/>
              </a:solidFill>
              <a:latin typeface="Noto Sans Hans"/>
              <a:ea typeface="Noto Sans Hans"/>
              <a:cs typeface="Noto Sans Hans"/>
            </a:endParaRPr>
          </a:p>
        </p:txBody>
      </p:sp>
      <p:sp>
        <p:nvSpPr>
          <p:cNvPr id="43" name="椭圆 42"/>
          <p:cNvSpPr>
            <a:spLocks noGrp="1"/>
          </p:cNvSpPr>
          <p:nvPr/>
        </p:nvSpPr>
        <p:spPr>
          <a:xfrm>
            <a:off x="6195060" y="4743450"/>
            <a:ext cx="133350" cy="133350"/>
          </a:xfrm>
          <a:prstGeom prst="ellipse">
            <a:avLst/>
          </a:prstGeom>
          <a:solidFill>
            <a:srgbClr val="9A7000"/>
          </a:solidFill>
          <a:ln w="9525">
            <a:solidFill>
              <a:srgbClr val="FFFFFF"/>
            </a:solidFill>
            <a:prstDash val="solid"/>
          </a:ln>
        </p:spPr>
      </p:sp>
      <p:sp>
        <p:nvSpPr>
          <p:cNvPr id="44" name="矩形 43"/>
          <p:cNvSpPr>
            <a:spLocks noGrp="1"/>
          </p:cNvSpPr>
          <p:nvPr/>
        </p:nvSpPr>
        <p:spPr>
          <a:xfrm>
            <a:off x="5709285" y="4552950"/>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A7000"/>
                </a:solidFill>
                <a:latin typeface="Noto Sans Hans"/>
                <a:ea typeface="Noto Sans Hans"/>
                <a:cs typeface="Noto Sans Hans"/>
              </a:defRPr>
            </a:pPr>
            <a:r>
              <a:rPr lang="zh-CN" altLang="en-US" sz="840" b="1">
                <a:solidFill>
                  <a:srgbClr val="9A7000"/>
                </a:solidFill>
                <a:latin typeface="Noto Sans Hans"/>
                <a:ea typeface="Noto Sans Hans"/>
                <a:cs typeface="Noto Sans Hans"/>
              </a:rPr>
              <a:t>长期使用适应性</a:t>
            </a:r>
            <a:endParaRPr lang="zh-CN" altLang="en-US" sz="840" b="1">
              <a:solidFill>
                <a:srgbClr val="9A7000"/>
              </a:solidFill>
              <a:latin typeface="Noto Sans Hans"/>
              <a:ea typeface="Noto Sans Hans"/>
              <a:cs typeface="Noto Sans Hans"/>
            </a:endParaRPr>
          </a:p>
        </p:txBody>
      </p:sp>
      <p:sp>
        <p:nvSpPr>
          <p:cNvPr id="45" name="椭圆 44"/>
          <p:cNvSpPr>
            <a:spLocks noGrp="1"/>
          </p:cNvSpPr>
          <p:nvPr/>
        </p:nvSpPr>
        <p:spPr>
          <a:xfrm>
            <a:off x="6598444" y="5216843"/>
            <a:ext cx="133350" cy="133350"/>
          </a:xfrm>
          <a:prstGeom prst="ellipse">
            <a:avLst/>
          </a:prstGeom>
          <a:solidFill>
            <a:srgbClr val="9A7000"/>
          </a:solidFill>
          <a:ln w="9525">
            <a:solidFill>
              <a:srgbClr val="FFFFFF"/>
            </a:solidFill>
            <a:prstDash val="solid"/>
          </a:ln>
        </p:spPr>
      </p:sp>
      <p:sp>
        <p:nvSpPr>
          <p:cNvPr id="46" name="矩形 45"/>
          <p:cNvSpPr>
            <a:spLocks noGrp="1"/>
          </p:cNvSpPr>
          <p:nvPr/>
        </p:nvSpPr>
        <p:spPr>
          <a:xfrm>
            <a:off x="6112669" y="5378768"/>
            <a:ext cx="1104900" cy="209550"/>
          </a:xfrm>
          <a:prstGeom prst="rect">
            <a:avLst/>
          </a:prstGeom>
          <a:noFill/>
          <a:ln w="0">
            <a:noFill/>
            <a:prstDash val="solid"/>
          </a:ln>
        </p:spPr>
        <p:txBody>
          <a:bodyPr wrap="square" lIns="47625" tIns="19050" rIns="47625" bIns="19050" anchor="ctr">
            <a:normAutofit/>
          </a:bodyPr>
          <a:lstStyle/>
          <a:p>
            <a:pPr algn="ctr">
              <a:defRPr sz="735" b="1">
                <a:solidFill>
                  <a:srgbClr val="9A7000"/>
                </a:solidFill>
                <a:latin typeface="Noto Sans Hans"/>
                <a:ea typeface="Noto Sans Hans"/>
                <a:cs typeface="Noto Sans Hans"/>
              </a:defRPr>
            </a:pPr>
            <a:r>
              <a:rPr sz="840" b="1">
                <a:solidFill>
                  <a:srgbClr val="9A7000"/>
                </a:solidFill>
                <a:latin typeface="Noto Sans Hans"/>
                <a:ea typeface="Noto Sans Hans"/>
                <a:cs typeface="Noto Sans Hans"/>
              </a:rPr>
              <a:t>VLA具身模型</a:t>
            </a:r>
            <a:endParaRPr sz="840" b="1">
              <a:solidFill>
                <a:srgbClr val="9A7000"/>
              </a:solidFill>
              <a:latin typeface="Noto Sans Hans"/>
              <a:ea typeface="Noto Sans Hans"/>
              <a:cs typeface="Noto Sans Hans"/>
            </a:endParaRPr>
          </a:p>
        </p:txBody>
      </p:sp>
      <p:sp>
        <p:nvSpPr>
          <p:cNvPr id="47" name="矩形 46"/>
          <p:cNvSpPr>
            <a:spLocks noGrp="1"/>
          </p:cNvSpPr>
          <p:nvPr/>
        </p:nvSpPr>
        <p:spPr>
          <a:xfrm>
            <a:off x="5048250" y="5658485"/>
            <a:ext cx="1952625" cy="190500"/>
          </a:xfrm>
          <a:prstGeom prst="rect">
            <a:avLst/>
          </a:prstGeom>
          <a:noFill/>
          <a:ln w="0">
            <a:noFill/>
            <a:prstDash val="solid"/>
          </a:ln>
        </p:spPr>
        <p:txBody>
          <a:bodyPr wrap="square" lIns="47625" tIns="19050" rIns="47625" bIns="19050" anchor="ctr">
            <a:normAutofit/>
          </a:bodyPr>
          <a:lstStyle/>
          <a:p>
            <a:pPr algn="r">
              <a:defRPr sz="790" b="1">
                <a:solidFill>
                  <a:srgbClr val="716B68"/>
                </a:solidFill>
                <a:latin typeface="Noto Sans Hans"/>
                <a:ea typeface="Noto Sans Hans"/>
                <a:cs typeface="Noto Sans Hans"/>
              </a:defRPr>
            </a:pPr>
            <a:r>
              <a:rPr sz="890" b="1">
                <a:solidFill>
                  <a:srgbClr val="716B68"/>
                </a:solidFill>
                <a:latin typeface="Noto Sans Hans"/>
                <a:ea typeface="Noto Sans Hans"/>
                <a:cs typeface="Noto Sans Hans"/>
              </a:rPr>
              <a:t>成为主流的预计时间 →</a:t>
            </a:r>
            <a:endParaRPr sz="890" b="1">
              <a:solidFill>
                <a:srgbClr val="716B68"/>
              </a:solidFill>
              <a:latin typeface="Noto Sans Hans"/>
              <a:ea typeface="Noto Sans Hans"/>
              <a:cs typeface="Noto Sans Hans"/>
            </a:endParaRPr>
          </a:p>
        </p:txBody>
      </p:sp>
      <p:sp>
        <p:nvSpPr>
          <p:cNvPr id="48" name="椭圆 47"/>
          <p:cNvSpPr>
            <a:spLocks noGrp="1"/>
          </p:cNvSpPr>
          <p:nvPr/>
        </p:nvSpPr>
        <p:spPr>
          <a:xfrm>
            <a:off x="1285875" y="5762625"/>
            <a:ext cx="104775" cy="104775"/>
          </a:xfrm>
          <a:prstGeom prst="ellipse">
            <a:avLst/>
          </a:prstGeom>
          <a:solidFill>
            <a:srgbClr val="91252F"/>
          </a:solidFill>
          <a:ln w="0">
            <a:noFill/>
            <a:prstDash val="solid"/>
          </a:ln>
        </p:spPr>
      </p:sp>
      <p:sp>
        <p:nvSpPr>
          <p:cNvPr id="49" name="矩形 48"/>
          <p:cNvSpPr>
            <a:spLocks noGrp="1"/>
          </p:cNvSpPr>
          <p:nvPr/>
        </p:nvSpPr>
        <p:spPr>
          <a:xfrm>
            <a:off x="1438275" y="5705475"/>
            <a:ext cx="809625" cy="209550"/>
          </a:xfrm>
          <a:prstGeom prst="rect">
            <a:avLst/>
          </a:prstGeom>
          <a:noFill/>
          <a:ln w="0">
            <a:noFill/>
            <a:prstDash val="solid"/>
          </a:ln>
        </p:spPr>
        <p:txBody>
          <a:bodyPr wrap="square" lIns="47625" tIns="19050" rIns="47625" bIns="19050" anchor="ctr">
            <a:normAutofit/>
          </a:bodyPr>
          <a:lstStyle/>
          <a:p>
            <a:pPr algn="l">
              <a:defRPr sz="790" b="0">
                <a:solidFill>
                  <a:srgbClr val="716B68"/>
                </a:solidFill>
                <a:latin typeface="Noto Sans Hans"/>
                <a:ea typeface="Noto Sans Hans"/>
                <a:cs typeface="Noto Sans Hans"/>
              </a:defRPr>
            </a:pPr>
            <a:r>
              <a:rPr sz="890" b="0">
                <a:solidFill>
                  <a:srgbClr val="716B68"/>
                </a:solidFill>
                <a:latin typeface="Noto Sans Hans"/>
                <a:ea typeface="Noto Sans Hans"/>
                <a:cs typeface="Noto Sans Hans"/>
              </a:rPr>
              <a:t>2年内</a:t>
            </a:r>
            <a:endParaRPr sz="890" b="0">
              <a:solidFill>
                <a:srgbClr val="716B68"/>
              </a:solidFill>
              <a:latin typeface="Noto Sans Hans"/>
              <a:ea typeface="Noto Sans Hans"/>
              <a:cs typeface="Noto Sans Hans"/>
            </a:endParaRPr>
          </a:p>
        </p:txBody>
      </p:sp>
      <p:sp>
        <p:nvSpPr>
          <p:cNvPr id="50" name="椭圆 49"/>
          <p:cNvSpPr>
            <a:spLocks noGrp="1"/>
          </p:cNvSpPr>
          <p:nvPr/>
        </p:nvSpPr>
        <p:spPr>
          <a:xfrm>
            <a:off x="2333625" y="5762625"/>
            <a:ext cx="104775" cy="104775"/>
          </a:xfrm>
          <a:prstGeom prst="ellipse">
            <a:avLst/>
          </a:prstGeom>
          <a:solidFill>
            <a:srgbClr val="C94722"/>
          </a:solidFill>
          <a:ln w="0">
            <a:noFill/>
            <a:prstDash val="solid"/>
          </a:ln>
        </p:spPr>
      </p:sp>
      <p:sp>
        <p:nvSpPr>
          <p:cNvPr id="51" name="矩形 50"/>
          <p:cNvSpPr>
            <a:spLocks noGrp="1"/>
          </p:cNvSpPr>
          <p:nvPr/>
        </p:nvSpPr>
        <p:spPr>
          <a:xfrm>
            <a:off x="2486025" y="5705475"/>
            <a:ext cx="809625" cy="209550"/>
          </a:xfrm>
          <a:prstGeom prst="rect">
            <a:avLst/>
          </a:prstGeom>
          <a:noFill/>
          <a:ln w="0">
            <a:noFill/>
            <a:prstDash val="solid"/>
          </a:ln>
        </p:spPr>
        <p:txBody>
          <a:bodyPr wrap="square" lIns="47625" tIns="19050" rIns="47625" bIns="19050" anchor="ctr">
            <a:normAutofit/>
          </a:bodyPr>
          <a:lstStyle/>
          <a:p>
            <a:pPr algn="l">
              <a:defRPr sz="790" b="0">
                <a:solidFill>
                  <a:srgbClr val="716B68"/>
                </a:solidFill>
                <a:latin typeface="Noto Sans Hans"/>
                <a:ea typeface="Noto Sans Hans"/>
                <a:cs typeface="Noto Sans Hans"/>
              </a:defRPr>
            </a:pPr>
            <a:r>
              <a:rPr sz="890" b="0">
                <a:solidFill>
                  <a:srgbClr val="716B68"/>
                </a:solidFill>
                <a:latin typeface="Noto Sans Hans"/>
                <a:ea typeface="Noto Sans Hans"/>
                <a:cs typeface="Noto Sans Hans"/>
              </a:rPr>
              <a:t>2—5年</a:t>
            </a:r>
            <a:endParaRPr sz="890" b="0">
              <a:solidFill>
                <a:srgbClr val="716B68"/>
              </a:solidFill>
              <a:latin typeface="Noto Sans Hans"/>
              <a:ea typeface="Noto Sans Hans"/>
              <a:cs typeface="Noto Sans Hans"/>
            </a:endParaRPr>
          </a:p>
        </p:txBody>
      </p:sp>
      <p:sp>
        <p:nvSpPr>
          <p:cNvPr id="52" name="椭圆 51"/>
          <p:cNvSpPr>
            <a:spLocks noGrp="1"/>
          </p:cNvSpPr>
          <p:nvPr/>
        </p:nvSpPr>
        <p:spPr>
          <a:xfrm>
            <a:off x="3381375" y="5762625"/>
            <a:ext cx="104775" cy="104775"/>
          </a:xfrm>
          <a:prstGeom prst="ellipse">
            <a:avLst/>
          </a:prstGeom>
          <a:solidFill>
            <a:srgbClr val="9A7000"/>
          </a:solidFill>
          <a:ln w="0">
            <a:noFill/>
            <a:prstDash val="solid"/>
          </a:ln>
        </p:spPr>
      </p:sp>
      <p:sp>
        <p:nvSpPr>
          <p:cNvPr id="53" name="矩形 52"/>
          <p:cNvSpPr>
            <a:spLocks noGrp="1"/>
          </p:cNvSpPr>
          <p:nvPr/>
        </p:nvSpPr>
        <p:spPr>
          <a:xfrm>
            <a:off x="3533775" y="5705475"/>
            <a:ext cx="809625" cy="209550"/>
          </a:xfrm>
          <a:prstGeom prst="rect">
            <a:avLst/>
          </a:prstGeom>
          <a:noFill/>
          <a:ln w="0">
            <a:noFill/>
            <a:prstDash val="solid"/>
          </a:ln>
        </p:spPr>
        <p:txBody>
          <a:bodyPr wrap="square" lIns="47625" tIns="19050" rIns="47625" bIns="19050" anchor="ctr">
            <a:normAutofit/>
          </a:bodyPr>
          <a:lstStyle/>
          <a:p>
            <a:pPr algn="l">
              <a:defRPr sz="790" b="0">
                <a:solidFill>
                  <a:srgbClr val="716B68"/>
                </a:solidFill>
                <a:latin typeface="Noto Sans Hans"/>
                <a:ea typeface="Noto Sans Hans"/>
                <a:cs typeface="Noto Sans Hans"/>
              </a:defRPr>
            </a:pPr>
            <a:r>
              <a:rPr sz="890" b="0">
                <a:solidFill>
                  <a:srgbClr val="716B68"/>
                </a:solidFill>
                <a:latin typeface="Noto Sans Hans"/>
                <a:ea typeface="Noto Sans Hans"/>
                <a:cs typeface="Noto Sans Hans"/>
              </a:rPr>
              <a:t>5年以上</a:t>
            </a:r>
            <a:endParaRPr sz="890" b="0">
              <a:solidFill>
                <a:srgbClr val="716B68"/>
              </a:solidFill>
              <a:latin typeface="Noto Sans Hans"/>
              <a:ea typeface="Noto Sans Hans"/>
              <a:cs typeface="Noto Sans Hans"/>
            </a:endParaRPr>
          </a:p>
        </p:txBody>
      </p:sp>
      <p:sp>
        <p:nvSpPr>
          <p:cNvPr id="54" name="矩形 53"/>
          <p:cNvSpPr>
            <a:spLocks noGrp="1"/>
          </p:cNvSpPr>
          <p:nvPr/>
        </p:nvSpPr>
        <p:spPr>
          <a:xfrm>
            <a:off x="7572375" y="1057275"/>
            <a:ext cx="4000500" cy="285750"/>
          </a:xfrm>
          <a:prstGeom prst="rect">
            <a:avLst/>
          </a:prstGeom>
          <a:noFill/>
          <a:ln w="0">
            <a:noFill/>
            <a:prstDash val="solid"/>
          </a:ln>
        </p:spPr>
        <p:txBody>
          <a:bodyPr wrap="square" lIns="47625" tIns="19050" rIns="47625" bIns="19050" anchor="ctr">
            <a:normAutofit/>
          </a:bodyPr>
          <a:lstStyle/>
          <a:p>
            <a:pPr algn="ctr">
              <a:defRPr sz="120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优先级矩阵</a:t>
            </a:r>
            <a:endParaRPr sz="1200" b="1">
              <a:solidFill>
                <a:srgbClr val="403A38"/>
              </a:solidFill>
              <a:latin typeface="Noto Sans Hans"/>
              <a:ea typeface="Noto Sans Hans"/>
              <a:cs typeface="Noto Sans Hans"/>
            </a:endParaRPr>
          </a:p>
        </p:txBody>
      </p:sp>
      <p:sp>
        <p:nvSpPr>
          <p:cNvPr id="55" name="矩形 54"/>
          <p:cNvSpPr>
            <a:spLocks noGrp="1"/>
          </p:cNvSpPr>
          <p:nvPr/>
        </p:nvSpPr>
        <p:spPr>
          <a:xfrm>
            <a:off x="7524750" y="1485900"/>
            <a:ext cx="4095750" cy="4524375"/>
          </a:xfrm>
          <a:prstGeom prst="rect">
            <a:avLst/>
          </a:prstGeom>
          <a:solidFill>
            <a:srgbClr val="FFFFFF"/>
          </a:solidFill>
          <a:ln w="9525">
            <a:solidFill>
              <a:srgbClr val="D9D2CE"/>
            </a:solidFill>
            <a:prstDash val="solid"/>
          </a:ln>
        </p:spPr>
      </p:sp>
      <p:sp>
        <p:nvSpPr>
          <p:cNvPr id="56" name="矩形 55"/>
          <p:cNvSpPr>
            <a:spLocks noGrp="1"/>
          </p:cNvSpPr>
          <p:nvPr/>
        </p:nvSpPr>
        <p:spPr>
          <a:xfrm>
            <a:off x="7572375" y="5542280"/>
            <a:ext cx="457200" cy="400050"/>
          </a:xfrm>
          <a:prstGeom prst="rect">
            <a:avLst/>
          </a:prstGeom>
          <a:noFill/>
          <a:ln w="0">
            <a:noFill/>
            <a:prstDash val="solid"/>
          </a:ln>
        </p:spPr>
        <p:txBody>
          <a:bodyPr wrap="square" lIns="47625" tIns="19050" rIns="47625" bIns="19050" anchor="ctr">
            <a:normAutofit/>
          </a:bodyPr>
          <a:lstStyle/>
          <a:p>
            <a:pPr algn="ctr">
              <a:defRPr sz="825" b="1">
                <a:solidFill>
                  <a:srgbClr val="716B68"/>
                </a:solidFill>
                <a:latin typeface="Noto Sans Hans"/>
                <a:ea typeface="Noto Sans Hans"/>
                <a:cs typeface="Noto Sans Hans"/>
              </a:defRPr>
            </a:pPr>
            <a:r>
              <a:rPr sz="930" b="1">
                <a:solidFill>
                  <a:srgbClr val="716B68"/>
                </a:solidFill>
                <a:latin typeface="Noto Sans Hans"/>
                <a:ea typeface="Noto Sans Hans"/>
                <a:cs typeface="Noto Sans Hans"/>
              </a:rPr>
              <a:t>潜在效益</a:t>
            </a:r>
            <a:endParaRPr sz="930" b="1">
              <a:solidFill>
                <a:srgbClr val="716B68"/>
              </a:solidFill>
              <a:latin typeface="Noto Sans Hans"/>
              <a:ea typeface="Noto Sans Hans"/>
              <a:cs typeface="Noto Sans Hans"/>
            </a:endParaRPr>
          </a:p>
        </p:txBody>
      </p:sp>
      <p:sp>
        <p:nvSpPr>
          <p:cNvPr id="57" name="矩形 56"/>
          <p:cNvSpPr>
            <a:spLocks noGrp="1"/>
          </p:cNvSpPr>
          <p:nvPr/>
        </p:nvSpPr>
        <p:spPr>
          <a:xfrm>
            <a:off x="8020050" y="5504180"/>
            <a:ext cx="952500" cy="428625"/>
          </a:xfrm>
          <a:prstGeom prst="rect">
            <a:avLst/>
          </a:prstGeom>
          <a:solidFill>
            <a:srgbClr val="F6F3F1"/>
          </a:solidFill>
          <a:ln w="9525">
            <a:solidFill>
              <a:srgbClr val="FFFFFF"/>
            </a:solidFill>
            <a:prstDash val="solid"/>
          </a:ln>
        </p:spPr>
      </p:sp>
      <p:sp>
        <p:nvSpPr>
          <p:cNvPr id="58" name="矩形 57"/>
          <p:cNvSpPr>
            <a:spLocks noGrp="1"/>
          </p:cNvSpPr>
          <p:nvPr/>
        </p:nvSpPr>
        <p:spPr>
          <a:xfrm>
            <a:off x="8020050" y="5542280"/>
            <a:ext cx="952500" cy="333375"/>
          </a:xfrm>
          <a:prstGeom prst="rect">
            <a:avLst/>
          </a:prstGeom>
          <a:noFill/>
          <a:ln w="0">
            <a:noFill/>
            <a:prstDash val="solid"/>
          </a:ln>
        </p:spPr>
        <p:txBody>
          <a:bodyPr wrap="square" lIns="47625" tIns="19050" rIns="47625" bIns="19050" anchor="ctr">
            <a:normAutofit/>
          </a:bodyPr>
          <a:lstStyle/>
          <a:p>
            <a:pPr algn="ctr">
              <a:defRPr sz="900"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2年内</a:t>
            </a:r>
            <a:endParaRPr sz="1000" b="1">
              <a:solidFill>
                <a:srgbClr val="403A38"/>
              </a:solidFill>
              <a:latin typeface="Noto Sans Hans"/>
              <a:ea typeface="Noto Sans Hans"/>
              <a:cs typeface="Noto Sans Hans"/>
            </a:endParaRPr>
          </a:p>
        </p:txBody>
      </p:sp>
      <p:sp>
        <p:nvSpPr>
          <p:cNvPr id="59" name="矩形 58"/>
          <p:cNvSpPr>
            <a:spLocks noGrp="1"/>
          </p:cNvSpPr>
          <p:nvPr/>
        </p:nvSpPr>
        <p:spPr>
          <a:xfrm>
            <a:off x="8972550" y="5504180"/>
            <a:ext cx="1428750" cy="428625"/>
          </a:xfrm>
          <a:prstGeom prst="rect">
            <a:avLst/>
          </a:prstGeom>
          <a:solidFill>
            <a:srgbClr val="F6F3F1"/>
          </a:solidFill>
          <a:ln w="9525">
            <a:solidFill>
              <a:srgbClr val="FFFFFF"/>
            </a:solidFill>
            <a:prstDash val="solid"/>
          </a:ln>
        </p:spPr>
      </p:sp>
      <p:sp>
        <p:nvSpPr>
          <p:cNvPr id="60" name="矩形 59"/>
          <p:cNvSpPr>
            <a:spLocks noGrp="1"/>
          </p:cNvSpPr>
          <p:nvPr/>
        </p:nvSpPr>
        <p:spPr>
          <a:xfrm>
            <a:off x="8972550" y="5542280"/>
            <a:ext cx="1428750" cy="333375"/>
          </a:xfrm>
          <a:prstGeom prst="rect">
            <a:avLst/>
          </a:prstGeom>
          <a:noFill/>
          <a:ln w="0">
            <a:noFill/>
            <a:prstDash val="solid"/>
          </a:ln>
        </p:spPr>
        <p:txBody>
          <a:bodyPr wrap="square" lIns="47625" tIns="19050" rIns="47625" bIns="19050" anchor="ctr">
            <a:normAutofit/>
          </a:bodyPr>
          <a:lstStyle/>
          <a:p>
            <a:pPr algn="ctr">
              <a:defRPr sz="900"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2—5年</a:t>
            </a:r>
            <a:endParaRPr sz="1000" b="1">
              <a:solidFill>
                <a:srgbClr val="403A38"/>
              </a:solidFill>
              <a:latin typeface="Noto Sans Hans"/>
              <a:ea typeface="Noto Sans Hans"/>
              <a:cs typeface="Noto Sans Hans"/>
            </a:endParaRPr>
          </a:p>
        </p:txBody>
      </p:sp>
      <p:sp>
        <p:nvSpPr>
          <p:cNvPr id="61" name="矩形 60"/>
          <p:cNvSpPr>
            <a:spLocks noGrp="1"/>
          </p:cNvSpPr>
          <p:nvPr/>
        </p:nvSpPr>
        <p:spPr>
          <a:xfrm>
            <a:off x="10401300" y="5504180"/>
            <a:ext cx="1238250" cy="428625"/>
          </a:xfrm>
          <a:prstGeom prst="rect">
            <a:avLst/>
          </a:prstGeom>
          <a:solidFill>
            <a:srgbClr val="F6F3F1"/>
          </a:solidFill>
          <a:ln w="9525">
            <a:solidFill>
              <a:srgbClr val="FFFFFF"/>
            </a:solidFill>
            <a:prstDash val="solid"/>
          </a:ln>
        </p:spPr>
      </p:sp>
      <p:sp>
        <p:nvSpPr>
          <p:cNvPr id="62" name="矩形 61"/>
          <p:cNvSpPr>
            <a:spLocks noGrp="1"/>
          </p:cNvSpPr>
          <p:nvPr/>
        </p:nvSpPr>
        <p:spPr>
          <a:xfrm>
            <a:off x="10401300" y="5542280"/>
            <a:ext cx="1238250" cy="333375"/>
          </a:xfrm>
          <a:prstGeom prst="rect">
            <a:avLst/>
          </a:prstGeom>
          <a:noFill/>
          <a:ln w="0">
            <a:noFill/>
            <a:prstDash val="solid"/>
          </a:ln>
        </p:spPr>
        <p:txBody>
          <a:bodyPr wrap="square" lIns="47625" tIns="19050" rIns="47625" bIns="19050" anchor="ctr">
            <a:normAutofit/>
          </a:bodyPr>
          <a:lstStyle/>
          <a:p>
            <a:pPr algn="ctr">
              <a:defRPr sz="900"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5年以上</a:t>
            </a:r>
            <a:endParaRPr sz="1000" b="1">
              <a:solidFill>
                <a:srgbClr val="403A38"/>
              </a:solidFill>
              <a:latin typeface="Noto Sans Hans"/>
              <a:ea typeface="Noto Sans Hans"/>
              <a:cs typeface="Noto Sans Hans"/>
            </a:endParaRPr>
          </a:p>
        </p:txBody>
      </p:sp>
      <p:sp>
        <p:nvSpPr>
          <p:cNvPr id="63" name="矩形 62"/>
          <p:cNvSpPr>
            <a:spLocks noGrp="1"/>
          </p:cNvSpPr>
          <p:nvPr/>
        </p:nvSpPr>
        <p:spPr>
          <a:xfrm>
            <a:off x="7562850" y="1483995"/>
            <a:ext cx="457200" cy="1285875"/>
          </a:xfrm>
          <a:prstGeom prst="rect">
            <a:avLst/>
          </a:prstGeom>
          <a:noFill/>
          <a:ln w="0">
            <a:noFill/>
            <a:prstDash val="solid"/>
          </a:ln>
        </p:spPr>
        <p:txBody>
          <a:bodyPr wrap="square" lIns="47625" tIns="19050" rIns="47625" bIns="19050" anchor="ctr">
            <a:normAutofit/>
          </a:bodyPr>
          <a:lstStyle/>
          <a:p>
            <a:pPr algn="ctr">
              <a:defRPr sz="975" b="1">
                <a:solidFill>
                  <a:srgbClr val="403A38"/>
                </a:solidFill>
                <a:latin typeface="Noto Sans Hans"/>
                <a:ea typeface="Noto Sans Hans"/>
                <a:cs typeface="Noto Sans Hans"/>
              </a:defRPr>
            </a:pPr>
            <a:r>
              <a:rPr sz="1080" b="1">
                <a:solidFill>
                  <a:srgbClr val="403A38"/>
                </a:solidFill>
                <a:latin typeface="Noto Sans Hans"/>
                <a:ea typeface="Noto Sans Hans"/>
                <a:cs typeface="Noto Sans Hans"/>
              </a:rPr>
              <a:t>高</a:t>
            </a:r>
            <a:endParaRPr sz="1080" b="1">
              <a:solidFill>
                <a:srgbClr val="403A38"/>
              </a:solidFill>
              <a:latin typeface="Noto Sans Hans"/>
              <a:ea typeface="Noto Sans Hans"/>
              <a:cs typeface="Noto Sans Hans"/>
            </a:endParaRPr>
          </a:p>
        </p:txBody>
      </p:sp>
      <p:sp>
        <p:nvSpPr>
          <p:cNvPr id="64" name="矩形 63"/>
          <p:cNvSpPr>
            <a:spLocks noGrp="1"/>
          </p:cNvSpPr>
          <p:nvPr/>
        </p:nvSpPr>
        <p:spPr>
          <a:xfrm>
            <a:off x="8020050" y="1483995"/>
            <a:ext cx="952500" cy="1285875"/>
          </a:xfrm>
          <a:prstGeom prst="rect">
            <a:avLst/>
          </a:prstGeom>
          <a:solidFill>
            <a:srgbClr val="91252F"/>
          </a:solidFill>
          <a:ln w="9525">
            <a:solidFill>
              <a:srgbClr val="FFFFFF"/>
            </a:solidFill>
            <a:prstDash val="solid"/>
          </a:ln>
        </p:spPr>
      </p:sp>
      <p:sp>
        <p:nvSpPr>
          <p:cNvPr id="65" name="矩形 64"/>
          <p:cNvSpPr>
            <a:spLocks noGrp="1"/>
          </p:cNvSpPr>
          <p:nvPr/>
        </p:nvSpPr>
        <p:spPr>
          <a:xfrm>
            <a:off x="8020050" y="1579245"/>
            <a:ext cx="953135" cy="241935"/>
          </a:xfrm>
          <a:prstGeom prst="rect">
            <a:avLst/>
          </a:prstGeom>
          <a:noFill/>
          <a:ln w="0">
            <a:noFill/>
            <a:prstDash val="solid"/>
          </a:ln>
        </p:spPr>
        <p:txBody>
          <a:bodyPr wrap="square" lIns="47625" tIns="19050" rIns="47625" bIns="19050" anchor="ctr">
            <a:noAutofit/>
          </a:bodyPr>
          <a:lstStyle/>
          <a:p>
            <a:pPr algn="ctr">
              <a:defRPr sz="805" b="1">
                <a:solidFill>
                  <a:srgbClr val="FFFFFF"/>
                </a:solidFill>
                <a:latin typeface="Noto Sans Hans"/>
                <a:ea typeface="Noto Sans Hans"/>
                <a:cs typeface="Noto Sans Hans"/>
              </a:defRPr>
            </a:pPr>
            <a:r>
              <a:rPr sz="1010" b="1">
                <a:solidFill>
                  <a:srgbClr val="FFFFFF"/>
                </a:solidFill>
                <a:latin typeface="Noto Sans Hans"/>
                <a:ea typeface="Noto Sans Hans"/>
                <a:cs typeface="Noto Sans Hans"/>
              </a:rPr>
              <a:t>自主移动/群控</a:t>
            </a:r>
            <a:endParaRPr sz="1010" b="1">
              <a:solidFill>
                <a:srgbClr val="FFFFFF"/>
              </a:solidFill>
              <a:latin typeface="Noto Sans Hans"/>
              <a:ea typeface="Noto Sans Hans"/>
              <a:cs typeface="Noto Sans Hans"/>
            </a:endParaRPr>
          </a:p>
        </p:txBody>
      </p:sp>
      <p:sp>
        <p:nvSpPr>
          <p:cNvPr id="66" name="矩形 65"/>
          <p:cNvSpPr>
            <a:spLocks noGrp="1"/>
          </p:cNvSpPr>
          <p:nvPr/>
        </p:nvSpPr>
        <p:spPr>
          <a:xfrm>
            <a:off x="8067675" y="1903095"/>
            <a:ext cx="85725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1010" b="1">
                <a:solidFill>
                  <a:srgbClr val="FFFFFF"/>
                </a:solidFill>
                <a:latin typeface="Noto Sans Hans"/>
                <a:ea typeface="Noto Sans Hans"/>
                <a:cs typeface="Noto Sans Hans"/>
              </a:rPr>
              <a:t>3D视觉</a:t>
            </a:r>
            <a:endParaRPr sz="1010" b="1">
              <a:solidFill>
                <a:srgbClr val="FFFFFF"/>
              </a:solidFill>
              <a:latin typeface="Noto Sans Hans"/>
              <a:ea typeface="Noto Sans Hans"/>
              <a:cs typeface="Noto Sans Hans"/>
            </a:endParaRPr>
          </a:p>
        </p:txBody>
      </p:sp>
      <p:sp>
        <p:nvSpPr>
          <p:cNvPr id="67" name="矩形 66"/>
          <p:cNvSpPr>
            <a:spLocks noGrp="1"/>
          </p:cNvSpPr>
          <p:nvPr/>
        </p:nvSpPr>
        <p:spPr>
          <a:xfrm>
            <a:off x="8067675" y="2226945"/>
            <a:ext cx="85725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1010" b="1">
                <a:solidFill>
                  <a:srgbClr val="FFFFFF"/>
                </a:solidFill>
                <a:latin typeface="Noto Sans Hans"/>
                <a:ea typeface="Noto Sans Hans"/>
                <a:cs typeface="Noto Sans Hans"/>
              </a:rPr>
              <a:t>多模态交互</a:t>
            </a:r>
            <a:endParaRPr sz="1010" b="1">
              <a:solidFill>
                <a:srgbClr val="FFFFFF"/>
              </a:solidFill>
              <a:latin typeface="Noto Sans Hans"/>
              <a:ea typeface="Noto Sans Hans"/>
              <a:cs typeface="Noto Sans Hans"/>
            </a:endParaRPr>
          </a:p>
        </p:txBody>
      </p:sp>
      <p:sp>
        <p:nvSpPr>
          <p:cNvPr id="68" name="矩形 67"/>
          <p:cNvSpPr>
            <a:spLocks noGrp="1"/>
          </p:cNvSpPr>
          <p:nvPr/>
        </p:nvSpPr>
        <p:spPr>
          <a:xfrm>
            <a:off x="8972550" y="1483995"/>
            <a:ext cx="1428750" cy="1285875"/>
          </a:xfrm>
          <a:prstGeom prst="rect">
            <a:avLst/>
          </a:prstGeom>
          <a:solidFill>
            <a:srgbClr val="C94722"/>
          </a:solidFill>
          <a:ln w="9525">
            <a:solidFill>
              <a:srgbClr val="FFFFFF"/>
            </a:solidFill>
            <a:prstDash val="solid"/>
          </a:ln>
        </p:spPr>
      </p:sp>
      <p:sp>
        <p:nvSpPr>
          <p:cNvPr id="69" name="矩形 68"/>
          <p:cNvSpPr>
            <a:spLocks noGrp="1"/>
          </p:cNvSpPr>
          <p:nvPr/>
        </p:nvSpPr>
        <p:spPr>
          <a:xfrm>
            <a:off x="9020175" y="1579245"/>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1010" b="1">
                <a:solidFill>
                  <a:srgbClr val="FFFFFF"/>
                </a:solidFill>
                <a:latin typeface="Noto Sans Hans"/>
                <a:ea typeface="Noto Sans Hans"/>
                <a:cs typeface="Noto Sans Hans"/>
              </a:rPr>
              <a:t>柔顺控制</a:t>
            </a:r>
            <a:endParaRPr sz="1010" b="1">
              <a:solidFill>
                <a:srgbClr val="FFFFFF"/>
              </a:solidFill>
              <a:latin typeface="Noto Sans Hans"/>
              <a:ea typeface="Noto Sans Hans"/>
              <a:cs typeface="Noto Sans Hans"/>
            </a:endParaRPr>
          </a:p>
        </p:txBody>
      </p:sp>
      <p:sp>
        <p:nvSpPr>
          <p:cNvPr id="70" name="矩形 69"/>
          <p:cNvSpPr>
            <a:spLocks noGrp="1"/>
          </p:cNvSpPr>
          <p:nvPr/>
        </p:nvSpPr>
        <p:spPr>
          <a:xfrm>
            <a:off x="9020175" y="1903095"/>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1010" b="1">
                <a:solidFill>
                  <a:srgbClr val="FFFFFF"/>
                </a:solidFill>
                <a:latin typeface="Noto Sans Hans"/>
                <a:ea typeface="Noto Sans Hans"/>
                <a:cs typeface="Noto Sans Hans"/>
              </a:rPr>
              <a:t>功能安全</a:t>
            </a:r>
            <a:endParaRPr sz="1010" b="1">
              <a:solidFill>
                <a:srgbClr val="FFFFFF"/>
              </a:solidFill>
              <a:latin typeface="Noto Sans Hans"/>
              <a:ea typeface="Noto Sans Hans"/>
              <a:cs typeface="Noto Sans Hans"/>
            </a:endParaRPr>
          </a:p>
        </p:txBody>
      </p:sp>
      <p:sp>
        <p:nvSpPr>
          <p:cNvPr id="71" name="矩形 70"/>
          <p:cNvSpPr>
            <a:spLocks noGrp="1"/>
          </p:cNvSpPr>
          <p:nvPr/>
        </p:nvSpPr>
        <p:spPr>
          <a:xfrm>
            <a:off x="9020175" y="2226945"/>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1010" b="1">
                <a:solidFill>
                  <a:srgbClr val="FFFFFF"/>
                </a:solidFill>
                <a:latin typeface="Noto Sans Hans"/>
                <a:ea typeface="Noto Sans Hans"/>
                <a:cs typeface="Noto Sans Hans"/>
              </a:rPr>
              <a:t>适老语音</a:t>
            </a:r>
            <a:endParaRPr sz="1010" b="1">
              <a:solidFill>
                <a:srgbClr val="FFFFFF"/>
              </a:solidFill>
              <a:latin typeface="Noto Sans Hans"/>
              <a:ea typeface="Noto Sans Hans"/>
              <a:cs typeface="Noto Sans Hans"/>
            </a:endParaRPr>
          </a:p>
        </p:txBody>
      </p:sp>
      <p:sp>
        <p:nvSpPr>
          <p:cNvPr id="72" name="矩形 71"/>
          <p:cNvSpPr>
            <a:spLocks noGrp="1"/>
          </p:cNvSpPr>
          <p:nvPr/>
        </p:nvSpPr>
        <p:spPr>
          <a:xfrm>
            <a:off x="10401300" y="1483995"/>
            <a:ext cx="1238250" cy="1285875"/>
          </a:xfrm>
          <a:prstGeom prst="rect">
            <a:avLst/>
          </a:prstGeom>
          <a:solidFill>
            <a:srgbClr val="9A7000"/>
          </a:solidFill>
          <a:ln w="9525">
            <a:solidFill>
              <a:srgbClr val="FFFFFF"/>
            </a:solidFill>
            <a:prstDash val="solid"/>
          </a:ln>
        </p:spPr>
      </p:sp>
      <p:sp>
        <p:nvSpPr>
          <p:cNvPr id="73" name="矩形 72"/>
          <p:cNvSpPr>
            <a:spLocks noGrp="1"/>
          </p:cNvSpPr>
          <p:nvPr/>
        </p:nvSpPr>
        <p:spPr>
          <a:xfrm>
            <a:off x="10448925" y="1579245"/>
            <a:ext cx="11430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VLA具身模型</a:t>
            </a:r>
            <a:endParaRPr sz="910" b="1">
              <a:solidFill>
                <a:srgbClr val="FFFFFF"/>
              </a:solidFill>
              <a:latin typeface="Noto Sans Hans"/>
              <a:ea typeface="Noto Sans Hans"/>
              <a:cs typeface="Noto Sans Hans"/>
            </a:endParaRPr>
          </a:p>
        </p:txBody>
      </p:sp>
      <p:sp>
        <p:nvSpPr>
          <p:cNvPr id="74" name="矩形 73"/>
          <p:cNvSpPr>
            <a:spLocks noGrp="1"/>
          </p:cNvSpPr>
          <p:nvPr/>
        </p:nvSpPr>
        <p:spPr>
          <a:xfrm>
            <a:off x="10448925" y="1903095"/>
            <a:ext cx="11430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脑机</a:t>
            </a:r>
            <a:r>
              <a:rPr lang="zh-CN" sz="910" b="1">
                <a:solidFill>
                  <a:srgbClr val="FFFFFF"/>
                </a:solidFill>
                <a:latin typeface="Noto Sans Hans"/>
                <a:ea typeface="Noto Sans Hans"/>
                <a:cs typeface="Noto Sans Hans"/>
              </a:rPr>
              <a:t>反馈</a:t>
            </a:r>
            <a:r>
              <a:rPr lang="zh-CN" sz="910" b="1">
                <a:solidFill>
                  <a:srgbClr val="FFFFFF"/>
                </a:solidFill>
                <a:latin typeface="Noto Sans Hans"/>
                <a:ea typeface="Noto Sans Hans"/>
                <a:cs typeface="Noto Sans Hans"/>
              </a:rPr>
              <a:t>康复</a:t>
            </a:r>
            <a:endParaRPr lang="zh-CN" sz="910" b="1">
              <a:solidFill>
                <a:srgbClr val="FFFFFF"/>
              </a:solidFill>
              <a:latin typeface="Noto Sans Hans"/>
              <a:ea typeface="Noto Sans Hans"/>
              <a:cs typeface="Noto Sans Hans"/>
            </a:endParaRPr>
          </a:p>
        </p:txBody>
      </p:sp>
      <p:sp>
        <p:nvSpPr>
          <p:cNvPr id="75" name="矩形 74"/>
          <p:cNvSpPr>
            <a:spLocks noGrp="1"/>
          </p:cNvSpPr>
          <p:nvPr/>
        </p:nvSpPr>
        <p:spPr>
          <a:xfrm>
            <a:off x="7562850" y="2769870"/>
            <a:ext cx="457200" cy="1285875"/>
          </a:xfrm>
          <a:prstGeom prst="rect">
            <a:avLst/>
          </a:prstGeom>
          <a:noFill/>
          <a:ln w="0">
            <a:noFill/>
            <a:prstDash val="solid"/>
          </a:ln>
        </p:spPr>
        <p:txBody>
          <a:bodyPr wrap="square" lIns="47625" tIns="19050" rIns="47625" bIns="19050" anchor="ctr">
            <a:normAutofit/>
          </a:bodyPr>
          <a:lstStyle/>
          <a:p>
            <a:pPr algn="ctr">
              <a:defRPr sz="975" b="1">
                <a:solidFill>
                  <a:srgbClr val="403A38"/>
                </a:solidFill>
                <a:latin typeface="Noto Sans Hans"/>
                <a:ea typeface="Noto Sans Hans"/>
                <a:cs typeface="Noto Sans Hans"/>
              </a:defRPr>
            </a:pPr>
            <a:r>
              <a:rPr sz="1080" b="1">
                <a:solidFill>
                  <a:srgbClr val="403A38"/>
                </a:solidFill>
                <a:latin typeface="Noto Sans Hans"/>
                <a:ea typeface="Noto Sans Hans"/>
                <a:cs typeface="Noto Sans Hans"/>
              </a:rPr>
              <a:t>中</a:t>
            </a:r>
            <a:endParaRPr sz="1080" b="1">
              <a:solidFill>
                <a:srgbClr val="403A38"/>
              </a:solidFill>
              <a:latin typeface="Noto Sans Hans"/>
              <a:ea typeface="Noto Sans Hans"/>
              <a:cs typeface="Noto Sans Hans"/>
            </a:endParaRPr>
          </a:p>
        </p:txBody>
      </p:sp>
      <p:sp>
        <p:nvSpPr>
          <p:cNvPr id="76" name="矩形 75"/>
          <p:cNvSpPr>
            <a:spLocks noGrp="1"/>
          </p:cNvSpPr>
          <p:nvPr/>
        </p:nvSpPr>
        <p:spPr>
          <a:xfrm>
            <a:off x="8020050" y="2769870"/>
            <a:ext cx="952500" cy="1285875"/>
          </a:xfrm>
          <a:prstGeom prst="rect">
            <a:avLst/>
          </a:prstGeom>
          <a:solidFill>
            <a:srgbClr val="B6424A"/>
          </a:solidFill>
          <a:ln w="9525">
            <a:solidFill>
              <a:srgbClr val="FFFFFF"/>
            </a:solidFill>
            <a:prstDash val="solid"/>
          </a:ln>
        </p:spPr>
      </p:sp>
      <p:sp>
        <p:nvSpPr>
          <p:cNvPr id="77" name="矩形 76"/>
          <p:cNvSpPr>
            <a:spLocks noGrp="1"/>
          </p:cNvSpPr>
          <p:nvPr/>
        </p:nvSpPr>
        <p:spPr>
          <a:xfrm>
            <a:off x="8067675" y="2865120"/>
            <a:ext cx="85725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外骨骼控制</a:t>
            </a:r>
            <a:endParaRPr sz="910" b="1">
              <a:solidFill>
                <a:srgbClr val="FFFFFF"/>
              </a:solidFill>
              <a:latin typeface="Noto Sans Hans"/>
              <a:ea typeface="Noto Sans Hans"/>
              <a:cs typeface="Noto Sans Hans"/>
            </a:endParaRPr>
          </a:p>
        </p:txBody>
      </p:sp>
      <p:sp>
        <p:nvSpPr>
          <p:cNvPr id="78" name="矩形 77"/>
          <p:cNvSpPr>
            <a:spLocks noGrp="1"/>
          </p:cNvSpPr>
          <p:nvPr/>
        </p:nvSpPr>
        <p:spPr>
          <a:xfrm>
            <a:off x="8067675" y="3188970"/>
            <a:ext cx="85725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生命体征监测</a:t>
            </a:r>
            <a:endParaRPr sz="910" b="1">
              <a:solidFill>
                <a:srgbClr val="FFFFFF"/>
              </a:solidFill>
              <a:latin typeface="Noto Sans Hans"/>
              <a:ea typeface="Noto Sans Hans"/>
              <a:cs typeface="Noto Sans Hans"/>
            </a:endParaRPr>
          </a:p>
        </p:txBody>
      </p:sp>
      <p:sp>
        <p:nvSpPr>
          <p:cNvPr id="79" name="矩形 78"/>
          <p:cNvSpPr>
            <a:spLocks noGrp="1"/>
          </p:cNvSpPr>
          <p:nvPr/>
        </p:nvSpPr>
        <p:spPr>
          <a:xfrm>
            <a:off x="8972550" y="2769870"/>
            <a:ext cx="1428750" cy="1285875"/>
          </a:xfrm>
          <a:prstGeom prst="rect">
            <a:avLst/>
          </a:prstGeom>
          <a:solidFill>
            <a:srgbClr val="D57950"/>
          </a:solidFill>
          <a:ln w="9525">
            <a:solidFill>
              <a:srgbClr val="FFFFFF"/>
            </a:solidFill>
            <a:prstDash val="solid"/>
          </a:ln>
        </p:spPr>
      </p:sp>
      <p:sp>
        <p:nvSpPr>
          <p:cNvPr id="80" name="矩形 79"/>
          <p:cNvSpPr>
            <a:spLocks noGrp="1"/>
          </p:cNvSpPr>
          <p:nvPr/>
        </p:nvSpPr>
        <p:spPr>
          <a:xfrm>
            <a:off x="9020175" y="2865120"/>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lang="zh-CN" sz="910" b="1">
                <a:solidFill>
                  <a:srgbClr val="FFFFFF"/>
                </a:solidFill>
                <a:latin typeface="Noto Sans Hans"/>
                <a:ea typeface="Noto Sans Hans"/>
                <a:cs typeface="Noto Sans Hans"/>
              </a:rPr>
              <a:t>云端本地协同</a:t>
            </a:r>
            <a:r>
              <a:rPr lang="zh-CN" sz="910" b="1">
                <a:solidFill>
                  <a:srgbClr val="FFFFFF"/>
                </a:solidFill>
                <a:latin typeface="Noto Sans Hans"/>
                <a:ea typeface="Noto Sans Hans"/>
                <a:cs typeface="Noto Sans Hans"/>
              </a:rPr>
              <a:t>运维</a:t>
            </a:r>
            <a:endParaRPr lang="zh-CN" sz="910" b="1">
              <a:solidFill>
                <a:srgbClr val="FFFFFF"/>
              </a:solidFill>
              <a:latin typeface="Noto Sans Hans"/>
              <a:ea typeface="Noto Sans Hans"/>
              <a:cs typeface="Noto Sans Hans"/>
            </a:endParaRPr>
          </a:p>
        </p:txBody>
      </p:sp>
      <p:sp>
        <p:nvSpPr>
          <p:cNvPr id="81" name="矩形 80"/>
          <p:cNvSpPr>
            <a:spLocks noGrp="1"/>
          </p:cNvSpPr>
          <p:nvPr/>
        </p:nvSpPr>
        <p:spPr>
          <a:xfrm>
            <a:off x="9020175" y="3188970"/>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设备接入标准</a:t>
            </a:r>
            <a:endParaRPr sz="910" b="1">
              <a:solidFill>
                <a:srgbClr val="FFFFFF"/>
              </a:solidFill>
              <a:latin typeface="Noto Sans Hans"/>
              <a:ea typeface="Noto Sans Hans"/>
              <a:cs typeface="Noto Sans Hans"/>
            </a:endParaRPr>
          </a:p>
        </p:txBody>
      </p:sp>
      <p:sp>
        <p:nvSpPr>
          <p:cNvPr id="82" name="矩形 81"/>
          <p:cNvSpPr>
            <a:spLocks noGrp="1"/>
          </p:cNvSpPr>
          <p:nvPr/>
        </p:nvSpPr>
        <p:spPr>
          <a:xfrm>
            <a:off x="9020175" y="3512820"/>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lang="zh-CN" sz="910" b="1">
                <a:solidFill>
                  <a:srgbClr val="FFFFFF"/>
                </a:solidFill>
                <a:latin typeface="Noto Sans Hans"/>
                <a:ea typeface="Noto Sans Hans"/>
                <a:cs typeface="Noto Sans Hans"/>
              </a:rPr>
              <a:t>真实</a:t>
            </a:r>
            <a:r>
              <a:rPr lang="zh-CN" sz="910" b="1">
                <a:solidFill>
                  <a:srgbClr val="FFFFFF"/>
                </a:solidFill>
                <a:latin typeface="Noto Sans Hans"/>
                <a:ea typeface="Noto Sans Hans"/>
                <a:cs typeface="Noto Sans Hans"/>
              </a:rPr>
              <a:t>世界安全数据</a:t>
            </a:r>
            <a:endParaRPr lang="zh-CN" sz="910" b="1">
              <a:solidFill>
                <a:srgbClr val="FFFFFF"/>
              </a:solidFill>
              <a:latin typeface="Noto Sans Hans"/>
              <a:ea typeface="Noto Sans Hans"/>
              <a:cs typeface="Noto Sans Hans"/>
            </a:endParaRPr>
          </a:p>
        </p:txBody>
      </p:sp>
      <p:sp>
        <p:nvSpPr>
          <p:cNvPr id="83" name="矩形 82"/>
          <p:cNvSpPr>
            <a:spLocks noGrp="1"/>
          </p:cNvSpPr>
          <p:nvPr/>
        </p:nvSpPr>
        <p:spPr>
          <a:xfrm>
            <a:off x="10401300" y="2769870"/>
            <a:ext cx="1238250" cy="1285875"/>
          </a:xfrm>
          <a:prstGeom prst="rect">
            <a:avLst/>
          </a:prstGeom>
          <a:solidFill>
            <a:srgbClr val="C5A651"/>
          </a:solidFill>
          <a:ln w="9525">
            <a:solidFill>
              <a:srgbClr val="FFFFFF"/>
            </a:solidFill>
            <a:prstDash val="solid"/>
          </a:ln>
        </p:spPr>
      </p:sp>
      <p:sp>
        <p:nvSpPr>
          <p:cNvPr id="84" name="矩形 83"/>
          <p:cNvSpPr>
            <a:spLocks noGrp="1"/>
          </p:cNvSpPr>
          <p:nvPr/>
        </p:nvSpPr>
        <p:spPr>
          <a:xfrm>
            <a:off x="10448925" y="2865120"/>
            <a:ext cx="11430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数字孪生</a:t>
            </a:r>
            <a:endParaRPr sz="910" b="1">
              <a:solidFill>
                <a:srgbClr val="FFFFFF"/>
              </a:solidFill>
              <a:latin typeface="Noto Sans Hans"/>
              <a:ea typeface="Noto Sans Hans"/>
              <a:cs typeface="Noto Sans Hans"/>
            </a:endParaRPr>
          </a:p>
        </p:txBody>
      </p:sp>
      <p:sp>
        <p:nvSpPr>
          <p:cNvPr id="85" name="矩形 84"/>
          <p:cNvSpPr>
            <a:spLocks noGrp="1"/>
          </p:cNvSpPr>
          <p:nvPr/>
        </p:nvSpPr>
        <p:spPr>
          <a:xfrm>
            <a:off x="10448925" y="3188970"/>
            <a:ext cx="11430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长期使用</a:t>
            </a:r>
            <a:r>
              <a:rPr lang="zh-CN" sz="910" b="1">
                <a:solidFill>
                  <a:srgbClr val="FFFFFF"/>
                </a:solidFill>
                <a:latin typeface="Noto Sans Hans"/>
                <a:ea typeface="Noto Sans Hans"/>
                <a:cs typeface="Noto Sans Hans"/>
              </a:rPr>
              <a:t>适应性</a:t>
            </a:r>
            <a:endParaRPr lang="zh-CN" sz="910" b="1">
              <a:solidFill>
                <a:srgbClr val="FFFFFF"/>
              </a:solidFill>
              <a:latin typeface="Noto Sans Hans"/>
              <a:ea typeface="Noto Sans Hans"/>
              <a:cs typeface="Noto Sans Hans"/>
            </a:endParaRPr>
          </a:p>
        </p:txBody>
      </p:sp>
      <p:sp>
        <p:nvSpPr>
          <p:cNvPr id="86" name="矩形 85"/>
          <p:cNvSpPr>
            <a:spLocks noGrp="1"/>
          </p:cNvSpPr>
          <p:nvPr/>
        </p:nvSpPr>
        <p:spPr>
          <a:xfrm>
            <a:off x="7562850" y="4055745"/>
            <a:ext cx="457200" cy="1476375"/>
          </a:xfrm>
          <a:prstGeom prst="rect">
            <a:avLst/>
          </a:prstGeom>
          <a:noFill/>
          <a:ln w="0">
            <a:noFill/>
            <a:prstDash val="solid"/>
          </a:ln>
        </p:spPr>
        <p:txBody>
          <a:bodyPr wrap="square" lIns="47625" tIns="19050" rIns="47625" bIns="19050" anchor="ctr">
            <a:normAutofit/>
          </a:bodyPr>
          <a:lstStyle/>
          <a:p>
            <a:pPr algn="ctr">
              <a:defRPr sz="975" b="1">
                <a:solidFill>
                  <a:srgbClr val="403A38"/>
                </a:solidFill>
                <a:latin typeface="Noto Sans Hans"/>
                <a:ea typeface="Noto Sans Hans"/>
                <a:cs typeface="Noto Sans Hans"/>
              </a:defRPr>
            </a:pPr>
            <a:r>
              <a:rPr lang="zh-CN" sz="1080" b="1">
                <a:solidFill>
                  <a:srgbClr val="403A38"/>
                </a:solidFill>
                <a:latin typeface="Noto Sans Hans"/>
                <a:ea typeface="Noto Sans Hans"/>
                <a:cs typeface="Noto Sans Hans"/>
              </a:rPr>
              <a:t>低</a:t>
            </a:r>
            <a:endParaRPr lang="zh-CN" sz="1080" b="1">
              <a:solidFill>
                <a:srgbClr val="403A38"/>
              </a:solidFill>
              <a:latin typeface="Noto Sans Hans"/>
              <a:ea typeface="Noto Sans Hans"/>
              <a:cs typeface="Noto Sans Hans"/>
            </a:endParaRPr>
          </a:p>
        </p:txBody>
      </p:sp>
      <p:sp>
        <p:nvSpPr>
          <p:cNvPr id="87" name="矩形 86"/>
          <p:cNvSpPr>
            <a:spLocks noGrp="1"/>
          </p:cNvSpPr>
          <p:nvPr/>
        </p:nvSpPr>
        <p:spPr>
          <a:xfrm>
            <a:off x="8020050" y="4055745"/>
            <a:ext cx="952500" cy="1476375"/>
          </a:xfrm>
          <a:prstGeom prst="rect">
            <a:avLst/>
          </a:prstGeom>
          <a:solidFill>
            <a:srgbClr val="D99196"/>
          </a:solidFill>
          <a:ln w="9525">
            <a:solidFill>
              <a:srgbClr val="FFFFFF"/>
            </a:solidFill>
            <a:prstDash val="solid"/>
          </a:ln>
        </p:spPr>
      </p:sp>
      <p:sp>
        <p:nvSpPr>
          <p:cNvPr id="88" name="矩形 87"/>
          <p:cNvSpPr>
            <a:spLocks noGrp="1"/>
          </p:cNvSpPr>
          <p:nvPr/>
        </p:nvSpPr>
        <p:spPr>
          <a:xfrm>
            <a:off x="8067675" y="4150995"/>
            <a:ext cx="85725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污物处理/消毒</a:t>
            </a:r>
            <a:endParaRPr sz="910" b="1">
              <a:solidFill>
                <a:srgbClr val="FFFFFF"/>
              </a:solidFill>
              <a:latin typeface="Noto Sans Hans"/>
              <a:ea typeface="Noto Sans Hans"/>
              <a:cs typeface="Noto Sans Hans"/>
            </a:endParaRPr>
          </a:p>
        </p:txBody>
      </p:sp>
      <p:sp>
        <p:nvSpPr>
          <p:cNvPr id="89" name="矩形 88"/>
          <p:cNvSpPr>
            <a:spLocks noGrp="1"/>
          </p:cNvSpPr>
          <p:nvPr/>
        </p:nvSpPr>
        <p:spPr>
          <a:xfrm>
            <a:off x="8972550" y="4055745"/>
            <a:ext cx="1428750" cy="1476375"/>
          </a:xfrm>
          <a:prstGeom prst="rect">
            <a:avLst/>
          </a:prstGeom>
          <a:solidFill>
            <a:srgbClr val="E5B09B"/>
          </a:solidFill>
          <a:ln w="9525">
            <a:solidFill>
              <a:srgbClr val="FFFFFF"/>
            </a:solidFill>
            <a:prstDash val="solid"/>
          </a:ln>
        </p:spPr>
      </p:sp>
      <p:sp>
        <p:nvSpPr>
          <p:cNvPr id="90" name="矩形 89"/>
          <p:cNvSpPr>
            <a:spLocks noGrp="1"/>
          </p:cNvSpPr>
          <p:nvPr/>
        </p:nvSpPr>
        <p:spPr>
          <a:xfrm>
            <a:off x="9020175" y="4150995"/>
            <a:ext cx="13335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lang="zh-CN" altLang="en-US" sz="910" b="1">
                <a:solidFill>
                  <a:srgbClr val="FFFFFF"/>
                </a:solidFill>
                <a:latin typeface="Noto Sans Hans"/>
                <a:ea typeface="Noto Sans Hans"/>
                <a:cs typeface="Noto Sans Hans"/>
              </a:rPr>
              <a:t>租赁及按服务成效付费</a:t>
            </a:r>
            <a:endParaRPr lang="zh-CN" altLang="en-US" sz="910" b="1">
              <a:solidFill>
                <a:srgbClr val="FFFFFF"/>
              </a:solidFill>
              <a:latin typeface="Noto Sans Hans"/>
              <a:ea typeface="Noto Sans Hans"/>
              <a:cs typeface="Noto Sans Hans"/>
            </a:endParaRPr>
          </a:p>
        </p:txBody>
      </p:sp>
      <p:sp>
        <p:nvSpPr>
          <p:cNvPr id="91" name="矩形 90"/>
          <p:cNvSpPr>
            <a:spLocks noGrp="1"/>
          </p:cNvSpPr>
          <p:nvPr/>
        </p:nvSpPr>
        <p:spPr>
          <a:xfrm>
            <a:off x="10401300" y="4055745"/>
            <a:ext cx="1238250" cy="1476375"/>
          </a:xfrm>
          <a:prstGeom prst="rect">
            <a:avLst/>
          </a:prstGeom>
          <a:solidFill>
            <a:srgbClr val="DDCA93"/>
          </a:solidFill>
          <a:ln w="9525">
            <a:solidFill>
              <a:srgbClr val="FFFFFF"/>
            </a:solidFill>
            <a:prstDash val="solid"/>
          </a:ln>
        </p:spPr>
      </p:sp>
      <p:sp>
        <p:nvSpPr>
          <p:cNvPr id="92" name="矩形 91"/>
          <p:cNvSpPr>
            <a:spLocks noGrp="1"/>
          </p:cNvSpPr>
          <p:nvPr/>
        </p:nvSpPr>
        <p:spPr>
          <a:xfrm>
            <a:off x="10448925" y="4150995"/>
            <a:ext cx="11430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通用生活照料</a:t>
            </a:r>
            <a:endParaRPr sz="910" b="1">
              <a:solidFill>
                <a:srgbClr val="FFFFFF"/>
              </a:solidFill>
              <a:latin typeface="Noto Sans Hans"/>
              <a:ea typeface="Noto Sans Hans"/>
              <a:cs typeface="Noto Sans Hans"/>
            </a:endParaRPr>
          </a:p>
        </p:txBody>
      </p:sp>
      <p:sp>
        <p:nvSpPr>
          <p:cNvPr id="93" name="矩形 92"/>
          <p:cNvSpPr>
            <a:spLocks noGrp="1"/>
          </p:cNvSpPr>
          <p:nvPr/>
        </p:nvSpPr>
        <p:spPr>
          <a:xfrm>
            <a:off x="10448925" y="4474845"/>
            <a:ext cx="1143000" cy="266700"/>
          </a:xfrm>
          <a:prstGeom prst="rect">
            <a:avLst/>
          </a:prstGeom>
          <a:noFill/>
          <a:ln w="0">
            <a:noFill/>
            <a:prstDash val="solid"/>
          </a:ln>
        </p:spPr>
        <p:txBody>
          <a:bodyPr wrap="square" lIns="47625" tIns="19050" rIns="47625" bIns="19050" anchor="ctr">
            <a:normAutofit/>
          </a:bodyPr>
          <a:lstStyle/>
          <a:p>
            <a:pPr algn="ctr">
              <a:defRPr sz="805" b="1">
                <a:solidFill>
                  <a:srgbClr val="FFFFFF"/>
                </a:solidFill>
                <a:latin typeface="Noto Sans Hans"/>
                <a:ea typeface="Noto Sans Hans"/>
                <a:cs typeface="Noto Sans Hans"/>
              </a:defRPr>
            </a:pPr>
            <a:r>
              <a:rPr sz="910" b="1">
                <a:solidFill>
                  <a:srgbClr val="FFFFFF"/>
                </a:solidFill>
                <a:latin typeface="Noto Sans Hans"/>
                <a:ea typeface="Noto Sans Hans"/>
                <a:cs typeface="Noto Sans Hans"/>
              </a:rPr>
              <a:t>跨机协同</a:t>
            </a:r>
            <a:endParaRPr sz="910" b="1">
              <a:solidFill>
                <a:srgbClr val="FFFFFF"/>
              </a:solidFill>
              <a:latin typeface="Noto Sans Hans"/>
              <a:ea typeface="Noto Sans Hans"/>
              <a:cs typeface="Noto Sans Hans"/>
            </a:endParaRPr>
          </a:p>
        </p:txBody>
      </p:sp>
      <p:sp>
        <p:nvSpPr>
          <p:cNvPr id="94" name="矩形 93"/>
          <p:cNvSpPr>
            <a:spLocks noGrp="1"/>
          </p:cNvSpPr>
          <p:nvPr/>
        </p:nvSpPr>
        <p:spPr>
          <a:xfrm>
            <a:off x="7572375" y="6105525"/>
            <a:ext cx="4000500" cy="333375"/>
          </a:xfrm>
          <a:prstGeom prst="rect">
            <a:avLst/>
          </a:prstGeom>
          <a:noFill/>
          <a:ln w="0">
            <a:noFill/>
            <a:prstDash val="solid"/>
          </a:ln>
        </p:spPr>
        <p:txBody>
          <a:bodyPr wrap="square" lIns="47625" tIns="19050" rIns="47625" bIns="19050" anchor="ctr">
            <a:normAutofit/>
          </a:bodyPr>
          <a:lstStyle/>
          <a:p>
            <a:pPr algn="ctr">
              <a:defRPr sz="825" b="1">
                <a:solidFill>
                  <a:srgbClr val="D00914"/>
                </a:solidFill>
                <a:latin typeface="Noto Sans Hans"/>
                <a:ea typeface="Noto Sans Hans"/>
                <a:cs typeface="Noto Sans Hans"/>
              </a:defRPr>
            </a:pPr>
            <a:r>
              <a:rPr sz="825" b="1">
                <a:solidFill>
                  <a:srgbClr val="D00914"/>
                </a:solidFill>
                <a:latin typeface="Noto Sans Hans"/>
                <a:ea typeface="Noto Sans Hans"/>
                <a:cs typeface="Noto Sans Hans"/>
              </a:rPr>
              <a:t>建议：将“高效益 × 2年内”纳入场景采购，</a:t>
            </a:r>
            <a:endParaRPr sz="825" b="1">
              <a:solidFill>
                <a:srgbClr val="D00914"/>
              </a:solidFill>
              <a:latin typeface="Noto Sans Hans"/>
              <a:ea typeface="Noto Sans Hans"/>
              <a:cs typeface="Noto Sans Hans"/>
            </a:endParaRPr>
          </a:p>
          <a:p>
            <a:pPr algn="ctr">
              <a:defRPr sz="825" b="1">
                <a:solidFill>
                  <a:srgbClr val="D00914"/>
                </a:solidFill>
                <a:latin typeface="Noto Sans Hans"/>
                <a:ea typeface="Noto Sans Hans"/>
                <a:cs typeface="Noto Sans Hans"/>
              </a:defRPr>
            </a:pPr>
            <a:r>
              <a:rPr sz="825" b="1">
                <a:solidFill>
                  <a:srgbClr val="D00914"/>
                </a:solidFill>
                <a:latin typeface="Noto Sans Hans"/>
                <a:ea typeface="Noto Sans Hans"/>
                <a:cs typeface="Noto Sans Hans"/>
              </a:rPr>
              <a:t>将“高效益 × 2—5年”纳入联合攻关与投资储备。</a:t>
            </a:r>
            <a:endParaRPr sz="825" b="1">
              <a:solidFill>
                <a:srgbClr val="D00914"/>
              </a:solidFill>
              <a:latin typeface="Noto Sans Hans"/>
              <a:ea typeface="Noto Sans Hans"/>
              <a:cs typeface="Noto Sans Hans"/>
            </a:endParaRPr>
          </a:p>
        </p:txBody>
      </p:sp>
      <p:sp>
        <p:nvSpPr>
          <p:cNvPr id="95" name="矩形 94"/>
          <p:cNvSpPr>
            <a:spLocks noGrp="1"/>
          </p:cNvSpPr>
          <p:nvPr/>
        </p:nvSpPr>
        <p:spPr>
          <a:xfrm>
            <a:off x="476250" y="6553200"/>
            <a:ext cx="10287000" cy="190500"/>
          </a:xfrm>
          <a:prstGeom prst="rect">
            <a:avLst/>
          </a:prstGeom>
          <a:noFill/>
          <a:ln w="0">
            <a:noFill/>
            <a:prstDash val="solid"/>
          </a:ln>
        </p:spPr>
        <p:txBody>
          <a:bodyPr wrap="square" lIns="47625" tIns="19050" rIns="47625" bIns="19050" anchor="ctr">
            <a:normAutofit/>
          </a:bodyPr>
          <a:lstStyle/>
          <a:p>
            <a:pPr algn="l">
              <a:defRPr sz="765" b="0">
                <a:solidFill>
                  <a:srgbClr val="716B68"/>
                </a:solidFill>
                <a:latin typeface="Noto Sans Hans"/>
                <a:ea typeface="Noto Sans Hans"/>
                <a:cs typeface="Noto Sans Hans"/>
              </a:defRPr>
            </a:pPr>
            <a:r>
              <a:rPr sz="765" b="0">
                <a:solidFill>
                  <a:srgbClr val="716B68"/>
                </a:solidFill>
                <a:latin typeface="Noto Sans Hans"/>
                <a:ea typeface="Noto Sans Hans"/>
                <a:cs typeface="Noto Sans Hans"/>
              </a:rPr>
              <a:t>资料来源：养老机器人产业增强基础数据库；TRL及主流时间为基于公开证据的相对判断。</a:t>
            </a:r>
            <a:r>
              <a:rPr lang="en-US" sz="765" b="0">
                <a:solidFill>
                  <a:srgbClr val="716B68"/>
                </a:solidFill>
                <a:latin typeface="Noto Sans Hans"/>
                <a:ea typeface="Noto Sans Hans"/>
                <a:cs typeface="Noto Sans Hans"/>
              </a:rPr>
              <a:t>TRL</a:t>
            </a:r>
            <a:r>
              <a:rPr lang="zh-CN" altLang="en-US" sz="765" b="0">
                <a:solidFill>
                  <a:srgbClr val="716B68"/>
                </a:solidFill>
                <a:latin typeface="Noto Sans Hans"/>
                <a:ea typeface="Noto Sans Hans"/>
                <a:cs typeface="Noto Sans Hans"/>
              </a:rPr>
              <a:t>为技术成熟度等级（</a:t>
            </a:r>
            <a:r>
              <a:rPr lang="en-US" altLang="zh-CN" sz="765" b="0">
                <a:solidFill>
                  <a:srgbClr val="716B68"/>
                </a:solidFill>
                <a:latin typeface="Noto Sans Hans"/>
                <a:ea typeface="Noto Sans Hans"/>
                <a:cs typeface="Noto Sans Hans"/>
              </a:rPr>
              <a:t>，1</a:t>
            </a:r>
            <a:r>
              <a:rPr lang="zh-CN" altLang="en-US" sz="765" b="0">
                <a:solidFill>
                  <a:srgbClr val="716B68"/>
                </a:solidFill>
                <a:latin typeface="Noto Sans Hans"/>
                <a:ea typeface="Noto Sans Hans"/>
                <a:cs typeface="Noto Sans Hans"/>
              </a:rPr>
              <a:t>级最低、9级最高）</a:t>
            </a:r>
            <a:endParaRPr lang="zh-CN" altLang="en-US" sz="765" b="0">
              <a:solidFill>
                <a:srgbClr val="716B68"/>
              </a:solidFill>
              <a:latin typeface="Noto Sans Hans"/>
              <a:ea typeface="Noto Sans Hans"/>
              <a:cs typeface="Noto Sans Hans"/>
            </a:endParaRPr>
          </a:p>
        </p:txBody>
      </p:sp>
      <p:sp>
        <p:nvSpPr>
          <p:cNvPr id="96" name="矩形 95"/>
          <p:cNvSpPr>
            <a:spLocks noGrp="1"/>
          </p:cNvSpPr>
          <p:nvPr/>
        </p:nvSpPr>
        <p:spPr>
          <a:xfrm>
            <a:off x="11287125" y="6543675"/>
            <a:ext cx="428625" cy="190500"/>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0</a:t>
            </a:r>
            <a:r>
              <a:rPr lang="en-US" sz="900" b="1">
                <a:solidFill>
                  <a:srgbClr val="D00914"/>
                </a:solidFill>
                <a:latin typeface="Noto Sans Hans"/>
                <a:ea typeface="Noto Sans Hans"/>
                <a:cs typeface="Noto Sans Hans"/>
              </a:rPr>
              <a:t>7</a:t>
            </a:r>
            <a:endParaRPr lang="en-US" sz="900" b="1">
              <a:solidFill>
                <a:srgbClr val="D00914"/>
              </a:solidFill>
              <a:latin typeface="Noto Sans Hans"/>
              <a:ea typeface="Noto Sans Hans"/>
              <a:cs typeface="Noto Sans H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28600"/>
            <a:ext cx="171450" cy="685800"/>
          </a:xfrm>
          <a:prstGeom prst="rect">
            <a:avLst/>
          </a:prstGeom>
          <a:solidFill>
            <a:srgbClr val="D00914"/>
          </a:solidFill>
          <a:ln w="0">
            <a:noFill/>
            <a:prstDash val="solid"/>
          </a:ln>
        </p:spPr>
      </p:sp>
      <p:sp>
        <p:nvSpPr>
          <p:cNvPr id="3" name="slide-title"/>
          <p:cNvSpPr>
            <a:spLocks noGrp="1"/>
          </p:cNvSpPr>
          <p:nvPr/>
        </p:nvSpPr>
        <p:spPr>
          <a:xfrm>
            <a:off x="476250" y="200025"/>
            <a:ext cx="11239500" cy="4572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【三条核心攻关路线】</a:t>
            </a:r>
            <a:r>
              <a:rPr sz="2025" b="1">
                <a:solidFill>
                  <a:srgbClr val="403A38"/>
                </a:solidFill>
                <a:latin typeface="Noto Sans Hans"/>
                <a:ea typeface="Noto Sans Hans"/>
                <a:cs typeface="Noto Sans Hans"/>
              </a:rPr>
              <a:t>“感知得准、接触得安全、运营得持续”决定养老机器人能否规模落地</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57225"/>
            <a:ext cx="11096625" cy="266700"/>
          </a:xfrm>
          <a:prstGeom prst="rect">
            <a:avLst/>
          </a:prstGeom>
          <a:noFill/>
          <a:ln w="0">
            <a:noFill/>
            <a:prstDash val="solid"/>
          </a:ln>
        </p:spPr>
        <p:txBody>
          <a:bodyPr wrap="square" lIns="47625" tIns="19050" rIns="47625" bIns="19050" anchor="ctr">
            <a:normAutofit/>
          </a:bodyPr>
          <a:lstStyle/>
          <a:p>
            <a:pPr algn="l">
              <a:defRPr sz="1125" b="0">
                <a:solidFill>
                  <a:srgbClr val="716B68"/>
                </a:solidFill>
                <a:latin typeface="Noto Sans Hans"/>
                <a:ea typeface="Noto Sans Hans"/>
                <a:cs typeface="Noto Sans Hans"/>
              </a:defRPr>
            </a:pPr>
            <a:r>
              <a:rPr sz="1125" b="0">
                <a:solidFill>
                  <a:srgbClr val="716B68"/>
                </a:solidFill>
                <a:latin typeface="Noto Sans Hans"/>
                <a:ea typeface="Noto Sans Hans"/>
                <a:cs typeface="Noto Sans Hans"/>
              </a:rPr>
              <a:t>对投资和装备制造企业而言，短期应从可验证的成熟模块切入，中期围绕高安全、高复用和持续收费能力形成差异化</a:t>
            </a:r>
            <a:endParaRPr sz="112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9D2CE"/>
          </a:solidFill>
          <a:ln w="0">
            <a:noFill/>
            <a:prstDash val="solid"/>
          </a:ln>
        </p:spPr>
      </p:sp>
      <p:sp>
        <p:nvSpPr>
          <p:cNvPr id="6" name="矩形 5"/>
          <p:cNvSpPr>
            <a:spLocks noGrp="1"/>
          </p:cNvSpPr>
          <p:nvPr/>
        </p:nvSpPr>
        <p:spPr>
          <a:xfrm>
            <a:off x="476250" y="1233170"/>
            <a:ext cx="3524250" cy="619125"/>
          </a:xfrm>
          <a:prstGeom prst="rect">
            <a:avLst/>
          </a:prstGeom>
          <a:solidFill>
            <a:srgbClr val="91252F"/>
          </a:solidFill>
          <a:ln w="0">
            <a:noFill/>
            <a:prstDash val="solid"/>
          </a:ln>
        </p:spPr>
      </p:sp>
      <p:sp>
        <p:nvSpPr>
          <p:cNvPr id="7" name="矩形 6"/>
          <p:cNvSpPr>
            <a:spLocks noGrp="1"/>
          </p:cNvSpPr>
          <p:nvPr/>
        </p:nvSpPr>
        <p:spPr>
          <a:xfrm>
            <a:off x="590550" y="1290320"/>
            <a:ext cx="323850" cy="409575"/>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2000" b="1">
                <a:solidFill>
                  <a:srgbClr val="FFFFFF"/>
                </a:solidFill>
                <a:latin typeface="Noto Sans Hans"/>
                <a:ea typeface="Noto Sans Hans"/>
                <a:cs typeface="Noto Sans Hans"/>
              </a:rPr>
              <a:t>1.</a:t>
            </a:r>
            <a:endParaRPr sz="2000" b="1">
              <a:solidFill>
                <a:srgbClr val="FFFFFF"/>
              </a:solidFill>
              <a:latin typeface="Noto Sans Hans"/>
              <a:ea typeface="Noto Sans Hans"/>
              <a:cs typeface="Noto Sans Hans"/>
            </a:endParaRPr>
          </a:p>
        </p:txBody>
      </p:sp>
      <p:sp>
        <p:nvSpPr>
          <p:cNvPr id="8" name="矩形 7"/>
          <p:cNvSpPr>
            <a:spLocks noGrp="1"/>
          </p:cNvSpPr>
          <p:nvPr/>
        </p:nvSpPr>
        <p:spPr>
          <a:xfrm>
            <a:off x="971550" y="1271270"/>
            <a:ext cx="1285875" cy="304800"/>
          </a:xfrm>
          <a:prstGeom prst="rect">
            <a:avLst/>
          </a:prstGeom>
          <a:noFill/>
          <a:ln w="0">
            <a:noFill/>
            <a:prstDash val="solid"/>
          </a:ln>
        </p:spPr>
        <p:txBody>
          <a:bodyPr wrap="square" lIns="47625" tIns="19050" rIns="47625" bIns="19050" anchor="ctr"/>
          <a:lstStyle/>
          <a:p>
            <a:pPr algn="l">
              <a:defRPr sz="150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感知得</a:t>
            </a:r>
            <a:r>
              <a:rPr lang="zh-CN" sz="1800" b="1">
                <a:solidFill>
                  <a:srgbClr val="FFFFFF"/>
                </a:solidFill>
                <a:latin typeface="Noto Sans Hans"/>
                <a:ea typeface="Noto Sans Hans"/>
                <a:cs typeface="Noto Sans Hans"/>
              </a:rPr>
              <a:t>精</a:t>
            </a:r>
            <a:r>
              <a:rPr sz="1800" b="1">
                <a:solidFill>
                  <a:srgbClr val="FFFFFF"/>
                </a:solidFill>
                <a:latin typeface="Noto Sans Hans"/>
                <a:ea typeface="Noto Sans Hans"/>
                <a:cs typeface="Noto Sans Hans"/>
              </a:rPr>
              <a:t>准</a:t>
            </a:r>
            <a:endParaRPr sz="1800" b="1">
              <a:solidFill>
                <a:srgbClr val="FFFFFF"/>
              </a:solidFill>
              <a:latin typeface="Noto Sans Hans"/>
              <a:ea typeface="Noto Sans Hans"/>
              <a:cs typeface="Noto Sans Hans"/>
            </a:endParaRPr>
          </a:p>
        </p:txBody>
      </p:sp>
      <p:sp>
        <p:nvSpPr>
          <p:cNvPr id="9" name="矩形 8"/>
          <p:cNvSpPr>
            <a:spLocks noGrp="1"/>
          </p:cNvSpPr>
          <p:nvPr/>
        </p:nvSpPr>
        <p:spPr>
          <a:xfrm>
            <a:off x="971550" y="1557020"/>
            <a:ext cx="2905125" cy="219075"/>
          </a:xfrm>
          <a:prstGeom prst="rect">
            <a:avLst/>
          </a:prstGeom>
          <a:noFill/>
          <a:ln w="0">
            <a:noFill/>
            <a:prstDash val="solid"/>
          </a:ln>
        </p:spPr>
        <p:txBody>
          <a:bodyPr wrap="square" lIns="47625" tIns="19050" rIns="47625" bIns="19050" anchor="ctr">
            <a:noAutofit/>
          </a:bodyPr>
          <a:lstStyle/>
          <a:p>
            <a:pPr algn="l">
              <a:defRPr sz="900" b="0">
                <a:solidFill>
                  <a:srgbClr val="FFF5EF"/>
                </a:solidFill>
                <a:latin typeface="Noto Sans Hans"/>
                <a:ea typeface="Noto Sans Hans"/>
                <a:cs typeface="Noto Sans Hans"/>
              </a:defRPr>
            </a:pPr>
            <a:r>
              <a:rPr sz="1200" b="0">
                <a:solidFill>
                  <a:srgbClr val="FFF5EF"/>
                </a:solidFill>
                <a:latin typeface="Noto Sans Hans"/>
                <a:ea typeface="Noto Sans Hans"/>
                <a:cs typeface="Noto Sans Hans"/>
              </a:rPr>
              <a:t>多模态感知与适老交互</a:t>
            </a:r>
            <a:endParaRPr sz="1200" b="0">
              <a:solidFill>
                <a:srgbClr val="FFF5EF"/>
              </a:solidFill>
              <a:latin typeface="Noto Sans Hans"/>
              <a:ea typeface="Noto Sans Hans"/>
              <a:cs typeface="Noto Sans Hans"/>
            </a:endParaRPr>
          </a:p>
        </p:txBody>
      </p:sp>
      <p:sp>
        <p:nvSpPr>
          <p:cNvPr id="10" name="矩形 9"/>
          <p:cNvSpPr>
            <a:spLocks noGrp="1"/>
          </p:cNvSpPr>
          <p:nvPr/>
        </p:nvSpPr>
        <p:spPr>
          <a:xfrm>
            <a:off x="590550" y="19570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91252F"/>
                </a:solidFill>
                <a:latin typeface="Noto Sans Hans"/>
                <a:ea typeface="Noto Sans Hans"/>
                <a:cs typeface="Noto Sans Hans"/>
              </a:defRPr>
            </a:pPr>
            <a:r>
              <a:rPr sz="1200" b="1">
                <a:solidFill>
                  <a:srgbClr val="91252F"/>
                </a:solidFill>
                <a:latin typeface="Noto Sans Hans"/>
                <a:ea typeface="Noto Sans Hans"/>
                <a:cs typeface="Noto Sans Hans"/>
              </a:rPr>
              <a:t>技术要点</a:t>
            </a:r>
            <a:endParaRPr sz="1200" b="1">
              <a:solidFill>
                <a:srgbClr val="91252F"/>
              </a:solidFill>
              <a:latin typeface="Noto Sans Hans"/>
              <a:ea typeface="Noto Sans Hans"/>
              <a:cs typeface="Noto Sans Hans"/>
            </a:endParaRPr>
          </a:p>
        </p:txBody>
      </p:sp>
      <p:sp>
        <p:nvSpPr>
          <p:cNvPr id="11" name="矩形 10"/>
          <p:cNvSpPr>
            <a:spLocks noGrp="1"/>
          </p:cNvSpPr>
          <p:nvPr/>
        </p:nvSpPr>
        <p:spPr>
          <a:xfrm>
            <a:off x="476250" y="2214245"/>
            <a:ext cx="3524250" cy="1000125"/>
          </a:xfrm>
          <a:prstGeom prst="rect">
            <a:avLst/>
          </a:prstGeom>
          <a:solidFill>
            <a:srgbClr val="F6F3F1"/>
          </a:solidFill>
          <a:ln w="0">
            <a:noFill/>
            <a:prstDash val="solid"/>
          </a:ln>
        </p:spPr>
      </p:sp>
      <p:sp>
        <p:nvSpPr>
          <p:cNvPr id="12" name="矩形 11"/>
          <p:cNvSpPr>
            <a:spLocks noGrp="1"/>
          </p:cNvSpPr>
          <p:nvPr/>
        </p:nvSpPr>
        <p:spPr>
          <a:xfrm>
            <a:off x="628650" y="2319020"/>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低打扰、非接触、隐私优先</a:t>
            </a:r>
            <a:endParaRPr sz="1200" b="0">
              <a:solidFill>
                <a:srgbClr val="403A38"/>
              </a:solidFill>
              <a:latin typeface="Noto Sans Hans"/>
              <a:ea typeface="Noto Sans Hans"/>
              <a:cs typeface="Noto Sans Hans"/>
            </a:endParaRPr>
          </a:p>
        </p:txBody>
      </p:sp>
      <p:sp>
        <p:nvSpPr>
          <p:cNvPr id="13" name="矩形 12"/>
          <p:cNvSpPr>
            <a:spLocks noGrp="1"/>
          </p:cNvSpPr>
          <p:nvPr/>
        </p:nvSpPr>
        <p:spPr>
          <a:xfrm>
            <a:off x="628650" y="2595245"/>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弱光/遮挡/方言环境可靠</a:t>
            </a:r>
            <a:endParaRPr sz="1200" b="0">
              <a:solidFill>
                <a:srgbClr val="403A38"/>
              </a:solidFill>
              <a:latin typeface="Noto Sans Hans"/>
              <a:ea typeface="Noto Sans Hans"/>
              <a:cs typeface="Noto Sans Hans"/>
            </a:endParaRPr>
          </a:p>
        </p:txBody>
      </p:sp>
      <p:sp>
        <p:nvSpPr>
          <p:cNvPr id="14" name="矩形 13"/>
          <p:cNvSpPr>
            <a:spLocks noGrp="1"/>
          </p:cNvSpPr>
          <p:nvPr/>
        </p:nvSpPr>
        <p:spPr>
          <a:xfrm>
            <a:off x="628650" y="2871470"/>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把误报、漏报转化为可量化指标</a:t>
            </a:r>
            <a:endParaRPr sz="1200" b="0">
              <a:solidFill>
                <a:srgbClr val="403A38"/>
              </a:solidFill>
              <a:latin typeface="Noto Sans Hans"/>
              <a:ea typeface="Noto Sans Hans"/>
              <a:cs typeface="Noto Sans Hans"/>
            </a:endParaRPr>
          </a:p>
        </p:txBody>
      </p:sp>
      <p:sp>
        <p:nvSpPr>
          <p:cNvPr id="15" name="矩形 14"/>
          <p:cNvSpPr>
            <a:spLocks noGrp="1"/>
          </p:cNvSpPr>
          <p:nvPr/>
        </p:nvSpPr>
        <p:spPr>
          <a:xfrm>
            <a:off x="590550" y="32905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91252F"/>
                </a:solidFill>
                <a:latin typeface="Noto Sans Hans"/>
                <a:ea typeface="Noto Sans Hans"/>
                <a:cs typeface="Noto Sans Hans"/>
              </a:defRPr>
            </a:pPr>
            <a:r>
              <a:rPr sz="1200" b="1">
                <a:solidFill>
                  <a:srgbClr val="91252F"/>
                </a:solidFill>
                <a:latin typeface="Noto Sans Hans"/>
                <a:ea typeface="Noto Sans Hans"/>
                <a:cs typeface="Noto Sans Hans"/>
              </a:rPr>
              <a:t>阶段进程</a:t>
            </a:r>
            <a:endParaRPr sz="1200" b="1">
              <a:solidFill>
                <a:srgbClr val="91252F"/>
              </a:solidFill>
              <a:latin typeface="Noto Sans Hans"/>
              <a:ea typeface="Noto Sans Hans"/>
              <a:cs typeface="Noto Sans Hans"/>
            </a:endParaRPr>
          </a:p>
        </p:txBody>
      </p:sp>
      <p:sp>
        <p:nvSpPr>
          <p:cNvPr id="16" name="矩形 15"/>
          <p:cNvSpPr>
            <a:spLocks noGrp="1"/>
          </p:cNvSpPr>
          <p:nvPr/>
        </p:nvSpPr>
        <p:spPr>
          <a:xfrm>
            <a:off x="476250" y="3557270"/>
            <a:ext cx="3524250" cy="1295400"/>
          </a:xfrm>
          <a:prstGeom prst="rect">
            <a:avLst/>
          </a:prstGeom>
          <a:solidFill>
            <a:srgbClr val="FFFFFF"/>
          </a:solidFill>
          <a:ln w="9525">
            <a:solidFill>
              <a:srgbClr val="D9D2CE"/>
            </a:solidFill>
            <a:prstDash val="solid"/>
          </a:ln>
        </p:spPr>
      </p:sp>
      <p:sp>
        <p:nvSpPr>
          <p:cNvPr id="17" name="椭圆 16"/>
          <p:cNvSpPr>
            <a:spLocks noGrp="1"/>
          </p:cNvSpPr>
          <p:nvPr/>
        </p:nvSpPr>
        <p:spPr>
          <a:xfrm>
            <a:off x="628650" y="3662045"/>
            <a:ext cx="171450" cy="171450"/>
          </a:xfrm>
          <a:prstGeom prst="ellipse">
            <a:avLst/>
          </a:prstGeom>
          <a:solidFill>
            <a:srgbClr val="91252F"/>
          </a:solidFill>
          <a:ln w="9525">
            <a:solidFill>
              <a:srgbClr val="91252F"/>
            </a:solidFill>
            <a:prstDash val="solid"/>
          </a:ln>
        </p:spPr>
      </p:sp>
      <p:sp>
        <p:nvSpPr>
          <p:cNvPr id="18" name="矩形 17"/>
          <p:cNvSpPr>
            <a:spLocks noGrp="1"/>
          </p:cNvSpPr>
          <p:nvPr/>
        </p:nvSpPr>
        <p:spPr>
          <a:xfrm>
            <a:off x="847725" y="3633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91252F"/>
                </a:solidFill>
                <a:latin typeface="Noto Sans Hans"/>
                <a:ea typeface="Noto Sans Hans"/>
                <a:cs typeface="Noto Sans Hans"/>
              </a:defRPr>
            </a:pPr>
            <a:r>
              <a:rPr sz="1070" b="1">
                <a:solidFill>
                  <a:srgbClr val="91252F"/>
                </a:solidFill>
                <a:latin typeface="Noto Sans Hans"/>
                <a:ea typeface="Noto Sans Hans"/>
                <a:cs typeface="Noto Sans Hans"/>
              </a:rPr>
              <a:t>2026</a:t>
            </a:r>
            <a:endParaRPr sz="1070" b="1">
              <a:solidFill>
                <a:srgbClr val="91252F"/>
              </a:solidFill>
              <a:latin typeface="Noto Sans Hans"/>
              <a:ea typeface="Noto Sans Hans"/>
              <a:cs typeface="Noto Sans Hans"/>
            </a:endParaRPr>
          </a:p>
        </p:txBody>
      </p:sp>
      <p:sp>
        <p:nvSpPr>
          <p:cNvPr id="19" name="矩形 18"/>
          <p:cNvSpPr>
            <a:spLocks noGrp="1"/>
          </p:cNvSpPr>
          <p:nvPr/>
        </p:nvSpPr>
        <p:spPr>
          <a:xfrm>
            <a:off x="1381125" y="3633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毫米波/视觉监测试点</a:t>
            </a:r>
            <a:endParaRPr sz="1200" b="1">
              <a:solidFill>
                <a:srgbClr val="403A38"/>
              </a:solidFill>
              <a:latin typeface="Noto Sans Hans"/>
              <a:ea typeface="Noto Sans Hans"/>
              <a:cs typeface="Noto Sans Hans"/>
            </a:endParaRPr>
          </a:p>
        </p:txBody>
      </p:sp>
      <p:sp>
        <p:nvSpPr>
          <p:cNvPr id="20" name="矩形 19"/>
          <p:cNvSpPr>
            <a:spLocks noGrp="1"/>
          </p:cNvSpPr>
          <p:nvPr/>
        </p:nvSpPr>
        <p:spPr>
          <a:xfrm>
            <a:off x="704850" y="3833495"/>
            <a:ext cx="19050" cy="209550"/>
          </a:xfrm>
          <a:prstGeom prst="rect">
            <a:avLst/>
          </a:prstGeom>
          <a:solidFill>
            <a:srgbClr val="91252F"/>
          </a:solidFill>
          <a:ln w="0">
            <a:noFill/>
            <a:prstDash val="solid"/>
          </a:ln>
        </p:spPr>
      </p:sp>
      <p:sp>
        <p:nvSpPr>
          <p:cNvPr id="21" name="椭圆 20"/>
          <p:cNvSpPr>
            <a:spLocks noGrp="1"/>
          </p:cNvSpPr>
          <p:nvPr/>
        </p:nvSpPr>
        <p:spPr>
          <a:xfrm>
            <a:off x="628650" y="4043045"/>
            <a:ext cx="171450" cy="171450"/>
          </a:xfrm>
          <a:prstGeom prst="ellipse">
            <a:avLst/>
          </a:prstGeom>
          <a:solidFill>
            <a:srgbClr val="FFFFFF"/>
          </a:solidFill>
          <a:ln w="9525">
            <a:solidFill>
              <a:srgbClr val="91252F"/>
            </a:solidFill>
            <a:prstDash val="solid"/>
          </a:ln>
        </p:spPr>
      </p:sp>
      <p:sp>
        <p:nvSpPr>
          <p:cNvPr id="22" name="矩形 21"/>
          <p:cNvSpPr>
            <a:spLocks noGrp="1"/>
          </p:cNvSpPr>
          <p:nvPr/>
        </p:nvSpPr>
        <p:spPr>
          <a:xfrm>
            <a:off x="847725" y="4014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91252F"/>
                </a:solidFill>
                <a:latin typeface="Noto Sans Hans"/>
                <a:ea typeface="Noto Sans Hans"/>
                <a:cs typeface="Noto Sans Hans"/>
              </a:defRPr>
            </a:pPr>
            <a:r>
              <a:rPr sz="1070" b="1">
                <a:solidFill>
                  <a:srgbClr val="91252F"/>
                </a:solidFill>
                <a:latin typeface="Noto Sans Hans"/>
                <a:ea typeface="Noto Sans Hans"/>
                <a:cs typeface="Noto Sans Hans"/>
              </a:rPr>
              <a:t>2028</a:t>
            </a:r>
            <a:endParaRPr sz="1070" b="1">
              <a:solidFill>
                <a:srgbClr val="91252F"/>
              </a:solidFill>
              <a:latin typeface="Noto Sans Hans"/>
              <a:ea typeface="Noto Sans Hans"/>
              <a:cs typeface="Noto Sans Hans"/>
            </a:endParaRPr>
          </a:p>
        </p:txBody>
      </p:sp>
      <p:sp>
        <p:nvSpPr>
          <p:cNvPr id="23" name="矩形 22"/>
          <p:cNvSpPr>
            <a:spLocks noGrp="1"/>
          </p:cNvSpPr>
          <p:nvPr/>
        </p:nvSpPr>
        <p:spPr>
          <a:xfrm>
            <a:off x="1381125" y="4014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触觉、生命体征与语音融合</a:t>
            </a:r>
            <a:endParaRPr sz="1200" b="1">
              <a:solidFill>
                <a:srgbClr val="403A38"/>
              </a:solidFill>
              <a:latin typeface="Noto Sans Hans"/>
              <a:ea typeface="Noto Sans Hans"/>
              <a:cs typeface="Noto Sans Hans"/>
            </a:endParaRPr>
          </a:p>
        </p:txBody>
      </p:sp>
      <p:sp>
        <p:nvSpPr>
          <p:cNvPr id="24" name="矩形 23"/>
          <p:cNvSpPr>
            <a:spLocks noGrp="1"/>
          </p:cNvSpPr>
          <p:nvPr/>
        </p:nvSpPr>
        <p:spPr>
          <a:xfrm>
            <a:off x="704850" y="4214495"/>
            <a:ext cx="19050" cy="209550"/>
          </a:xfrm>
          <a:prstGeom prst="rect">
            <a:avLst/>
          </a:prstGeom>
          <a:solidFill>
            <a:srgbClr val="91252F"/>
          </a:solidFill>
          <a:ln w="0">
            <a:noFill/>
            <a:prstDash val="solid"/>
          </a:ln>
        </p:spPr>
      </p:sp>
      <p:sp>
        <p:nvSpPr>
          <p:cNvPr id="25" name="椭圆 24"/>
          <p:cNvSpPr>
            <a:spLocks noGrp="1"/>
          </p:cNvSpPr>
          <p:nvPr/>
        </p:nvSpPr>
        <p:spPr>
          <a:xfrm>
            <a:off x="628650" y="4424045"/>
            <a:ext cx="171450" cy="171450"/>
          </a:xfrm>
          <a:prstGeom prst="ellipse">
            <a:avLst/>
          </a:prstGeom>
          <a:solidFill>
            <a:srgbClr val="FFFFFF"/>
          </a:solidFill>
          <a:ln w="9525">
            <a:solidFill>
              <a:srgbClr val="91252F"/>
            </a:solidFill>
            <a:prstDash val="solid"/>
          </a:ln>
        </p:spPr>
      </p:sp>
      <p:sp>
        <p:nvSpPr>
          <p:cNvPr id="26" name="矩形 25"/>
          <p:cNvSpPr>
            <a:spLocks noGrp="1"/>
          </p:cNvSpPr>
          <p:nvPr/>
        </p:nvSpPr>
        <p:spPr>
          <a:xfrm>
            <a:off x="847725" y="4395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91252F"/>
                </a:solidFill>
                <a:latin typeface="Noto Sans Hans"/>
                <a:ea typeface="Noto Sans Hans"/>
                <a:cs typeface="Noto Sans Hans"/>
              </a:defRPr>
            </a:pPr>
            <a:r>
              <a:rPr sz="1070" b="1">
                <a:solidFill>
                  <a:srgbClr val="91252F"/>
                </a:solidFill>
                <a:latin typeface="Noto Sans Hans"/>
                <a:ea typeface="Noto Sans Hans"/>
                <a:cs typeface="Noto Sans Hans"/>
              </a:rPr>
              <a:t>2030</a:t>
            </a:r>
            <a:endParaRPr sz="1070" b="1">
              <a:solidFill>
                <a:srgbClr val="91252F"/>
              </a:solidFill>
              <a:latin typeface="Noto Sans Hans"/>
              <a:ea typeface="Noto Sans Hans"/>
              <a:cs typeface="Noto Sans Hans"/>
            </a:endParaRPr>
          </a:p>
        </p:txBody>
      </p:sp>
      <p:sp>
        <p:nvSpPr>
          <p:cNvPr id="27" name="矩形 26"/>
          <p:cNvSpPr>
            <a:spLocks noGrp="1"/>
          </p:cNvSpPr>
          <p:nvPr/>
        </p:nvSpPr>
        <p:spPr>
          <a:xfrm>
            <a:off x="1381125" y="4395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连续状态理解与主动预警</a:t>
            </a:r>
            <a:endParaRPr sz="1200" b="1">
              <a:solidFill>
                <a:srgbClr val="403A38"/>
              </a:solidFill>
              <a:latin typeface="Noto Sans Hans"/>
              <a:ea typeface="Noto Sans Hans"/>
              <a:cs typeface="Noto Sans Hans"/>
            </a:endParaRPr>
          </a:p>
        </p:txBody>
      </p:sp>
      <p:sp>
        <p:nvSpPr>
          <p:cNvPr id="28" name="矩形 27"/>
          <p:cNvSpPr>
            <a:spLocks noGrp="1"/>
          </p:cNvSpPr>
          <p:nvPr/>
        </p:nvSpPr>
        <p:spPr>
          <a:xfrm>
            <a:off x="590550" y="49288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91252F"/>
                </a:solidFill>
                <a:latin typeface="Noto Sans Hans"/>
                <a:ea typeface="Noto Sans Hans"/>
                <a:cs typeface="Noto Sans Hans"/>
              </a:defRPr>
            </a:pPr>
            <a:r>
              <a:rPr sz="1200" b="1">
                <a:solidFill>
                  <a:srgbClr val="91252F"/>
                </a:solidFill>
                <a:latin typeface="Noto Sans Hans"/>
                <a:ea typeface="Noto Sans Hans"/>
                <a:cs typeface="Noto Sans Hans"/>
              </a:rPr>
              <a:t>核心洞见</a:t>
            </a:r>
            <a:endParaRPr sz="1200" b="1">
              <a:solidFill>
                <a:srgbClr val="91252F"/>
              </a:solidFill>
              <a:latin typeface="Noto Sans Hans"/>
              <a:ea typeface="Noto Sans Hans"/>
              <a:cs typeface="Noto Sans Hans"/>
            </a:endParaRPr>
          </a:p>
        </p:txBody>
      </p:sp>
      <p:sp>
        <p:nvSpPr>
          <p:cNvPr id="29" name="矩形 28"/>
          <p:cNvSpPr>
            <a:spLocks noGrp="1"/>
          </p:cNvSpPr>
          <p:nvPr/>
        </p:nvSpPr>
        <p:spPr>
          <a:xfrm>
            <a:off x="476250" y="5195570"/>
            <a:ext cx="3524250" cy="1000125"/>
          </a:xfrm>
          <a:prstGeom prst="rect">
            <a:avLst/>
          </a:prstGeom>
          <a:solidFill>
            <a:srgbClr val="F9E8E7"/>
          </a:solidFill>
          <a:ln w="0">
            <a:noFill/>
            <a:prstDash val="solid"/>
          </a:ln>
        </p:spPr>
      </p:sp>
      <p:sp>
        <p:nvSpPr>
          <p:cNvPr id="30" name="矩形 29"/>
          <p:cNvSpPr>
            <a:spLocks noGrp="1"/>
          </p:cNvSpPr>
          <p:nvPr/>
        </p:nvSpPr>
        <p:spPr>
          <a:xfrm>
            <a:off x="609600" y="5290820"/>
            <a:ext cx="3257550" cy="7905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8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成熟视觉与监测技术可先导入，但养老场景的核心不只是“识别”，而是降低误报并形成异常处置闭环。</a:t>
            </a:r>
            <a:endParaRPr sz="1100" b="0">
              <a:solidFill>
                <a:srgbClr val="403A38"/>
              </a:solidFill>
              <a:latin typeface="Noto Sans Hans"/>
              <a:ea typeface="Noto Sans Hans"/>
              <a:cs typeface="Noto Sans Hans"/>
            </a:endParaRPr>
          </a:p>
        </p:txBody>
      </p:sp>
      <p:sp>
        <p:nvSpPr>
          <p:cNvPr id="31" name="矩形 30"/>
          <p:cNvSpPr>
            <a:spLocks noGrp="1"/>
          </p:cNvSpPr>
          <p:nvPr/>
        </p:nvSpPr>
        <p:spPr>
          <a:xfrm>
            <a:off x="561975" y="6005195"/>
            <a:ext cx="3352800" cy="228600"/>
          </a:xfrm>
          <a:prstGeom prst="rect">
            <a:avLst/>
          </a:prstGeom>
          <a:noFill/>
          <a:ln w="0">
            <a:noFill/>
            <a:prstDash val="solid"/>
          </a:ln>
        </p:spPr>
        <p:txBody>
          <a:bodyPr wrap="square" lIns="47625" tIns="19050" rIns="47625" bIns="19050" anchor="ctr">
            <a:normAutofit/>
          </a:bodyPr>
          <a:lstStyle/>
          <a:p>
            <a:pPr algn="ctr">
              <a:defRPr sz="790" b="1">
                <a:solidFill>
                  <a:srgbClr val="91252F"/>
                </a:solidFill>
                <a:latin typeface="Noto Sans Hans"/>
                <a:ea typeface="Noto Sans Hans"/>
                <a:cs typeface="Noto Sans Hans"/>
              </a:defRPr>
            </a:pPr>
            <a:r>
              <a:rPr sz="990" b="1">
                <a:solidFill>
                  <a:srgbClr val="91252F"/>
                </a:solidFill>
                <a:latin typeface="Noto Sans Hans"/>
                <a:ea typeface="Noto Sans Hans"/>
                <a:cs typeface="Noto Sans Hans"/>
              </a:rPr>
              <a:t>代表主体：奥比中光｜科大讯飞｜华威科</a:t>
            </a:r>
            <a:endParaRPr sz="990" b="1">
              <a:solidFill>
                <a:srgbClr val="91252F"/>
              </a:solidFill>
              <a:highlight>
                <a:srgbClr val="FFFF00"/>
              </a:highlight>
              <a:latin typeface="Noto Sans Hans"/>
              <a:ea typeface="Noto Sans Hans"/>
              <a:cs typeface="Noto Sans Hans"/>
            </a:endParaRPr>
          </a:p>
        </p:txBody>
      </p:sp>
      <p:sp>
        <p:nvSpPr>
          <p:cNvPr id="32" name="矩形 31"/>
          <p:cNvSpPr>
            <a:spLocks noGrp="1"/>
          </p:cNvSpPr>
          <p:nvPr/>
        </p:nvSpPr>
        <p:spPr>
          <a:xfrm>
            <a:off x="4238625" y="1233170"/>
            <a:ext cx="3524250" cy="619125"/>
          </a:xfrm>
          <a:prstGeom prst="rect">
            <a:avLst/>
          </a:prstGeom>
          <a:solidFill>
            <a:srgbClr val="C94722"/>
          </a:solidFill>
          <a:ln w="0">
            <a:noFill/>
            <a:prstDash val="solid"/>
          </a:ln>
        </p:spPr>
      </p:sp>
      <p:sp>
        <p:nvSpPr>
          <p:cNvPr id="33" name="矩形 32"/>
          <p:cNvSpPr>
            <a:spLocks noGrp="1"/>
          </p:cNvSpPr>
          <p:nvPr/>
        </p:nvSpPr>
        <p:spPr>
          <a:xfrm>
            <a:off x="4352925" y="1290320"/>
            <a:ext cx="323850" cy="409575"/>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2000" b="1">
                <a:solidFill>
                  <a:srgbClr val="FFFFFF"/>
                </a:solidFill>
                <a:latin typeface="Noto Sans Hans"/>
                <a:ea typeface="Noto Sans Hans"/>
                <a:cs typeface="Noto Sans Hans"/>
              </a:rPr>
              <a:t>2.</a:t>
            </a:r>
            <a:endParaRPr sz="2000" b="1">
              <a:solidFill>
                <a:srgbClr val="FFFFFF"/>
              </a:solidFill>
              <a:latin typeface="Noto Sans Hans"/>
              <a:ea typeface="Noto Sans Hans"/>
              <a:cs typeface="Noto Sans Hans"/>
            </a:endParaRPr>
          </a:p>
        </p:txBody>
      </p:sp>
      <p:sp>
        <p:nvSpPr>
          <p:cNvPr id="34" name="矩形 33"/>
          <p:cNvSpPr>
            <a:spLocks noGrp="1"/>
          </p:cNvSpPr>
          <p:nvPr/>
        </p:nvSpPr>
        <p:spPr>
          <a:xfrm>
            <a:off x="4733925" y="1271270"/>
            <a:ext cx="1285875" cy="304800"/>
          </a:xfrm>
          <a:prstGeom prst="rect">
            <a:avLst/>
          </a:prstGeom>
          <a:noFill/>
          <a:ln w="0">
            <a:noFill/>
            <a:prstDash val="solid"/>
          </a:ln>
        </p:spPr>
        <p:txBody>
          <a:bodyPr wrap="square" lIns="47625" tIns="19050" rIns="47625" bIns="19050" anchor="ctr">
            <a:noAutofit/>
          </a:bodyPr>
          <a:lstStyle/>
          <a:p>
            <a:pPr algn="l">
              <a:defRPr sz="150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接触得安全</a:t>
            </a:r>
            <a:endParaRPr sz="1800" b="1">
              <a:solidFill>
                <a:srgbClr val="FFFFFF"/>
              </a:solidFill>
              <a:latin typeface="Noto Sans Hans"/>
              <a:ea typeface="Noto Sans Hans"/>
              <a:cs typeface="Noto Sans Hans"/>
            </a:endParaRPr>
          </a:p>
        </p:txBody>
      </p:sp>
      <p:sp>
        <p:nvSpPr>
          <p:cNvPr id="35" name="矩形 34"/>
          <p:cNvSpPr>
            <a:spLocks noGrp="1"/>
          </p:cNvSpPr>
          <p:nvPr/>
        </p:nvSpPr>
        <p:spPr>
          <a:xfrm>
            <a:off x="4733925" y="1557020"/>
            <a:ext cx="2905125" cy="219075"/>
          </a:xfrm>
          <a:prstGeom prst="rect">
            <a:avLst/>
          </a:prstGeom>
          <a:noFill/>
          <a:ln w="0">
            <a:noFill/>
            <a:prstDash val="solid"/>
          </a:ln>
        </p:spPr>
        <p:txBody>
          <a:bodyPr wrap="square" lIns="47625" tIns="19050" rIns="47625" bIns="19050" anchor="ctr">
            <a:noAutofit/>
          </a:bodyPr>
          <a:lstStyle/>
          <a:p>
            <a:pPr algn="l">
              <a:defRPr sz="900" b="0">
                <a:solidFill>
                  <a:srgbClr val="FFF5EF"/>
                </a:solidFill>
                <a:latin typeface="Noto Sans Hans"/>
                <a:ea typeface="Noto Sans Hans"/>
                <a:cs typeface="Noto Sans Hans"/>
              </a:defRPr>
            </a:pPr>
            <a:r>
              <a:rPr sz="1200" b="0">
                <a:solidFill>
                  <a:srgbClr val="FFF5EF"/>
                </a:solidFill>
                <a:latin typeface="Noto Sans Hans"/>
                <a:ea typeface="Noto Sans Hans"/>
                <a:cs typeface="Noto Sans Hans"/>
              </a:rPr>
              <a:t>柔顺控制与康复护理闭环</a:t>
            </a:r>
            <a:endParaRPr sz="1200" b="0">
              <a:solidFill>
                <a:srgbClr val="FFF5EF"/>
              </a:solidFill>
              <a:latin typeface="Noto Sans Hans"/>
              <a:ea typeface="Noto Sans Hans"/>
              <a:cs typeface="Noto Sans Hans"/>
            </a:endParaRPr>
          </a:p>
        </p:txBody>
      </p:sp>
      <p:sp>
        <p:nvSpPr>
          <p:cNvPr id="36" name="矩形 35"/>
          <p:cNvSpPr>
            <a:spLocks noGrp="1"/>
          </p:cNvSpPr>
          <p:nvPr/>
        </p:nvSpPr>
        <p:spPr>
          <a:xfrm>
            <a:off x="4352925" y="19570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C94722"/>
                </a:solidFill>
                <a:latin typeface="Noto Sans Hans"/>
                <a:ea typeface="Noto Sans Hans"/>
                <a:cs typeface="Noto Sans Hans"/>
              </a:defRPr>
            </a:pPr>
            <a:r>
              <a:rPr sz="1200" b="1">
                <a:solidFill>
                  <a:srgbClr val="C94722"/>
                </a:solidFill>
                <a:latin typeface="Noto Sans Hans"/>
                <a:ea typeface="Noto Sans Hans"/>
                <a:cs typeface="Noto Sans Hans"/>
              </a:rPr>
              <a:t>技术要点</a:t>
            </a:r>
            <a:endParaRPr sz="1200" b="1">
              <a:solidFill>
                <a:srgbClr val="C94722"/>
              </a:solidFill>
              <a:latin typeface="Noto Sans Hans"/>
              <a:ea typeface="Noto Sans Hans"/>
              <a:cs typeface="Noto Sans Hans"/>
            </a:endParaRPr>
          </a:p>
        </p:txBody>
      </p:sp>
      <p:sp>
        <p:nvSpPr>
          <p:cNvPr id="37" name="矩形 36"/>
          <p:cNvSpPr>
            <a:spLocks noGrp="1"/>
          </p:cNvSpPr>
          <p:nvPr/>
        </p:nvSpPr>
        <p:spPr>
          <a:xfrm>
            <a:off x="4238625" y="2214245"/>
            <a:ext cx="3524250" cy="1000125"/>
          </a:xfrm>
          <a:prstGeom prst="rect">
            <a:avLst/>
          </a:prstGeom>
          <a:solidFill>
            <a:srgbClr val="F6F3F1"/>
          </a:solidFill>
          <a:ln w="0">
            <a:noFill/>
            <a:prstDash val="solid"/>
          </a:ln>
        </p:spPr>
      </p:sp>
      <p:sp>
        <p:nvSpPr>
          <p:cNvPr id="38" name="矩形 37"/>
          <p:cNvSpPr>
            <a:spLocks noGrp="1"/>
          </p:cNvSpPr>
          <p:nvPr/>
        </p:nvSpPr>
        <p:spPr>
          <a:xfrm>
            <a:off x="4391025" y="2319020"/>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限力、急停、冗余制动</a:t>
            </a:r>
            <a:endParaRPr sz="1200" b="0">
              <a:solidFill>
                <a:srgbClr val="403A38"/>
              </a:solidFill>
              <a:latin typeface="Noto Sans Hans"/>
              <a:ea typeface="Noto Sans Hans"/>
              <a:cs typeface="Noto Sans Hans"/>
            </a:endParaRPr>
          </a:p>
        </p:txBody>
      </p:sp>
      <p:sp>
        <p:nvSpPr>
          <p:cNvPr id="39" name="矩形 38"/>
          <p:cNvSpPr>
            <a:spLocks noGrp="1"/>
          </p:cNvSpPr>
          <p:nvPr/>
        </p:nvSpPr>
        <p:spPr>
          <a:xfrm>
            <a:off x="4391025" y="2595245"/>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适配老人个体差异与长期使用</a:t>
            </a:r>
            <a:endParaRPr sz="1200" b="0">
              <a:solidFill>
                <a:srgbClr val="403A38"/>
              </a:solidFill>
              <a:latin typeface="Noto Sans Hans"/>
              <a:ea typeface="Noto Sans Hans"/>
              <a:cs typeface="Noto Sans Hans"/>
            </a:endParaRPr>
          </a:p>
        </p:txBody>
      </p:sp>
      <p:sp>
        <p:nvSpPr>
          <p:cNvPr id="40" name="矩形 39"/>
          <p:cNvSpPr>
            <a:spLocks noGrp="1"/>
          </p:cNvSpPr>
          <p:nvPr/>
        </p:nvSpPr>
        <p:spPr>
          <a:xfrm>
            <a:off x="4391025" y="2871470"/>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用临床证据和真实世界数据验证效果</a:t>
            </a:r>
            <a:endParaRPr sz="1200" b="0">
              <a:solidFill>
                <a:srgbClr val="403A38"/>
              </a:solidFill>
              <a:latin typeface="Noto Sans Hans"/>
              <a:ea typeface="Noto Sans Hans"/>
              <a:cs typeface="Noto Sans Hans"/>
            </a:endParaRPr>
          </a:p>
        </p:txBody>
      </p:sp>
      <p:sp>
        <p:nvSpPr>
          <p:cNvPr id="41" name="矩形 40"/>
          <p:cNvSpPr>
            <a:spLocks noGrp="1"/>
          </p:cNvSpPr>
          <p:nvPr/>
        </p:nvSpPr>
        <p:spPr>
          <a:xfrm>
            <a:off x="4352925" y="32905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C94722"/>
                </a:solidFill>
                <a:latin typeface="Noto Sans Hans"/>
                <a:ea typeface="Noto Sans Hans"/>
                <a:cs typeface="Noto Sans Hans"/>
              </a:defRPr>
            </a:pPr>
            <a:r>
              <a:rPr sz="1200" b="1">
                <a:solidFill>
                  <a:srgbClr val="C94722"/>
                </a:solidFill>
                <a:latin typeface="Noto Sans Hans"/>
                <a:ea typeface="Noto Sans Hans"/>
                <a:cs typeface="Noto Sans Hans"/>
              </a:rPr>
              <a:t>阶段进程</a:t>
            </a:r>
            <a:endParaRPr sz="1200" b="1">
              <a:solidFill>
                <a:srgbClr val="C94722"/>
              </a:solidFill>
              <a:latin typeface="Noto Sans Hans"/>
              <a:ea typeface="Noto Sans Hans"/>
              <a:cs typeface="Noto Sans Hans"/>
            </a:endParaRPr>
          </a:p>
        </p:txBody>
      </p:sp>
      <p:sp>
        <p:nvSpPr>
          <p:cNvPr id="42" name="矩形 41"/>
          <p:cNvSpPr>
            <a:spLocks noGrp="1"/>
          </p:cNvSpPr>
          <p:nvPr/>
        </p:nvSpPr>
        <p:spPr>
          <a:xfrm>
            <a:off x="4238625" y="3557270"/>
            <a:ext cx="3524250" cy="1295400"/>
          </a:xfrm>
          <a:prstGeom prst="rect">
            <a:avLst/>
          </a:prstGeom>
          <a:solidFill>
            <a:srgbClr val="FFFFFF"/>
          </a:solidFill>
          <a:ln w="9525">
            <a:solidFill>
              <a:srgbClr val="D9D2CE"/>
            </a:solidFill>
            <a:prstDash val="solid"/>
          </a:ln>
        </p:spPr>
      </p:sp>
      <p:sp>
        <p:nvSpPr>
          <p:cNvPr id="43" name="椭圆 42"/>
          <p:cNvSpPr>
            <a:spLocks noGrp="1"/>
          </p:cNvSpPr>
          <p:nvPr/>
        </p:nvSpPr>
        <p:spPr>
          <a:xfrm>
            <a:off x="4391025" y="3662045"/>
            <a:ext cx="171450" cy="171450"/>
          </a:xfrm>
          <a:prstGeom prst="ellipse">
            <a:avLst/>
          </a:prstGeom>
          <a:solidFill>
            <a:srgbClr val="C94722"/>
          </a:solidFill>
          <a:ln w="9525">
            <a:solidFill>
              <a:srgbClr val="C94722"/>
            </a:solidFill>
            <a:prstDash val="solid"/>
          </a:ln>
        </p:spPr>
      </p:sp>
      <p:sp>
        <p:nvSpPr>
          <p:cNvPr id="44" name="矩形 43"/>
          <p:cNvSpPr>
            <a:spLocks noGrp="1"/>
          </p:cNvSpPr>
          <p:nvPr/>
        </p:nvSpPr>
        <p:spPr>
          <a:xfrm>
            <a:off x="4610100" y="3633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C94722"/>
                </a:solidFill>
                <a:latin typeface="Noto Sans Hans"/>
                <a:ea typeface="Noto Sans Hans"/>
                <a:cs typeface="Noto Sans Hans"/>
              </a:defRPr>
            </a:pPr>
            <a:r>
              <a:rPr sz="1070" b="1">
                <a:solidFill>
                  <a:srgbClr val="C94722"/>
                </a:solidFill>
                <a:latin typeface="Noto Sans Hans"/>
                <a:ea typeface="Noto Sans Hans"/>
                <a:cs typeface="Noto Sans Hans"/>
              </a:rPr>
              <a:t>2026</a:t>
            </a:r>
            <a:endParaRPr sz="1070" b="1">
              <a:solidFill>
                <a:srgbClr val="C94722"/>
              </a:solidFill>
              <a:latin typeface="Noto Sans Hans"/>
              <a:ea typeface="Noto Sans Hans"/>
              <a:cs typeface="Noto Sans Hans"/>
            </a:endParaRPr>
          </a:p>
        </p:txBody>
      </p:sp>
      <p:sp>
        <p:nvSpPr>
          <p:cNvPr id="45" name="矩形 44"/>
          <p:cNvSpPr>
            <a:spLocks noGrp="1"/>
          </p:cNvSpPr>
          <p:nvPr/>
        </p:nvSpPr>
        <p:spPr>
          <a:xfrm>
            <a:off x="5143500" y="3633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外骨骼/康复训练规模验证</a:t>
            </a:r>
            <a:endParaRPr sz="1200" b="1">
              <a:solidFill>
                <a:srgbClr val="403A38"/>
              </a:solidFill>
              <a:latin typeface="Noto Sans Hans"/>
              <a:ea typeface="Noto Sans Hans"/>
              <a:cs typeface="Noto Sans Hans"/>
            </a:endParaRPr>
          </a:p>
        </p:txBody>
      </p:sp>
      <p:sp>
        <p:nvSpPr>
          <p:cNvPr id="46" name="矩形 45"/>
          <p:cNvSpPr>
            <a:spLocks noGrp="1"/>
          </p:cNvSpPr>
          <p:nvPr/>
        </p:nvSpPr>
        <p:spPr>
          <a:xfrm>
            <a:off x="4467225" y="3833495"/>
            <a:ext cx="19050" cy="209550"/>
          </a:xfrm>
          <a:prstGeom prst="rect">
            <a:avLst/>
          </a:prstGeom>
          <a:solidFill>
            <a:srgbClr val="C94722"/>
          </a:solidFill>
          <a:ln w="0">
            <a:noFill/>
            <a:prstDash val="solid"/>
          </a:ln>
        </p:spPr>
      </p:sp>
      <p:sp>
        <p:nvSpPr>
          <p:cNvPr id="47" name="椭圆 46"/>
          <p:cNvSpPr>
            <a:spLocks noGrp="1"/>
          </p:cNvSpPr>
          <p:nvPr/>
        </p:nvSpPr>
        <p:spPr>
          <a:xfrm>
            <a:off x="4391025" y="4043045"/>
            <a:ext cx="171450" cy="171450"/>
          </a:xfrm>
          <a:prstGeom prst="ellipse">
            <a:avLst/>
          </a:prstGeom>
          <a:solidFill>
            <a:srgbClr val="FFFFFF"/>
          </a:solidFill>
          <a:ln w="9525">
            <a:solidFill>
              <a:srgbClr val="C94722"/>
            </a:solidFill>
            <a:prstDash val="solid"/>
          </a:ln>
        </p:spPr>
      </p:sp>
      <p:sp>
        <p:nvSpPr>
          <p:cNvPr id="48" name="矩形 47"/>
          <p:cNvSpPr>
            <a:spLocks noGrp="1"/>
          </p:cNvSpPr>
          <p:nvPr/>
        </p:nvSpPr>
        <p:spPr>
          <a:xfrm>
            <a:off x="4610100" y="4014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C94722"/>
                </a:solidFill>
                <a:latin typeface="Noto Sans Hans"/>
                <a:ea typeface="Noto Sans Hans"/>
                <a:cs typeface="Noto Sans Hans"/>
              </a:defRPr>
            </a:pPr>
            <a:r>
              <a:rPr sz="1070" b="1">
                <a:solidFill>
                  <a:srgbClr val="C94722"/>
                </a:solidFill>
                <a:latin typeface="Noto Sans Hans"/>
                <a:ea typeface="Noto Sans Hans"/>
                <a:cs typeface="Noto Sans Hans"/>
              </a:rPr>
              <a:t>2028</a:t>
            </a:r>
            <a:endParaRPr sz="1070" b="1">
              <a:solidFill>
                <a:srgbClr val="C94722"/>
              </a:solidFill>
              <a:latin typeface="Noto Sans Hans"/>
              <a:ea typeface="Noto Sans Hans"/>
              <a:cs typeface="Noto Sans Hans"/>
            </a:endParaRPr>
          </a:p>
        </p:txBody>
      </p:sp>
      <p:sp>
        <p:nvSpPr>
          <p:cNvPr id="49" name="矩形 48"/>
          <p:cNvSpPr>
            <a:spLocks noGrp="1"/>
          </p:cNvSpPr>
          <p:nvPr/>
        </p:nvSpPr>
        <p:spPr>
          <a:xfrm>
            <a:off x="5143500" y="4014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移乘、二便、助浴安全定型</a:t>
            </a:r>
            <a:endParaRPr sz="1200" b="1">
              <a:solidFill>
                <a:srgbClr val="403A38"/>
              </a:solidFill>
              <a:latin typeface="Noto Sans Hans"/>
              <a:ea typeface="Noto Sans Hans"/>
              <a:cs typeface="Noto Sans Hans"/>
            </a:endParaRPr>
          </a:p>
        </p:txBody>
      </p:sp>
      <p:sp>
        <p:nvSpPr>
          <p:cNvPr id="50" name="矩形 49"/>
          <p:cNvSpPr>
            <a:spLocks noGrp="1"/>
          </p:cNvSpPr>
          <p:nvPr/>
        </p:nvSpPr>
        <p:spPr>
          <a:xfrm>
            <a:off x="4467225" y="4214495"/>
            <a:ext cx="19050" cy="209550"/>
          </a:xfrm>
          <a:prstGeom prst="rect">
            <a:avLst/>
          </a:prstGeom>
          <a:solidFill>
            <a:srgbClr val="C94722"/>
          </a:solidFill>
          <a:ln w="0">
            <a:noFill/>
            <a:prstDash val="solid"/>
          </a:ln>
        </p:spPr>
      </p:sp>
      <p:sp>
        <p:nvSpPr>
          <p:cNvPr id="51" name="椭圆 50"/>
          <p:cNvSpPr>
            <a:spLocks noGrp="1"/>
          </p:cNvSpPr>
          <p:nvPr/>
        </p:nvSpPr>
        <p:spPr>
          <a:xfrm>
            <a:off x="4391025" y="4424045"/>
            <a:ext cx="171450" cy="171450"/>
          </a:xfrm>
          <a:prstGeom prst="ellipse">
            <a:avLst/>
          </a:prstGeom>
          <a:solidFill>
            <a:srgbClr val="FFFFFF"/>
          </a:solidFill>
          <a:ln w="9525">
            <a:solidFill>
              <a:srgbClr val="C94722"/>
            </a:solidFill>
            <a:prstDash val="solid"/>
          </a:ln>
        </p:spPr>
      </p:sp>
      <p:sp>
        <p:nvSpPr>
          <p:cNvPr id="52" name="矩形 51"/>
          <p:cNvSpPr>
            <a:spLocks noGrp="1"/>
          </p:cNvSpPr>
          <p:nvPr/>
        </p:nvSpPr>
        <p:spPr>
          <a:xfrm>
            <a:off x="4610100" y="4395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C94722"/>
                </a:solidFill>
                <a:latin typeface="Noto Sans Hans"/>
                <a:ea typeface="Noto Sans Hans"/>
                <a:cs typeface="Noto Sans Hans"/>
              </a:defRPr>
            </a:pPr>
            <a:r>
              <a:rPr sz="1070" b="1">
                <a:solidFill>
                  <a:srgbClr val="C94722"/>
                </a:solidFill>
                <a:latin typeface="Noto Sans Hans"/>
                <a:ea typeface="Noto Sans Hans"/>
                <a:cs typeface="Noto Sans Hans"/>
              </a:rPr>
              <a:t>2030</a:t>
            </a:r>
            <a:endParaRPr sz="1070" b="1">
              <a:solidFill>
                <a:srgbClr val="C94722"/>
              </a:solidFill>
              <a:latin typeface="Noto Sans Hans"/>
              <a:ea typeface="Noto Sans Hans"/>
              <a:cs typeface="Noto Sans Hans"/>
            </a:endParaRPr>
          </a:p>
        </p:txBody>
      </p:sp>
      <p:sp>
        <p:nvSpPr>
          <p:cNvPr id="53" name="矩形 52"/>
          <p:cNvSpPr>
            <a:spLocks noGrp="1"/>
          </p:cNvSpPr>
          <p:nvPr/>
        </p:nvSpPr>
        <p:spPr>
          <a:xfrm>
            <a:off x="5143500" y="4395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脑机/肌电驱动主动康复</a:t>
            </a:r>
            <a:endParaRPr sz="1200" b="1">
              <a:solidFill>
                <a:srgbClr val="403A38"/>
              </a:solidFill>
              <a:latin typeface="Noto Sans Hans"/>
              <a:ea typeface="Noto Sans Hans"/>
              <a:cs typeface="Noto Sans Hans"/>
            </a:endParaRPr>
          </a:p>
        </p:txBody>
      </p:sp>
      <p:sp>
        <p:nvSpPr>
          <p:cNvPr id="54" name="矩形 53"/>
          <p:cNvSpPr>
            <a:spLocks noGrp="1"/>
          </p:cNvSpPr>
          <p:nvPr/>
        </p:nvSpPr>
        <p:spPr>
          <a:xfrm>
            <a:off x="4352925" y="49288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C94722"/>
                </a:solidFill>
                <a:latin typeface="Noto Sans Hans"/>
                <a:ea typeface="Noto Sans Hans"/>
                <a:cs typeface="Noto Sans Hans"/>
              </a:defRPr>
            </a:pPr>
            <a:r>
              <a:rPr sz="1200" b="1">
                <a:solidFill>
                  <a:srgbClr val="C94722"/>
                </a:solidFill>
                <a:latin typeface="Noto Sans Hans"/>
                <a:ea typeface="Noto Sans Hans"/>
                <a:cs typeface="Noto Sans Hans"/>
              </a:rPr>
              <a:t>核心洞见</a:t>
            </a:r>
            <a:endParaRPr sz="1200" b="1">
              <a:solidFill>
                <a:srgbClr val="C94722"/>
              </a:solidFill>
              <a:latin typeface="Noto Sans Hans"/>
              <a:ea typeface="Noto Sans Hans"/>
              <a:cs typeface="Noto Sans Hans"/>
            </a:endParaRPr>
          </a:p>
        </p:txBody>
      </p:sp>
      <p:sp>
        <p:nvSpPr>
          <p:cNvPr id="55" name="矩形 54"/>
          <p:cNvSpPr>
            <a:spLocks noGrp="1"/>
          </p:cNvSpPr>
          <p:nvPr/>
        </p:nvSpPr>
        <p:spPr>
          <a:xfrm>
            <a:off x="4238625" y="5195570"/>
            <a:ext cx="3524250" cy="1000125"/>
          </a:xfrm>
          <a:prstGeom prst="rect">
            <a:avLst/>
          </a:prstGeom>
          <a:solidFill>
            <a:srgbClr val="F9E8E7"/>
          </a:solidFill>
          <a:ln w="0">
            <a:noFill/>
            <a:prstDash val="solid"/>
          </a:ln>
        </p:spPr>
      </p:sp>
      <p:sp>
        <p:nvSpPr>
          <p:cNvPr id="56" name="矩形 55"/>
          <p:cNvSpPr>
            <a:spLocks noGrp="1"/>
          </p:cNvSpPr>
          <p:nvPr/>
        </p:nvSpPr>
        <p:spPr>
          <a:xfrm>
            <a:off x="4371975" y="5290820"/>
            <a:ext cx="3257550" cy="7905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8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安全责任是护理机器人最大门槛。优先突破外骨骼和结构化护理任务，再向非结构化生活照料延伸。</a:t>
            </a:r>
            <a:endParaRPr sz="1100" b="0">
              <a:solidFill>
                <a:srgbClr val="403A38"/>
              </a:solidFill>
              <a:latin typeface="Noto Sans Hans"/>
              <a:ea typeface="Noto Sans Hans"/>
              <a:cs typeface="Noto Sans Hans"/>
            </a:endParaRPr>
          </a:p>
        </p:txBody>
      </p:sp>
      <p:sp>
        <p:nvSpPr>
          <p:cNvPr id="57" name="矩形 56"/>
          <p:cNvSpPr>
            <a:spLocks noGrp="1"/>
          </p:cNvSpPr>
          <p:nvPr/>
        </p:nvSpPr>
        <p:spPr>
          <a:xfrm>
            <a:off x="4324350" y="6005195"/>
            <a:ext cx="3352800" cy="228600"/>
          </a:xfrm>
          <a:prstGeom prst="rect">
            <a:avLst/>
          </a:prstGeom>
          <a:noFill/>
          <a:ln w="0">
            <a:noFill/>
            <a:prstDash val="solid"/>
          </a:ln>
        </p:spPr>
        <p:txBody>
          <a:bodyPr wrap="square" lIns="47625" tIns="19050" rIns="47625" bIns="19050" anchor="ctr">
            <a:normAutofit/>
          </a:bodyPr>
          <a:lstStyle/>
          <a:p>
            <a:pPr algn="ctr">
              <a:defRPr sz="790" b="1">
                <a:solidFill>
                  <a:srgbClr val="C94722"/>
                </a:solidFill>
                <a:latin typeface="Noto Sans Hans"/>
                <a:ea typeface="Noto Sans Hans"/>
                <a:cs typeface="Noto Sans Hans"/>
              </a:defRPr>
            </a:pPr>
            <a:r>
              <a:rPr sz="990" b="1">
                <a:solidFill>
                  <a:srgbClr val="C94722"/>
                </a:solidFill>
                <a:latin typeface="Noto Sans Hans"/>
                <a:ea typeface="Noto Sans Hans"/>
                <a:cs typeface="Noto Sans Hans"/>
              </a:rPr>
              <a:t>代表主体：傅利叶｜程天｜司羿｜伟思｜作为科技</a:t>
            </a:r>
            <a:endParaRPr sz="990" b="1">
              <a:solidFill>
                <a:srgbClr val="C94722"/>
              </a:solidFill>
              <a:latin typeface="Noto Sans Hans"/>
              <a:ea typeface="Noto Sans Hans"/>
              <a:cs typeface="Noto Sans Hans"/>
            </a:endParaRPr>
          </a:p>
        </p:txBody>
      </p:sp>
      <p:sp>
        <p:nvSpPr>
          <p:cNvPr id="58" name="矩形 57"/>
          <p:cNvSpPr>
            <a:spLocks noGrp="1"/>
          </p:cNvSpPr>
          <p:nvPr/>
        </p:nvSpPr>
        <p:spPr>
          <a:xfrm>
            <a:off x="8001000" y="1233170"/>
            <a:ext cx="3524250" cy="619125"/>
          </a:xfrm>
          <a:prstGeom prst="rect">
            <a:avLst/>
          </a:prstGeom>
          <a:solidFill>
            <a:srgbClr val="9A7000"/>
          </a:solidFill>
          <a:ln w="0">
            <a:noFill/>
            <a:prstDash val="solid"/>
          </a:ln>
        </p:spPr>
      </p:sp>
      <p:sp>
        <p:nvSpPr>
          <p:cNvPr id="59" name="矩形 58"/>
          <p:cNvSpPr>
            <a:spLocks noGrp="1"/>
          </p:cNvSpPr>
          <p:nvPr/>
        </p:nvSpPr>
        <p:spPr>
          <a:xfrm>
            <a:off x="8115300" y="1290320"/>
            <a:ext cx="323850" cy="409575"/>
          </a:xfrm>
          <a:prstGeom prst="rect">
            <a:avLst/>
          </a:prstGeom>
          <a:noFill/>
          <a:ln w="0">
            <a:noFill/>
            <a:prstDash val="solid"/>
          </a:ln>
        </p:spPr>
        <p:txBody>
          <a:bodyPr wrap="square" lIns="47625" tIns="19050" rIns="47625" bIns="19050" anchor="ctr">
            <a:normAutofit/>
          </a:bodyPr>
          <a:lstStyle/>
          <a:p>
            <a:pPr algn="ctr">
              <a:defRPr sz="1650" b="1">
                <a:solidFill>
                  <a:srgbClr val="FFFFFF"/>
                </a:solidFill>
                <a:latin typeface="Noto Sans Hans"/>
                <a:ea typeface="Noto Sans Hans"/>
                <a:cs typeface="Noto Sans Hans"/>
              </a:defRPr>
            </a:pPr>
            <a:r>
              <a:rPr sz="2000" b="1">
                <a:solidFill>
                  <a:srgbClr val="FFFFFF"/>
                </a:solidFill>
                <a:latin typeface="Noto Sans Hans"/>
                <a:ea typeface="Noto Sans Hans"/>
                <a:cs typeface="Noto Sans Hans"/>
              </a:rPr>
              <a:t>3.</a:t>
            </a:r>
            <a:endParaRPr sz="2000" b="1">
              <a:solidFill>
                <a:srgbClr val="FFFFFF"/>
              </a:solidFill>
              <a:latin typeface="Noto Sans Hans"/>
              <a:ea typeface="Noto Sans Hans"/>
              <a:cs typeface="Noto Sans Hans"/>
            </a:endParaRPr>
          </a:p>
        </p:txBody>
      </p:sp>
      <p:sp>
        <p:nvSpPr>
          <p:cNvPr id="60" name="矩形 59"/>
          <p:cNvSpPr>
            <a:spLocks noGrp="1"/>
          </p:cNvSpPr>
          <p:nvPr/>
        </p:nvSpPr>
        <p:spPr>
          <a:xfrm>
            <a:off x="8496300" y="1271270"/>
            <a:ext cx="1285875" cy="304800"/>
          </a:xfrm>
          <a:prstGeom prst="rect">
            <a:avLst/>
          </a:prstGeom>
          <a:noFill/>
          <a:ln w="0">
            <a:noFill/>
            <a:prstDash val="solid"/>
          </a:ln>
        </p:spPr>
        <p:txBody>
          <a:bodyPr wrap="square" lIns="47625" tIns="19050" rIns="47625" bIns="19050" anchor="ctr">
            <a:noAutofit/>
          </a:bodyPr>
          <a:lstStyle/>
          <a:p>
            <a:pPr algn="l">
              <a:defRPr sz="1500" b="1">
                <a:solidFill>
                  <a:srgbClr val="FFFFFF"/>
                </a:solidFill>
                <a:latin typeface="Noto Sans Hans"/>
                <a:ea typeface="Noto Sans Hans"/>
                <a:cs typeface="Noto Sans Hans"/>
              </a:defRPr>
            </a:pPr>
            <a:r>
              <a:rPr sz="1800" b="1">
                <a:solidFill>
                  <a:srgbClr val="FFFFFF"/>
                </a:solidFill>
                <a:latin typeface="Noto Sans Hans"/>
                <a:ea typeface="Noto Sans Hans"/>
                <a:cs typeface="Noto Sans Hans"/>
              </a:rPr>
              <a:t>运营得持续</a:t>
            </a:r>
            <a:endParaRPr sz="1800" b="1">
              <a:solidFill>
                <a:srgbClr val="FFFFFF"/>
              </a:solidFill>
              <a:latin typeface="Noto Sans Hans"/>
              <a:ea typeface="Noto Sans Hans"/>
              <a:cs typeface="Noto Sans Hans"/>
            </a:endParaRPr>
          </a:p>
        </p:txBody>
      </p:sp>
      <p:sp>
        <p:nvSpPr>
          <p:cNvPr id="61" name="矩形 60"/>
          <p:cNvSpPr>
            <a:spLocks noGrp="1"/>
          </p:cNvSpPr>
          <p:nvPr/>
        </p:nvSpPr>
        <p:spPr>
          <a:xfrm>
            <a:off x="8496300" y="1557020"/>
            <a:ext cx="2905125" cy="219075"/>
          </a:xfrm>
          <a:prstGeom prst="rect">
            <a:avLst/>
          </a:prstGeom>
          <a:noFill/>
          <a:ln w="0">
            <a:noFill/>
            <a:prstDash val="solid"/>
          </a:ln>
        </p:spPr>
        <p:txBody>
          <a:bodyPr wrap="square" lIns="47625" tIns="19050" rIns="47625" bIns="19050" anchor="ctr">
            <a:noAutofit/>
          </a:bodyPr>
          <a:lstStyle/>
          <a:p>
            <a:pPr algn="l">
              <a:defRPr sz="900" b="0">
                <a:solidFill>
                  <a:srgbClr val="FFF5EF"/>
                </a:solidFill>
                <a:latin typeface="Noto Sans Hans"/>
                <a:ea typeface="Noto Sans Hans"/>
                <a:cs typeface="Noto Sans Hans"/>
              </a:defRPr>
            </a:pPr>
            <a:r>
              <a:rPr sz="1200" b="0">
                <a:solidFill>
                  <a:srgbClr val="FFF5EF"/>
                </a:solidFill>
                <a:latin typeface="Noto Sans Hans"/>
                <a:ea typeface="Noto Sans Hans"/>
                <a:cs typeface="Noto Sans Hans"/>
              </a:rPr>
              <a:t>平台标准、安全与服务计量</a:t>
            </a:r>
            <a:endParaRPr sz="1200" b="0">
              <a:solidFill>
                <a:srgbClr val="FFF5EF"/>
              </a:solidFill>
              <a:latin typeface="Noto Sans Hans"/>
              <a:ea typeface="Noto Sans Hans"/>
              <a:cs typeface="Noto Sans Hans"/>
            </a:endParaRPr>
          </a:p>
        </p:txBody>
      </p:sp>
      <p:sp>
        <p:nvSpPr>
          <p:cNvPr id="62" name="矩形 61"/>
          <p:cNvSpPr>
            <a:spLocks noGrp="1"/>
          </p:cNvSpPr>
          <p:nvPr/>
        </p:nvSpPr>
        <p:spPr>
          <a:xfrm>
            <a:off x="8115300" y="19570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9A7000"/>
                </a:solidFill>
                <a:latin typeface="Noto Sans Hans"/>
                <a:ea typeface="Noto Sans Hans"/>
                <a:cs typeface="Noto Sans Hans"/>
              </a:defRPr>
            </a:pPr>
            <a:r>
              <a:rPr sz="1200" b="1">
                <a:solidFill>
                  <a:srgbClr val="9A7000"/>
                </a:solidFill>
                <a:latin typeface="Noto Sans Hans"/>
                <a:ea typeface="Noto Sans Hans"/>
                <a:cs typeface="Noto Sans Hans"/>
              </a:rPr>
              <a:t>技术要点</a:t>
            </a:r>
            <a:endParaRPr sz="1200" b="1">
              <a:solidFill>
                <a:srgbClr val="9A7000"/>
              </a:solidFill>
              <a:latin typeface="Noto Sans Hans"/>
              <a:ea typeface="Noto Sans Hans"/>
              <a:cs typeface="Noto Sans Hans"/>
            </a:endParaRPr>
          </a:p>
        </p:txBody>
      </p:sp>
      <p:sp>
        <p:nvSpPr>
          <p:cNvPr id="63" name="矩形 62"/>
          <p:cNvSpPr>
            <a:spLocks noGrp="1"/>
          </p:cNvSpPr>
          <p:nvPr/>
        </p:nvSpPr>
        <p:spPr>
          <a:xfrm>
            <a:off x="8001000" y="2214245"/>
            <a:ext cx="3524250" cy="1000125"/>
          </a:xfrm>
          <a:prstGeom prst="rect">
            <a:avLst/>
          </a:prstGeom>
          <a:solidFill>
            <a:srgbClr val="F6F3F1"/>
          </a:solidFill>
          <a:ln w="0">
            <a:noFill/>
            <a:prstDash val="solid"/>
          </a:ln>
        </p:spPr>
      </p:sp>
      <p:sp>
        <p:nvSpPr>
          <p:cNvPr id="64" name="矩形 63"/>
          <p:cNvSpPr>
            <a:spLocks noGrp="1"/>
          </p:cNvSpPr>
          <p:nvPr/>
        </p:nvSpPr>
        <p:spPr>
          <a:xfrm>
            <a:off x="8153400" y="2319020"/>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统一设备身份、接口和工单</a:t>
            </a:r>
            <a:endParaRPr sz="1200" b="0">
              <a:solidFill>
                <a:srgbClr val="403A38"/>
              </a:solidFill>
              <a:latin typeface="Noto Sans Hans"/>
              <a:ea typeface="Noto Sans Hans"/>
              <a:cs typeface="Noto Sans Hans"/>
            </a:endParaRPr>
          </a:p>
        </p:txBody>
      </p:sp>
      <p:sp>
        <p:nvSpPr>
          <p:cNvPr id="65" name="矩形 64"/>
          <p:cNvSpPr>
            <a:spLocks noGrp="1"/>
          </p:cNvSpPr>
          <p:nvPr/>
        </p:nvSpPr>
        <p:spPr>
          <a:xfrm>
            <a:off x="8153400" y="2595245"/>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a:t>
            </a:r>
            <a:r>
              <a:rPr lang="zh-CN" sz="1200" b="0">
                <a:solidFill>
                  <a:srgbClr val="403A38"/>
                </a:solidFill>
                <a:latin typeface="Noto Sans Hans"/>
                <a:ea typeface="Noto Sans Hans"/>
                <a:cs typeface="Noto Sans Hans"/>
              </a:rPr>
              <a:t>云端本地协同运维</a:t>
            </a:r>
            <a:r>
              <a:rPr sz="1200" b="0">
                <a:solidFill>
                  <a:srgbClr val="403A38"/>
                </a:solidFill>
                <a:latin typeface="Noto Sans Hans"/>
                <a:ea typeface="Noto Sans Hans"/>
                <a:cs typeface="Noto Sans Hans"/>
              </a:rPr>
              <a:t>、故障预测和人工接管</a:t>
            </a:r>
            <a:endParaRPr sz="1200" b="0">
              <a:solidFill>
                <a:srgbClr val="403A38"/>
              </a:solidFill>
              <a:latin typeface="Noto Sans Hans"/>
              <a:ea typeface="Noto Sans Hans"/>
              <a:cs typeface="Noto Sans Hans"/>
            </a:endParaRPr>
          </a:p>
        </p:txBody>
      </p:sp>
      <p:sp>
        <p:nvSpPr>
          <p:cNvPr id="66" name="矩形 65"/>
          <p:cNvSpPr>
            <a:spLocks noGrp="1"/>
          </p:cNvSpPr>
          <p:nvPr/>
        </p:nvSpPr>
        <p:spPr>
          <a:xfrm>
            <a:off x="8153400" y="2871470"/>
            <a:ext cx="3257550" cy="247650"/>
          </a:xfrm>
          <a:prstGeom prst="rect">
            <a:avLst/>
          </a:prstGeom>
          <a:noFill/>
          <a:ln w="0">
            <a:noFill/>
            <a:prstDash val="solid"/>
          </a:ln>
        </p:spPr>
        <p:txBody>
          <a:bodyPr wrap="square" lIns="47625" tIns="19050" rIns="47625" bIns="19050" anchor="t">
            <a:normAutofit/>
          </a:bodyPr>
          <a:lstStyle/>
          <a:p>
            <a:pPr algn="l">
              <a:defRPr sz="885"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以在线率、节省工时和服务次数结算</a:t>
            </a:r>
            <a:endParaRPr sz="1200" b="0">
              <a:solidFill>
                <a:srgbClr val="403A38"/>
              </a:solidFill>
              <a:latin typeface="Noto Sans Hans"/>
              <a:ea typeface="Noto Sans Hans"/>
              <a:cs typeface="Noto Sans Hans"/>
            </a:endParaRPr>
          </a:p>
        </p:txBody>
      </p:sp>
      <p:sp>
        <p:nvSpPr>
          <p:cNvPr id="67" name="矩形 66"/>
          <p:cNvSpPr>
            <a:spLocks noGrp="1"/>
          </p:cNvSpPr>
          <p:nvPr/>
        </p:nvSpPr>
        <p:spPr>
          <a:xfrm>
            <a:off x="8115300" y="32905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9A7000"/>
                </a:solidFill>
                <a:latin typeface="Noto Sans Hans"/>
                <a:ea typeface="Noto Sans Hans"/>
                <a:cs typeface="Noto Sans Hans"/>
              </a:defRPr>
            </a:pPr>
            <a:r>
              <a:rPr sz="1200" b="1">
                <a:solidFill>
                  <a:srgbClr val="9A7000"/>
                </a:solidFill>
                <a:latin typeface="Noto Sans Hans"/>
                <a:ea typeface="Noto Sans Hans"/>
                <a:cs typeface="Noto Sans Hans"/>
              </a:rPr>
              <a:t>阶段进程</a:t>
            </a:r>
            <a:endParaRPr sz="1200" b="1">
              <a:solidFill>
                <a:srgbClr val="9A7000"/>
              </a:solidFill>
              <a:latin typeface="Noto Sans Hans"/>
              <a:ea typeface="Noto Sans Hans"/>
              <a:cs typeface="Noto Sans Hans"/>
            </a:endParaRPr>
          </a:p>
        </p:txBody>
      </p:sp>
      <p:sp>
        <p:nvSpPr>
          <p:cNvPr id="68" name="矩形 67"/>
          <p:cNvSpPr>
            <a:spLocks noGrp="1"/>
          </p:cNvSpPr>
          <p:nvPr/>
        </p:nvSpPr>
        <p:spPr>
          <a:xfrm>
            <a:off x="8001000" y="3557270"/>
            <a:ext cx="3524250" cy="1295400"/>
          </a:xfrm>
          <a:prstGeom prst="rect">
            <a:avLst/>
          </a:prstGeom>
          <a:solidFill>
            <a:srgbClr val="FFFFFF"/>
          </a:solidFill>
          <a:ln w="9525">
            <a:solidFill>
              <a:srgbClr val="D9D2CE"/>
            </a:solidFill>
            <a:prstDash val="solid"/>
          </a:ln>
        </p:spPr>
      </p:sp>
      <p:sp>
        <p:nvSpPr>
          <p:cNvPr id="69" name="椭圆 68"/>
          <p:cNvSpPr>
            <a:spLocks noGrp="1"/>
          </p:cNvSpPr>
          <p:nvPr/>
        </p:nvSpPr>
        <p:spPr>
          <a:xfrm>
            <a:off x="8153400" y="3662045"/>
            <a:ext cx="171450" cy="171450"/>
          </a:xfrm>
          <a:prstGeom prst="ellipse">
            <a:avLst/>
          </a:prstGeom>
          <a:solidFill>
            <a:srgbClr val="9A7000"/>
          </a:solidFill>
          <a:ln w="9525">
            <a:solidFill>
              <a:srgbClr val="9A7000"/>
            </a:solidFill>
            <a:prstDash val="solid"/>
          </a:ln>
        </p:spPr>
      </p:sp>
      <p:sp>
        <p:nvSpPr>
          <p:cNvPr id="70" name="矩形 69"/>
          <p:cNvSpPr>
            <a:spLocks noGrp="1"/>
          </p:cNvSpPr>
          <p:nvPr/>
        </p:nvSpPr>
        <p:spPr>
          <a:xfrm>
            <a:off x="8372475" y="3633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9A7000"/>
                </a:solidFill>
                <a:latin typeface="Noto Sans Hans"/>
                <a:ea typeface="Noto Sans Hans"/>
                <a:cs typeface="Noto Sans Hans"/>
              </a:defRPr>
            </a:pPr>
            <a:r>
              <a:rPr sz="1070" b="1">
                <a:solidFill>
                  <a:srgbClr val="9A7000"/>
                </a:solidFill>
                <a:latin typeface="Noto Sans Hans"/>
                <a:ea typeface="Noto Sans Hans"/>
                <a:cs typeface="Noto Sans Hans"/>
              </a:rPr>
              <a:t>2026</a:t>
            </a:r>
            <a:endParaRPr sz="1070" b="1">
              <a:solidFill>
                <a:srgbClr val="9A7000"/>
              </a:solidFill>
              <a:latin typeface="Noto Sans Hans"/>
              <a:ea typeface="Noto Sans Hans"/>
              <a:cs typeface="Noto Sans Hans"/>
            </a:endParaRPr>
          </a:p>
        </p:txBody>
      </p:sp>
      <p:sp>
        <p:nvSpPr>
          <p:cNvPr id="71" name="矩形 70"/>
          <p:cNvSpPr>
            <a:spLocks noGrp="1"/>
          </p:cNvSpPr>
          <p:nvPr/>
        </p:nvSpPr>
        <p:spPr>
          <a:xfrm>
            <a:off x="8905875" y="3633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接入规范与单机构试点</a:t>
            </a:r>
            <a:endParaRPr sz="1200" b="1">
              <a:solidFill>
                <a:srgbClr val="403A38"/>
              </a:solidFill>
              <a:latin typeface="Noto Sans Hans"/>
              <a:ea typeface="Noto Sans Hans"/>
              <a:cs typeface="Noto Sans Hans"/>
            </a:endParaRPr>
          </a:p>
        </p:txBody>
      </p:sp>
      <p:sp>
        <p:nvSpPr>
          <p:cNvPr id="72" name="矩形 71"/>
          <p:cNvSpPr>
            <a:spLocks noGrp="1"/>
          </p:cNvSpPr>
          <p:nvPr/>
        </p:nvSpPr>
        <p:spPr>
          <a:xfrm>
            <a:off x="8229600" y="3833495"/>
            <a:ext cx="19050" cy="209550"/>
          </a:xfrm>
          <a:prstGeom prst="rect">
            <a:avLst/>
          </a:prstGeom>
          <a:solidFill>
            <a:srgbClr val="9A7000"/>
          </a:solidFill>
          <a:ln w="0">
            <a:noFill/>
            <a:prstDash val="solid"/>
          </a:ln>
        </p:spPr>
      </p:sp>
      <p:sp>
        <p:nvSpPr>
          <p:cNvPr id="73" name="椭圆 72"/>
          <p:cNvSpPr>
            <a:spLocks noGrp="1"/>
          </p:cNvSpPr>
          <p:nvPr/>
        </p:nvSpPr>
        <p:spPr>
          <a:xfrm>
            <a:off x="8153400" y="4043045"/>
            <a:ext cx="171450" cy="171450"/>
          </a:xfrm>
          <a:prstGeom prst="ellipse">
            <a:avLst/>
          </a:prstGeom>
          <a:solidFill>
            <a:srgbClr val="FFFFFF"/>
          </a:solidFill>
          <a:ln w="9525">
            <a:solidFill>
              <a:srgbClr val="9A7000"/>
            </a:solidFill>
            <a:prstDash val="solid"/>
          </a:ln>
        </p:spPr>
      </p:sp>
      <p:sp>
        <p:nvSpPr>
          <p:cNvPr id="74" name="矩形 73"/>
          <p:cNvSpPr>
            <a:spLocks noGrp="1"/>
          </p:cNvSpPr>
          <p:nvPr/>
        </p:nvSpPr>
        <p:spPr>
          <a:xfrm>
            <a:off x="8372475" y="4014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9A7000"/>
                </a:solidFill>
                <a:latin typeface="Noto Sans Hans"/>
                <a:ea typeface="Noto Sans Hans"/>
                <a:cs typeface="Noto Sans Hans"/>
              </a:defRPr>
            </a:pPr>
            <a:r>
              <a:rPr sz="1070" b="1">
                <a:solidFill>
                  <a:srgbClr val="9A7000"/>
                </a:solidFill>
                <a:latin typeface="Noto Sans Hans"/>
                <a:ea typeface="Noto Sans Hans"/>
                <a:cs typeface="Noto Sans Hans"/>
              </a:rPr>
              <a:t>2028</a:t>
            </a:r>
            <a:endParaRPr sz="1070" b="1">
              <a:solidFill>
                <a:srgbClr val="9A7000"/>
              </a:solidFill>
              <a:latin typeface="Noto Sans Hans"/>
              <a:ea typeface="Noto Sans Hans"/>
              <a:cs typeface="Noto Sans Hans"/>
            </a:endParaRPr>
          </a:p>
        </p:txBody>
      </p:sp>
      <p:sp>
        <p:nvSpPr>
          <p:cNvPr id="75" name="矩形 74"/>
          <p:cNvSpPr>
            <a:spLocks noGrp="1"/>
          </p:cNvSpPr>
          <p:nvPr/>
        </p:nvSpPr>
        <p:spPr>
          <a:xfrm>
            <a:off x="8905875" y="4014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多机调度和数字孪生运营</a:t>
            </a:r>
            <a:endParaRPr sz="1200" b="1">
              <a:solidFill>
                <a:srgbClr val="403A38"/>
              </a:solidFill>
              <a:latin typeface="Noto Sans Hans"/>
              <a:ea typeface="Noto Sans Hans"/>
              <a:cs typeface="Noto Sans Hans"/>
            </a:endParaRPr>
          </a:p>
        </p:txBody>
      </p:sp>
      <p:sp>
        <p:nvSpPr>
          <p:cNvPr id="76" name="矩形 75"/>
          <p:cNvSpPr>
            <a:spLocks noGrp="1"/>
          </p:cNvSpPr>
          <p:nvPr/>
        </p:nvSpPr>
        <p:spPr>
          <a:xfrm>
            <a:off x="8229600" y="4214495"/>
            <a:ext cx="19050" cy="209550"/>
          </a:xfrm>
          <a:prstGeom prst="rect">
            <a:avLst/>
          </a:prstGeom>
          <a:solidFill>
            <a:srgbClr val="9A7000"/>
          </a:solidFill>
          <a:ln w="0">
            <a:noFill/>
            <a:prstDash val="solid"/>
          </a:ln>
        </p:spPr>
      </p:sp>
      <p:sp>
        <p:nvSpPr>
          <p:cNvPr id="77" name="椭圆 76"/>
          <p:cNvSpPr>
            <a:spLocks noGrp="1"/>
          </p:cNvSpPr>
          <p:nvPr/>
        </p:nvSpPr>
        <p:spPr>
          <a:xfrm>
            <a:off x="8153400" y="4424045"/>
            <a:ext cx="171450" cy="171450"/>
          </a:xfrm>
          <a:prstGeom prst="ellipse">
            <a:avLst/>
          </a:prstGeom>
          <a:solidFill>
            <a:srgbClr val="FFFFFF"/>
          </a:solidFill>
          <a:ln w="9525">
            <a:solidFill>
              <a:srgbClr val="9A7000"/>
            </a:solidFill>
            <a:prstDash val="solid"/>
          </a:ln>
        </p:spPr>
      </p:sp>
      <p:sp>
        <p:nvSpPr>
          <p:cNvPr id="78" name="矩形 77"/>
          <p:cNvSpPr>
            <a:spLocks noGrp="1"/>
          </p:cNvSpPr>
          <p:nvPr/>
        </p:nvSpPr>
        <p:spPr>
          <a:xfrm>
            <a:off x="8372475" y="4395470"/>
            <a:ext cx="495300" cy="228600"/>
          </a:xfrm>
          <a:prstGeom prst="rect">
            <a:avLst/>
          </a:prstGeom>
          <a:noFill/>
          <a:ln w="0">
            <a:noFill/>
            <a:prstDash val="solid"/>
          </a:ln>
        </p:spPr>
        <p:txBody>
          <a:bodyPr wrap="square" lIns="47625" tIns="19050" rIns="47625" bIns="19050" anchor="ctr">
            <a:normAutofit/>
          </a:bodyPr>
          <a:lstStyle/>
          <a:p>
            <a:pPr algn="l">
              <a:defRPr sz="865" b="1">
                <a:solidFill>
                  <a:srgbClr val="9A7000"/>
                </a:solidFill>
                <a:latin typeface="Noto Sans Hans"/>
                <a:ea typeface="Noto Sans Hans"/>
                <a:cs typeface="Noto Sans Hans"/>
              </a:defRPr>
            </a:pPr>
            <a:r>
              <a:rPr sz="1070" b="1">
                <a:solidFill>
                  <a:srgbClr val="9A7000"/>
                </a:solidFill>
                <a:latin typeface="Noto Sans Hans"/>
                <a:ea typeface="Noto Sans Hans"/>
                <a:cs typeface="Noto Sans Hans"/>
              </a:rPr>
              <a:t>2030</a:t>
            </a:r>
            <a:endParaRPr sz="1070" b="1">
              <a:solidFill>
                <a:srgbClr val="9A7000"/>
              </a:solidFill>
              <a:latin typeface="Noto Sans Hans"/>
              <a:ea typeface="Noto Sans Hans"/>
              <a:cs typeface="Noto Sans Hans"/>
            </a:endParaRPr>
          </a:p>
        </p:txBody>
      </p:sp>
      <p:sp>
        <p:nvSpPr>
          <p:cNvPr id="79" name="矩形 78"/>
          <p:cNvSpPr>
            <a:spLocks noGrp="1"/>
          </p:cNvSpPr>
          <p:nvPr/>
        </p:nvSpPr>
        <p:spPr>
          <a:xfrm>
            <a:off x="8905875" y="4395470"/>
            <a:ext cx="2476500" cy="257175"/>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跨机构网络与按效付费</a:t>
            </a:r>
            <a:endParaRPr sz="1200" b="1">
              <a:solidFill>
                <a:srgbClr val="403A38"/>
              </a:solidFill>
              <a:latin typeface="Noto Sans Hans"/>
              <a:ea typeface="Noto Sans Hans"/>
              <a:cs typeface="Noto Sans Hans"/>
            </a:endParaRPr>
          </a:p>
        </p:txBody>
      </p:sp>
      <p:sp>
        <p:nvSpPr>
          <p:cNvPr id="80" name="矩形 79"/>
          <p:cNvSpPr>
            <a:spLocks noGrp="1"/>
          </p:cNvSpPr>
          <p:nvPr/>
        </p:nvSpPr>
        <p:spPr>
          <a:xfrm>
            <a:off x="8115300" y="4928870"/>
            <a:ext cx="714375" cy="228600"/>
          </a:xfrm>
          <a:prstGeom prst="rect">
            <a:avLst/>
          </a:prstGeom>
          <a:noFill/>
          <a:ln w="0">
            <a:noFill/>
            <a:prstDash val="solid"/>
          </a:ln>
        </p:spPr>
        <p:txBody>
          <a:bodyPr wrap="square" lIns="47625" tIns="19050" rIns="47625" bIns="19050" anchor="ctr">
            <a:normAutofit/>
          </a:bodyPr>
          <a:lstStyle/>
          <a:p>
            <a:pPr algn="l">
              <a:defRPr sz="975" b="1">
                <a:solidFill>
                  <a:srgbClr val="9A7000"/>
                </a:solidFill>
                <a:latin typeface="Noto Sans Hans"/>
                <a:ea typeface="Noto Sans Hans"/>
                <a:cs typeface="Noto Sans Hans"/>
              </a:defRPr>
            </a:pPr>
            <a:r>
              <a:rPr sz="1200" b="1">
                <a:solidFill>
                  <a:srgbClr val="9A7000"/>
                </a:solidFill>
                <a:latin typeface="Noto Sans Hans"/>
                <a:ea typeface="Noto Sans Hans"/>
                <a:cs typeface="Noto Sans Hans"/>
              </a:rPr>
              <a:t>核心洞见</a:t>
            </a:r>
            <a:endParaRPr sz="1200" b="1">
              <a:solidFill>
                <a:srgbClr val="9A7000"/>
              </a:solidFill>
              <a:latin typeface="Noto Sans Hans"/>
              <a:ea typeface="Noto Sans Hans"/>
              <a:cs typeface="Noto Sans Hans"/>
            </a:endParaRPr>
          </a:p>
        </p:txBody>
      </p:sp>
      <p:sp>
        <p:nvSpPr>
          <p:cNvPr id="81" name="矩形 80"/>
          <p:cNvSpPr>
            <a:spLocks noGrp="1"/>
          </p:cNvSpPr>
          <p:nvPr/>
        </p:nvSpPr>
        <p:spPr>
          <a:xfrm>
            <a:off x="8001000" y="5195570"/>
            <a:ext cx="3524250" cy="1000125"/>
          </a:xfrm>
          <a:prstGeom prst="rect">
            <a:avLst/>
          </a:prstGeom>
          <a:solidFill>
            <a:srgbClr val="F7F1DF"/>
          </a:solidFill>
          <a:ln w="0">
            <a:noFill/>
            <a:prstDash val="solid"/>
          </a:ln>
        </p:spPr>
      </p:sp>
      <p:sp>
        <p:nvSpPr>
          <p:cNvPr id="82" name="矩形 81"/>
          <p:cNvSpPr>
            <a:spLocks noGrp="1"/>
          </p:cNvSpPr>
          <p:nvPr/>
        </p:nvSpPr>
        <p:spPr>
          <a:xfrm>
            <a:off x="8134350" y="5290820"/>
            <a:ext cx="3257550" cy="7905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8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平台能力决定设备能否从一次性销售转向持续服务收入；武汉城投可依托场景和安养链形成区域运营标准。</a:t>
            </a:r>
            <a:endParaRPr sz="1100" b="0">
              <a:solidFill>
                <a:srgbClr val="403A38"/>
              </a:solidFill>
              <a:latin typeface="Noto Sans Hans"/>
              <a:ea typeface="Noto Sans Hans"/>
              <a:cs typeface="Noto Sans Hans"/>
            </a:endParaRPr>
          </a:p>
        </p:txBody>
      </p:sp>
      <p:sp>
        <p:nvSpPr>
          <p:cNvPr id="83" name="矩形 82"/>
          <p:cNvSpPr>
            <a:spLocks noGrp="1"/>
          </p:cNvSpPr>
          <p:nvPr/>
        </p:nvSpPr>
        <p:spPr>
          <a:xfrm>
            <a:off x="8086725" y="6005195"/>
            <a:ext cx="3352800" cy="228600"/>
          </a:xfrm>
          <a:prstGeom prst="rect">
            <a:avLst/>
          </a:prstGeom>
          <a:noFill/>
          <a:ln w="0">
            <a:noFill/>
            <a:prstDash val="solid"/>
          </a:ln>
        </p:spPr>
        <p:txBody>
          <a:bodyPr wrap="square" lIns="47625" tIns="19050" rIns="47625" bIns="19050" anchor="ctr">
            <a:normAutofit/>
          </a:bodyPr>
          <a:lstStyle/>
          <a:p>
            <a:pPr algn="ctr">
              <a:defRPr sz="790" b="1">
                <a:solidFill>
                  <a:srgbClr val="9A7000"/>
                </a:solidFill>
                <a:latin typeface="Noto Sans Hans"/>
                <a:ea typeface="Noto Sans Hans"/>
                <a:cs typeface="Noto Sans Hans"/>
              </a:defRPr>
            </a:pPr>
            <a:r>
              <a:rPr sz="990" b="1">
                <a:solidFill>
                  <a:srgbClr val="9A7000"/>
                </a:solidFill>
                <a:latin typeface="Noto Sans Hans"/>
                <a:ea typeface="Noto Sans Hans"/>
                <a:cs typeface="Noto Sans Hans"/>
              </a:rPr>
              <a:t>代表主体：安养链｜普渡｜擎朗｜优必选｜光谷东智</a:t>
            </a:r>
            <a:endParaRPr sz="990" b="1">
              <a:solidFill>
                <a:srgbClr val="9A7000"/>
              </a:solidFill>
              <a:latin typeface="Noto Sans Hans"/>
              <a:ea typeface="Noto Sans Hans"/>
              <a:cs typeface="Noto Sans Hans"/>
            </a:endParaRPr>
          </a:p>
        </p:txBody>
      </p:sp>
      <p:sp>
        <p:nvSpPr>
          <p:cNvPr id="84" name="矩形 83"/>
          <p:cNvSpPr>
            <a:spLocks noGrp="1"/>
          </p:cNvSpPr>
          <p:nvPr/>
        </p:nvSpPr>
        <p:spPr>
          <a:xfrm>
            <a:off x="476250" y="6362700"/>
            <a:ext cx="666750" cy="171450"/>
          </a:xfrm>
          <a:prstGeom prst="rect">
            <a:avLst/>
          </a:prstGeom>
          <a:noFill/>
          <a:ln w="0">
            <a:noFill/>
            <a:prstDash val="solid"/>
          </a:ln>
        </p:spPr>
        <p:txBody>
          <a:bodyPr wrap="square" lIns="47625" tIns="19050" rIns="47625" bIns="19050" anchor="ctr">
            <a:noAutofit/>
          </a:bodyPr>
          <a:lstStyle/>
          <a:p>
            <a:pPr algn="l">
              <a:defRPr sz="825" b="1">
                <a:solidFill>
                  <a:srgbClr val="D00914"/>
                </a:solidFill>
                <a:latin typeface="Noto Sans Hans"/>
                <a:ea typeface="Noto Sans Hans"/>
                <a:cs typeface="Noto Sans Hans"/>
              </a:defRPr>
            </a:pPr>
            <a:r>
              <a:rPr sz="930" b="1">
                <a:solidFill>
                  <a:srgbClr val="D00914"/>
                </a:solidFill>
                <a:latin typeface="Noto Sans Hans"/>
                <a:ea typeface="Noto Sans Hans"/>
                <a:cs typeface="Noto Sans Hans"/>
              </a:rPr>
              <a:t>布局顺序</a:t>
            </a:r>
            <a:endParaRPr sz="930" b="1">
              <a:solidFill>
                <a:srgbClr val="D00914"/>
              </a:solidFill>
              <a:latin typeface="Noto Sans Hans"/>
              <a:ea typeface="Noto Sans Hans"/>
              <a:cs typeface="Noto Sans Hans"/>
            </a:endParaRPr>
          </a:p>
        </p:txBody>
      </p:sp>
      <p:sp>
        <p:nvSpPr>
          <p:cNvPr id="85" name="矩形 84"/>
          <p:cNvSpPr>
            <a:spLocks noGrp="1"/>
          </p:cNvSpPr>
          <p:nvPr/>
        </p:nvSpPr>
        <p:spPr>
          <a:xfrm>
            <a:off x="1190625" y="6334125"/>
            <a:ext cx="10001250" cy="209550"/>
          </a:xfrm>
          <a:prstGeom prst="rect">
            <a:avLst/>
          </a:prstGeom>
          <a:noFill/>
          <a:ln w="0">
            <a:noFill/>
            <a:prstDash val="solid"/>
          </a:ln>
        </p:spPr>
        <p:txBody>
          <a:bodyPr wrap="square" lIns="47625" tIns="19050" rIns="47625" bIns="19050" anchor="ctr">
            <a:normAutofit/>
          </a:bodyPr>
          <a:lstStyle/>
          <a:p>
            <a:pPr algn="l">
              <a:defRPr sz="825" b="1">
                <a:solidFill>
                  <a:srgbClr val="403A38"/>
                </a:solidFill>
                <a:latin typeface="Noto Sans Hans"/>
                <a:ea typeface="Noto Sans Hans"/>
                <a:cs typeface="Noto Sans Hans"/>
              </a:defRPr>
            </a:pPr>
            <a:r>
              <a:rPr sz="825" b="1">
                <a:solidFill>
                  <a:srgbClr val="403A38"/>
                </a:solidFill>
                <a:latin typeface="Noto Sans Hans"/>
                <a:ea typeface="Noto Sans Hans"/>
                <a:cs typeface="Noto Sans Hans"/>
              </a:rPr>
              <a:t>采购验证成熟感知与移动模块 → 共建安全评测和康复证据平台 → 以运营平台沉淀数据、标准和持续收入</a:t>
            </a:r>
            <a:endParaRPr sz="825" b="1">
              <a:solidFill>
                <a:srgbClr val="403A38"/>
              </a:solidFill>
              <a:latin typeface="Noto Sans Hans"/>
              <a:ea typeface="Noto Sans Hans"/>
              <a:cs typeface="Noto Sans Hans"/>
            </a:endParaRPr>
          </a:p>
        </p:txBody>
      </p:sp>
      <p:sp>
        <p:nvSpPr>
          <p:cNvPr id="86" name="矩形 85"/>
          <p:cNvSpPr>
            <a:spLocks noGrp="1"/>
          </p:cNvSpPr>
          <p:nvPr/>
        </p:nvSpPr>
        <p:spPr>
          <a:xfrm>
            <a:off x="476250" y="6553200"/>
            <a:ext cx="10287000" cy="190500"/>
          </a:xfrm>
          <a:prstGeom prst="rect">
            <a:avLst/>
          </a:prstGeom>
          <a:noFill/>
          <a:ln w="0">
            <a:noFill/>
            <a:prstDash val="solid"/>
          </a:ln>
        </p:spPr>
        <p:txBody>
          <a:bodyPr wrap="square" lIns="47625" tIns="19050" rIns="47625" bIns="19050" anchor="ctr">
            <a:normAutofit/>
          </a:bodyPr>
          <a:lstStyle/>
          <a:p>
            <a:pPr algn="l">
              <a:defRPr sz="765" b="0">
                <a:solidFill>
                  <a:srgbClr val="716B68"/>
                </a:solidFill>
                <a:latin typeface="Noto Sans Hans"/>
                <a:ea typeface="Noto Sans Hans"/>
                <a:cs typeface="Noto Sans Hans"/>
              </a:defRPr>
            </a:pPr>
            <a:r>
              <a:rPr sz="765" b="0">
                <a:solidFill>
                  <a:srgbClr val="716B68"/>
                </a:solidFill>
                <a:latin typeface="Noto Sans Hans"/>
                <a:ea typeface="Noto Sans Hans"/>
                <a:cs typeface="Noto Sans Hans"/>
              </a:rPr>
              <a:t>资料来源：养老机器人产业增强基础数据库；相关企业和官方公开资料。</a:t>
            </a:r>
            <a:endParaRPr sz="765" b="0">
              <a:solidFill>
                <a:srgbClr val="716B68"/>
              </a:solidFill>
              <a:latin typeface="Noto Sans Hans"/>
              <a:ea typeface="Noto Sans Hans"/>
              <a:cs typeface="Noto Sans Hans"/>
            </a:endParaRPr>
          </a:p>
        </p:txBody>
      </p:sp>
      <p:sp>
        <p:nvSpPr>
          <p:cNvPr id="87" name="矩形 86"/>
          <p:cNvSpPr>
            <a:spLocks noGrp="1"/>
          </p:cNvSpPr>
          <p:nvPr/>
        </p:nvSpPr>
        <p:spPr>
          <a:xfrm>
            <a:off x="11287125" y="6543675"/>
            <a:ext cx="428625" cy="190500"/>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0</a:t>
            </a:r>
            <a:r>
              <a:rPr lang="en-US" sz="900" b="1">
                <a:solidFill>
                  <a:srgbClr val="D00914"/>
                </a:solidFill>
                <a:latin typeface="Noto Sans Hans"/>
                <a:ea typeface="Noto Sans Hans"/>
                <a:cs typeface="Noto Sans Hans"/>
              </a:rPr>
              <a:t>8</a:t>
            </a:r>
            <a:endParaRPr lang="en-US" sz="900" b="1">
              <a:solidFill>
                <a:srgbClr val="D00914"/>
              </a:solidFill>
              <a:latin typeface="Noto Sans Hans"/>
              <a:ea typeface="Noto Sans Hans"/>
              <a:cs typeface="Noto Sans H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28600"/>
            <a:ext cx="171450" cy="685800"/>
          </a:xfrm>
          <a:prstGeom prst="rect">
            <a:avLst/>
          </a:prstGeom>
          <a:solidFill>
            <a:srgbClr val="D00914"/>
          </a:solidFill>
          <a:ln w="0">
            <a:noFill/>
            <a:prstDash val="solid"/>
          </a:ln>
        </p:spPr>
      </p:sp>
      <p:sp>
        <p:nvSpPr>
          <p:cNvPr id="3" name="矩形 2"/>
          <p:cNvSpPr>
            <a:spLocks noGrp="1"/>
          </p:cNvSpPr>
          <p:nvPr/>
        </p:nvSpPr>
        <p:spPr>
          <a:xfrm>
            <a:off x="476250" y="190500"/>
            <a:ext cx="11239500" cy="476250"/>
          </a:xfrm>
          <a:prstGeom prst="rect">
            <a:avLst/>
          </a:prstGeom>
          <a:noFill/>
          <a:ln w="0">
            <a:noFill/>
            <a:prstDash val="solid"/>
          </a:ln>
        </p:spPr>
        <p:txBody>
          <a:bodyPr lIns="0" tIns="0" rIns="0" bIns="0" anchor="ctr">
            <a:normAutofit/>
          </a:bodyPr>
          <a:lstStyle/>
          <a:p>
            <a:r>
              <a:rPr lang="en-US" sz="2025" b="1">
                <a:solidFill>
                  <a:srgbClr val="D00914"/>
                </a:solidFill>
                <a:latin typeface="Noto Sans Hans"/>
                <a:ea typeface="Noto Sans Hans"/>
                <a:cs typeface="Noto Sans Hans"/>
              </a:rPr>
              <a:t>1.4</a:t>
            </a:r>
            <a:r>
              <a:rPr sz="2025" b="1">
                <a:solidFill>
                  <a:srgbClr val="D00914"/>
                </a:solidFill>
                <a:latin typeface="Noto Sans Hans"/>
                <a:ea typeface="Noto Sans Hans"/>
                <a:cs typeface="Noto Sans Hans"/>
              </a:rPr>
              <a:t>【区域分布图】</a:t>
            </a:r>
            <a:r>
              <a:rPr sz="2025" b="1">
                <a:solidFill>
                  <a:srgbClr val="403A38"/>
                </a:solidFill>
                <a:latin typeface="Noto Sans Hans"/>
                <a:ea typeface="Noto Sans Hans"/>
                <a:cs typeface="Noto Sans Hans"/>
              </a:rPr>
              <a:t>养老机器人产业呈现“东部创新集聚 + 武汉枢纽承接 + 都市圈协同制造”格局</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66700"/>
          </a:xfrm>
          <a:prstGeom prst="rect">
            <a:avLst/>
          </a:prstGeom>
          <a:noFill/>
          <a:ln w="0">
            <a:noFill/>
            <a:prstDash val="solid"/>
          </a:ln>
        </p:spPr>
        <p:txBody>
          <a:bodyPr wrap="square" lIns="47625" tIns="19050" rIns="47625" bIns="19050" anchor="ctr">
            <a:normAutofit/>
          </a:bodyPr>
          <a:lstStyle/>
          <a:p>
            <a:pPr algn="l">
              <a:defRPr sz="1090" b="0">
                <a:solidFill>
                  <a:srgbClr val="716B68"/>
                </a:solidFill>
                <a:latin typeface="Noto Sans Hans"/>
                <a:ea typeface="Noto Sans Hans"/>
                <a:cs typeface="Noto Sans Hans"/>
              </a:defRPr>
            </a:pPr>
            <a:r>
              <a:rPr sz="1090" b="0">
                <a:solidFill>
                  <a:srgbClr val="716B68"/>
                </a:solidFill>
                <a:latin typeface="Noto Sans Hans"/>
                <a:ea typeface="Noto Sans Hans"/>
                <a:cs typeface="Noto Sans Hans"/>
              </a:rPr>
              <a:t>东部城市群集聚整机、算法与资本，武汉依托科研、制造和康养场景形成中部转化枢纽，周边城市承接零部件、制造与场景复制</a:t>
            </a:r>
            <a:endParaRPr sz="1090"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9D2CE"/>
          </a:solidFill>
          <a:ln w="0">
            <a:noFill/>
            <a:prstDash val="solid"/>
          </a:ln>
        </p:spPr>
      </p:sp>
      <p:sp>
        <p:nvSpPr>
          <p:cNvPr id="6" name="圆角矩形 5"/>
          <p:cNvSpPr>
            <a:spLocks noGrp="1"/>
          </p:cNvSpPr>
          <p:nvPr/>
        </p:nvSpPr>
        <p:spPr>
          <a:xfrm>
            <a:off x="457200" y="1147445"/>
            <a:ext cx="4667250" cy="3276600"/>
          </a:xfrm>
          <a:prstGeom prst="roundRect">
            <a:avLst>
              <a:gd name="adj" fmla="val 581"/>
            </a:avLst>
          </a:prstGeom>
          <a:solidFill>
            <a:srgbClr val="FFFFFF"/>
          </a:solidFill>
          <a:ln w="9525">
            <a:solidFill>
              <a:srgbClr val="D9D2CE"/>
            </a:solidFill>
            <a:prstDash val="solid"/>
          </a:ln>
        </p:spPr>
      </p:sp>
      <p:sp>
        <p:nvSpPr>
          <p:cNvPr id="7" name="矩形 6"/>
          <p:cNvSpPr>
            <a:spLocks noGrp="1"/>
          </p:cNvSpPr>
          <p:nvPr/>
        </p:nvSpPr>
        <p:spPr>
          <a:xfrm>
            <a:off x="457200" y="1147445"/>
            <a:ext cx="76200" cy="3276600"/>
          </a:xfrm>
          <a:prstGeom prst="rect">
            <a:avLst/>
          </a:prstGeom>
          <a:solidFill>
            <a:srgbClr val="91252F"/>
          </a:solidFill>
          <a:ln w="0">
            <a:noFill/>
            <a:prstDash val="solid"/>
          </a:ln>
        </p:spPr>
      </p:sp>
      <p:sp>
        <p:nvSpPr>
          <p:cNvPr id="8" name="矩形 7"/>
          <p:cNvSpPr>
            <a:spLocks noGrp="1"/>
          </p:cNvSpPr>
          <p:nvPr/>
        </p:nvSpPr>
        <p:spPr>
          <a:xfrm>
            <a:off x="666750" y="1280795"/>
            <a:ext cx="4191000" cy="323850"/>
          </a:xfrm>
          <a:prstGeom prst="rect">
            <a:avLst/>
          </a:prstGeom>
          <a:noFill/>
          <a:ln w="0">
            <a:noFill/>
            <a:prstDash val="solid"/>
          </a:ln>
        </p:spPr>
        <p:txBody>
          <a:bodyPr wrap="square" lIns="47625" tIns="19050" rIns="47625" bIns="19050" anchor="ctr">
            <a:normAutofit/>
          </a:bodyPr>
          <a:lstStyle/>
          <a:p>
            <a:pPr algn="l">
              <a:defRPr sz="1275" b="1">
                <a:solidFill>
                  <a:srgbClr val="91252F"/>
                </a:solidFill>
                <a:latin typeface="Noto Sans Hans"/>
                <a:ea typeface="Noto Sans Hans"/>
                <a:cs typeface="Noto Sans Hans"/>
              </a:defRPr>
            </a:pPr>
            <a:r>
              <a:rPr sz="1400" b="1">
                <a:solidFill>
                  <a:srgbClr val="91252F"/>
                </a:solidFill>
                <a:latin typeface="Noto Sans Hans"/>
                <a:ea typeface="Noto Sans Hans"/>
                <a:cs typeface="Noto Sans Hans"/>
              </a:rPr>
              <a:t>全国形成“五大集群 + 武汉都市圈协同承载”</a:t>
            </a:r>
            <a:endParaRPr sz="1400" b="1">
              <a:solidFill>
                <a:srgbClr val="91252F"/>
              </a:solidFill>
              <a:latin typeface="Noto Sans Hans"/>
              <a:ea typeface="Noto Sans Hans"/>
              <a:cs typeface="Noto Sans Hans"/>
            </a:endParaRPr>
          </a:p>
        </p:txBody>
      </p:sp>
      <p:sp>
        <p:nvSpPr>
          <p:cNvPr id="9" name="矩形 8"/>
          <p:cNvSpPr>
            <a:spLocks noGrp="1"/>
          </p:cNvSpPr>
          <p:nvPr/>
        </p:nvSpPr>
        <p:spPr>
          <a:xfrm>
            <a:off x="666750" y="1718945"/>
            <a:ext cx="4191000" cy="5715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30"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京津冀、长三角、珠三角集聚大模型、康复/服务机器人、医疗器械和资本，构成外部技术与成熟产品导入源。</a:t>
            </a:r>
            <a:endParaRPr sz="1200" b="0">
              <a:solidFill>
                <a:srgbClr val="403A38"/>
              </a:solidFill>
              <a:latin typeface="Noto Sans Hans"/>
              <a:ea typeface="Noto Sans Hans"/>
              <a:cs typeface="Noto Sans Hans"/>
            </a:endParaRPr>
          </a:p>
        </p:txBody>
      </p:sp>
      <p:sp>
        <p:nvSpPr>
          <p:cNvPr id="10" name="矩形 9"/>
          <p:cNvSpPr>
            <a:spLocks noGrp="1"/>
          </p:cNvSpPr>
          <p:nvPr/>
        </p:nvSpPr>
        <p:spPr>
          <a:xfrm>
            <a:off x="666750" y="2366645"/>
            <a:ext cx="4191000" cy="5715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30"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武汉集聚人形机器人创新平台、高校医院、3D视觉和康复企业，可承担研发、中试、临床验证与区域总部功能。</a:t>
            </a:r>
            <a:endParaRPr sz="1200" b="0">
              <a:solidFill>
                <a:srgbClr val="403A38"/>
              </a:solidFill>
              <a:latin typeface="Noto Sans Hans"/>
              <a:ea typeface="Noto Sans Hans"/>
              <a:cs typeface="Noto Sans Hans"/>
            </a:endParaRPr>
          </a:p>
        </p:txBody>
      </p:sp>
      <p:sp>
        <p:nvSpPr>
          <p:cNvPr id="11" name="矩形 10"/>
          <p:cNvSpPr>
            <a:spLocks noGrp="1"/>
          </p:cNvSpPr>
          <p:nvPr/>
        </p:nvSpPr>
        <p:spPr>
          <a:xfrm>
            <a:off x="666750" y="3014345"/>
            <a:ext cx="4191000" cy="5715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30"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黄冈、鄂州、黄石、孝感、咸宁等武汉都市圈城市分别承接精密传动、电子皮肤、整机制造、医疗康复和康养场景。</a:t>
            </a:r>
            <a:endParaRPr sz="1200" b="0">
              <a:solidFill>
                <a:srgbClr val="403A38"/>
              </a:solidFill>
              <a:latin typeface="Noto Sans Hans"/>
              <a:ea typeface="Noto Sans Hans"/>
              <a:cs typeface="Noto Sans Hans"/>
            </a:endParaRPr>
          </a:p>
        </p:txBody>
      </p:sp>
      <p:sp>
        <p:nvSpPr>
          <p:cNvPr id="12" name="矩形 11"/>
          <p:cNvSpPr>
            <a:spLocks noGrp="1"/>
          </p:cNvSpPr>
          <p:nvPr/>
        </p:nvSpPr>
        <p:spPr>
          <a:xfrm>
            <a:off x="666750" y="3662045"/>
            <a:ext cx="4191000" cy="5715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930" b="0">
                <a:solidFill>
                  <a:srgbClr val="403A38"/>
                </a:solidFill>
                <a:latin typeface="Noto Sans Hans"/>
                <a:ea typeface="Noto Sans Hans"/>
                <a:cs typeface="Noto Sans Hans"/>
              </a:defRPr>
            </a:pPr>
            <a:r>
              <a:rPr sz="1200" b="0">
                <a:solidFill>
                  <a:srgbClr val="403A38"/>
                </a:solidFill>
                <a:latin typeface="Noto Sans Hans"/>
                <a:ea typeface="Noto Sans Hans"/>
                <a:cs typeface="Noto Sans Hans"/>
              </a:rPr>
              <a:t>• 成都—重庆、青岛、合肥、郑州等形成专业化节点，可补充外骨骼、居家生态、辅助器具和康复医疗器械能力。</a:t>
            </a:r>
            <a:endParaRPr sz="1200" b="0">
              <a:solidFill>
                <a:srgbClr val="403A38"/>
              </a:solidFill>
              <a:latin typeface="Noto Sans Hans"/>
              <a:ea typeface="Noto Sans Hans"/>
              <a:cs typeface="Noto Sans Hans"/>
            </a:endParaRPr>
          </a:p>
        </p:txBody>
      </p:sp>
      <p:sp>
        <p:nvSpPr>
          <p:cNvPr id="13" name="矩形 12"/>
          <p:cNvSpPr>
            <a:spLocks noGrp="1"/>
          </p:cNvSpPr>
          <p:nvPr/>
        </p:nvSpPr>
        <p:spPr>
          <a:xfrm>
            <a:off x="457200" y="4576445"/>
            <a:ext cx="4667250" cy="323850"/>
          </a:xfrm>
          <a:prstGeom prst="rect">
            <a:avLst/>
          </a:prstGeom>
          <a:solidFill>
            <a:srgbClr val="91252F"/>
          </a:solidFill>
          <a:ln w="0">
            <a:noFill/>
            <a:prstDash val="solid"/>
          </a:ln>
        </p:spPr>
      </p:sp>
      <p:sp>
        <p:nvSpPr>
          <p:cNvPr id="14" name="矩形 13"/>
          <p:cNvSpPr>
            <a:spLocks noGrp="1"/>
          </p:cNvSpPr>
          <p:nvPr/>
        </p:nvSpPr>
        <p:spPr>
          <a:xfrm>
            <a:off x="485775" y="4595495"/>
            <a:ext cx="1095375" cy="28575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重点集群</a:t>
            </a:r>
            <a:endParaRPr sz="1080" b="1">
              <a:solidFill>
                <a:srgbClr val="FFFFFF"/>
              </a:solidFill>
              <a:latin typeface="Noto Sans Hans"/>
              <a:ea typeface="Noto Sans Hans"/>
              <a:cs typeface="Noto Sans Hans"/>
            </a:endParaRPr>
          </a:p>
        </p:txBody>
      </p:sp>
      <p:sp>
        <p:nvSpPr>
          <p:cNvPr id="15" name="矩形 14"/>
          <p:cNvSpPr>
            <a:spLocks noGrp="1"/>
          </p:cNvSpPr>
          <p:nvPr/>
        </p:nvSpPr>
        <p:spPr>
          <a:xfrm>
            <a:off x="1600200" y="4595495"/>
            <a:ext cx="2143125" cy="28575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优势方向</a:t>
            </a:r>
            <a:endParaRPr sz="1080" b="1">
              <a:solidFill>
                <a:srgbClr val="FFFFFF"/>
              </a:solidFill>
              <a:latin typeface="Noto Sans Hans"/>
              <a:ea typeface="Noto Sans Hans"/>
              <a:cs typeface="Noto Sans Hans"/>
            </a:endParaRPr>
          </a:p>
        </p:txBody>
      </p:sp>
      <p:sp>
        <p:nvSpPr>
          <p:cNvPr id="16" name="矩形 15"/>
          <p:cNvSpPr>
            <a:spLocks noGrp="1"/>
          </p:cNvSpPr>
          <p:nvPr/>
        </p:nvSpPr>
        <p:spPr>
          <a:xfrm>
            <a:off x="3771900" y="4595495"/>
            <a:ext cx="1323975" cy="28575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对武汉的主要价值</a:t>
            </a:r>
            <a:endParaRPr sz="1080" b="1">
              <a:solidFill>
                <a:srgbClr val="FFFFFF"/>
              </a:solidFill>
              <a:latin typeface="Noto Sans Hans"/>
              <a:ea typeface="Noto Sans Hans"/>
              <a:cs typeface="Noto Sans Hans"/>
            </a:endParaRPr>
          </a:p>
        </p:txBody>
      </p:sp>
      <p:sp>
        <p:nvSpPr>
          <p:cNvPr id="17" name="矩形 16"/>
          <p:cNvSpPr>
            <a:spLocks noGrp="1"/>
          </p:cNvSpPr>
          <p:nvPr/>
        </p:nvSpPr>
        <p:spPr>
          <a:xfrm>
            <a:off x="457200" y="4900295"/>
            <a:ext cx="4667250" cy="285750"/>
          </a:xfrm>
          <a:prstGeom prst="rect">
            <a:avLst/>
          </a:prstGeom>
          <a:solidFill>
            <a:srgbClr val="F9E8E7"/>
          </a:solidFill>
          <a:ln w="9525">
            <a:solidFill>
              <a:srgbClr val="FFFFFF"/>
            </a:solidFill>
            <a:prstDash val="solid"/>
          </a:ln>
        </p:spPr>
      </p:sp>
      <p:sp>
        <p:nvSpPr>
          <p:cNvPr id="18" name="矩形 17"/>
          <p:cNvSpPr>
            <a:spLocks noGrp="1"/>
          </p:cNvSpPr>
          <p:nvPr/>
        </p:nvSpPr>
        <p:spPr>
          <a:xfrm>
            <a:off x="495300" y="4909820"/>
            <a:ext cx="1066800" cy="2667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京津冀</a:t>
            </a:r>
            <a:endParaRPr sz="970" b="1">
              <a:solidFill>
                <a:srgbClr val="91252F"/>
              </a:solidFill>
              <a:latin typeface="Noto Sans Hans"/>
              <a:ea typeface="Noto Sans Hans"/>
              <a:cs typeface="Noto Sans Hans"/>
            </a:endParaRPr>
          </a:p>
        </p:txBody>
      </p:sp>
      <p:sp>
        <p:nvSpPr>
          <p:cNvPr id="19" name="矩形 18"/>
          <p:cNvSpPr>
            <a:spLocks noGrp="1"/>
          </p:cNvSpPr>
          <p:nvPr/>
        </p:nvSpPr>
        <p:spPr>
          <a:xfrm>
            <a:off x="1600200" y="4909820"/>
            <a:ext cx="2143125" cy="266700"/>
          </a:xfrm>
          <a:prstGeom prst="rect">
            <a:avLst/>
          </a:prstGeom>
          <a:noFill/>
          <a:ln w="0">
            <a:noFill/>
            <a:prstDash val="solid"/>
          </a:ln>
        </p:spPr>
        <p:txBody>
          <a:bodyPr wrap="square" lIns="47625" tIns="19050" rIns="47625" bIns="19050" anchor="ctr">
            <a:normAutofit/>
          </a:bodyPr>
          <a:lstStyle/>
          <a:p>
            <a:pPr algn="ctr">
              <a:defRPr sz="810"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大模型、医疗科研、政策资源</a:t>
            </a:r>
            <a:endParaRPr sz="910" b="0">
              <a:solidFill>
                <a:srgbClr val="403A38"/>
              </a:solidFill>
              <a:latin typeface="Noto Sans Hans"/>
              <a:ea typeface="Noto Sans Hans"/>
              <a:cs typeface="Noto Sans Hans"/>
            </a:endParaRPr>
          </a:p>
        </p:txBody>
      </p:sp>
      <p:sp>
        <p:nvSpPr>
          <p:cNvPr id="20" name="矩形 19"/>
          <p:cNvSpPr>
            <a:spLocks noGrp="1"/>
          </p:cNvSpPr>
          <p:nvPr/>
        </p:nvSpPr>
        <p:spPr>
          <a:xfrm>
            <a:off x="3771900" y="4909820"/>
            <a:ext cx="1323975" cy="266700"/>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算法评测/临床合作</a:t>
            </a:r>
            <a:endParaRPr sz="910" b="1">
              <a:solidFill>
                <a:srgbClr val="403A38"/>
              </a:solidFill>
              <a:latin typeface="Noto Sans Hans"/>
              <a:ea typeface="Noto Sans Hans"/>
              <a:cs typeface="Noto Sans Hans"/>
            </a:endParaRPr>
          </a:p>
        </p:txBody>
      </p:sp>
      <p:sp>
        <p:nvSpPr>
          <p:cNvPr id="21" name="矩形 20"/>
          <p:cNvSpPr>
            <a:spLocks noGrp="1"/>
          </p:cNvSpPr>
          <p:nvPr/>
        </p:nvSpPr>
        <p:spPr>
          <a:xfrm>
            <a:off x="457200" y="5186045"/>
            <a:ext cx="4667250" cy="285750"/>
          </a:xfrm>
          <a:prstGeom prst="rect">
            <a:avLst/>
          </a:prstGeom>
          <a:solidFill>
            <a:srgbClr val="FFFFFF"/>
          </a:solidFill>
          <a:ln w="9525">
            <a:solidFill>
              <a:srgbClr val="FFFFFF"/>
            </a:solidFill>
            <a:prstDash val="solid"/>
          </a:ln>
        </p:spPr>
      </p:sp>
      <p:sp>
        <p:nvSpPr>
          <p:cNvPr id="22" name="矩形 21"/>
          <p:cNvSpPr>
            <a:spLocks noGrp="1"/>
          </p:cNvSpPr>
          <p:nvPr/>
        </p:nvSpPr>
        <p:spPr>
          <a:xfrm>
            <a:off x="495300" y="5195570"/>
            <a:ext cx="1066800" cy="2667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长三角</a:t>
            </a:r>
            <a:endParaRPr sz="970" b="1">
              <a:solidFill>
                <a:srgbClr val="91252F"/>
              </a:solidFill>
              <a:latin typeface="Noto Sans Hans"/>
              <a:ea typeface="Noto Sans Hans"/>
              <a:cs typeface="Noto Sans Hans"/>
            </a:endParaRPr>
          </a:p>
        </p:txBody>
      </p:sp>
      <p:sp>
        <p:nvSpPr>
          <p:cNvPr id="23" name="矩形 22"/>
          <p:cNvSpPr>
            <a:spLocks noGrp="1"/>
          </p:cNvSpPr>
          <p:nvPr/>
        </p:nvSpPr>
        <p:spPr>
          <a:xfrm>
            <a:off x="1600200" y="5195570"/>
            <a:ext cx="2143125" cy="266700"/>
          </a:xfrm>
          <a:prstGeom prst="rect">
            <a:avLst/>
          </a:prstGeom>
          <a:noFill/>
          <a:ln w="0">
            <a:noFill/>
            <a:prstDash val="solid"/>
          </a:ln>
        </p:spPr>
        <p:txBody>
          <a:bodyPr wrap="square" lIns="47625" tIns="19050" rIns="47625" bIns="19050" anchor="ctr">
            <a:normAutofit/>
          </a:bodyPr>
          <a:lstStyle/>
          <a:p>
            <a:pPr algn="ctr">
              <a:defRPr sz="810"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康复机器人、医疗器械、零部件</a:t>
            </a:r>
            <a:endParaRPr sz="910" b="0">
              <a:solidFill>
                <a:srgbClr val="403A38"/>
              </a:solidFill>
              <a:latin typeface="Noto Sans Hans"/>
              <a:ea typeface="Noto Sans Hans"/>
              <a:cs typeface="Noto Sans Hans"/>
            </a:endParaRPr>
          </a:p>
        </p:txBody>
      </p:sp>
      <p:sp>
        <p:nvSpPr>
          <p:cNvPr id="24" name="矩形 23"/>
          <p:cNvSpPr>
            <a:spLocks noGrp="1"/>
          </p:cNvSpPr>
          <p:nvPr/>
        </p:nvSpPr>
        <p:spPr>
          <a:xfrm>
            <a:off x="3771900" y="5195570"/>
            <a:ext cx="1323975" cy="266700"/>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整机导入/区域总部</a:t>
            </a:r>
            <a:endParaRPr sz="910" b="1">
              <a:solidFill>
                <a:srgbClr val="403A38"/>
              </a:solidFill>
              <a:latin typeface="Noto Sans Hans"/>
              <a:ea typeface="Noto Sans Hans"/>
              <a:cs typeface="Noto Sans Hans"/>
            </a:endParaRPr>
          </a:p>
        </p:txBody>
      </p:sp>
      <p:sp>
        <p:nvSpPr>
          <p:cNvPr id="25" name="矩形 24"/>
          <p:cNvSpPr>
            <a:spLocks noGrp="1"/>
          </p:cNvSpPr>
          <p:nvPr/>
        </p:nvSpPr>
        <p:spPr>
          <a:xfrm>
            <a:off x="457200" y="5471795"/>
            <a:ext cx="4667250" cy="285750"/>
          </a:xfrm>
          <a:prstGeom prst="rect">
            <a:avLst/>
          </a:prstGeom>
          <a:solidFill>
            <a:srgbClr val="F9E8E7"/>
          </a:solidFill>
          <a:ln w="9525">
            <a:solidFill>
              <a:srgbClr val="FFFFFF"/>
            </a:solidFill>
            <a:prstDash val="solid"/>
          </a:ln>
        </p:spPr>
      </p:sp>
      <p:sp>
        <p:nvSpPr>
          <p:cNvPr id="26" name="矩形 25"/>
          <p:cNvSpPr>
            <a:spLocks noGrp="1"/>
          </p:cNvSpPr>
          <p:nvPr/>
        </p:nvSpPr>
        <p:spPr>
          <a:xfrm>
            <a:off x="495300" y="5481320"/>
            <a:ext cx="1066800" cy="2667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珠三角</a:t>
            </a:r>
            <a:endParaRPr sz="970" b="1">
              <a:solidFill>
                <a:srgbClr val="91252F"/>
              </a:solidFill>
              <a:latin typeface="Noto Sans Hans"/>
              <a:ea typeface="Noto Sans Hans"/>
              <a:cs typeface="Noto Sans Hans"/>
            </a:endParaRPr>
          </a:p>
        </p:txBody>
      </p:sp>
      <p:sp>
        <p:nvSpPr>
          <p:cNvPr id="27" name="矩形 26"/>
          <p:cNvSpPr>
            <a:spLocks noGrp="1"/>
          </p:cNvSpPr>
          <p:nvPr/>
        </p:nvSpPr>
        <p:spPr>
          <a:xfrm>
            <a:off x="1600200" y="5481320"/>
            <a:ext cx="2143125" cy="266700"/>
          </a:xfrm>
          <a:prstGeom prst="rect">
            <a:avLst/>
          </a:prstGeom>
          <a:noFill/>
          <a:ln w="0">
            <a:noFill/>
            <a:prstDash val="solid"/>
          </a:ln>
        </p:spPr>
        <p:txBody>
          <a:bodyPr wrap="square" lIns="47625" tIns="19050" rIns="47625" bIns="19050" anchor="ctr">
            <a:normAutofit/>
          </a:bodyPr>
          <a:lstStyle/>
          <a:p>
            <a:pPr algn="ctr">
              <a:defRPr sz="810"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人形、护理、陪伴、服务机器人</a:t>
            </a:r>
            <a:endParaRPr sz="910" b="0">
              <a:solidFill>
                <a:srgbClr val="403A38"/>
              </a:solidFill>
              <a:latin typeface="Noto Sans Hans"/>
              <a:ea typeface="Noto Sans Hans"/>
              <a:cs typeface="Noto Sans Hans"/>
            </a:endParaRPr>
          </a:p>
        </p:txBody>
      </p:sp>
      <p:sp>
        <p:nvSpPr>
          <p:cNvPr id="28" name="矩形 27"/>
          <p:cNvSpPr>
            <a:spLocks noGrp="1"/>
          </p:cNvSpPr>
          <p:nvPr/>
        </p:nvSpPr>
        <p:spPr>
          <a:xfrm>
            <a:off x="3771900" y="5481320"/>
            <a:ext cx="1323975" cy="266700"/>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成熟产品/护理试点</a:t>
            </a:r>
            <a:endParaRPr sz="910" b="1">
              <a:solidFill>
                <a:srgbClr val="403A38"/>
              </a:solidFill>
              <a:latin typeface="Noto Sans Hans"/>
              <a:ea typeface="Noto Sans Hans"/>
              <a:cs typeface="Noto Sans Hans"/>
            </a:endParaRPr>
          </a:p>
        </p:txBody>
      </p:sp>
      <p:sp>
        <p:nvSpPr>
          <p:cNvPr id="29" name="矩形 28"/>
          <p:cNvSpPr>
            <a:spLocks noGrp="1"/>
          </p:cNvSpPr>
          <p:nvPr/>
        </p:nvSpPr>
        <p:spPr>
          <a:xfrm>
            <a:off x="457200" y="5757545"/>
            <a:ext cx="4667250" cy="285750"/>
          </a:xfrm>
          <a:prstGeom prst="rect">
            <a:avLst/>
          </a:prstGeom>
          <a:solidFill>
            <a:srgbClr val="F7F1DF"/>
          </a:solidFill>
          <a:ln w="9525">
            <a:solidFill>
              <a:srgbClr val="FFFFFF"/>
            </a:solidFill>
            <a:prstDash val="solid"/>
          </a:ln>
        </p:spPr>
      </p:sp>
      <p:sp>
        <p:nvSpPr>
          <p:cNvPr id="30" name="矩形 29"/>
          <p:cNvSpPr>
            <a:spLocks noGrp="1"/>
          </p:cNvSpPr>
          <p:nvPr/>
        </p:nvSpPr>
        <p:spPr>
          <a:xfrm>
            <a:off x="495300" y="5767070"/>
            <a:ext cx="1066800" cy="266700"/>
          </a:xfrm>
          <a:prstGeom prst="rect">
            <a:avLst/>
          </a:prstGeom>
          <a:noFill/>
          <a:ln w="0">
            <a:noFill/>
            <a:prstDash val="solid"/>
          </a:ln>
        </p:spPr>
        <p:txBody>
          <a:bodyPr wrap="square" lIns="47625" tIns="19050" rIns="47625" bIns="19050" anchor="ctr">
            <a:normAutofit/>
          </a:bodyPr>
          <a:lstStyle/>
          <a:p>
            <a:pPr algn="ctr">
              <a:defRPr sz="865" b="1">
                <a:solidFill>
                  <a:srgbClr val="9A7000"/>
                </a:solidFill>
                <a:latin typeface="Noto Sans Hans"/>
                <a:ea typeface="Noto Sans Hans"/>
                <a:cs typeface="Noto Sans Hans"/>
              </a:defRPr>
            </a:pPr>
            <a:r>
              <a:rPr sz="970" b="1">
                <a:solidFill>
                  <a:srgbClr val="9A7000"/>
                </a:solidFill>
                <a:latin typeface="Noto Sans Hans"/>
                <a:ea typeface="Noto Sans Hans"/>
                <a:cs typeface="Noto Sans Hans"/>
              </a:rPr>
              <a:t>武汉都市圈</a:t>
            </a:r>
            <a:endParaRPr sz="970" b="1">
              <a:solidFill>
                <a:srgbClr val="9A7000"/>
              </a:solidFill>
              <a:latin typeface="Noto Sans Hans"/>
              <a:ea typeface="Noto Sans Hans"/>
              <a:cs typeface="Noto Sans Hans"/>
            </a:endParaRPr>
          </a:p>
        </p:txBody>
      </p:sp>
      <p:sp>
        <p:nvSpPr>
          <p:cNvPr id="31" name="矩形 30"/>
          <p:cNvSpPr>
            <a:spLocks noGrp="1"/>
          </p:cNvSpPr>
          <p:nvPr/>
        </p:nvSpPr>
        <p:spPr>
          <a:xfrm>
            <a:off x="1600200" y="5767070"/>
            <a:ext cx="2143125" cy="266700"/>
          </a:xfrm>
          <a:prstGeom prst="rect">
            <a:avLst/>
          </a:prstGeom>
          <a:noFill/>
          <a:ln w="0">
            <a:noFill/>
            <a:prstDash val="solid"/>
          </a:ln>
        </p:spPr>
        <p:txBody>
          <a:bodyPr wrap="square" lIns="47625" tIns="19050" rIns="47625" bIns="19050" anchor="ctr">
            <a:normAutofit/>
          </a:bodyPr>
          <a:lstStyle/>
          <a:p>
            <a:pPr algn="ctr">
              <a:defRPr sz="810"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研发中试、制造配套、康养场景</a:t>
            </a:r>
            <a:endParaRPr sz="910" b="0">
              <a:solidFill>
                <a:srgbClr val="403A38"/>
              </a:solidFill>
              <a:latin typeface="Noto Sans Hans"/>
              <a:ea typeface="Noto Sans Hans"/>
              <a:cs typeface="Noto Sans Hans"/>
            </a:endParaRPr>
          </a:p>
        </p:txBody>
      </p:sp>
      <p:sp>
        <p:nvSpPr>
          <p:cNvPr id="32" name="矩形 31"/>
          <p:cNvSpPr>
            <a:spLocks noGrp="1"/>
          </p:cNvSpPr>
          <p:nvPr/>
        </p:nvSpPr>
        <p:spPr>
          <a:xfrm>
            <a:off x="3771900" y="5767070"/>
            <a:ext cx="1323975" cy="266700"/>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本地验证/规模复制</a:t>
            </a:r>
            <a:endParaRPr sz="910" b="1">
              <a:solidFill>
                <a:srgbClr val="403A38"/>
              </a:solidFill>
              <a:latin typeface="Noto Sans Hans"/>
              <a:ea typeface="Noto Sans Hans"/>
              <a:cs typeface="Noto Sans Hans"/>
            </a:endParaRPr>
          </a:p>
        </p:txBody>
      </p:sp>
      <p:sp>
        <p:nvSpPr>
          <p:cNvPr id="33" name="矩形 32"/>
          <p:cNvSpPr>
            <a:spLocks noGrp="1"/>
          </p:cNvSpPr>
          <p:nvPr/>
        </p:nvSpPr>
        <p:spPr>
          <a:xfrm>
            <a:off x="457200" y="6043295"/>
            <a:ext cx="4667250" cy="285750"/>
          </a:xfrm>
          <a:prstGeom prst="rect">
            <a:avLst/>
          </a:prstGeom>
          <a:solidFill>
            <a:srgbClr val="F9E8E7"/>
          </a:solidFill>
          <a:ln w="9525">
            <a:solidFill>
              <a:srgbClr val="FFFFFF"/>
            </a:solidFill>
            <a:prstDash val="solid"/>
          </a:ln>
        </p:spPr>
      </p:sp>
      <p:sp>
        <p:nvSpPr>
          <p:cNvPr id="34" name="矩形 33"/>
          <p:cNvSpPr>
            <a:spLocks noGrp="1"/>
          </p:cNvSpPr>
          <p:nvPr/>
        </p:nvSpPr>
        <p:spPr>
          <a:xfrm>
            <a:off x="495300" y="6052820"/>
            <a:ext cx="1066800" cy="266700"/>
          </a:xfrm>
          <a:prstGeom prst="rect">
            <a:avLst/>
          </a:prstGeom>
          <a:noFill/>
          <a:ln w="0">
            <a:noFill/>
            <a:prstDash val="solid"/>
          </a:ln>
        </p:spPr>
        <p:txBody>
          <a:bodyPr wrap="square" lIns="47625" tIns="19050" rIns="47625" bIns="19050" anchor="ctr">
            <a:normAutofit/>
          </a:bodyPr>
          <a:lstStyle/>
          <a:p>
            <a:pPr algn="ctr">
              <a:defRPr sz="865" b="1">
                <a:solidFill>
                  <a:srgbClr val="91252F"/>
                </a:solidFill>
                <a:latin typeface="Noto Sans Hans"/>
                <a:ea typeface="Noto Sans Hans"/>
                <a:cs typeface="Noto Sans Hans"/>
              </a:defRPr>
            </a:pPr>
            <a:r>
              <a:rPr sz="970" b="1">
                <a:solidFill>
                  <a:srgbClr val="91252F"/>
                </a:solidFill>
                <a:latin typeface="Noto Sans Hans"/>
                <a:ea typeface="Noto Sans Hans"/>
                <a:cs typeface="Noto Sans Hans"/>
              </a:rPr>
              <a:t>成渝及专业节点</a:t>
            </a:r>
            <a:endParaRPr sz="970" b="1">
              <a:solidFill>
                <a:srgbClr val="91252F"/>
              </a:solidFill>
              <a:latin typeface="Noto Sans Hans"/>
              <a:ea typeface="Noto Sans Hans"/>
              <a:cs typeface="Noto Sans Hans"/>
            </a:endParaRPr>
          </a:p>
        </p:txBody>
      </p:sp>
      <p:sp>
        <p:nvSpPr>
          <p:cNvPr id="35" name="矩形 34"/>
          <p:cNvSpPr>
            <a:spLocks noGrp="1"/>
          </p:cNvSpPr>
          <p:nvPr/>
        </p:nvSpPr>
        <p:spPr>
          <a:xfrm>
            <a:off x="1600200" y="6052820"/>
            <a:ext cx="2143125" cy="266700"/>
          </a:xfrm>
          <a:prstGeom prst="rect">
            <a:avLst/>
          </a:prstGeom>
          <a:noFill/>
          <a:ln w="0">
            <a:noFill/>
            <a:prstDash val="solid"/>
          </a:ln>
        </p:spPr>
        <p:txBody>
          <a:bodyPr wrap="square" lIns="47625" tIns="19050" rIns="47625" bIns="19050" anchor="ctr">
            <a:normAutofit/>
          </a:bodyPr>
          <a:lstStyle/>
          <a:p>
            <a:pPr algn="ctr">
              <a:defRPr sz="810"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外骨骼、辅具、居家生态</a:t>
            </a:r>
            <a:endParaRPr sz="910" b="0">
              <a:solidFill>
                <a:srgbClr val="403A38"/>
              </a:solidFill>
              <a:latin typeface="Noto Sans Hans"/>
              <a:ea typeface="Noto Sans Hans"/>
              <a:cs typeface="Noto Sans Hans"/>
            </a:endParaRPr>
          </a:p>
        </p:txBody>
      </p:sp>
      <p:sp>
        <p:nvSpPr>
          <p:cNvPr id="36" name="矩形 35"/>
          <p:cNvSpPr>
            <a:spLocks noGrp="1"/>
          </p:cNvSpPr>
          <p:nvPr/>
        </p:nvSpPr>
        <p:spPr>
          <a:xfrm>
            <a:off x="3771900" y="6052820"/>
            <a:ext cx="1323975" cy="266700"/>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技术补充/市场协同</a:t>
            </a:r>
            <a:endParaRPr sz="910" b="1">
              <a:solidFill>
                <a:srgbClr val="403A38"/>
              </a:solidFill>
              <a:latin typeface="Noto Sans Hans"/>
              <a:ea typeface="Noto Sans Hans"/>
              <a:cs typeface="Noto Sans Hans"/>
            </a:endParaRPr>
          </a:p>
        </p:txBody>
      </p:sp>
      <p:sp>
        <p:nvSpPr>
          <p:cNvPr id="37" name="矩形 36"/>
          <p:cNvSpPr>
            <a:spLocks noGrp="1"/>
          </p:cNvSpPr>
          <p:nvPr/>
        </p:nvSpPr>
        <p:spPr>
          <a:xfrm>
            <a:off x="485775" y="6334760"/>
            <a:ext cx="4629150" cy="295275"/>
          </a:xfrm>
          <a:prstGeom prst="rect">
            <a:avLst/>
          </a:prstGeom>
          <a:noFill/>
          <a:ln w="0">
            <a:noFill/>
            <a:prstDash val="solid"/>
          </a:ln>
        </p:spPr>
        <p:txBody>
          <a:bodyPr wrap="square" lIns="47625" tIns="19050" rIns="47625" bIns="19050" anchor="ctr">
            <a:normAutofit/>
          </a:bodyPr>
          <a:lstStyle/>
          <a:p>
            <a:pPr algn="ctr">
              <a:defRPr sz="865" b="1">
                <a:solidFill>
                  <a:srgbClr val="D00914"/>
                </a:solidFill>
                <a:latin typeface="Noto Sans Hans"/>
                <a:ea typeface="Noto Sans Hans"/>
                <a:cs typeface="Noto Sans Hans"/>
              </a:defRPr>
            </a:pPr>
            <a:r>
              <a:rPr sz="865" b="1">
                <a:solidFill>
                  <a:srgbClr val="D00914"/>
                </a:solidFill>
                <a:latin typeface="Noto Sans Hans"/>
                <a:ea typeface="Noto Sans Hans"/>
                <a:cs typeface="Noto Sans Hans"/>
              </a:rPr>
              <a:t>区域布局建议：以武汉为总部与场景中心，采用“本地培育 + 东部导入 + 都市圈制造协同”。</a:t>
            </a:r>
            <a:endParaRPr sz="865" b="1">
              <a:solidFill>
                <a:srgbClr val="D00914"/>
              </a:solidFill>
              <a:latin typeface="Noto Sans Hans"/>
              <a:ea typeface="Noto Sans Hans"/>
              <a:cs typeface="Noto Sans Hans"/>
            </a:endParaRPr>
          </a:p>
        </p:txBody>
      </p:sp>
      <p:pic>
        <p:nvPicPr>
          <p:cNvPr id="101" name="图片 100"/>
          <p:cNvPicPr>
            <a:picLocks noChangeAspect="1"/>
          </p:cNvPicPr>
          <p:nvPr/>
        </p:nvPicPr>
        <p:blipFill>
          <a:blip r:embed="rId1"/>
          <a:stretch>
            <a:fillRect/>
          </a:stretch>
        </p:blipFill>
        <p:spPr>
          <a:xfrm>
            <a:off x="5348007" y="1147445"/>
            <a:ext cx="6163235" cy="5238750"/>
          </a:xfrm>
          <a:prstGeom prst="rect">
            <a:avLst/>
          </a:prstGeom>
        </p:spPr>
      </p:pic>
      <p:sp>
        <p:nvSpPr>
          <p:cNvPr id="38" name="矩形 37"/>
          <p:cNvSpPr>
            <a:spLocks noGrp="1"/>
          </p:cNvSpPr>
          <p:nvPr/>
        </p:nvSpPr>
        <p:spPr>
          <a:xfrm>
            <a:off x="6096000" y="1071245"/>
            <a:ext cx="4762500" cy="266700"/>
          </a:xfrm>
          <a:prstGeom prst="rect">
            <a:avLst/>
          </a:prstGeom>
          <a:noFill/>
          <a:ln w="0">
            <a:noFill/>
            <a:prstDash val="solid"/>
          </a:ln>
        </p:spPr>
        <p:txBody>
          <a:bodyPr wrap="square" lIns="47625" tIns="19050" rIns="47625" bIns="19050" anchor="ctr">
            <a:normAutofit/>
          </a:bodyPr>
          <a:lstStyle/>
          <a:p>
            <a:pPr algn="ctr">
              <a:defRPr sz="1125" b="1">
                <a:solidFill>
                  <a:srgbClr val="403A38"/>
                </a:solidFill>
                <a:latin typeface="Noto Sans Hans"/>
                <a:ea typeface="Noto Sans Hans"/>
                <a:cs typeface="Noto Sans Hans"/>
              </a:defRPr>
            </a:pPr>
            <a:r>
              <a:rPr sz="1200" b="1">
                <a:solidFill>
                  <a:srgbClr val="403A38"/>
                </a:solidFill>
                <a:latin typeface="Noto Sans Hans"/>
                <a:ea typeface="Noto Sans Hans"/>
                <a:cs typeface="Noto Sans Hans"/>
              </a:rPr>
              <a:t>全国养老机器人重点区域与武汉协同网络</a:t>
            </a:r>
            <a:endParaRPr sz="1200" b="1">
              <a:solidFill>
                <a:srgbClr val="403A38"/>
              </a:solidFill>
              <a:latin typeface="Noto Sans Hans"/>
              <a:ea typeface="Noto Sans Hans"/>
              <a:cs typeface="Noto Sans Hans"/>
            </a:endParaRPr>
          </a:p>
        </p:txBody>
      </p:sp>
      <p:sp>
        <p:nvSpPr>
          <p:cNvPr id="39" name="椭圆 38"/>
          <p:cNvSpPr>
            <a:spLocks noGrp="1"/>
          </p:cNvSpPr>
          <p:nvPr/>
        </p:nvSpPr>
        <p:spPr>
          <a:xfrm>
            <a:off x="5476875" y="6090920"/>
            <a:ext cx="114300" cy="114300"/>
          </a:xfrm>
          <a:prstGeom prst="ellipse">
            <a:avLst/>
          </a:prstGeom>
          <a:solidFill>
            <a:srgbClr val="D00914"/>
          </a:solidFill>
          <a:ln w="0">
            <a:noFill/>
            <a:prstDash val="solid"/>
          </a:ln>
        </p:spPr>
      </p:sp>
      <p:sp>
        <p:nvSpPr>
          <p:cNvPr id="40" name="矩形 39"/>
          <p:cNvSpPr>
            <a:spLocks noGrp="1"/>
          </p:cNvSpPr>
          <p:nvPr/>
        </p:nvSpPr>
        <p:spPr>
          <a:xfrm>
            <a:off x="5638800" y="6033770"/>
            <a:ext cx="1000125" cy="219075"/>
          </a:xfrm>
          <a:prstGeom prst="rect">
            <a:avLst/>
          </a:prstGeom>
          <a:noFill/>
          <a:ln w="0">
            <a:noFill/>
            <a:prstDash val="solid"/>
          </a:ln>
        </p:spPr>
        <p:txBody>
          <a:bodyPr wrap="square" lIns="47625" tIns="19050" rIns="47625" bIns="19050" anchor="ctr">
            <a:normAutofit/>
          </a:bodyPr>
          <a:lstStyle/>
          <a:p>
            <a:pPr algn="l">
              <a:defRPr sz="790" b="0">
                <a:solidFill>
                  <a:srgbClr val="716B68"/>
                </a:solidFill>
                <a:latin typeface="Noto Sans Hans"/>
                <a:ea typeface="Noto Sans Hans"/>
                <a:cs typeface="Noto Sans Hans"/>
              </a:defRPr>
            </a:pPr>
            <a:r>
              <a:rPr sz="890" b="0">
                <a:solidFill>
                  <a:srgbClr val="716B68"/>
                </a:solidFill>
                <a:latin typeface="Noto Sans Hans"/>
                <a:ea typeface="Noto Sans Hans"/>
                <a:cs typeface="Noto Sans Hans"/>
              </a:rPr>
              <a:t>核心布局区</a:t>
            </a:r>
            <a:endParaRPr sz="890" b="0">
              <a:solidFill>
                <a:srgbClr val="716B68"/>
              </a:solidFill>
              <a:latin typeface="Noto Sans Hans"/>
              <a:ea typeface="Noto Sans Hans"/>
              <a:cs typeface="Noto Sans Hans"/>
            </a:endParaRPr>
          </a:p>
        </p:txBody>
      </p:sp>
      <p:sp>
        <p:nvSpPr>
          <p:cNvPr id="41" name="椭圆 40"/>
          <p:cNvSpPr>
            <a:spLocks noGrp="1"/>
          </p:cNvSpPr>
          <p:nvPr/>
        </p:nvSpPr>
        <p:spPr>
          <a:xfrm>
            <a:off x="6667500" y="6090920"/>
            <a:ext cx="114300" cy="114300"/>
          </a:xfrm>
          <a:prstGeom prst="ellipse">
            <a:avLst/>
          </a:prstGeom>
          <a:solidFill>
            <a:srgbClr val="C94722"/>
          </a:solidFill>
          <a:ln w="0">
            <a:noFill/>
            <a:prstDash val="solid"/>
          </a:ln>
        </p:spPr>
      </p:sp>
      <p:sp>
        <p:nvSpPr>
          <p:cNvPr id="42" name="矩形 41"/>
          <p:cNvSpPr>
            <a:spLocks noGrp="1"/>
          </p:cNvSpPr>
          <p:nvPr/>
        </p:nvSpPr>
        <p:spPr>
          <a:xfrm>
            <a:off x="6829425" y="6033770"/>
            <a:ext cx="1000125" cy="219075"/>
          </a:xfrm>
          <a:prstGeom prst="rect">
            <a:avLst/>
          </a:prstGeom>
          <a:noFill/>
          <a:ln w="0">
            <a:noFill/>
            <a:prstDash val="solid"/>
          </a:ln>
        </p:spPr>
        <p:txBody>
          <a:bodyPr wrap="square" lIns="47625" tIns="19050" rIns="47625" bIns="19050" anchor="ctr">
            <a:normAutofit/>
          </a:bodyPr>
          <a:lstStyle/>
          <a:p>
            <a:pPr algn="l">
              <a:defRPr sz="790" b="0">
                <a:solidFill>
                  <a:srgbClr val="716B68"/>
                </a:solidFill>
                <a:latin typeface="Noto Sans Hans"/>
                <a:ea typeface="Noto Sans Hans"/>
                <a:cs typeface="Noto Sans Hans"/>
              </a:defRPr>
            </a:pPr>
            <a:r>
              <a:rPr sz="890" b="0">
                <a:solidFill>
                  <a:srgbClr val="716B68"/>
                </a:solidFill>
                <a:latin typeface="Noto Sans Hans"/>
                <a:ea typeface="Noto Sans Hans"/>
                <a:cs typeface="Noto Sans Hans"/>
              </a:rPr>
              <a:t>外部导入区</a:t>
            </a:r>
            <a:endParaRPr sz="890" b="0">
              <a:solidFill>
                <a:srgbClr val="716B68"/>
              </a:solidFill>
              <a:latin typeface="Noto Sans Hans"/>
              <a:ea typeface="Noto Sans Hans"/>
              <a:cs typeface="Noto Sans Hans"/>
            </a:endParaRPr>
          </a:p>
        </p:txBody>
      </p:sp>
      <p:sp>
        <p:nvSpPr>
          <p:cNvPr id="43" name="椭圆 42"/>
          <p:cNvSpPr>
            <a:spLocks noGrp="1"/>
          </p:cNvSpPr>
          <p:nvPr/>
        </p:nvSpPr>
        <p:spPr>
          <a:xfrm>
            <a:off x="7858125" y="6090920"/>
            <a:ext cx="114300" cy="114300"/>
          </a:xfrm>
          <a:prstGeom prst="ellipse">
            <a:avLst/>
          </a:prstGeom>
          <a:solidFill>
            <a:srgbClr val="B2686D"/>
          </a:solidFill>
          <a:ln w="0">
            <a:noFill/>
            <a:prstDash val="solid"/>
          </a:ln>
        </p:spPr>
      </p:sp>
      <p:sp>
        <p:nvSpPr>
          <p:cNvPr id="44" name="矩形 43"/>
          <p:cNvSpPr>
            <a:spLocks noGrp="1"/>
          </p:cNvSpPr>
          <p:nvPr/>
        </p:nvSpPr>
        <p:spPr>
          <a:xfrm>
            <a:off x="8020050" y="6033770"/>
            <a:ext cx="1000125" cy="219075"/>
          </a:xfrm>
          <a:prstGeom prst="rect">
            <a:avLst/>
          </a:prstGeom>
          <a:noFill/>
          <a:ln w="0">
            <a:noFill/>
            <a:prstDash val="solid"/>
          </a:ln>
        </p:spPr>
        <p:txBody>
          <a:bodyPr wrap="square" lIns="47625" tIns="19050" rIns="47625" bIns="19050" anchor="ctr">
            <a:normAutofit/>
          </a:bodyPr>
          <a:lstStyle/>
          <a:p>
            <a:pPr algn="l">
              <a:defRPr sz="790" b="0">
                <a:solidFill>
                  <a:srgbClr val="716B68"/>
                </a:solidFill>
                <a:latin typeface="Noto Sans Hans"/>
                <a:ea typeface="Noto Sans Hans"/>
                <a:cs typeface="Noto Sans Hans"/>
              </a:defRPr>
            </a:pPr>
            <a:r>
              <a:rPr sz="890" b="0">
                <a:solidFill>
                  <a:srgbClr val="716B68"/>
                </a:solidFill>
                <a:latin typeface="Noto Sans Hans"/>
                <a:ea typeface="Noto Sans Hans"/>
                <a:cs typeface="Noto Sans Hans"/>
              </a:rPr>
              <a:t>协同承载区</a:t>
            </a:r>
            <a:endParaRPr sz="890" b="0">
              <a:solidFill>
                <a:srgbClr val="716B68"/>
              </a:solidFill>
              <a:latin typeface="Noto Sans Hans"/>
              <a:ea typeface="Noto Sans Hans"/>
              <a:cs typeface="Noto Sans Hans"/>
            </a:endParaRPr>
          </a:p>
        </p:txBody>
      </p:sp>
      <p:sp>
        <p:nvSpPr>
          <p:cNvPr id="45" name="椭圆 44"/>
          <p:cNvSpPr>
            <a:spLocks noGrp="1"/>
          </p:cNvSpPr>
          <p:nvPr/>
        </p:nvSpPr>
        <p:spPr>
          <a:xfrm>
            <a:off x="9715500" y="2547620"/>
            <a:ext cx="152400" cy="152400"/>
          </a:xfrm>
          <a:prstGeom prst="ellipse">
            <a:avLst/>
          </a:prstGeom>
          <a:solidFill>
            <a:srgbClr val="91252F"/>
          </a:solidFill>
          <a:ln w="9525">
            <a:solidFill>
              <a:srgbClr val="FFFFFF"/>
            </a:solidFill>
            <a:prstDash val="solid"/>
          </a:ln>
        </p:spPr>
      </p:sp>
      <p:sp>
        <p:nvSpPr>
          <p:cNvPr id="46" name="圆角矩形 45"/>
          <p:cNvSpPr>
            <a:spLocks noGrp="1"/>
          </p:cNvSpPr>
          <p:nvPr/>
        </p:nvSpPr>
        <p:spPr>
          <a:xfrm>
            <a:off x="9877425" y="2480945"/>
            <a:ext cx="1200150" cy="285750"/>
          </a:xfrm>
          <a:prstGeom prst="roundRect">
            <a:avLst>
              <a:gd name="adj" fmla="val 6667"/>
            </a:avLst>
          </a:prstGeom>
          <a:solidFill>
            <a:srgbClr val="FFFFFF"/>
          </a:solidFill>
          <a:ln w="9525">
            <a:solidFill>
              <a:srgbClr val="91252F"/>
            </a:solidFill>
            <a:prstDash val="solid"/>
          </a:ln>
        </p:spPr>
      </p:sp>
      <p:sp>
        <p:nvSpPr>
          <p:cNvPr id="47" name="矩形 46"/>
          <p:cNvSpPr>
            <a:spLocks noGrp="1"/>
          </p:cNvSpPr>
          <p:nvPr/>
        </p:nvSpPr>
        <p:spPr>
          <a:xfrm>
            <a:off x="9915525" y="2499995"/>
            <a:ext cx="1123950" cy="238125"/>
          </a:xfrm>
          <a:prstGeom prst="rect">
            <a:avLst/>
          </a:prstGeom>
          <a:noFill/>
          <a:ln w="0">
            <a:noFill/>
            <a:prstDash val="solid"/>
          </a:ln>
        </p:spPr>
        <p:txBody>
          <a:bodyPr wrap="square" lIns="47625" tIns="19050" rIns="47625" bIns="19050" anchor="ctr">
            <a:normAutofit/>
          </a:bodyPr>
          <a:lstStyle/>
          <a:p>
            <a:pPr algn="ctr">
              <a:defRPr sz="810" b="1">
                <a:solidFill>
                  <a:srgbClr val="91252F"/>
                </a:solidFill>
                <a:latin typeface="Noto Sans Hans"/>
                <a:ea typeface="Noto Sans Hans"/>
                <a:cs typeface="Noto Sans Hans"/>
              </a:defRPr>
            </a:pPr>
            <a:r>
              <a:rPr sz="910" b="1">
                <a:solidFill>
                  <a:srgbClr val="91252F"/>
                </a:solidFill>
                <a:latin typeface="Noto Sans Hans"/>
                <a:ea typeface="Noto Sans Hans"/>
                <a:cs typeface="Noto Sans Hans"/>
              </a:rPr>
              <a:t>京津冀：算法/医疗</a:t>
            </a:r>
            <a:endParaRPr sz="910" b="1">
              <a:solidFill>
                <a:srgbClr val="91252F"/>
              </a:solidFill>
              <a:latin typeface="Noto Sans Hans"/>
              <a:ea typeface="Noto Sans Hans"/>
              <a:cs typeface="Noto Sans Hans"/>
            </a:endParaRPr>
          </a:p>
        </p:txBody>
      </p:sp>
      <p:sp>
        <p:nvSpPr>
          <p:cNvPr id="48" name="椭圆 47"/>
          <p:cNvSpPr>
            <a:spLocks noGrp="1"/>
          </p:cNvSpPr>
          <p:nvPr/>
        </p:nvSpPr>
        <p:spPr>
          <a:xfrm>
            <a:off x="10191750" y="3757295"/>
            <a:ext cx="152400" cy="152400"/>
          </a:xfrm>
          <a:prstGeom prst="ellipse">
            <a:avLst/>
          </a:prstGeom>
          <a:solidFill>
            <a:srgbClr val="C94722"/>
          </a:solidFill>
          <a:ln w="9525">
            <a:solidFill>
              <a:srgbClr val="FFFFFF"/>
            </a:solidFill>
            <a:prstDash val="solid"/>
          </a:ln>
        </p:spPr>
      </p:sp>
      <p:sp>
        <p:nvSpPr>
          <p:cNvPr id="49" name="圆角矩形 48"/>
          <p:cNvSpPr>
            <a:spLocks noGrp="1"/>
          </p:cNvSpPr>
          <p:nvPr/>
        </p:nvSpPr>
        <p:spPr>
          <a:xfrm>
            <a:off x="10353675" y="3690620"/>
            <a:ext cx="1304925" cy="285750"/>
          </a:xfrm>
          <a:prstGeom prst="roundRect">
            <a:avLst>
              <a:gd name="adj" fmla="val 6667"/>
            </a:avLst>
          </a:prstGeom>
          <a:solidFill>
            <a:srgbClr val="FFFFFF"/>
          </a:solidFill>
          <a:ln w="9525">
            <a:solidFill>
              <a:srgbClr val="C94722"/>
            </a:solidFill>
            <a:prstDash val="solid"/>
          </a:ln>
        </p:spPr>
      </p:sp>
      <p:sp>
        <p:nvSpPr>
          <p:cNvPr id="50" name="矩形 49"/>
          <p:cNvSpPr>
            <a:spLocks noGrp="1"/>
          </p:cNvSpPr>
          <p:nvPr/>
        </p:nvSpPr>
        <p:spPr>
          <a:xfrm>
            <a:off x="10391775" y="3709670"/>
            <a:ext cx="1228725" cy="238125"/>
          </a:xfrm>
          <a:prstGeom prst="rect">
            <a:avLst/>
          </a:prstGeom>
          <a:noFill/>
          <a:ln w="0">
            <a:noFill/>
            <a:prstDash val="solid"/>
          </a:ln>
        </p:spPr>
        <p:txBody>
          <a:bodyPr wrap="square" lIns="47625" tIns="19050" rIns="47625" bIns="19050" anchor="ctr">
            <a:normAutofit/>
          </a:bodyPr>
          <a:lstStyle/>
          <a:p>
            <a:pPr algn="ctr">
              <a:defRPr sz="810" b="1">
                <a:solidFill>
                  <a:srgbClr val="C94722"/>
                </a:solidFill>
                <a:latin typeface="Noto Sans Hans"/>
                <a:ea typeface="Noto Sans Hans"/>
                <a:cs typeface="Noto Sans Hans"/>
              </a:defRPr>
            </a:pPr>
            <a:r>
              <a:rPr sz="910" b="1">
                <a:solidFill>
                  <a:srgbClr val="C94722"/>
                </a:solidFill>
                <a:latin typeface="Noto Sans Hans"/>
                <a:ea typeface="Noto Sans Hans"/>
                <a:cs typeface="Noto Sans Hans"/>
              </a:rPr>
              <a:t>长三角：康复/器械</a:t>
            </a:r>
            <a:endParaRPr sz="910" b="1">
              <a:solidFill>
                <a:srgbClr val="C94722"/>
              </a:solidFill>
              <a:latin typeface="Noto Sans Hans"/>
              <a:ea typeface="Noto Sans Hans"/>
              <a:cs typeface="Noto Sans Hans"/>
            </a:endParaRPr>
          </a:p>
        </p:txBody>
      </p:sp>
      <p:sp>
        <p:nvSpPr>
          <p:cNvPr id="51" name="椭圆 50"/>
          <p:cNvSpPr>
            <a:spLocks noGrp="1"/>
          </p:cNvSpPr>
          <p:nvPr/>
        </p:nvSpPr>
        <p:spPr>
          <a:xfrm>
            <a:off x="9953625" y="5147945"/>
            <a:ext cx="152400" cy="152400"/>
          </a:xfrm>
          <a:prstGeom prst="ellipse">
            <a:avLst/>
          </a:prstGeom>
          <a:solidFill>
            <a:srgbClr val="D00914"/>
          </a:solidFill>
          <a:ln w="9525">
            <a:solidFill>
              <a:srgbClr val="FFFFFF"/>
            </a:solidFill>
            <a:prstDash val="solid"/>
          </a:ln>
        </p:spPr>
      </p:sp>
      <p:sp>
        <p:nvSpPr>
          <p:cNvPr id="52" name="圆角矩形 51"/>
          <p:cNvSpPr>
            <a:spLocks noGrp="1"/>
          </p:cNvSpPr>
          <p:nvPr/>
        </p:nvSpPr>
        <p:spPr>
          <a:xfrm>
            <a:off x="10115550" y="5081270"/>
            <a:ext cx="1304925" cy="285750"/>
          </a:xfrm>
          <a:prstGeom prst="roundRect">
            <a:avLst>
              <a:gd name="adj" fmla="val 6667"/>
            </a:avLst>
          </a:prstGeom>
          <a:solidFill>
            <a:srgbClr val="FFFFFF"/>
          </a:solidFill>
          <a:ln w="9525">
            <a:solidFill>
              <a:srgbClr val="D00914"/>
            </a:solidFill>
            <a:prstDash val="solid"/>
          </a:ln>
        </p:spPr>
      </p:sp>
      <p:sp>
        <p:nvSpPr>
          <p:cNvPr id="53" name="矩形 52"/>
          <p:cNvSpPr>
            <a:spLocks noGrp="1"/>
          </p:cNvSpPr>
          <p:nvPr/>
        </p:nvSpPr>
        <p:spPr>
          <a:xfrm>
            <a:off x="10153650" y="5100320"/>
            <a:ext cx="1228725" cy="238125"/>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910" b="1">
                <a:solidFill>
                  <a:srgbClr val="D00914"/>
                </a:solidFill>
                <a:latin typeface="Noto Sans Hans"/>
                <a:ea typeface="Noto Sans Hans"/>
                <a:cs typeface="Noto Sans Hans"/>
              </a:rPr>
              <a:t>珠三角：人形/护理</a:t>
            </a:r>
            <a:endParaRPr sz="910" b="1">
              <a:solidFill>
                <a:srgbClr val="D00914"/>
              </a:solidFill>
              <a:latin typeface="Noto Sans Hans"/>
              <a:ea typeface="Noto Sans Hans"/>
              <a:cs typeface="Noto Sans Hans"/>
            </a:endParaRPr>
          </a:p>
        </p:txBody>
      </p:sp>
      <p:sp>
        <p:nvSpPr>
          <p:cNvPr id="54" name="椭圆 53"/>
          <p:cNvSpPr>
            <a:spLocks noGrp="1"/>
          </p:cNvSpPr>
          <p:nvPr/>
        </p:nvSpPr>
        <p:spPr>
          <a:xfrm>
            <a:off x="7381875" y="4290695"/>
            <a:ext cx="152400" cy="152400"/>
          </a:xfrm>
          <a:prstGeom prst="ellipse">
            <a:avLst/>
          </a:prstGeom>
          <a:solidFill>
            <a:srgbClr val="B2686D"/>
          </a:solidFill>
          <a:ln w="9525">
            <a:solidFill>
              <a:srgbClr val="FFFFFF"/>
            </a:solidFill>
            <a:prstDash val="solid"/>
          </a:ln>
        </p:spPr>
      </p:sp>
      <p:sp>
        <p:nvSpPr>
          <p:cNvPr id="55" name="圆角矩形 54"/>
          <p:cNvSpPr>
            <a:spLocks noGrp="1"/>
          </p:cNvSpPr>
          <p:nvPr/>
        </p:nvSpPr>
        <p:spPr>
          <a:xfrm>
            <a:off x="7543800" y="4224020"/>
            <a:ext cx="1285875" cy="285750"/>
          </a:xfrm>
          <a:prstGeom prst="roundRect">
            <a:avLst>
              <a:gd name="adj" fmla="val 6667"/>
            </a:avLst>
          </a:prstGeom>
          <a:solidFill>
            <a:srgbClr val="FFFFFF"/>
          </a:solidFill>
          <a:ln w="9525">
            <a:solidFill>
              <a:srgbClr val="B2686D"/>
            </a:solidFill>
            <a:prstDash val="solid"/>
          </a:ln>
        </p:spPr>
      </p:sp>
      <p:sp>
        <p:nvSpPr>
          <p:cNvPr id="56" name="矩形 55"/>
          <p:cNvSpPr>
            <a:spLocks noGrp="1"/>
          </p:cNvSpPr>
          <p:nvPr/>
        </p:nvSpPr>
        <p:spPr>
          <a:xfrm>
            <a:off x="7581900" y="4243070"/>
            <a:ext cx="1209675" cy="238125"/>
          </a:xfrm>
          <a:prstGeom prst="rect">
            <a:avLst/>
          </a:prstGeom>
          <a:noFill/>
          <a:ln w="0">
            <a:noFill/>
            <a:prstDash val="solid"/>
          </a:ln>
        </p:spPr>
        <p:txBody>
          <a:bodyPr wrap="square" lIns="47625" tIns="19050" rIns="47625" bIns="19050" anchor="ctr">
            <a:normAutofit/>
          </a:bodyPr>
          <a:lstStyle/>
          <a:p>
            <a:pPr algn="ctr">
              <a:defRPr sz="810" b="1">
                <a:solidFill>
                  <a:srgbClr val="B2686D"/>
                </a:solidFill>
                <a:latin typeface="Noto Sans Hans"/>
                <a:ea typeface="Noto Sans Hans"/>
                <a:cs typeface="Noto Sans Hans"/>
              </a:defRPr>
            </a:pPr>
            <a:r>
              <a:rPr sz="910" b="1">
                <a:solidFill>
                  <a:srgbClr val="B2686D"/>
                </a:solidFill>
                <a:latin typeface="Noto Sans Hans"/>
                <a:ea typeface="Noto Sans Hans"/>
                <a:cs typeface="Noto Sans Hans"/>
              </a:rPr>
              <a:t>成渝：外骨骼/辅具</a:t>
            </a:r>
            <a:endParaRPr sz="910" b="1">
              <a:solidFill>
                <a:srgbClr val="B2686D"/>
              </a:solidFill>
              <a:latin typeface="Noto Sans Hans"/>
              <a:ea typeface="Noto Sans Hans"/>
              <a:cs typeface="Noto Sans Hans"/>
            </a:endParaRPr>
          </a:p>
        </p:txBody>
      </p:sp>
      <p:sp>
        <p:nvSpPr>
          <p:cNvPr id="57" name="椭圆 56"/>
          <p:cNvSpPr>
            <a:spLocks noGrp="1"/>
          </p:cNvSpPr>
          <p:nvPr/>
        </p:nvSpPr>
        <p:spPr>
          <a:xfrm>
            <a:off x="9048750" y="3976370"/>
            <a:ext cx="152400" cy="152400"/>
          </a:xfrm>
          <a:prstGeom prst="ellipse">
            <a:avLst/>
          </a:prstGeom>
          <a:solidFill>
            <a:srgbClr val="D00914"/>
          </a:solidFill>
          <a:ln w="9525">
            <a:solidFill>
              <a:srgbClr val="FFFFFF"/>
            </a:solidFill>
            <a:prstDash val="solid"/>
          </a:ln>
        </p:spPr>
      </p:sp>
      <p:sp>
        <p:nvSpPr>
          <p:cNvPr id="58" name="圆角矩形 57"/>
          <p:cNvSpPr>
            <a:spLocks noGrp="1"/>
          </p:cNvSpPr>
          <p:nvPr/>
        </p:nvSpPr>
        <p:spPr>
          <a:xfrm>
            <a:off x="9210675" y="3909695"/>
            <a:ext cx="1466850" cy="285750"/>
          </a:xfrm>
          <a:prstGeom prst="roundRect">
            <a:avLst>
              <a:gd name="adj" fmla="val 6667"/>
            </a:avLst>
          </a:prstGeom>
          <a:solidFill>
            <a:srgbClr val="FFFFFF"/>
          </a:solidFill>
          <a:ln w="9525">
            <a:solidFill>
              <a:srgbClr val="D00914"/>
            </a:solidFill>
            <a:prstDash val="solid"/>
          </a:ln>
        </p:spPr>
      </p:sp>
      <p:sp>
        <p:nvSpPr>
          <p:cNvPr id="59" name="矩形 58"/>
          <p:cNvSpPr>
            <a:spLocks noGrp="1"/>
          </p:cNvSpPr>
          <p:nvPr/>
        </p:nvSpPr>
        <p:spPr>
          <a:xfrm>
            <a:off x="9248775" y="3928745"/>
            <a:ext cx="1390650" cy="238125"/>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910" b="1">
                <a:solidFill>
                  <a:srgbClr val="D00914"/>
                </a:solidFill>
                <a:latin typeface="Noto Sans Hans"/>
                <a:ea typeface="Noto Sans Hans"/>
                <a:cs typeface="Noto Sans Hans"/>
              </a:rPr>
              <a:t>武汉：研发/中试/场景</a:t>
            </a:r>
            <a:endParaRPr sz="910" b="1">
              <a:solidFill>
                <a:srgbClr val="D00914"/>
              </a:solidFill>
              <a:latin typeface="Noto Sans Hans"/>
              <a:ea typeface="Noto Sans Hans"/>
              <a:cs typeface="Noto Sans Hans"/>
            </a:endParaRPr>
          </a:p>
        </p:txBody>
      </p:sp>
      <p:sp>
        <p:nvSpPr>
          <p:cNvPr id="60" name="圆角矩形 59"/>
          <p:cNvSpPr>
            <a:spLocks noGrp="1"/>
          </p:cNvSpPr>
          <p:nvPr/>
        </p:nvSpPr>
        <p:spPr>
          <a:xfrm>
            <a:off x="7191375" y="5024120"/>
            <a:ext cx="2457450" cy="933450"/>
          </a:xfrm>
          <a:prstGeom prst="roundRect">
            <a:avLst>
              <a:gd name="adj" fmla="val 2041"/>
            </a:avLst>
          </a:prstGeom>
          <a:solidFill>
            <a:srgbClr val="F7F1DF"/>
          </a:solidFill>
          <a:ln w="9525">
            <a:solidFill>
              <a:srgbClr val="9A7000"/>
            </a:solidFill>
            <a:prstDash val="solid"/>
          </a:ln>
        </p:spPr>
      </p:sp>
      <p:sp>
        <p:nvSpPr>
          <p:cNvPr id="61" name="矩形 60"/>
          <p:cNvSpPr>
            <a:spLocks noGrp="1"/>
          </p:cNvSpPr>
          <p:nvPr/>
        </p:nvSpPr>
        <p:spPr>
          <a:xfrm>
            <a:off x="7334250" y="5090795"/>
            <a:ext cx="2143125" cy="238125"/>
          </a:xfrm>
          <a:prstGeom prst="rect">
            <a:avLst/>
          </a:prstGeom>
          <a:noFill/>
          <a:ln w="0">
            <a:noFill/>
            <a:prstDash val="solid"/>
          </a:ln>
        </p:spPr>
        <p:txBody>
          <a:bodyPr wrap="square" lIns="47625" tIns="19050" rIns="47625" bIns="19050" anchor="ctr">
            <a:normAutofit/>
          </a:bodyPr>
          <a:lstStyle/>
          <a:p>
            <a:pPr algn="ctr">
              <a:defRPr sz="975" b="1">
                <a:solidFill>
                  <a:srgbClr val="9A7000"/>
                </a:solidFill>
                <a:latin typeface="Noto Sans Hans"/>
                <a:ea typeface="Noto Sans Hans"/>
                <a:cs typeface="Noto Sans Hans"/>
              </a:defRPr>
            </a:pPr>
            <a:r>
              <a:rPr sz="1080" b="1">
                <a:solidFill>
                  <a:srgbClr val="9A7000"/>
                </a:solidFill>
                <a:latin typeface="Noto Sans Hans"/>
                <a:ea typeface="Noto Sans Hans"/>
                <a:cs typeface="Noto Sans Hans"/>
              </a:rPr>
              <a:t>武汉都市圈功能分工</a:t>
            </a:r>
            <a:endParaRPr sz="1080" b="1">
              <a:solidFill>
                <a:srgbClr val="9A7000"/>
              </a:solidFill>
              <a:latin typeface="Noto Sans Hans"/>
              <a:ea typeface="Noto Sans Hans"/>
              <a:cs typeface="Noto Sans Hans"/>
            </a:endParaRPr>
          </a:p>
        </p:txBody>
      </p:sp>
      <p:sp>
        <p:nvSpPr>
          <p:cNvPr id="62" name="矩形 61"/>
          <p:cNvSpPr>
            <a:spLocks noGrp="1"/>
          </p:cNvSpPr>
          <p:nvPr/>
        </p:nvSpPr>
        <p:spPr>
          <a:xfrm>
            <a:off x="7334250" y="5357495"/>
            <a:ext cx="2143125" cy="495300"/>
          </a:xfrm>
          <a:prstGeom prst="rect">
            <a:avLst/>
          </a:prstGeom>
          <a:noFill/>
          <a:ln w="0">
            <a:noFill/>
            <a:prstDash val="solid"/>
          </a:ln>
        </p:spPr>
        <p:txBody>
          <a:bodyPr wrap="square" lIns="47625" tIns="19050" rIns="47625" bIns="19050" anchor="t">
            <a:noAutofit/>
          </a:bodyPr>
          <a:lstStyle/>
          <a:p>
            <a:pPr algn="l">
              <a:defRPr sz="790" b="0">
                <a:solidFill>
                  <a:srgbClr val="403A38"/>
                </a:solidFill>
                <a:latin typeface="Noto Sans Hans"/>
                <a:ea typeface="Noto Sans Hans"/>
                <a:cs typeface="Noto Sans Hans"/>
              </a:defRPr>
            </a:pPr>
            <a:r>
              <a:rPr sz="890" b="0">
                <a:solidFill>
                  <a:srgbClr val="403A38"/>
                </a:solidFill>
                <a:latin typeface="Noto Sans Hans"/>
                <a:ea typeface="Noto Sans Hans"/>
                <a:cs typeface="Noto Sans Hans"/>
              </a:rPr>
              <a:t>光谷：研发与整机｜经开/汉江湾：</a:t>
            </a:r>
            <a:r>
              <a:rPr lang="zh-CN" sz="890" b="0">
                <a:solidFill>
                  <a:srgbClr val="403A38"/>
                </a:solidFill>
                <a:latin typeface="Noto Sans Hans"/>
                <a:ea typeface="Noto Sans Hans"/>
                <a:cs typeface="Noto Sans Hans"/>
              </a:rPr>
              <a:t>小批量生产验证</a:t>
            </a:r>
            <a:endParaRPr sz="890" b="0">
              <a:solidFill>
                <a:srgbClr val="403A38"/>
              </a:solidFill>
              <a:latin typeface="Noto Sans Hans"/>
              <a:ea typeface="Noto Sans Hans"/>
              <a:cs typeface="Noto Sans Hans"/>
            </a:endParaRPr>
          </a:p>
          <a:p>
            <a:pPr algn="l">
              <a:defRPr sz="790" b="0">
                <a:solidFill>
                  <a:srgbClr val="403A38"/>
                </a:solidFill>
                <a:latin typeface="Noto Sans Hans"/>
                <a:ea typeface="Noto Sans Hans"/>
                <a:cs typeface="Noto Sans Hans"/>
              </a:defRPr>
            </a:pPr>
            <a:r>
              <a:rPr sz="890" b="0">
                <a:solidFill>
                  <a:srgbClr val="403A38"/>
                </a:solidFill>
                <a:latin typeface="Noto Sans Hans"/>
                <a:ea typeface="Noto Sans Hans"/>
                <a:cs typeface="Noto Sans Hans"/>
              </a:rPr>
              <a:t>黄冈/鄂州：传动与触觉｜咸宁/孝感：康养与康复</a:t>
            </a:r>
            <a:endParaRPr sz="890" b="0">
              <a:solidFill>
                <a:srgbClr val="403A38"/>
              </a:solidFill>
              <a:latin typeface="Noto Sans Hans"/>
              <a:ea typeface="Noto Sans Hans"/>
              <a:cs typeface="Noto Sans Hans"/>
            </a:endParaRPr>
          </a:p>
        </p:txBody>
      </p:sp>
      <p:sp>
        <p:nvSpPr>
          <p:cNvPr id="63" name="矩形 62"/>
          <p:cNvSpPr>
            <a:spLocks noGrp="1"/>
          </p:cNvSpPr>
          <p:nvPr/>
        </p:nvSpPr>
        <p:spPr>
          <a:xfrm>
            <a:off x="476250" y="6562725"/>
            <a:ext cx="10715625" cy="180975"/>
          </a:xfrm>
          <a:prstGeom prst="rect">
            <a:avLst/>
          </a:prstGeom>
          <a:noFill/>
          <a:ln w="0">
            <a:noFill/>
            <a:prstDash val="solid"/>
          </a:ln>
        </p:spPr>
        <p:txBody>
          <a:bodyPr wrap="square" lIns="47625" tIns="19050" rIns="47625" bIns="19050" anchor="ctr">
            <a:normAutofit/>
          </a:bodyPr>
          <a:lstStyle/>
          <a:p>
            <a:pPr algn="l">
              <a:defRPr sz="735" b="0">
                <a:solidFill>
                  <a:srgbClr val="716B68"/>
                </a:solidFill>
                <a:latin typeface="Noto Sans Hans"/>
                <a:ea typeface="Noto Sans Hans"/>
                <a:cs typeface="Noto Sans Hans"/>
              </a:defRPr>
            </a:pPr>
            <a:r>
              <a:rPr sz="735" b="0">
                <a:solidFill>
                  <a:srgbClr val="716B68"/>
                </a:solidFill>
                <a:latin typeface="Noto Sans Hans"/>
                <a:ea typeface="Noto Sans Hans"/>
                <a:cs typeface="Noto Sans Hans"/>
              </a:rPr>
              <a:t>资料来源：养老机器人产业增强基础数据库（22个区域节点）；武汉市人民政府、湖北省经信厅、工信部等公开资料。地图底图：Wikimedia Commons（公共领域），仅用于产业节点示意。</a:t>
            </a:r>
            <a:endParaRPr sz="735" b="0">
              <a:solidFill>
                <a:srgbClr val="716B68"/>
              </a:solidFill>
              <a:latin typeface="Noto Sans Hans"/>
              <a:ea typeface="Noto Sans Hans"/>
              <a:cs typeface="Noto Sans Hans"/>
            </a:endParaRPr>
          </a:p>
        </p:txBody>
      </p:sp>
      <p:sp>
        <p:nvSpPr>
          <p:cNvPr id="64" name="矩形 63"/>
          <p:cNvSpPr>
            <a:spLocks noGrp="1"/>
          </p:cNvSpPr>
          <p:nvPr/>
        </p:nvSpPr>
        <p:spPr>
          <a:xfrm>
            <a:off x="11287125" y="6543675"/>
            <a:ext cx="428625" cy="190500"/>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0</a:t>
            </a:r>
            <a:r>
              <a:rPr lang="en-US" sz="900" b="1">
                <a:solidFill>
                  <a:srgbClr val="D00914"/>
                </a:solidFill>
                <a:latin typeface="Noto Sans Hans"/>
                <a:ea typeface="Noto Sans Hans"/>
                <a:cs typeface="Noto Sans Hans"/>
              </a:rPr>
              <a:t>9</a:t>
            </a:r>
            <a:endParaRPr lang="en-US" sz="900" b="1">
              <a:solidFill>
                <a:srgbClr val="D00914"/>
              </a:solidFill>
              <a:latin typeface="Noto Sans Hans"/>
              <a:ea typeface="Noto Sans Hans"/>
              <a:cs typeface="Noto Sans H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0" y="3825875"/>
            <a:ext cx="12192000" cy="3032125"/>
          </a:xfrm>
          <a:prstGeom prst="rect">
            <a:avLst/>
          </a:prstGeom>
          <a:solidFill>
            <a:srgbClr val="FCF5F4"/>
          </a:solidFill>
          <a:ln w="0">
            <a:noFill/>
            <a:prstDash val="solid"/>
          </a:ln>
        </p:spPr>
      </p:sp>
      <p:pic>
        <p:nvPicPr>
          <p:cNvPr id="20" name="图片 1"/>
          <p:cNvPicPr>
            <a:picLocks noChangeAspect="1"/>
          </p:cNvPicPr>
          <p:nvPr/>
        </p:nvPicPr>
        <p:blipFill>
          <a:blip r:embed="rId1">
            <a:alphaModFix amt="4000"/>
          </a:blip>
          <a:srcRect l="3804" t="4490" r="2897" b="8146"/>
          <a:stretch>
            <a:fillRect/>
          </a:stretch>
        </p:blipFill>
        <p:spPr>
          <a:xfrm>
            <a:off x="4808538" y="0"/>
            <a:ext cx="7383145" cy="6858000"/>
          </a:xfrm>
          <a:prstGeom prst="rect">
            <a:avLst/>
          </a:prstGeom>
          <a:ln>
            <a:noFill/>
          </a:ln>
        </p:spPr>
      </p:pic>
      <p:sp>
        <p:nvSpPr>
          <p:cNvPr id="4" name="path 38"/>
          <p:cNvSpPr>
            <a:spLocks noGrp="1"/>
          </p:cNvSpPr>
          <p:nvPr/>
        </p:nvSpPr>
        <p:spPr>
          <a:xfrm>
            <a:off x="0" y="0"/>
            <a:ext cx="255270" cy="6858000"/>
          </a:xfrm>
          <a:custGeom>
            <a:avLst/>
            <a:gdLst/>
            <a:ahLst/>
            <a:cxnLst/>
            <a:rect l="0" t="0" r="0" b="0"/>
            <a:pathLst>
              <a:path w="347" h="1147">
                <a:moveTo>
                  <a:pt x="0" y="0"/>
                </a:moveTo>
                <a:lnTo>
                  <a:pt x="347" y="0"/>
                </a:lnTo>
                <a:lnTo>
                  <a:pt x="347" y="1147"/>
                </a:lnTo>
                <a:lnTo>
                  <a:pt x="0" y="1147"/>
                </a:lnTo>
                <a:lnTo>
                  <a:pt x="0" y="0"/>
                </a:lnTo>
                <a:close/>
              </a:path>
            </a:pathLst>
          </a:custGeom>
          <a:solidFill>
            <a:srgbClr val="C00000"/>
          </a:solidFill>
          <a:ln w="0">
            <a:noFill/>
            <a:prstDash val="solid"/>
          </a:ln>
        </p:spPr>
        <p:txBody>
          <a:bodyPr/>
          <a:lstStyle/>
          <a:p>
            <a:pPr algn="ctr">
              <a:buNone/>
            </a:pPr>
          </a:p>
        </p:txBody>
      </p:sp>
      <p:pic>
        <p:nvPicPr>
          <p:cNvPr id="23" name="图片 9"/>
          <p:cNvPicPr>
            <a:picLocks noChangeAspect="1"/>
          </p:cNvPicPr>
          <p:nvPr/>
        </p:nvPicPr>
        <p:blipFill>
          <a:blip r:embed="rId2"/>
          <a:stretch>
            <a:fillRect/>
          </a:stretch>
        </p:blipFill>
        <p:spPr>
          <a:xfrm>
            <a:off x="9243049" y="193697"/>
            <a:ext cx="2727971" cy="360000"/>
          </a:xfrm>
          <a:prstGeom prst="rect">
            <a:avLst/>
          </a:prstGeom>
        </p:spPr>
      </p:pic>
      <p:sp>
        <p:nvSpPr>
          <p:cNvPr id="5" name="文本框 4"/>
          <p:cNvSpPr>
            <a:spLocks noGrp="1"/>
          </p:cNvSpPr>
          <p:nvPr/>
        </p:nvSpPr>
        <p:spPr>
          <a:xfrm>
            <a:off x="763905" y="2660015"/>
            <a:ext cx="6628130" cy="706755"/>
          </a:xfrm>
          <a:prstGeom prst="rect">
            <a:avLst/>
          </a:prstGeom>
          <a:noFill/>
        </p:spPr>
        <p:txBody>
          <a:bodyPr wrap="square" anchor="t">
            <a:spAutoFit/>
          </a:bodyPr>
          <a:lstStyle/>
          <a:p>
            <a:pPr algn="l">
              <a:buNone/>
            </a:pPr>
            <a:r>
              <a:rPr lang="zh-CN" sz="4000" b="1">
                <a:solidFill>
                  <a:srgbClr val="C00000"/>
                </a:solidFill>
                <a:latin typeface="微软雅黑"/>
                <a:ea typeface="微软雅黑"/>
                <a:cs typeface="微软雅黑"/>
              </a:rPr>
              <a:t>第</a:t>
            </a:r>
            <a:r>
              <a:rPr lang="zh-CN" sz="4000" b="1">
                <a:solidFill>
                  <a:srgbClr val="C00000"/>
                </a:solidFill>
                <a:latin typeface="微软雅黑"/>
                <a:ea typeface="微软雅黑"/>
                <a:cs typeface="微软雅黑"/>
              </a:rPr>
              <a:t>二部分</a:t>
            </a:r>
            <a:r>
              <a:rPr lang="en-US" altLang="zh-CN" sz="4000" b="1">
                <a:solidFill>
                  <a:srgbClr val="C00000"/>
                </a:solidFill>
                <a:latin typeface="微软雅黑"/>
                <a:ea typeface="微软雅黑"/>
                <a:cs typeface="微软雅黑"/>
              </a:rPr>
              <a:t>    </a:t>
            </a:r>
            <a:r>
              <a:rPr lang="zh-CN" altLang="en-US" sz="4000" b="1">
                <a:solidFill>
                  <a:srgbClr val="C00000"/>
                </a:solidFill>
                <a:latin typeface="微软雅黑"/>
                <a:ea typeface="微软雅黑"/>
                <a:cs typeface="微软雅黑"/>
              </a:rPr>
              <a:t>五</a:t>
            </a:r>
            <a:r>
              <a:rPr lang="zh-CN" altLang="en-US" sz="4000" b="1">
                <a:solidFill>
                  <a:srgbClr val="C00000"/>
                </a:solidFill>
                <a:latin typeface="微软雅黑"/>
                <a:ea typeface="微软雅黑"/>
                <a:cs typeface="微软雅黑"/>
              </a:rPr>
              <a:t>清单分析</a:t>
            </a:r>
            <a:endParaRPr lang="zh-CN" altLang="en-US" sz="4000" b="1">
              <a:solidFill>
                <a:srgbClr val="C00000"/>
              </a:solidFill>
              <a:latin typeface="微软雅黑"/>
              <a:ea typeface="微软雅黑"/>
              <a:cs typeface="微软雅黑"/>
            </a:endParaRPr>
          </a:p>
        </p:txBody>
      </p:sp>
      <p:sp>
        <p:nvSpPr>
          <p:cNvPr id="24" name="矩形 23"/>
          <p:cNvSpPr>
            <a:spLocks noGrp="1"/>
          </p:cNvSpPr>
          <p:nvPr/>
        </p:nvSpPr>
        <p:spPr>
          <a:xfrm>
            <a:off x="2577465" y="4076700"/>
            <a:ext cx="9393555" cy="349885"/>
          </a:xfrm>
          <a:prstGeom prst="rect">
            <a:avLst/>
          </a:prstGeom>
          <a:noFill/>
          <a:ln w="0">
            <a:noFill/>
            <a:prstDash val="solid"/>
          </a:ln>
        </p:spPr>
        <p:txBody>
          <a:bodyPr wrap="square" lIns="0" tIns="0" rIns="0" bIns="0" anchor="ctr">
            <a:noAutofit/>
          </a:bodyPr>
          <a:lstStyle/>
          <a:p>
            <a:pPr algn="l">
              <a:defRPr sz="1500" b="0">
                <a:solidFill>
                  <a:srgbClr val="77716E"/>
                </a:solidFill>
                <a:latin typeface="Noto Sans Hans"/>
                <a:ea typeface="Noto Sans Hans"/>
                <a:cs typeface="Noto Sans Hans"/>
              </a:defRPr>
            </a:pPr>
            <a:r>
              <a:rPr sz="2800" b="0">
                <a:solidFill>
                  <a:srgbClr val="77716E"/>
                </a:solidFill>
                <a:latin typeface="Noto Sans Hans"/>
                <a:ea typeface="Noto Sans Hans"/>
                <a:cs typeface="Noto Sans Hans"/>
              </a:rPr>
              <a:t>产业集群 · 政策 · 企业 · 项目 · 问题清单</a:t>
            </a:r>
            <a:endParaRPr sz="2800" b="0">
              <a:solidFill>
                <a:srgbClr val="77716E"/>
              </a:solidFill>
              <a:latin typeface="Noto Sans Hans"/>
              <a:ea typeface="Noto Sans Hans"/>
              <a:cs typeface="Noto Sans H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fontScale="99480"/>
          </a:bodyPr>
          <a:lstStyle/>
          <a:p>
            <a:r>
              <a:rPr sz="2025" b="1">
                <a:solidFill>
                  <a:srgbClr val="D00914"/>
                </a:solidFill>
                <a:latin typeface="Noto Sans Hans"/>
                <a:ea typeface="Noto Sans Hans"/>
                <a:cs typeface="Noto Sans Hans"/>
              </a:rPr>
              <a:t>【五清单总览】</a:t>
            </a:r>
            <a:r>
              <a:rPr sz="2025" b="1">
                <a:solidFill>
                  <a:srgbClr val="403A38"/>
                </a:solidFill>
                <a:latin typeface="Noto Sans Hans"/>
                <a:ea typeface="Noto Sans Hans"/>
                <a:cs typeface="Noto Sans Hans"/>
              </a:rPr>
              <a:t>五张清单把“四图”研究结论转化为可跟踪的区域、政策、企业、项目和风险管理对象</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基础数据库已形成22条区域/集群记录、46项政策、66家重点企业、54项重点项目和24项产业问题，支撑招商、投资与场景落地</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圆角矩形 5"/>
          <p:cNvSpPr>
            <a:spLocks noGrp="1"/>
          </p:cNvSpPr>
          <p:nvPr/>
        </p:nvSpPr>
        <p:spPr>
          <a:xfrm>
            <a:off x="457200" y="1219200"/>
            <a:ext cx="11229975" cy="466725"/>
          </a:xfrm>
          <a:prstGeom prst="roundRect">
            <a:avLst>
              <a:gd name="adj" fmla="val 4082"/>
            </a:avLst>
          </a:prstGeom>
          <a:solidFill>
            <a:srgbClr val="F7F3F1"/>
          </a:solidFill>
          <a:ln w="9525">
            <a:solidFill>
              <a:srgbClr val="D8D1CD"/>
            </a:solidFill>
            <a:prstDash val="solid"/>
          </a:ln>
        </p:spPr>
      </p:sp>
      <p:sp>
        <p:nvSpPr>
          <p:cNvPr id="7" name="圆角矩形 6"/>
          <p:cNvSpPr>
            <a:spLocks noGrp="1"/>
          </p:cNvSpPr>
          <p:nvPr/>
        </p:nvSpPr>
        <p:spPr>
          <a:xfrm>
            <a:off x="600075" y="1333500"/>
            <a:ext cx="800100" cy="238125"/>
          </a:xfrm>
          <a:prstGeom prst="roundRect">
            <a:avLst>
              <a:gd name="adj" fmla="val 8000"/>
            </a:avLst>
          </a:prstGeom>
          <a:solidFill>
            <a:srgbClr val="8E1118"/>
          </a:solidFill>
          <a:ln w="0">
            <a:noFill/>
            <a:prstDash val="solid"/>
          </a:ln>
        </p:spPr>
      </p:sp>
      <p:sp>
        <p:nvSpPr>
          <p:cNvPr id="8" name="矩形 7"/>
          <p:cNvSpPr>
            <a:spLocks noGrp="1"/>
          </p:cNvSpPr>
          <p:nvPr/>
        </p:nvSpPr>
        <p:spPr>
          <a:xfrm>
            <a:off x="628650" y="1352550"/>
            <a:ext cx="742950" cy="200025"/>
          </a:xfrm>
          <a:prstGeom prst="rect">
            <a:avLst/>
          </a:prstGeom>
          <a:noFill/>
          <a:ln w="0">
            <a:noFill/>
            <a:prstDash val="solid"/>
          </a:ln>
        </p:spPr>
        <p:txBody>
          <a:bodyPr wrap="square" lIns="47625" tIns="19050" rIns="47625" bIns="19050" anchor="ctr">
            <a:normAutofit/>
          </a:bodyPr>
          <a:lstStyle/>
          <a:p>
            <a:pPr algn="ctr">
              <a:defRPr sz="765" b="1">
                <a:solidFill>
                  <a:srgbClr val="FFFFFF"/>
                </a:solidFill>
                <a:latin typeface="Noto Sans Hans"/>
                <a:ea typeface="Noto Sans Hans"/>
                <a:cs typeface="Noto Sans Hans"/>
              </a:defRPr>
            </a:pPr>
            <a:r>
              <a:rPr sz="870" b="1">
                <a:solidFill>
                  <a:srgbClr val="FFFFFF"/>
                </a:solidFill>
                <a:latin typeface="Noto Sans Hans"/>
                <a:ea typeface="Noto Sans Hans"/>
                <a:cs typeface="Noto Sans Hans"/>
              </a:rPr>
              <a:t>四图输入</a:t>
            </a:r>
            <a:endParaRPr sz="870" b="1">
              <a:solidFill>
                <a:srgbClr val="FFFFFF"/>
              </a:solidFill>
              <a:latin typeface="Noto Sans Hans"/>
              <a:ea typeface="Noto Sans Hans"/>
              <a:cs typeface="Noto Sans Hans"/>
            </a:endParaRPr>
          </a:p>
        </p:txBody>
      </p:sp>
      <p:sp>
        <p:nvSpPr>
          <p:cNvPr id="9" name="矩形 8"/>
          <p:cNvSpPr>
            <a:spLocks noGrp="1"/>
          </p:cNvSpPr>
          <p:nvPr/>
        </p:nvSpPr>
        <p:spPr>
          <a:xfrm>
            <a:off x="1552575" y="1304925"/>
            <a:ext cx="1619250" cy="285750"/>
          </a:xfrm>
          <a:prstGeom prst="rect">
            <a:avLst/>
          </a:prstGeom>
          <a:noFill/>
          <a:ln w="0">
            <a:noFill/>
            <a:prstDash val="solid"/>
          </a:ln>
        </p:spPr>
        <p:txBody>
          <a:bodyPr wrap="square" lIns="47625" tIns="19050" rIns="47625" bIns="19050" anchor="ctr">
            <a:normAutofit/>
          </a:bodyPr>
          <a:lstStyle/>
          <a:p>
            <a:pPr algn="ctr">
              <a:defRPr sz="865" b="1">
                <a:solidFill>
                  <a:srgbClr val="164A7B"/>
                </a:solidFill>
                <a:latin typeface="Noto Sans Hans"/>
                <a:ea typeface="Noto Sans Hans"/>
                <a:cs typeface="Noto Sans Hans"/>
              </a:defRPr>
            </a:pPr>
            <a:r>
              <a:rPr sz="1000" b="1">
                <a:solidFill>
                  <a:srgbClr val="164A7B"/>
                </a:solidFill>
                <a:latin typeface="Noto Sans Hans"/>
                <a:ea typeface="Noto Sans Hans"/>
                <a:cs typeface="Noto Sans Hans"/>
              </a:rPr>
              <a:t>产业链关键环节</a:t>
            </a:r>
            <a:endParaRPr sz="1000" b="1">
              <a:solidFill>
                <a:srgbClr val="164A7B"/>
              </a:solidFill>
              <a:latin typeface="Noto Sans Hans"/>
              <a:ea typeface="Noto Sans Hans"/>
              <a:cs typeface="Noto Sans Hans"/>
            </a:endParaRPr>
          </a:p>
        </p:txBody>
      </p:sp>
      <p:sp>
        <p:nvSpPr>
          <p:cNvPr id="10" name="矩形 9"/>
          <p:cNvSpPr>
            <a:spLocks noGrp="1"/>
          </p:cNvSpPr>
          <p:nvPr/>
        </p:nvSpPr>
        <p:spPr>
          <a:xfrm>
            <a:off x="3362325" y="1304925"/>
            <a:ext cx="1619250" cy="285750"/>
          </a:xfrm>
          <a:prstGeom prst="rect">
            <a:avLst/>
          </a:prstGeom>
          <a:noFill/>
          <a:ln w="0">
            <a:noFill/>
            <a:prstDash val="solid"/>
          </a:ln>
        </p:spPr>
        <p:txBody>
          <a:bodyPr wrap="square" lIns="47625" tIns="19050" rIns="47625" bIns="19050" anchor="ctr">
            <a:normAutofit/>
          </a:bodyPr>
          <a:lstStyle/>
          <a:p>
            <a:pPr algn="ctr">
              <a:defRPr sz="865" b="1">
                <a:solidFill>
                  <a:srgbClr val="C94A27"/>
                </a:solidFill>
                <a:latin typeface="Noto Sans Hans"/>
                <a:ea typeface="Noto Sans Hans"/>
                <a:cs typeface="Noto Sans Hans"/>
              </a:defRPr>
            </a:pPr>
            <a:r>
              <a:rPr sz="1000" b="1">
                <a:solidFill>
                  <a:srgbClr val="C94A27"/>
                </a:solidFill>
                <a:latin typeface="Noto Sans Hans"/>
                <a:ea typeface="Noto Sans Hans"/>
                <a:cs typeface="Noto Sans Hans"/>
              </a:rPr>
              <a:t>应用场景优先级</a:t>
            </a:r>
            <a:endParaRPr sz="1000" b="1">
              <a:solidFill>
                <a:srgbClr val="C94A27"/>
              </a:solidFill>
              <a:latin typeface="Noto Sans Hans"/>
              <a:ea typeface="Noto Sans Hans"/>
              <a:cs typeface="Noto Sans Hans"/>
            </a:endParaRPr>
          </a:p>
        </p:txBody>
      </p:sp>
      <p:sp>
        <p:nvSpPr>
          <p:cNvPr id="11" name="矩形 10"/>
          <p:cNvSpPr>
            <a:spLocks noGrp="1"/>
          </p:cNvSpPr>
          <p:nvPr/>
        </p:nvSpPr>
        <p:spPr>
          <a:xfrm>
            <a:off x="5172075" y="1304925"/>
            <a:ext cx="1619250" cy="285750"/>
          </a:xfrm>
          <a:prstGeom prst="rect">
            <a:avLst/>
          </a:prstGeom>
          <a:noFill/>
          <a:ln w="0">
            <a:noFill/>
            <a:prstDash val="solid"/>
          </a:ln>
        </p:spPr>
        <p:txBody>
          <a:bodyPr wrap="square" lIns="47625" tIns="19050" rIns="47625" bIns="19050" anchor="ctr">
            <a:normAutofit/>
          </a:bodyPr>
          <a:lstStyle/>
          <a:p>
            <a:pPr algn="ctr">
              <a:defRPr sz="86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技术成熟与窗口</a:t>
            </a:r>
            <a:endParaRPr sz="1000" b="1">
              <a:solidFill>
                <a:srgbClr val="8E1118"/>
              </a:solidFill>
              <a:latin typeface="Noto Sans Hans"/>
              <a:ea typeface="Noto Sans Hans"/>
              <a:cs typeface="Noto Sans Hans"/>
            </a:endParaRPr>
          </a:p>
        </p:txBody>
      </p:sp>
      <p:sp>
        <p:nvSpPr>
          <p:cNvPr id="12" name="矩形 11"/>
          <p:cNvSpPr>
            <a:spLocks noGrp="1"/>
          </p:cNvSpPr>
          <p:nvPr/>
        </p:nvSpPr>
        <p:spPr>
          <a:xfrm>
            <a:off x="6981825" y="1304925"/>
            <a:ext cx="1619250" cy="285750"/>
          </a:xfrm>
          <a:prstGeom prst="rect">
            <a:avLst/>
          </a:prstGeom>
          <a:noFill/>
          <a:ln w="0">
            <a:noFill/>
            <a:prstDash val="solid"/>
          </a:ln>
        </p:spPr>
        <p:txBody>
          <a:bodyPr wrap="square" lIns="47625" tIns="19050" rIns="47625" bIns="19050" anchor="ctr">
            <a:normAutofit/>
          </a:bodyPr>
          <a:lstStyle/>
          <a:p>
            <a:pPr algn="ctr">
              <a:defRPr sz="865" b="1">
                <a:solidFill>
                  <a:srgbClr val="8F6900"/>
                </a:solidFill>
                <a:latin typeface="Noto Sans Hans"/>
                <a:ea typeface="Noto Sans Hans"/>
                <a:cs typeface="Noto Sans Hans"/>
              </a:defRPr>
            </a:pPr>
            <a:r>
              <a:rPr sz="1000" b="1">
                <a:solidFill>
                  <a:srgbClr val="8F6900"/>
                </a:solidFill>
                <a:latin typeface="Noto Sans Hans"/>
                <a:ea typeface="Noto Sans Hans"/>
                <a:cs typeface="Noto Sans Hans"/>
              </a:rPr>
              <a:t>区域功能与落点</a:t>
            </a:r>
            <a:endParaRPr sz="1000" b="1">
              <a:solidFill>
                <a:srgbClr val="8F6900"/>
              </a:solidFill>
              <a:latin typeface="Noto Sans Hans"/>
              <a:ea typeface="Noto Sans Hans"/>
              <a:cs typeface="Noto Sans Hans"/>
            </a:endParaRPr>
          </a:p>
        </p:txBody>
      </p:sp>
      <p:sp>
        <p:nvSpPr>
          <p:cNvPr id="13" name="矩形 12"/>
          <p:cNvSpPr>
            <a:spLocks noGrp="1"/>
          </p:cNvSpPr>
          <p:nvPr/>
        </p:nvSpPr>
        <p:spPr>
          <a:xfrm>
            <a:off x="8867775" y="1304925"/>
            <a:ext cx="2628900" cy="285750"/>
          </a:xfrm>
          <a:prstGeom prst="rect">
            <a:avLst/>
          </a:prstGeom>
          <a:noFill/>
          <a:ln w="0">
            <a:noFill/>
            <a:prstDash val="solid"/>
          </a:ln>
        </p:spPr>
        <p:txBody>
          <a:bodyPr wrap="square" lIns="47625" tIns="19050" rIns="47625" bIns="19050" anchor="ctr">
            <a:normAutofit/>
          </a:bodyPr>
          <a:lstStyle/>
          <a:p>
            <a:pPr algn="ctr">
              <a:defRPr sz="865"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  转化为五类动态管理清单</a:t>
            </a:r>
            <a:endParaRPr sz="1000" b="1">
              <a:solidFill>
                <a:srgbClr val="D00914"/>
              </a:solidFill>
              <a:latin typeface="Noto Sans Hans"/>
              <a:ea typeface="Noto Sans Hans"/>
              <a:cs typeface="Noto Sans Hans"/>
            </a:endParaRPr>
          </a:p>
        </p:txBody>
      </p:sp>
      <p:sp>
        <p:nvSpPr>
          <p:cNvPr id="14" name="圆角矩形 13"/>
          <p:cNvSpPr>
            <a:spLocks noGrp="1"/>
          </p:cNvSpPr>
          <p:nvPr/>
        </p:nvSpPr>
        <p:spPr>
          <a:xfrm>
            <a:off x="457200" y="1847850"/>
            <a:ext cx="2143125" cy="3781425"/>
          </a:xfrm>
          <a:prstGeom prst="roundRect">
            <a:avLst>
              <a:gd name="adj" fmla="val 889"/>
            </a:avLst>
          </a:prstGeom>
          <a:solidFill>
            <a:srgbClr val="FFFFFF"/>
          </a:solidFill>
          <a:ln w="9525">
            <a:solidFill>
              <a:srgbClr val="D8D1CD"/>
            </a:solidFill>
            <a:prstDash val="solid"/>
          </a:ln>
        </p:spPr>
      </p:sp>
      <p:sp>
        <p:nvSpPr>
          <p:cNvPr id="15" name="圆角矩形 14"/>
          <p:cNvSpPr>
            <a:spLocks noGrp="1"/>
          </p:cNvSpPr>
          <p:nvPr/>
        </p:nvSpPr>
        <p:spPr>
          <a:xfrm>
            <a:off x="457200" y="1847850"/>
            <a:ext cx="2143125" cy="466725"/>
          </a:xfrm>
          <a:prstGeom prst="roundRect">
            <a:avLst>
              <a:gd name="adj" fmla="val 4082"/>
            </a:avLst>
          </a:prstGeom>
          <a:solidFill>
            <a:srgbClr val="8F6900"/>
          </a:solidFill>
          <a:ln w="0">
            <a:noFill/>
            <a:prstDash val="solid"/>
          </a:ln>
        </p:spPr>
      </p:sp>
      <p:sp>
        <p:nvSpPr>
          <p:cNvPr id="16" name="矩形 15"/>
          <p:cNvSpPr>
            <a:spLocks noGrp="1"/>
          </p:cNvSpPr>
          <p:nvPr/>
        </p:nvSpPr>
        <p:spPr>
          <a:xfrm>
            <a:off x="533400" y="1905000"/>
            <a:ext cx="1990725" cy="352425"/>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01  产业集群清单</a:t>
            </a:r>
            <a:endParaRPr sz="1200" b="1">
              <a:solidFill>
                <a:srgbClr val="FFFFFF"/>
              </a:solidFill>
              <a:latin typeface="Noto Sans Hans"/>
              <a:ea typeface="Noto Sans Hans"/>
              <a:cs typeface="Noto Sans Hans"/>
            </a:endParaRPr>
          </a:p>
        </p:txBody>
      </p:sp>
      <p:sp>
        <p:nvSpPr>
          <p:cNvPr id="17" name="矩形 16"/>
          <p:cNvSpPr>
            <a:spLocks noGrp="1"/>
          </p:cNvSpPr>
          <p:nvPr/>
        </p:nvSpPr>
        <p:spPr>
          <a:xfrm>
            <a:off x="590550" y="2466975"/>
            <a:ext cx="762000" cy="590550"/>
          </a:xfrm>
          <a:prstGeom prst="rect">
            <a:avLst/>
          </a:prstGeom>
          <a:noFill/>
          <a:ln w="0">
            <a:noFill/>
            <a:prstDash val="solid"/>
          </a:ln>
        </p:spPr>
        <p:txBody>
          <a:bodyPr wrap="square" lIns="47625" tIns="19050" rIns="47625" bIns="19050" anchor="ctr">
            <a:normAutofit/>
          </a:bodyPr>
          <a:lstStyle/>
          <a:p>
            <a:pPr algn="ctr">
              <a:defRPr sz="2775" b="1">
                <a:solidFill>
                  <a:srgbClr val="8F6900"/>
                </a:solidFill>
                <a:latin typeface="Noto Sans Hans"/>
                <a:ea typeface="Noto Sans Hans"/>
                <a:cs typeface="Noto Sans Hans"/>
              </a:defRPr>
            </a:pPr>
            <a:r>
              <a:rPr sz="2800" b="1">
                <a:solidFill>
                  <a:srgbClr val="8F6900"/>
                </a:solidFill>
                <a:latin typeface="Noto Sans Hans"/>
                <a:ea typeface="Noto Sans Hans"/>
                <a:cs typeface="Noto Sans Hans"/>
              </a:rPr>
              <a:t>22</a:t>
            </a:r>
            <a:endParaRPr sz="2800" b="1">
              <a:solidFill>
                <a:srgbClr val="8F6900"/>
              </a:solidFill>
              <a:latin typeface="Noto Sans Hans"/>
              <a:ea typeface="Noto Sans Hans"/>
              <a:cs typeface="Noto Sans Hans"/>
            </a:endParaRPr>
          </a:p>
        </p:txBody>
      </p:sp>
      <p:sp>
        <p:nvSpPr>
          <p:cNvPr id="18" name="矩形 17"/>
          <p:cNvSpPr>
            <a:spLocks noGrp="1"/>
          </p:cNvSpPr>
          <p:nvPr/>
        </p:nvSpPr>
        <p:spPr>
          <a:xfrm>
            <a:off x="1343025" y="2552700"/>
            <a:ext cx="1114425" cy="419100"/>
          </a:xfrm>
          <a:prstGeom prst="rect">
            <a:avLst/>
          </a:prstGeom>
          <a:noFill/>
          <a:ln w="0">
            <a:noFill/>
            <a:prstDash val="solid"/>
          </a:ln>
        </p:spPr>
        <p:txBody>
          <a:bodyPr wrap="square" lIns="47625" tIns="19050" rIns="47625" bIns="19050" anchor="ctr">
            <a:normAutofit/>
          </a:bodyPr>
          <a:lstStyle/>
          <a:p>
            <a:pPr algn="l">
              <a:defRPr sz="790" b="1">
                <a:solidFill>
                  <a:srgbClr val="716B68"/>
                </a:solidFill>
                <a:latin typeface="Noto Sans Hans"/>
                <a:ea typeface="Noto Sans Hans"/>
                <a:cs typeface="Noto Sans Hans"/>
              </a:defRPr>
            </a:pPr>
            <a:r>
              <a:rPr sz="990" b="1">
                <a:solidFill>
                  <a:srgbClr val="716B68"/>
                </a:solidFill>
                <a:latin typeface="Noto Sans Hans"/>
                <a:ea typeface="Noto Sans Hans"/>
                <a:cs typeface="Noto Sans Hans"/>
              </a:rPr>
              <a:t>条区域/集群记录</a:t>
            </a:r>
            <a:endParaRPr sz="990" b="1">
              <a:solidFill>
                <a:srgbClr val="716B68"/>
              </a:solidFill>
              <a:latin typeface="Noto Sans Hans"/>
              <a:ea typeface="Noto Sans Hans"/>
              <a:cs typeface="Noto Sans Hans"/>
            </a:endParaRPr>
          </a:p>
        </p:txBody>
      </p:sp>
      <p:sp>
        <p:nvSpPr>
          <p:cNvPr id="19" name="圆角矩形 18"/>
          <p:cNvSpPr>
            <a:spLocks noGrp="1"/>
          </p:cNvSpPr>
          <p:nvPr/>
        </p:nvSpPr>
        <p:spPr>
          <a:xfrm>
            <a:off x="581025" y="3152775"/>
            <a:ext cx="1895475" cy="361950"/>
          </a:xfrm>
          <a:prstGeom prst="roundRect">
            <a:avLst>
              <a:gd name="adj" fmla="val 5263"/>
            </a:avLst>
          </a:prstGeom>
          <a:solidFill>
            <a:srgbClr val="EAF1F8"/>
          </a:solidFill>
          <a:ln w="0">
            <a:noFill/>
            <a:prstDash val="solid"/>
          </a:ln>
        </p:spPr>
      </p:sp>
      <p:sp>
        <p:nvSpPr>
          <p:cNvPr id="20" name="矩形 19"/>
          <p:cNvSpPr>
            <a:spLocks noGrp="1"/>
          </p:cNvSpPr>
          <p:nvPr/>
        </p:nvSpPr>
        <p:spPr>
          <a:xfrm>
            <a:off x="628650" y="3200400"/>
            <a:ext cx="1800225" cy="266700"/>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哪里具备产业基础？</a:t>
            </a:r>
            <a:endParaRPr sz="1000" b="1">
              <a:solidFill>
                <a:srgbClr val="D00914"/>
              </a:solidFill>
              <a:latin typeface="Noto Sans Hans"/>
              <a:ea typeface="Noto Sans Hans"/>
              <a:cs typeface="Noto Sans Hans"/>
            </a:endParaRPr>
          </a:p>
        </p:txBody>
      </p:sp>
      <p:sp>
        <p:nvSpPr>
          <p:cNvPr id="21" name="矩形 20"/>
          <p:cNvSpPr>
            <a:spLocks noGrp="1"/>
          </p:cNvSpPr>
          <p:nvPr/>
        </p:nvSpPr>
        <p:spPr>
          <a:xfrm>
            <a:off x="619125" y="3657600"/>
            <a:ext cx="1819275" cy="11049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7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梳理武汉核心布局区、湖北协同承载区和外部导入区，明确研发、制造、场景、总部和服务功能分工。</a:t>
            </a:r>
            <a:endParaRPr sz="1000" b="0">
              <a:solidFill>
                <a:srgbClr val="403A38"/>
              </a:solidFill>
              <a:latin typeface="Noto Sans Hans"/>
              <a:ea typeface="Noto Sans Hans"/>
              <a:cs typeface="Noto Sans Hans"/>
            </a:endParaRPr>
          </a:p>
        </p:txBody>
      </p:sp>
      <p:sp>
        <p:nvSpPr>
          <p:cNvPr id="22" name="圆角矩形 21"/>
          <p:cNvSpPr>
            <a:spLocks noGrp="1"/>
          </p:cNvSpPr>
          <p:nvPr/>
        </p:nvSpPr>
        <p:spPr>
          <a:xfrm>
            <a:off x="581025" y="4914900"/>
            <a:ext cx="1895475" cy="504825"/>
          </a:xfrm>
          <a:prstGeom prst="roundRect">
            <a:avLst>
              <a:gd name="adj" fmla="val 3774"/>
            </a:avLst>
          </a:prstGeom>
          <a:solidFill>
            <a:srgbClr val="F7F3F1"/>
          </a:solidFill>
          <a:ln w="0">
            <a:noFill/>
            <a:prstDash val="solid"/>
          </a:ln>
        </p:spPr>
      </p:sp>
      <p:sp>
        <p:nvSpPr>
          <p:cNvPr id="23" name="矩形 22"/>
          <p:cNvSpPr>
            <a:spLocks noGrp="1"/>
          </p:cNvSpPr>
          <p:nvPr/>
        </p:nvSpPr>
        <p:spPr>
          <a:xfrm>
            <a:off x="638175" y="4991100"/>
            <a:ext cx="1781175" cy="361950"/>
          </a:xfrm>
          <a:prstGeom prst="rect">
            <a:avLst/>
          </a:prstGeom>
          <a:noFill/>
          <a:ln w="0">
            <a:noFill/>
            <a:prstDash val="solid"/>
          </a:ln>
        </p:spPr>
        <p:txBody>
          <a:bodyPr wrap="square" lIns="47625" tIns="19050" rIns="47625" bIns="19050" anchor="ctr">
            <a:normAutofit/>
          </a:bodyPr>
          <a:lstStyle/>
          <a:p>
            <a:pPr algn="ctr">
              <a:defRPr sz="775" b="1">
                <a:solidFill>
                  <a:srgbClr val="8F6900"/>
                </a:solidFill>
                <a:latin typeface="Noto Sans Hans"/>
                <a:ea typeface="Noto Sans Hans"/>
                <a:cs typeface="Noto Sans Hans"/>
              </a:defRPr>
            </a:pPr>
            <a:r>
              <a:rPr sz="880" b="1">
                <a:solidFill>
                  <a:srgbClr val="8F6900"/>
                </a:solidFill>
                <a:latin typeface="Noto Sans Hans"/>
                <a:ea typeface="Noto Sans Hans"/>
                <a:cs typeface="Noto Sans Hans"/>
              </a:rPr>
              <a:t>用于：区域选择 / 招商落位</a:t>
            </a:r>
            <a:endParaRPr sz="880" b="1">
              <a:solidFill>
                <a:srgbClr val="8F6900"/>
              </a:solidFill>
              <a:latin typeface="Noto Sans Hans"/>
              <a:ea typeface="Noto Sans Hans"/>
              <a:cs typeface="Noto Sans Hans"/>
            </a:endParaRPr>
          </a:p>
        </p:txBody>
      </p:sp>
      <p:sp>
        <p:nvSpPr>
          <p:cNvPr id="24" name="圆角矩形 23"/>
          <p:cNvSpPr>
            <a:spLocks noGrp="1"/>
          </p:cNvSpPr>
          <p:nvPr/>
        </p:nvSpPr>
        <p:spPr>
          <a:xfrm>
            <a:off x="2733675" y="1847850"/>
            <a:ext cx="2143125" cy="3781425"/>
          </a:xfrm>
          <a:prstGeom prst="roundRect">
            <a:avLst>
              <a:gd name="adj" fmla="val 889"/>
            </a:avLst>
          </a:prstGeom>
          <a:solidFill>
            <a:srgbClr val="FFFFFF"/>
          </a:solidFill>
          <a:ln w="9525">
            <a:solidFill>
              <a:srgbClr val="D8D1CD"/>
            </a:solidFill>
            <a:prstDash val="solid"/>
          </a:ln>
        </p:spPr>
      </p:sp>
      <p:sp>
        <p:nvSpPr>
          <p:cNvPr id="25" name="圆角矩形 24"/>
          <p:cNvSpPr>
            <a:spLocks noGrp="1"/>
          </p:cNvSpPr>
          <p:nvPr/>
        </p:nvSpPr>
        <p:spPr>
          <a:xfrm>
            <a:off x="2733675" y="1847850"/>
            <a:ext cx="2143125" cy="466725"/>
          </a:xfrm>
          <a:prstGeom prst="roundRect">
            <a:avLst>
              <a:gd name="adj" fmla="val 4082"/>
            </a:avLst>
          </a:prstGeom>
          <a:solidFill>
            <a:srgbClr val="B76D73"/>
          </a:solidFill>
          <a:ln w="0">
            <a:noFill/>
            <a:prstDash val="solid"/>
          </a:ln>
        </p:spPr>
      </p:sp>
      <p:sp>
        <p:nvSpPr>
          <p:cNvPr id="26" name="矩形 25"/>
          <p:cNvSpPr>
            <a:spLocks noGrp="1"/>
          </p:cNvSpPr>
          <p:nvPr/>
        </p:nvSpPr>
        <p:spPr>
          <a:xfrm>
            <a:off x="2809875" y="1905000"/>
            <a:ext cx="1990725" cy="352425"/>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02  政策清单</a:t>
            </a:r>
            <a:endParaRPr sz="1200" b="1">
              <a:solidFill>
                <a:srgbClr val="FFFFFF"/>
              </a:solidFill>
              <a:latin typeface="Noto Sans Hans"/>
              <a:ea typeface="Noto Sans Hans"/>
              <a:cs typeface="Noto Sans Hans"/>
            </a:endParaRPr>
          </a:p>
        </p:txBody>
      </p:sp>
      <p:sp>
        <p:nvSpPr>
          <p:cNvPr id="27" name="矩形 26"/>
          <p:cNvSpPr>
            <a:spLocks noGrp="1"/>
          </p:cNvSpPr>
          <p:nvPr/>
        </p:nvSpPr>
        <p:spPr>
          <a:xfrm>
            <a:off x="2867025" y="2466975"/>
            <a:ext cx="762000" cy="590550"/>
          </a:xfrm>
          <a:prstGeom prst="rect">
            <a:avLst/>
          </a:prstGeom>
          <a:noFill/>
          <a:ln w="0">
            <a:noFill/>
            <a:prstDash val="solid"/>
          </a:ln>
        </p:spPr>
        <p:txBody>
          <a:bodyPr wrap="square" lIns="47625" tIns="19050" rIns="47625" bIns="19050" anchor="ctr">
            <a:normAutofit/>
          </a:bodyPr>
          <a:lstStyle/>
          <a:p>
            <a:pPr algn="ctr">
              <a:defRPr sz="2775" b="1">
                <a:solidFill>
                  <a:srgbClr val="B76D73"/>
                </a:solidFill>
                <a:latin typeface="Noto Sans Hans"/>
                <a:ea typeface="Noto Sans Hans"/>
                <a:cs typeface="Noto Sans Hans"/>
              </a:defRPr>
            </a:pPr>
            <a:r>
              <a:rPr sz="2800" b="1">
                <a:solidFill>
                  <a:srgbClr val="B76D73"/>
                </a:solidFill>
                <a:latin typeface="Noto Sans Hans"/>
                <a:ea typeface="Noto Sans Hans"/>
                <a:cs typeface="Noto Sans Hans"/>
              </a:rPr>
              <a:t>4</a:t>
            </a:r>
            <a:r>
              <a:rPr lang="en-US" sz="2800" b="1">
                <a:solidFill>
                  <a:srgbClr val="B76D73"/>
                </a:solidFill>
                <a:latin typeface="Noto Sans Hans"/>
                <a:ea typeface="Noto Sans Hans"/>
                <a:cs typeface="Noto Sans Hans"/>
              </a:rPr>
              <a:t>7</a:t>
            </a:r>
            <a:endParaRPr lang="en-US" sz="2800" b="1">
              <a:solidFill>
                <a:srgbClr val="B76D73"/>
              </a:solidFill>
              <a:latin typeface="Noto Sans Hans"/>
              <a:ea typeface="Noto Sans Hans"/>
              <a:cs typeface="Noto Sans Hans"/>
            </a:endParaRPr>
          </a:p>
        </p:txBody>
      </p:sp>
      <p:sp>
        <p:nvSpPr>
          <p:cNvPr id="28" name="矩形 27"/>
          <p:cNvSpPr>
            <a:spLocks noGrp="1"/>
          </p:cNvSpPr>
          <p:nvPr/>
        </p:nvSpPr>
        <p:spPr>
          <a:xfrm>
            <a:off x="3619500" y="2552700"/>
            <a:ext cx="1114425" cy="419100"/>
          </a:xfrm>
          <a:prstGeom prst="rect">
            <a:avLst/>
          </a:prstGeom>
          <a:noFill/>
          <a:ln w="0">
            <a:noFill/>
            <a:prstDash val="solid"/>
          </a:ln>
        </p:spPr>
        <p:txBody>
          <a:bodyPr wrap="square" lIns="47625" tIns="19050" rIns="47625" bIns="19050" anchor="ctr">
            <a:normAutofit/>
          </a:bodyPr>
          <a:lstStyle/>
          <a:p>
            <a:pPr algn="l">
              <a:defRPr sz="790" b="1">
                <a:solidFill>
                  <a:srgbClr val="716B68"/>
                </a:solidFill>
                <a:latin typeface="Noto Sans Hans"/>
                <a:ea typeface="Noto Sans Hans"/>
                <a:cs typeface="Noto Sans Hans"/>
              </a:defRPr>
            </a:pPr>
            <a:r>
              <a:rPr sz="990" b="1">
                <a:solidFill>
                  <a:srgbClr val="716B68"/>
                </a:solidFill>
                <a:latin typeface="Noto Sans Hans"/>
                <a:ea typeface="Noto Sans Hans"/>
                <a:cs typeface="Noto Sans Hans"/>
              </a:rPr>
              <a:t>项国家及地方政策</a:t>
            </a:r>
            <a:endParaRPr sz="990" b="1">
              <a:solidFill>
                <a:srgbClr val="716B68"/>
              </a:solidFill>
              <a:latin typeface="Noto Sans Hans"/>
              <a:ea typeface="Noto Sans Hans"/>
              <a:cs typeface="Noto Sans Hans"/>
            </a:endParaRPr>
          </a:p>
        </p:txBody>
      </p:sp>
      <p:sp>
        <p:nvSpPr>
          <p:cNvPr id="29" name="圆角矩形 28"/>
          <p:cNvSpPr>
            <a:spLocks noGrp="1"/>
          </p:cNvSpPr>
          <p:nvPr/>
        </p:nvSpPr>
        <p:spPr>
          <a:xfrm>
            <a:off x="2857500" y="3152775"/>
            <a:ext cx="1895475" cy="361950"/>
          </a:xfrm>
          <a:prstGeom prst="roundRect">
            <a:avLst>
              <a:gd name="adj" fmla="val 5263"/>
            </a:avLst>
          </a:prstGeom>
          <a:solidFill>
            <a:srgbClr val="F8E5E4"/>
          </a:solidFill>
          <a:ln w="0">
            <a:noFill/>
            <a:prstDash val="solid"/>
          </a:ln>
        </p:spPr>
      </p:sp>
      <p:sp>
        <p:nvSpPr>
          <p:cNvPr id="30" name="矩形 29"/>
          <p:cNvSpPr>
            <a:spLocks noGrp="1"/>
          </p:cNvSpPr>
          <p:nvPr/>
        </p:nvSpPr>
        <p:spPr>
          <a:xfrm>
            <a:off x="2905125" y="3200400"/>
            <a:ext cx="1800225" cy="266700"/>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政策支持什么、约束什么？</a:t>
            </a:r>
            <a:endParaRPr sz="1000" b="1">
              <a:solidFill>
                <a:srgbClr val="D00914"/>
              </a:solidFill>
              <a:latin typeface="Noto Sans Hans"/>
              <a:ea typeface="Noto Sans Hans"/>
              <a:cs typeface="Noto Sans Hans"/>
            </a:endParaRPr>
          </a:p>
        </p:txBody>
      </p:sp>
      <p:sp>
        <p:nvSpPr>
          <p:cNvPr id="31" name="矩形 30"/>
          <p:cNvSpPr>
            <a:spLocks noGrp="1"/>
          </p:cNvSpPr>
          <p:nvPr/>
        </p:nvSpPr>
        <p:spPr>
          <a:xfrm>
            <a:off x="2895600" y="3657600"/>
            <a:ext cx="1819275" cy="11049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7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跟踪银发经济、机器人、智慧养老、医疗器械、数据安全和武汉产业政策，识别资金、试点与合规要求。</a:t>
            </a:r>
            <a:endParaRPr sz="1000" b="0">
              <a:solidFill>
                <a:srgbClr val="403A38"/>
              </a:solidFill>
              <a:latin typeface="Noto Sans Hans"/>
              <a:ea typeface="Noto Sans Hans"/>
              <a:cs typeface="Noto Sans Hans"/>
            </a:endParaRPr>
          </a:p>
        </p:txBody>
      </p:sp>
      <p:sp>
        <p:nvSpPr>
          <p:cNvPr id="32" name="圆角矩形 31"/>
          <p:cNvSpPr>
            <a:spLocks noGrp="1"/>
          </p:cNvSpPr>
          <p:nvPr/>
        </p:nvSpPr>
        <p:spPr>
          <a:xfrm>
            <a:off x="2857500" y="4914900"/>
            <a:ext cx="1895475" cy="504825"/>
          </a:xfrm>
          <a:prstGeom prst="roundRect">
            <a:avLst>
              <a:gd name="adj" fmla="val 3774"/>
            </a:avLst>
          </a:prstGeom>
          <a:solidFill>
            <a:srgbClr val="F7F3F1"/>
          </a:solidFill>
          <a:ln w="0">
            <a:noFill/>
            <a:prstDash val="solid"/>
          </a:ln>
        </p:spPr>
      </p:sp>
      <p:sp>
        <p:nvSpPr>
          <p:cNvPr id="33" name="矩形 32"/>
          <p:cNvSpPr>
            <a:spLocks noGrp="1"/>
          </p:cNvSpPr>
          <p:nvPr/>
        </p:nvSpPr>
        <p:spPr>
          <a:xfrm>
            <a:off x="2914650" y="4991100"/>
            <a:ext cx="1781175" cy="361950"/>
          </a:xfrm>
          <a:prstGeom prst="rect">
            <a:avLst/>
          </a:prstGeom>
          <a:noFill/>
          <a:ln w="0">
            <a:noFill/>
            <a:prstDash val="solid"/>
          </a:ln>
        </p:spPr>
        <p:txBody>
          <a:bodyPr wrap="square" lIns="47625" tIns="19050" rIns="47625" bIns="19050" anchor="ctr">
            <a:normAutofit/>
          </a:bodyPr>
          <a:lstStyle/>
          <a:p>
            <a:pPr algn="ctr">
              <a:defRPr sz="775" b="1">
                <a:solidFill>
                  <a:srgbClr val="B76D73"/>
                </a:solidFill>
                <a:latin typeface="Noto Sans Hans"/>
                <a:ea typeface="Noto Sans Hans"/>
                <a:cs typeface="Noto Sans Hans"/>
              </a:defRPr>
            </a:pPr>
            <a:r>
              <a:rPr sz="880" b="1">
                <a:solidFill>
                  <a:srgbClr val="B76D73"/>
                </a:solidFill>
                <a:latin typeface="Noto Sans Hans"/>
                <a:ea typeface="Noto Sans Hans"/>
                <a:cs typeface="Noto Sans Hans"/>
              </a:rPr>
              <a:t>用于：政策申报 / 合规研判</a:t>
            </a:r>
            <a:endParaRPr sz="880" b="1">
              <a:solidFill>
                <a:srgbClr val="B76D73"/>
              </a:solidFill>
              <a:latin typeface="Noto Sans Hans"/>
              <a:ea typeface="Noto Sans Hans"/>
              <a:cs typeface="Noto Sans Hans"/>
            </a:endParaRPr>
          </a:p>
        </p:txBody>
      </p:sp>
      <p:sp>
        <p:nvSpPr>
          <p:cNvPr id="34" name="圆角矩形 33"/>
          <p:cNvSpPr>
            <a:spLocks noGrp="1"/>
          </p:cNvSpPr>
          <p:nvPr/>
        </p:nvSpPr>
        <p:spPr>
          <a:xfrm>
            <a:off x="5010150" y="1847850"/>
            <a:ext cx="2143125" cy="3781425"/>
          </a:xfrm>
          <a:prstGeom prst="roundRect">
            <a:avLst>
              <a:gd name="adj" fmla="val 889"/>
            </a:avLst>
          </a:prstGeom>
          <a:solidFill>
            <a:srgbClr val="FFFFFF"/>
          </a:solidFill>
          <a:ln w="9525">
            <a:solidFill>
              <a:srgbClr val="D8D1CD"/>
            </a:solidFill>
            <a:prstDash val="solid"/>
          </a:ln>
        </p:spPr>
      </p:sp>
      <p:sp>
        <p:nvSpPr>
          <p:cNvPr id="35" name="圆角矩形 34"/>
          <p:cNvSpPr>
            <a:spLocks noGrp="1"/>
          </p:cNvSpPr>
          <p:nvPr/>
        </p:nvSpPr>
        <p:spPr>
          <a:xfrm>
            <a:off x="5010150" y="1847850"/>
            <a:ext cx="2143125" cy="466725"/>
          </a:xfrm>
          <a:prstGeom prst="roundRect">
            <a:avLst>
              <a:gd name="adj" fmla="val 4082"/>
            </a:avLst>
          </a:prstGeom>
          <a:solidFill>
            <a:srgbClr val="164A7B"/>
          </a:solidFill>
          <a:ln w="0">
            <a:noFill/>
            <a:prstDash val="solid"/>
          </a:ln>
        </p:spPr>
      </p:sp>
      <p:sp>
        <p:nvSpPr>
          <p:cNvPr id="36" name="矩形 35"/>
          <p:cNvSpPr>
            <a:spLocks noGrp="1"/>
          </p:cNvSpPr>
          <p:nvPr/>
        </p:nvSpPr>
        <p:spPr>
          <a:xfrm>
            <a:off x="5086350" y="1905000"/>
            <a:ext cx="1990725" cy="352425"/>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03  重点企业清单</a:t>
            </a:r>
            <a:endParaRPr sz="1200" b="1">
              <a:solidFill>
                <a:srgbClr val="FFFFFF"/>
              </a:solidFill>
              <a:latin typeface="Noto Sans Hans"/>
              <a:ea typeface="Noto Sans Hans"/>
              <a:cs typeface="Noto Sans Hans"/>
            </a:endParaRPr>
          </a:p>
        </p:txBody>
      </p:sp>
      <p:sp>
        <p:nvSpPr>
          <p:cNvPr id="37" name="矩形 36"/>
          <p:cNvSpPr>
            <a:spLocks noGrp="1"/>
          </p:cNvSpPr>
          <p:nvPr/>
        </p:nvSpPr>
        <p:spPr>
          <a:xfrm>
            <a:off x="5143500" y="2466975"/>
            <a:ext cx="762000" cy="590550"/>
          </a:xfrm>
          <a:prstGeom prst="rect">
            <a:avLst/>
          </a:prstGeom>
          <a:noFill/>
          <a:ln w="0">
            <a:noFill/>
            <a:prstDash val="solid"/>
          </a:ln>
        </p:spPr>
        <p:txBody>
          <a:bodyPr wrap="square" lIns="47625" tIns="19050" rIns="47625" bIns="19050" anchor="ctr">
            <a:normAutofit/>
          </a:bodyPr>
          <a:lstStyle/>
          <a:p>
            <a:pPr algn="ctr">
              <a:defRPr sz="2775" b="1">
                <a:solidFill>
                  <a:srgbClr val="164A7B"/>
                </a:solidFill>
                <a:latin typeface="Noto Sans Hans"/>
                <a:ea typeface="Noto Sans Hans"/>
                <a:cs typeface="Noto Sans Hans"/>
              </a:defRPr>
            </a:pPr>
            <a:r>
              <a:rPr sz="2800" b="1">
                <a:solidFill>
                  <a:srgbClr val="164A7B"/>
                </a:solidFill>
                <a:latin typeface="Noto Sans Hans"/>
                <a:ea typeface="Noto Sans Hans"/>
                <a:cs typeface="Noto Sans Hans"/>
              </a:rPr>
              <a:t>66</a:t>
            </a:r>
            <a:endParaRPr sz="2800" b="1">
              <a:solidFill>
                <a:srgbClr val="164A7B"/>
              </a:solidFill>
              <a:latin typeface="Noto Sans Hans"/>
              <a:ea typeface="Noto Sans Hans"/>
              <a:cs typeface="Noto Sans Hans"/>
            </a:endParaRPr>
          </a:p>
        </p:txBody>
      </p:sp>
      <p:sp>
        <p:nvSpPr>
          <p:cNvPr id="38" name="矩形 37"/>
          <p:cNvSpPr>
            <a:spLocks noGrp="1"/>
          </p:cNvSpPr>
          <p:nvPr/>
        </p:nvSpPr>
        <p:spPr>
          <a:xfrm>
            <a:off x="5895975" y="2552700"/>
            <a:ext cx="1114425" cy="419100"/>
          </a:xfrm>
          <a:prstGeom prst="rect">
            <a:avLst/>
          </a:prstGeom>
          <a:noFill/>
          <a:ln w="0">
            <a:noFill/>
            <a:prstDash val="solid"/>
          </a:ln>
        </p:spPr>
        <p:txBody>
          <a:bodyPr wrap="square" lIns="47625" tIns="19050" rIns="47625" bIns="19050" anchor="ctr">
            <a:normAutofit/>
          </a:bodyPr>
          <a:lstStyle/>
          <a:p>
            <a:pPr algn="l">
              <a:defRPr sz="790" b="1">
                <a:solidFill>
                  <a:srgbClr val="716B68"/>
                </a:solidFill>
                <a:latin typeface="Noto Sans Hans"/>
                <a:ea typeface="Noto Sans Hans"/>
                <a:cs typeface="Noto Sans Hans"/>
              </a:defRPr>
            </a:pPr>
            <a:r>
              <a:rPr sz="990" b="1">
                <a:solidFill>
                  <a:srgbClr val="716B68"/>
                </a:solidFill>
                <a:latin typeface="Noto Sans Hans"/>
                <a:ea typeface="Noto Sans Hans"/>
                <a:cs typeface="Noto Sans Hans"/>
              </a:rPr>
              <a:t>家重点企业</a:t>
            </a:r>
            <a:endParaRPr sz="990" b="1">
              <a:solidFill>
                <a:srgbClr val="716B68"/>
              </a:solidFill>
              <a:latin typeface="Noto Sans Hans"/>
              <a:ea typeface="Noto Sans Hans"/>
              <a:cs typeface="Noto Sans Hans"/>
            </a:endParaRPr>
          </a:p>
        </p:txBody>
      </p:sp>
      <p:sp>
        <p:nvSpPr>
          <p:cNvPr id="39" name="圆角矩形 38"/>
          <p:cNvSpPr>
            <a:spLocks noGrp="1"/>
          </p:cNvSpPr>
          <p:nvPr/>
        </p:nvSpPr>
        <p:spPr>
          <a:xfrm>
            <a:off x="5133975" y="3152775"/>
            <a:ext cx="1895475" cy="361950"/>
          </a:xfrm>
          <a:prstGeom prst="roundRect">
            <a:avLst>
              <a:gd name="adj" fmla="val 5263"/>
            </a:avLst>
          </a:prstGeom>
          <a:solidFill>
            <a:srgbClr val="EAF1F8"/>
          </a:solidFill>
          <a:ln w="0">
            <a:noFill/>
            <a:prstDash val="solid"/>
          </a:ln>
        </p:spPr>
      </p:sp>
      <p:sp>
        <p:nvSpPr>
          <p:cNvPr id="40" name="矩形 39"/>
          <p:cNvSpPr>
            <a:spLocks noGrp="1"/>
          </p:cNvSpPr>
          <p:nvPr/>
        </p:nvSpPr>
        <p:spPr>
          <a:xfrm>
            <a:off x="5181600" y="3200400"/>
            <a:ext cx="1800225" cy="266700"/>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谁具备合作或投资价值？</a:t>
            </a:r>
            <a:endParaRPr sz="1000" b="1">
              <a:solidFill>
                <a:srgbClr val="D00914"/>
              </a:solidFill>
              <a:latin typeface="Noto Sans Hans"/>
              <a:ea typeface="Noto Sans Hans"/>
              <a:cs typeface="Noto Sans Hans"/>
            </a:endParaRPr>
          </a:p>
        </p:txBody>
      </p:sp>
      <p:sp>
        <p:nvSpPr>
          <p:cNvPr id="41" name="矩形 40"/>
          <p:cNvSpPr>
            <a:spLocks noGrp="1"/>
          </p:cNvSpPr>
          <p:nvPr/>
        </p:nvSpPr>
        <p:spPr>
          <a:xfrm>
            <a:off x="5172075" y="3657600"/>
            <a:ext cx="1819275" cy="11049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7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覆盖康复、护理、陪伴整机，传感、关节等核心部件，以及平台与运营企业，记录产品、商业化和资本阶段。</a:t>
            </a:r>
            <a:endParaRPr sz="1000" b="0">
              <a:solidFill>
                <a:srgbClr val="403A38"/>
              </a:solidFill>
              <a:latin typeface="Noto Sans Hans"/>
              <a:ea typeface="Noto Sans Hans"/>
              <a:cs typeface="Noto Sans Hans"/>
            </a:endParaRPr>
          </a:p>
        </p:txBody>
      </p:sp>
      <p:sp>
        <p:nvSpPr>
          <p:cNvPr id="42" name="圆角矩形 41"/>
          <p:cNvSpPr>
            <a:spLocks noGrp="1"/>
          </p:cNvSpPr>
          <p:nvPr/>
        </p:nvSpPr>
        <p:spPr>
          <a:xfrm>
            <a:off x="5133975" y="4914900"/>
            <a:ext cx="1895475" cy="504825"/>
          </a:xfrm>
          <a:prstGeom prst="roundRect">
            <a:avLst>
              <a:gd name="adj" fmla="val 3774"/>
            </a:avLst>
          </a:prstGeom>
          <a:solidFill>
            <a:srgbClr val="F7F3F1"/>
          </a:solidFill>
          <a:ln w="0">
            <a:noFill/>
            <a:prstDash val="solid"/>
          </a:ln>
        </p:spPr>
      </p:sp>
      <p:sp>
        <p:nvSpPr>
          <p:cNvPr id="43" name="矩形 42"/>
          <p:cNvSpPr>
            <a:spLocks noGrp="1"/>
          </p:cNvSpPr>
          <p:nvPr/>
        </p:nvSpPr>
        <p:spPr>
          <a:xfrm>
            <a:off x="5191125" y="4991100"/>
            <a:ext cx="1781175" cy="361950"/>
          </a:xfrm>
          <a:prstGeom prst="rect">
            <a:avLst/>
          </a:prstGeom>
          <a:noFill/>
          <a:ln w="0">
            <a:noFill/>
            <a:prstDash val="solid"/>
          </a:ln>
        </p:spPr>
        <p:txBody>
          <a:bodyPr wrap="square" lIns="47625" tIns="19050" rIns="47625" bIns="19050" anchor="ctr">
            <a:normAutofit/>
          </a:bodyPr>
          <a:lstStyle/>
          <a:p>
            <a:pPr algn="ctr">
              <a:defRPr sz="775" b="1">
                <a:solidFill>
                  <a:srgbClr val="164A7B"/>
                </a:solidFill>
                <a:latin typeface="Noto Sans Hans"/>
                <a:ea typeface="Noto Sans Hans"/>
                <a:cs typeface="Noto Sans Hans"/>
              </a:defRPr>
            </a:pPr>
            <a:r>
              <a:rPr sz="880" b="1">
                <a:solidFill>
                  <a:srgbClr val="164A7B"/>
                </a:solidFill>
                <a:latin typeface="Noto Sans Hans"/>
                <a:ea typeface="Noto Sans Hans"/>
                <a:cs typeface="Noto Sans Hans"/>
              </a:rPr>
              <a:t>用于：企业筛选 / 尽调排序</a:t>
            </a:r>
            <a:endParaRPr sz="880" b="1">
              <a:solidFill>
                <a:srgbClr val="164A7B"/>
              </a:solidFill>
              <a:latin typeface="Noto Sans Hans"/>
              <a:ea typeface="Noto Sans Hans"/>
              <a:cs typeface="Noto Sans Hans"/>
            </a:endParaRPr>
          </a:p>
        </p:txBody>
      </p:sp>
      <p:sp>
        <p:nvSpPr>
          <p:cNvPr id="44" name="圆角矩形 43"/>
          <p:cNvSpPr>
            <a:spLocks noGrp="1"/>
          </p:cNvSpPr>
          <p:nvPr/>
        </p:nvSpPr>
        <p:spPr>
          <a:xfrm>
            <a:off x="7286625" y="1847850"/>
            <a:ext cx="2143125" cy="3781425"/>
          </a:xfrm>
          <a:prstGeom prst="roundRect">
            <a:avLst>
              <a:gd name="adj" fmla="val 889"/>
            </a:avLst>
          </a:prstGeom>
          <a:solidFill>
            <a:srgbClr val="FFFFFF"/>
          </a:solidFill>
          <a:ln w="9525">
            <a:solidFill>
              <a:srgbClr val="D8D1CD"/>
            </a:solidFill>
            <a:prstDash val="solid"/>
          </a:ln>
        </p:spPr>
      </p:sp>
      <p:sp>
        <p:nvSpPr>
          <p:cNvPr id="45" name="圆角矩形 44"/>
          <p:cNvSpPr>
            <a:spLocks noGrp="1"/>
          </p:cNvSpPr>
          <p:nvPr/>
        </p:nvSpPr>
        <p:spPr>
          <a:xfrm>
            <a:off x="7286625" y="1847850"/>
            <a:ext cx="2143125" cy="466725"/>
          </a:xfrm>
          <a:prstGeom prst="roundRect">
            <a:avLst>
              <a:gd name="adj" fmla="val 4082"/>
            </a:avLst>
          </a:prstGeom>
          <a:solidFill>
            <a:srgbClr val="C94A27"/>
          </a:solidFill>
          <a:ln w="0">
            <a:noFill/>
            <a:prstDash val="solid"/>
          </a:ln>
        </p:spPr>
      </p:sp>
      <p:sp>
        <p:nvSpPr>
          <p:cNvPr id="46" name="矩形 45"/>
          <p:cNvSpPr>
            <a:spLocks noGrp="1"/>
          </p:cNvSpPr>
          <p:nvPr/>
        </p:nvSpPr>
        <p:spPr>
          <a:xfrm>
            <a:off x="7362825" y="1905000"/>
            <a:ext cx="1990725" cy="352425"/>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04  重点项目清单</a:t>
            </a:r>
            <a:endParaRPr sz="1200" b="1">
              <a:solidFill>
                <a:srgbClr val="FFFFFF"/>
              </a:solidFill>
              <a:latin typeface="Noto Sans Hans"/>
              <a:ea typeface="Noto Sans Hans"/>
              <a:cs typeface="Noto Sans Hans"/>
            </a:endParaRPr>
          </a:p>
        </p:txBody>
      </p:sp>
      <p:sp>
        <p:nvSpPr>
          <p:cNvPr id="47" name="矩形 46"/>
          <p:cNvSpPr>
            <a:spLocks noGrp="1"/>
          </p:cNvSpPr>
          <p:nvPr/>
        </p:nvSpPr>
        <p:spPr>
          <a:xfrm>
            <a:off x="7419975" y="2466975"/>
            <a:ext cx="762000" cy="590550"/>
          </a:xfrm>
          <a:prstGeom prst="rect">
            <a:avLst/>
          </a:prstGeom>
          <a:noFill/>
          <a:ln w="0">
            <a:noFill/>
            <a:prstDash val="solid"/>
          </a:ln>
        </p:spPr>
        <p:txBody>
          <a:bodyPr wrap="square" lIns="47625" tIns="19050" rIns="47625" bIns="19050" anchor="ctr">
            <a:normAutofit/>
          </a:bodyPr>
          <a:lstStyle/>
          <a:p>
            <a:pPr algn="ctr">
              <a:defRPr sz="2775" b="1">
                <a:solidFill>
                  <a:srgbClr val="C94A27"/>
                </a:solidFill>
                <a:latin typeface="Noto Sans Hans"/>
                <a:ea typeface="Noto Sans Hans"/>
                <a:cs typeface="Noto Sans Hans"/>
              </a:defRPr>
            </a:pPr>
            <a:r>
              <a:rPr sz="2800" b="1">
                <a:solidFill>
                  <a:srgbClr val="C94A27"/>
                </a:solidFill>
                <a:latin typeface="Noto Sans Hans"/>
                <a:ea typeface="Noto Sans Hans"/>
                <a:cs typeface="Noto Sans Hans"/>
              </a:rPr>
              <a:t>54</a:t>
            </a:r>
            <a:endParaRPr sz="2800" b="1">
              <a:solidFill>
                <a:srgbClr val="C94A27"/>
              </a:solidFill>
              <a:latin typeface="Noto Sans Hans"/>
              <a:ea typeface="Noto Sans Hans"/>
              <a:cs typeface="Noto Sans Hans"/>
            </a:endParaRPr>
          </a:p>
        </p:txBody>
      </p:sp>
      <p:sp>
        <p:nvSpPr>
          <p:cNvPr id="48" name="矩形 47"/>
          <p:cNvSpPr>
            <a:spLocks noGrp="1"/>
          </p:cNvSpPr>
          <p:nvPr/>
        </p:nvSpPr>
        <p:spPr>
          <a:xfrm>
            <a:off x="8172450" y="2552700"/>
            <a:ext cx="1114425" cy="419100"/>
          </a:xfrm>
          <a:prstGeom prst="rect">
            <a:avLst/>
          </a:prstGeom>
          <a:noFill/>
          <a:ln w="0">
            <a:noFill/>
            <a:prstDash val="solid"/>
          </a:ln>
        </p:spPr>
        <p:txBody>
          <a:bodyPr wrap="square" lIns="47625" tIns="19050" rIns="47625" bIns="19050" anchor="ctr">
            <a:normAutofit/>
          </a:bodyPr>
          <a:lstStyle/>
          <a:p>
            <a:pPr algn="l">
              <a:defRPr sz="790" b="1">
                <a:solidFill>
                  <a:srgbClr val="716B68"/>
                </a:solidFill>
                <a:latin typeface="Noto Sans Hans"/>
                <a:ea typeface="Noto Sans Hans"/>
                <a:cs typeface="Noto Sans Hans"/>
              </a:defRPr>
            </a:pPr>
            <a:r>
              <a:rPr sz="990" b="1">
                <a:solidFill>
                  <a:srgbClr val="716B68"/>
                </a:solidFill>
                <a:latin typeface="Noto Sans Hans"/>
                <a:ea typeface="Noto Sans Hans"/>
                <a:cs typeface="Noto Sans Hans"/>
              </a:rPr>
              <a:t>项项目及融资事件</a:t>
            </a:r>
            <a:endParaRPr sz="990" b="1">
              <a:solidFill>
                <a:srgbClr val="716B68"/>
              </a:solidFill>
              <a:latin typeface="Noto Sans Hans"/>
              <a:ea typeface="Noto Sans Hans"/>
              <a:cs typeface="Noto Sans Hans"/>
            </a:endParaRPr>
          </a:p>
        </p:txBody>
      </p:sp>
      <p:sp>
        <p:nvSpPr>
          <p:cNvPr id="49" name="圆角矩形 48"/>
          <p:cNvSpPr>
            <a:spLocks noGrp="1"/>
          </p:cNvSpPr>
          <p:nvPr/>
        </p:nvSpPr>
        <p:spPr>
          <a:xfrm>
            <a:off x="7410450" y="3152775"/>
            <a:ext cx="1895475" cy="361950"/>
          </a:xfrm>
          <a:prstGeom prst="roundRect">
            <a:avLst>
              <a:gd name="adj" fmla="val 5263"/>
            </a:avLst>
          </a:prstGeom>
          <a:solidFill>
            <a:srgbClr val="F8E5E4"/>
          </a:solidFill>
          <a:ln w="0">
            <a:noFill/>
            <a:prstDash val="solid"/>
          </a:ln>
        </p:spPr>
      </p:sp>
      <p:sp>
        <p:nvSpPr>
          <p:cNvPr id="50" name="矩形 49"/>
          <p:cNvSpPr>
            <a:spLocks noGrp="1"/>
          </p:cNvSpPr>
          <p:nvPr/>
        </p:nvSpPr>
        <p:spPr>
          <a:xfrm>
            <a:off x="7458075" y="3200400"/>
            <a:ext cx="1800225" cy="266700"/>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哪些项目可以近期推进？</a:t>
            </a:r>
            <a:endParaRPr sz="1000" b="1">
              <a:solidFill>
                <a:srgbClr val="D00914"/>
              </a:solidFill>
              <a:latin typeface="Noto Sans Hans"/>
              <a:ea typeface="Noto Sans Hans"/>
              <a:cs typeface="Noto Sans Hans"/>
            </a:endParaRPr>
          </a:p>
        </p:txBody>
      </p:sp>
      <p:sp>
        <p:nvSpPr>
          <p:cNvPr id="51" name="矩形 50"/>
          <p:cNvSpPr>
            <a:spLocks noGrp="1"/>
          </p:cNvSpPr>
          <p:nvPr/>
        </p:nvSpPr>
        <p:spPr>
          <a:xfrm>
            <a:off x="7448550" y="3657600"/>
            <a:ext cx="1819275" cy="11049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7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汇总场景试点、平台建设、股权投资、成果转化、区域总部招引和国家项目申报，明确合作方式与主要风险。</a:t>
            </a:r>
            <a:endParaRPr sz="1000" b="0">
              <a:solidFill>
                <a:srgbClr val="403A38"/>
              </a:solidFill>
              <a:latin typeface="Noto Sans Hans"/>
              <a:ea typeface="Noto Sans Hans"/>
              <a:cs typeface="Noto Sans Hans"/>
            </a:endParaRPr>
          </a:p>
        </p:txBody>
      </p:sp>
      <p:sp>
        <p:nvSpPr>
          <p:cNvPr id="52" name="圆角矩形 51"/>
          <p:cNvSpPr>
            <a:spLocks noGrp="1"/>
          </p:cNvSpPr>
          <p:nvPr/>
        </p:nvSpPr>
        <p:spPr>
          <a:xfrm>
            <a:off x="7410450" y="4914900"/>
            <a:ext cx="1895475" cy="504825"/>
          </a:xfrm>
          <a:prstGeom prst="roundRect">
            <a:avLst>
              <a:gd name="adj" fmla="val 3774"/>
            </a:avLst>
          </a:prstGeom>
          <a:solidFill>
            <a:srgbClr val="F7F3F1"/>
          </a:solidFill>
          <a:ln w="0">
            <a:noFill/>
            <a:prstDash val="solid"/>
          </a:ln>
        </p:spPr>
      </p:sp>
      <p:sp>
        <p:nvSpPr>
          <p:cNvPr id="53" name="矩形 52"/>
          <p:cNvSpPr>
            <a:spLocks noGrp="1"/>
          </p:cNvSpPr>
          <p:nvPr/>
        </p:nvSpPr>
        <p:spPr>
          <a:xfrm>
            <a:off x="7467600" y="4991100"/>
            <a:ext cx="1781175" cy="361950"/>
          </a:xfrm>
          <a:prstGeom prst="rect">
            <a:avLst/>
          </a:prstGeom>
          <a:noFill/>
          <a:ln w="0">
            <a:noFill/>
            <a:prstDash val="solid"/>
          </a:ln>
        </p:spPr>
        <p:txBody>
          <a:bodyPr wrap="square" lIns="47625" tIns="19050" rIns="47625" bIns="19050" anchor="ctr">
            <a:normAutofit/>
          </a:bodyPr>
          <a:lstStyle/>
          <a:p>
            <a:pPr algn="ctr">
              <a:defRPr sz="775" b="1">
                <a:solidFill>
                  <a:srgbClr val="C94A27"/>
                </a:solidFill>
                <a:latin typeface="Noto Sans Hans"/>
                <a:ea typeface="Noto Sans Hans"/>
                <a:cs typeface="Noto Sans Hans"/>
              </a:defRPr>
            </a:pPr>
            <a:r>
              <a:rPr sz="880" b="1">
                <a:solidFill>
                  <a:srgbClr val="C94A27"/>
                </a:solidFill>
                <a:latin typeface="Noto Sans Hans"/>
                <a:ea typeface="Noto Sans Hans"/>
                <a:cs typeface="Noto Sans Hans"/>
              </a:rPr>
              <a:t>用于：项目储备 / 投资决策</a:t>
            </a:r>
            <a:endParaRPr sz="880" b="1">
              <a:solidFill>
                <a:srgbClr val="C94A27"/>
              </a:solidFill>
              <a:latin typeface="Noto Sans Hans"/>
              <a:ea typeface="Noto Sans Hans"/>
              <a:cs typeface="Noto Sans Hans"/>
            </a:endParaRPr>
          </a:p>
        </p:txBody>
      </p:sp>
      <p:sp>
        <p:nvSpPr>
          <p:cNvPr id="54" name="圆角矩形 53"/>
          <p:cNvSpPr>
            <a:spLocks noGrp="1"/>
          </p:cNvSpPr>
          <p:nvPr/>
        </p:nvSpPr>
        <p:spPr>
          <a:xfrm>
            <a:off x="9563100" y="1847850"/>
            <a:ext cx="2143125" cy="3781425"/>
          </a:xfrm>
          <a:prstGeom prst="roundRect">
            <a:avLst>
              <a:gd name="adj" fmla="val 889"/>
            </a:avLst>
          </a:prstGeom>
          <a:solidFill>
            <a:srgbClr val="FFFFFF"/>
          </a:solidFill>
          <a:ln w="9525">
            <a:solidFill>
              <a:srgbClr val="D8D1CD"/>
            </a:solidFill>
            <a:prstDash val="solid"/>
          </a:ln>
        </p:spPr>
      </p:sp>
      <p:sp>
        <p:nvSpPr>
          <p:cNvPr id="55" name="圆角矩形 54"/>
          <p:cNvSpPr>
            <a:spLocks noGrp="1"/>
          </p:cNvSpPr>
          <p:nvPr/>
        </p:nvSpPr>
        <p:spPr>
          <a:xfrm>
            <a:off x="9563100" y="1847850"/>
            <a:ext cx="2143125" cy="466725"/>
          </a:xfrm>
          <a:prstGeom prst="roundRect">
            <a:avLst>
              <a:gd name="adj" fmla="val 4082"/>
            </a:avLst>
          </a:prstGeom>
          <a:solidFill>
            <a:srgbClr val="8E1118"/>
          </a:solidFill>
          <a:ln w="0">
            <a:noFill/>
            <a:prstDash val="solid"/>
          </a:ln>
        </p:spPr>
      </p:sp>
      <p:sp>
        <p:nvSpPr>
          <p:cNvPr id="56" name="矩形 55"/>
          <p:cNvSpPr>
            <a:spLocks noGrp="1"/>
          </p:cNvSpPr>
          <p:nvPr/>
        </p:nvSpPr>
        <p:spPr>
          <a:xfrm>
            <a:off x="9639300" y="1905000"/>
            <a:ext cx="1990725" cy="352425"/>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05  问题清单</a:t>
            </a:r>
            <a:endParaRPr sz="1200" b="1">
              <a:solidFill>
                <a:srgbClr val="FFFFFF"/>
              </a:solidFill>
              <a:latin typeface="Noto Sans Hans"/>
              <a:ea typeface="Noto Sans Hans"/>
              <a:cs typeface="Noto Sans Hans"/>
            </a:endParaRPr>
          </a:p>
        </p:txBody>
      </p:sp>
      <p:sp>
        <p:nvSpPr>
          <p:cNvPr id="57" name="矩形 56"/>
          <p:cNvSpPr>
            <a:spLocks noGrp="1"/>
          </p:cNvSpPr>
          <p:nvPr/>
        </p:nvSpPr>
        <p:spPr>
          <a:xfrm>
            <a:off x="9696450" y="2466975"/>
            <a:ext cx="762000" cy="590550"/>
          </a:xfrm>
          <a:prstGeom prst="rect">
            <a:avLst/>
          </a:prstGeom>
          <a:noFill/>
          <a:ln w="0">
            <a:noFill/>
            <a:prstDash val="solid"/>
          </a:ln>
        </p:spPr>
        <p:txBody>
          <a:bodyPr wrap="square" lIns="47625" tIns="19050" rIns="47625" bIns="19050" anchor="ctr">
            <a:normAutofit/>
          </a:bodyPr>
          <a:lstStyle/>
          <a:p>
            <a:pPr algn="ctr">
              <a:defRPr sz="2775" b="1">
                <a:solidFill>
                  <a:srgbClr val="8E1118"/>
                </a:solidFill>
                <a:latin typeface="Noto Sans Hans"/>
                <a:ea typeface="Noto Sans Hans"/>
                <a:cs typeface="Noto Sans Hans"/>
              </a:defRPr>
            </a:pPr>
            <a:r>
              <a:rPr sz="2800" b="1">
                <a:solidFill>
                  <a:srgbClr val="8E1118"/>
                </a:solidFill>
                <a:latin typeface="Noto Sans Hans"/>
                <a:ea typeface="Noto Sans Hans"/>
                <a:cs typeface="Noto Sans Hans"/>
              </a:rPr>
              <a:t>24</a:t>
            </a:r>
            <a:endParaRPr sz="2800" b="1">
              <a:solidFill>
                <a:srgbClr val="8E1118"/>
              </a:solidFill>
              <a:latin typeface="Noto Sans Hans"/>
              <a:ea typeface="Noto Sans Hans"/>
              <a:cs typeface="Noto Sans Hans"/>
            </a:endParaRPr>
          </a:p>
        </p:txBody>
      </p:sp>
      <p:sp>
        <p:nvSpPr>
          <p:cNvPr id="58" name="矩形 57"/>
          <p:cNvSpPr>
            <a:spLocks noGrp="1"/>
          </p:cNvSpPr>
          <p:nvPr/>
        </p:nvSpPr>
        <p:spPr>
          <a:xfrm>
            <a:off x="10448925" y="2552700"/>
            <a:ext cx="1114425" cy="419100"/>
          </a:xfrm>
          <a:prstGeom prst="rect">
            <a:avLst/>
          </a:prstGeom>
          <a:noFill/>
          <a:ln w="0">
            <a:noFill/>
            <a:prstDash val="solid"/>
          </a:ln>
        </p:spPr>
        <p:txBody>
          <a:bodyPr wrap="square" lIns="47625" tIns="19050" rIns="47625" bIns="19050" anchor="ctr">
            <a:normAutofit/>
          </a:bodyPr>
          <a:lstStyle/>
          <a:p>
            <a:pPr algn="l">
              <a:defRPr sz="790" b="1">
                <a:solidFill>
                  <a:srgbClr val="716B68"/>
                </a:solidFill>
                <a:latin typeface="Noto Sans Hans"/>
                <a:ea typeface="Noto Sans Hans"/>
                <a:cs typeface="Noto Sans Hans"/>
              </a:defRPr>
            </a:pPr>
            <a:r>
              <a:rPr sz="990" b="1">
                <a:solidFill>
                  <a:srgbClr val="716B68"/>
                </a:solidFill>
                <a:latin typeface="Noto Sans Hans"/>
                <a:ea typeface="Noto Sans Hans"/>
                <a:cs typeface="Noto Sans Hans"/>
              </a:rPr>
              <a:t>项产业核心问题</a:t>
            </a:r>
            <a:endParaRPr sz="990" b="1">
              <a:solidFill>
                <a:srgbClr val="716B68"/>
              </a:solidFill>
              <a:latin typeface="Noto Sans Hans"/>
              <a:ea typeface="Noto Sans Hans"/>
              <a:cs typeface="Noto Sans Hans"/>
            </a:endParaRPr>
          </a:p>
        </p:txBody>
      </p:sp>
      <p:sp>
        <p:nvSpPr>
          <p:cNvPr id="59" name="圆角矩形 58"/>
          <p:cNvSpPr>
            <a:spLocks noGrp="1"/>
          </p:cNvSpPr>
          <p:nvPr/>
        </p:nvSpPr>
        <p:spPr>
          <a:xfrm>
            <a:off x="9686925" y="3152775"/>
            <a:ext cx="1895475" cy="361950"/>
          </a:xfrm>
          <a:prstGeom prst="roundRect">
            <a:avLst>
              <a:gd name="adj" fmla="val 5263"/>
            </a:avLst>
          </a:prstGeom>
          <a:solidFill>
            <a:srgbClr val="EAF1F8"/>
          </a:solidFill>
          <a:ln w="0">
            <a:noFill/>
            <a:prstDash val="solid"/>
          </a:ln>
        </p:spPr>
      </p:sp>
      <p:sp>
        <p:nvSpPr>
          <p:cNvPr id="60" name="矩形 59"/>
          <p:cNvSpPr>
            <a:spLocks noGrp="1"/>
          </p:cNvSpPr>
          <p:nvPr/>
        </p:nvSpPr>
        <p:spPr>
          <a:xfrm>
            <a:off x="9734550" y="3200400"/>
            <a:ext cx="1800225" cy="266700"/>
          </a:xfrm>
          <a:prstGeom prst="rect">
            <a:avLst/>
          </a:prstGeom>
          <a:noFill/>
          <a:ln w="0">
            <a:noFill/>
            <a:prstDash val="solid"/>
          </a:ln>
        </p:spPr>
        <p:txBody>
          <a:bodyPr wrap="square" lIns="47625" tIns="19050" rIns="47625" bIns="19050" anchor="ctr">
            <a:normAutofit/>
          </a:bodyPr>
          <a:lstStyle/>
          <a:p>
            <a:pPr algn="ctr">
              <a:defRPr sz="810"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项目可能卡在哪里？</a:t>
            </a:r>
            <a:endParaRPr sz="1000" b="1">
              <a:solidFill>
                <a:srgbClr val="D00914"/>
              </a:solidFill>
              <a:latin typeface="Noto Sans Hans"/>
              <a:ea typeface="Noto Sans Hans"/>
              <a:cs typeface="Noto Sans Hans"/>
            </a:endParaRPr>
          </a:p>
        </p:txBody>
      </p:sp>
      <p:sp>
        <p:nvSpPr>
          <p:cNvPr id="61" name="矩形 60"/>
          <p:cNvSpPr>
            <a:spLocks noGrp="1"/>
          </p:cNvSpPr>
          <p:nvPr/>
        </p:nvSpPr>
        <p:spPr>
          <a:xfrm>
            <a:off x="9725025" y="3657600"/>
            <a:ext cx="1819275" cy="11049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7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从需求、支付、安全、证照、场景、数据、售后、估值与组织协同等方面设置风险项、责任主体和验证指标。</a:t>
            </a:r>
            <a:endParaRPr sz="1000" b="0">
              <a:solidFill>
                <a:srgbClr val="403A38"/>
              </a:solidFill>
              <a:latin typeface="Noto Sans Hans"/>
              <a:ea typeface="Noto Sans Hans"/>
              <a:cs typeface="Noto Sans Hans"/>
            </a:endParaRPr>
          </a:p>
        </p:txBody>
      </p:sp>
      <p:sp>
        <p:nvSpPr>
          <p:cNvPr id="62" name="圆角矩形 61"/>
          <p:cNvSpPr>
            <a:spLocks noGrp="1"/>
          </p:cNvSpPr>
          <p:nvPr/>
        </p:nvSpPr>
        <p:spPr>
          <a:xfrm>
            <a:off x="9686925" y="4914900"/>
            <a:ext cx="1895475" cy="504825"/>
          </a:xfrm>
          <a:prstGeom prst="roundRect">
            <a:avLst>
              <a:gd name="adj" fmla="val 3774"/>
            </a:avLst>
          </a:prstGeom>
          <a:solidFill>
            <a:srgbClr val="F7F3F1"/>
          </a:solidFill>
          <a:ln w="0">
            <a:noFill/>
            <a:prstDash val="solid"/>
          </a:ln>
        </p:spPr>
      </p:sp>
      <p:sp>
        <p:nvSpPr>
          <p:cNvPr id="63" name="矩形 62"/>
          <p:cNvSpPr>
            <a:spLocks noGrp="1"/>
          </p:cNvSpPr>
          <p:nvPr/>
        </p:nvSpPr>
        <p:spPr>
          <a:xfrm>
            <a:off x="9744075" y="4991100"/>
            <a:ext cx="1781175" cy="361950"/>
          </a:xfrm>
          <a:prstGeom prst="rect">
            <a:avLst/>
          </a:prstGeom>
          <a:noFill/>
          <a:ln w="0">
            <a:noFill/>
            <a:prstDash val="solid"/>
          </a:ln>
        </p:spPr>
        <p:txBody>
          <a:bodyPr wrap="square" lIns="47625" tIns="19050" rIns="47625" bIns="19050" anchor="ctr">
            <a:normAutofit/>
          </a:bodyPr>
          <a:lstStyle/>
          <a:p>
            <a:pPr algn="ctr">
              <a:defRPr sz="775" b="1">
                <a:solidFill>
                  <a:srgbClr val="8E1118"/>
                </a:solidFill>
                <a:latin typeface="Noto Sans Hans"/>
                <a:ea typeface="Noto Sans Hans"/>
                <a:cs typeface="Noto Sans Hans"/>
              </a:defRPr>
            </a:pPr>
            <a:r>
              <a:rPr sz="880" b="1">
                <a:solidFill>
                  <a:srgbClr val="8E1118"/>
                </a:solidFill>
                <a:latin typeface="Noto Sans Hans"/>
                <a:ea typeface="Noto Sans Hans"/>
                <a:cs typeface="Noto Sans Hans"/>
              </a:rPr>
              <a:t>用于：否决项 / 投后赋能</a:t>
            </a:r>
            <a:endParaRPr sz="880" b="1">
              <a:solidFill>
                <a:srgbClr val="8E1118"/>
              </a:solidFill>
              <a:latin typeface="Noto Sans Hans"/>
              <a:ea typeface="Noto Sans Hans"/>
              <a:cs typeface="Noto Sans Hans"/>
            </a:endParaRPr>
          </a:p>
        </p:txBody>
      </p:sp>
      <p:sp>
        <p:nvSpPr>
          <p:cNvPr id="64" name="圆角矩形 63"/>
          <p:cNvSpPr>
            <a:spLocks noGrp="1"/>
          </p:cNvSpPr>
          <p:nvPr/>
        </p:nvSpPr>
        <p:spPr>
          <a:xfrm>
            <a:off x="457200" y="5791200"/>
            <a:ext cx="11229975" cy="657225"/>
          </a:xfrm>
          <a:prstGeom prst="roundRect">
            <a:avLst>
              <a:gd name="adj" fmla="val 2899"/>
            </a:avLst>
          </a:prstGeom>
          <a:solidFill>
            <a:srgbClr val="FFFFFF"/>
          </a:solidFill>
          <a:ln w="9525">
            <a:solidFill>
              <a:srgbClr val="D8D1CD"/>
            </a:solidFill>
            <a:prstDash val="solid"/>
          </a:ln>
        </p:spPr>
      </p:sp>
      <p:sp>
        <p:nvSpPr>
          <p:cNvPr id="65" name="矩形 64"/>
          <p:cNvSpPr>
            <a:spLocks noGrp="1"/>
          </p:cNvSpPr>
          <p:nvPr/>
        </p:nvSpPr>
        <p:spPr>
          <a:xfrm>
            <a:off x="600075" y="5905500"/>
            <a:ext cx="952500" cy="285750"/>
          </a:xfrm>
          <a:prstGeom prst="rect">
            <a:avLst/>
          </a:prstGeom>
          <a:noFill/>
          <a:ln w="0">
            <a:noFill/>
            <a:prstDash val="solid"/>
          </a:ln>
        </p:spPr>
        <p:txBody>
          <a:bodyPr wrap="square" lIns="47625" tIns="19050" rIns="47625" bIns="19050" anchor="ctr">
            <a:normAutofit/>
          </a:bodyPr>
          <a:lstStyle/>
          <a:p>
            <a:pPr algn="ctr">
              <a:defRPr sz="940"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管理闭环</a:t>
            </a:r>
            <a:endParaRPr sz="1000" b="1">
              <a:solidFill>
                <a:srgbClr val="8E1118"/>
              </a:solidFill>
              <a:latin typeface="Noto Sans Hans"/>
              <a:ea typeface="Noto Sans Hans"/>
              <a:cs typeface="Noto Sans Hans"/>
            </a:endParaRPr>
          </a:p>
        </p:txBody>
      </p:sp>
      <p:sp>
        <p:nvSpPr>
          <p:cNvPr id="66" name="圆角矩形 65"/>
          <p:cNvSpPr>
            <a:spLocks noGrp="1"/>
          </p:cNvSpPr>
          <p:nvPr/>
        </p:nvSpPr>
        <p:spPr>
          <a:xfrm>
            <a:off x="1657350" y="5895975"/>
            <a:ext cx="1381125" cy="304800"/>
          </a:xfrm>
          <a:prstGeom prst="roundRect">
            <a:avLst>
              <a:gd name="adj" fmla="val 6250"/>
            </a:avLst>
          </a:prstGeom>
          <a:solidFill>
            <a:srgbClr val="F8E5E4"/>
          </a:solidFill>
          <a:ln w="0">
            <a:noFill/>
            <a:prstDash val="solid"/>
          </a:ln>
        </p:spPr>
      </p:sp>
      <p:sp>
        <p:nvSpPr>
          <p:cNvPr id="67" name="矩形 66"/>
          <p:cNvSpPr>
            <a:spLocks noGrp="1"/>
          </p:cNvSpPr>
          <p:nvPr/>
        </p:nvSpPr>
        <p:spPr>
          <a:xfrm>
            <a:off x="1695450" y="5924550"/>
            <a:ext cx="1304925" cy="247650"/>
          </a:xfrm>
          <a:prstGeom prst="rect">
            <a:avLst/>
          </a:prstGeom>
          <a:noFill/>
          <a:ln w="0">
            <a:noFill/>
            <a:prstDash val="solid"/>
          </a:ln>
        </p:spPr>
        <p:txBody>
          <a:bodyPr wrap="square" lIns="47625" tIns="19050" rIns="47625" bIns="19050" anchor="ctr">
            <a:normAutofit/>
          </a:bodyPr>
          <a:lstStyle/>
          <a:p>
            <a:pPr algn="ctr">
              <a:defRPr sz="790" b="1">
                <a:solidFill>
                  <a:srgbClr val="8E1118"/>
                </a:solidFill>
                <a:latin typeface="Noto Sans Hans"/>
                <a:ea typeface="Noto Sans Hans"/>
                <a:cs typeface="Noto Sans Hans"/>
              </a:defRPr>
            </a:pPr>
            <a:r>
              <a:rPr sz="890" b="1">
                <a:solidFill>
                  <a:srgbClr val="8E1118"/>
                </a:solidFill>
                <a:latin typeface="Noto Sans Hans"/>
                <a:ea typeface="Noto Sans Hans"/>
                <a:cs typeface="Noto Sans Hans"/>
              </a:rPr>
              <a:t>区域选择</a:t>
            </a:r>
            <a:endParaRPr sz="890" b="1">
              <a:solidFill>
                <a:srgbClr val="8E1118"/>
              </a:solidFill>
              <a:latin typeface="Noto Sans Hans"/>
              <a:ea typeface="Noto Sans Hans"/>
              <a:cs typeface="Noto Sans Hans"/>
            </a:endParaRPr>
          </a:p>
        </p:txBody>
      </p:sp>
      <p:sp>
        <p:nvSpPr>
          <p:cNvPr id="68" name="矩形 67"/>
          <p:cNvSpPr>
            <a:spLocks noGrp="1"/>
          </p:cNvSpPr>
          <p:nvPr/>
        </p:nvSpPr>
        <p:spPr>
          <a:xfrm>
            <a:off x="3048000" y="5905500"/>
            <a:ext cx="209550" cy="266700"/>
          </a:xfrm>
          <a:prstGeom prst="rect">
            <a:avLst/>
          </a:prstGeom>
          <a:noFill/>
          <a:ln w="0">
            <a:noFill/>
            <a:prstDash val="solid"/>
          </a:ln>
        </p:spPr>
        <p:txBody>
          <a:bodyPr wrap="square" lIns="47625" tIns="19050" rIns="47625" bIns="19050" anchor="ctr">
            <a:noAutofit/>
          </a:bodyPr>
          <a:lstStyle/>
          <a:p>
            <a:pPr algn="ctr">
              <a:defRPr sz="975"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a:t>
            </a:r>
            <a:endParaRPr sz="1000" b="1">
              <a:solidFill>
                <a:srgbClr val="D00914"/>
              </a:solidFill>
              <a:latin typeface="Noto Sans Hans"/>
              <a:ea typeface="Noto Sans Hans"/>
              <a:cs typeface="Noto Sans Hans"/>
            </a:endParaRPr>
          </a:p>
        </p:txBody>
      </p:sp>
      <p:sp>
        <p:nvSpPr>
          <p:cNvPr id="69" name="圆角矩形 68"/>
          <p:cNvSpPr>
            <a:spLocks noGrp="1"/>
          </p:cNvSpPr>
          <p:nvPr/>
        </p:nvSpPr>
        <p:spPr>
          <a:xfrm>
            <a:off x="3267075" y="5895975"/>
            <a:ext cx="1381125" cy="304800"/>
          </a:xfrm>
          <a:prstGeom prst="roundRect">
            <a:avLst>
              <a:gd name="adj" fmla="val 6250"/>
            </a:avLst>
          </a:prstGeom>
          <a:solidFill>
            <a:srgbClr val="F8E5E4"/>
          </a:solidFill>
          <a:ln w="0">
            <a:noFill/>
            <a:prstDash val="solid"/>
          </a:ln>
        </p:spPr>
      </p:sp>
      <p:sp>
        <p:nvSpPr>
          <p:cNvPr id="70" name="矩形 69"/>
          <p:cNvSpPr>
            <a:spLocks noGrp="1"/>
          </p:cNvSpPr>
          <p:nvPr/>
        </p:nvSpPr>
        <p:spPr>
          <a:xfrm>
            <a:off x="3305175" y="5924550"/>
            <a:ext cx="1304925" cy="247650"/>
          </a:xfrm>
          <a:prstGeom prst="rect">
            <a:avLst/>
          </a:prstGeom>
          <a:noFill/>
          <a:ln w="0">
            <a:noFill/>
            <a:prstDash val="solid"/>
          </a:ln>
        </p:spPr>
        <p:txBody>
          <a:bodyPr wrap="square" lIns="47625" tIns="19050" rIns="47625" bIns="19050" anchor="ctr">
            <a:normAutofit/>
          </a:bodyPr>
          <a:lstStyle/>
          <a:p>
            <a:pPr algn="ctr">
              <a:defRPr sz="790" b="1">
                <a:solidFill>
                  <a:srgbClr val="8E1118"/>
                </a:solidFill>
                <a:latin typeface="Noto Sans Hans"/>
                <a:ea typeface="Noto Sans Hans"/>
                <a:cs typeface="Noto Sans Hans"/>
              </a:defRPr>
            </a:pPr>
            <a:r>
              <a:rPr sz="890" b="1">
                <a:solidFill>
                  <a:srgbClr val="8E1118"/>
                </a:solidFill>
                <a:latin typeface="Noto Sans Hans"/>
                <a:ea typeface="Noto Sans Hans"/>
                <a:cs typeface="Noto Sans Hans"/>
              </a:rPr>
              <a:t>政策匹配</a:t>
            </a:r>
            <a:endParaRPr sz="890" b="1">
              <a:solidFill>
                <a:srgbClr val="8E1118"/>
              </a:solidFill>
              <a:latin typeface="Noto Sans Hans"/>
              <a:ea typeface="Noto Sans Hans"/>
              <a:cs typeface="Noto Sans Hans"/>
            </a:endParaRPr>
          </a:p>
        </p:txBody>
      </p:sp>
      <p:sp>
        <p:nvSpPr>
          <p:cNvPr id="71" name="矩形 70"/>
          <p:cNvSpPr>
            <a:spLocks noGrp="1"/>
          </p:cNvSpPr>
          <p:nvPr/>
        </p:nvSpPr>
        <p:spPr>
          <a:xfrm>
            <a:off x="4657725" y="5905500"/>
            <a:ext cx="209550" cy="266700"/>
          </a:xfrm>
          <a:prstGeom prst="rect">
            <a:avLst/>
          </a:prstGeom>
          <a:noFill/>
          <a:ln w="0">
            <a:noFill/>
            <a:prstDash val="solid"/>
          </a:ln>
        </p:spPr>
        <p:txBody>
          <a:bodyPr wrap="square" lIns="47625" tIns="19050" rIns="47625" bIns="19050" anchor="ctr">
            <a:noAutofit/>
          </a:bodyPr>
          <a:lstStyle/>
          <a:p>
            <a:pPr algn="ctr">
              <a:defRPr sz="975"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a:t>
            </a:r>
            <a:endParaRPr sz="1000" b="1">
              <a:solidFill>
                <a:srgbClr val="D00914"/>
              </a:solidFill>
              <a:latin typeface="Noto Sans Hans"/>
              <a:ea typeface="Noto Sans Hans"/>
              <a:cs typeface="Noto Sans Hans"/>
            </a:endParaRPr>
          </a:p>
        </p:txBody>
      </p:sp>
      <p:sp>
        <p:nvSpPr>
          <p:cNvPr id="72" name="圆角矩形 71"/>
          <p:cNvSpPr>
            <a:spLocks noGrp="1"/>
          </p:cNvSpPr>
          <p:nvPr/>
        </p:nvSpPr>
        <p:spPr>
          <a:xfrm>
            <a:off x="4876800" y="5895975"/>
            <a:ext cx="1381125" cy="304800"/>
          </a:xfrm>
          <a:prstGeom prst="roundRect">
            <a:avLst>
              <a:gd name="adj" fmla="val 6250"/>
            </a:avLst>
          </a:prstGeom>
          <a:solidFill>
            <a:srgbClr val="EAF1F8"/>
          </a:solidFill>
          <a:ln w="0">
            <a:noFill/>
            <a:prstDash val="solid"/>
          </a:ln>
        </p:spPr>
      </p:sp>
      <p:sp>
        <p:nvSpPr>
          <p:cNvPr id="73" name="矩形 72"/>
          <p:cNvSpPr>
            <a:spLocks noGrp="1"/>
          </p:cNvSpPr>
          <p:nvPr/>
        </p:nvSpPr>
        <p:spPr>
          <a:xfrm>
            <a:off x="4914900" y="5924550"/>
            <a:ext cx="1304925" cy="247650"/>
          </a:xfrm>
          <a:prstGeom prst="rect">
            <a:avLst/>
          </a:prstGeom>
          <a:noFill/>
          <a:ln w="0">
            <a:noFill/>
            <a:prstDash val="solid"/>
          </a:ln>
        </p:spPr>
        <p:txBody>
          <a:bodyPr wrap="square" lIns="47625" tIns="19050" rIns="47625" bIns="19050" anchor="ctr">
            <a:normAutofit/>
          </a:bodyPr>
          <a:lstStyle/>
          <a:p>
            <a:pPr algn="ctr">
              <a:defRPr sz="790" b="1">
                <a:solidFill>
                  <a:srgbClr val="164A7B"/>
                </a:solidFill>
                <a:latin typeface="Noto Sans Hans"/>
                <a:ea typeface="Noto Sans Hans"/>
                <a:cs typeface="Noto Sans Hans"/>
              </a:defRPr>
            </a:pPr>
            <a:r>
              <a:rPr sz="890" b="1">
                <a:solidFill>
                  <a:srgbClr val="164A7B"/>
                </a:solidFill>
                <a:latin typeface="Noto Sans Hans"/>
                <a:ea typeface="Noto Sans Hans"/>
                <a:cs typeface="Noto Sans Hans"/>
              </a:rPr>
              <a:t>企业筛选</a:t>
            </a:r>
            <a:endParaRPr sz="890" b="1">
              <a:solidFill>
                <a:srgbClr val="164A7B"/>
              </a:solidFill>
              <a:latin typeface="Noto Sans Hans"/>
              <a:ea typeface="Noto Sans Hans"/>
              <a:cs typeface="Noto Sans Hans"/>
            </a:endParaRPr>
          </a:p>
        </p:txBody>
      </p:sp>
      <p:sp>
        <p:nvSpPr>
          <p:cNvPr id="74" name="矩形 73"/>
          <p:cNvSpPr>
            <a:spLocks noGrp="1"/>
          </p:cNvSpPr>
          <p:nvPr/>
        </p:nvSpPr>
        <p:spPr>
          <a:xfrm>
            <a:off x="6267450" y="5905500"/>
            <a:ext cx="209550" cy="266700"/>
          </a:xfrm>
          <a:prstGeom prst="rect">
            <a:avLst/>
          </a:prstGeom>
          <a:noFill/>
          <a:ln w="0">
            <a:noFill/>
            <a:prstDash val="solid"/>
          </a:ln>
        </p:spPr>
        <p:txBody>
          <a:bodyPr wrap="square" lIns="47625" tIns="19050" rIns="47625" bIns="19050" anchor="ctr">
            <a:noAutofit/>
          </a:bodyPr>
          <a:lstStyle/>
          <a:p>
            <a:pPr algn="ctr">
              <a:defRPr sz="975"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a:t>
            </a:r>
            <a:endParaRPr sz="1000" b="1">
              <a:solidFill>
                <a:srgbClr val="D00914"/>
              </a:solidFill>
              <a:latin typeface="Noto Sans Hans"/>
              <a:ea typeface="Noto Sans Hans"/>
              <a:cs typeface="Noto Sans Hans"/>
            </a:endParaRPr>
          </a:p>
        </p:txBody>
      </p:sp>
      <p:sp>
        <p:nvSpPr>
          <p:cNvPr id="75" name="圆角矩形 74"/>
          <p:cNvSpPr>
            <a:spLocks noGrp="1"/>
          </p:cNvSpPr>
          <p:nvPr/>
        </p:nvSpPr>
        <p:spPr>
          <a:xfrm>
            <a:off x="6486525" y="5895975"/>
            <a:ext cx="1381125" cy="304800"/>
          </a:xfrm>
          <a:prstGeom prst="roundRect">
            <a:avLst>
              <a:gd name="adj" fmla="val 6250"/>
            </a:avLst>
          </a:prstGeom>
          <a:solidFill>
            <a:srgbClr val="EAF1F8"/>
          </a:solidFill>
          <a:ln w="0">
            <a:noFill/>
            <a:prstDash val="solid"/>
          </a:ln>
        </p:spPr>
      </p:sp>
      <p:sp>
        <p:nvSpPr>
          <p:cNvPr id="76" name="矩形 75"/>
          <p:cNvSpPr>
            <a:spLocks noGrp="1"/>
          </p:cNvSpPr>
          <p:nvPr/>
        </p:nvSpPr>
        <p:spPr>
          <a:xfrm>
            <a:off x="6524625" y="5924550"/>
            <a:ext cx="1304925" cy="247650"/>
          </a:xfrm>
          <a:prstGeom prst="rect">
            <a:avLst/>
          </a:prstGeom>
          <a:noFill/>
          <a:ln w="0">
            <a:noFill/>
            <a:prstDash val="solid"/>
          </a:ln>
        </p:spPr>
        <p:txBody>
          <a:bodyPr wrap="square" lIns="47625" tIns="19050" rIns="47625" bIns="19050" anchor="ctr">
            <a:normAutofit/>
          </a:bodyPr>
          <a:lstStyle/>
          <a:p>
            <a:pPr algn="ctr">
              <a:defRPr sz="790" b="1">
                <a:solidFill>
                  <a:srgbClr val="164A7B"/>
                </a:solidFill>
                <a:latin typeface="Noto Sans Hans"/>
                <a:ea typeface="Noto Sans Hans"/>
                <a:cs typeface="Noto Sans Hans"/>
              </a:defRPr>
            </a:pPr>
            <a:r>
              <a:rPr sz="890" b="1">
                <a:solidFill>
                  <a:srgbClr val="164A7B"/>
                </a:solidFill>
                <a:latin typeface="Noto Sans Hans"/>
                <a:ea typeface="Noto Sans Hans"/>
                <a:cs typeface="Noto Sans Hans"/>
              </a:rPr>
              <a:t>项目推进</a:t>
            </a:r>
            <a:endParaRPr sz="890" b="1">
              <a:solidFill>
                <a:srgbClr val="164A7B"/>
              </a:solidFill>
              <a:latin typeface="Noto Sans Hans"/>
              <a:ea typeface="Noto Sans Hans"/>
              <a:cs typeface="Noto Sans Hans"/>
            </a:endParaRPr>
          </a:p>
        </p:txBody>
      </p:sp>
      <p:sp>
        <p:nvSpPr>
          <p:cNvPr id="77" name="矩形 76"/>
          <p:cNvSpPr>
            <a:spLocks noGrp="1"/>
          </p:cNvSpPr>
          <p:nvPr/>
        </p:nvSpPr>
        <p:spPr>
          <a:xfrm>
            <a:off x="7877175" y="5905500"/>
            <a:ext cx="209550" cy="266700"/>
          </a:xfrm>
          <a:prstGeom prst="rect">
            <a:avLst/>
          </a:prstGeom>
          <a:noFill/>
          <a:ln w="0">
            <a:noFill/>
            <a:prstDash val="solid"/>
          </a:ln>
        </p:spPr>
        <p:txBody>
          <a:bodyPr wrap="square" lIns="47625" tIns="19050" rIns="47625" bIns="19050" anchor="ctr">
            <a:noAutofit/>
          </a:bodyPr>
          <a:lstStyle/>
          <a:p>
            <a:pPr algn="ctr">
              <a:defRPr sz="975"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a:t>
            </a:r>
            <a:endParaRPr sz="1000" b="1">
              <a:solidFill>
                <a:srgbClr val="D00914"/>
              </a:solidFill>
              <a:latin typeface="Noto Sans Hans"/>
              <a:ea typeface="Noto Sans Hans"/>
              <a:cs typeface="Noto Sans Hans"/>
            </a:endParaRPr>
          </a:p>
        </p:txBody>
      </p:sp>
      <p:sp>
        <p:nvSpPr>
          <p:cNvPr id="78" name="圆角矩形 77"/>
          <p:cNvSpPr>
            <a:spLocks noGrp="1"/>
          </p:cNvSpPr>
          <p:nvPr/>
        </p:nvSpPr>
        <p:spPr>
          <a:xfrm>
            <a:off x="8096250" y="5895975"/>
            <a:ext cx="1381125" cy="304800"/>
          </a:xfrm>
          <a:prstGeom prst="roundRect">
            <a:avLst>
              <a:gd name="adj" fmla="val 6250"/>
            </a:avLst>
          </a:prstGeom>
          <a:solidFill>
            <a:srgbClr val="EAF1F8"/>
          </a:solidFill>
          <a:ln w="0">
            <a:noFill/>
            <a:prstDash val="solid"/>
          </a:ln>
        </p:spPr>
      </p:sp>
      <p:sp>
        <p:nvSpPr>
          <p:cNvPr id="79" name="矩形 78"/>
          <p:cNvSpPr>
            <a:spLocks noGrp="1"/>
          </p:cNvSpPr>
          <p:nvPr/>
        </p:nvSpPr>
        <p:spPr>
          <a:xfrm>
            <a:off x="8134350" y="5924550"/>
            <a:ext cx="1304925" cy="247650"/>
          </a:xfrm>
          <a:prstGeom prst="rect">
            <a:avLst/>
          </a:prstGeom>
          <a:noFill/>
          <a:ln w="0">
            <a:noFill/>
            <a:prstDash val="solid"/>
          </a:ln>
        </p:spPr>
        <p:txBody>
          <a:bodyPr wrap="square" lIns="47625" tIns="19050" rIns="47625" bIns="19050" anchor="ctr">
            <a:normAutofit/>
          </a:bodyPr>
          <a:lstStyle/>
          <a:p>
            <a:pPr algn="ctr">
              <a:defRPr sz="790" b="1">
                <a:solidFill>
                  <a:srgbClr val="164A7B"/>
                </a:solidFill>
                <a:latin typeface="Noto Sans Hans"/>
                <a:ea typeface="Noto Sans Hans"/>
                <a:cs typeface="Noto Sans Hans"/>
              </a:defRPr>
            </a:pPr>
            <a:r>
              <a:rPr sz="890" b="1">
                <a:solidFill>
                  <a:srgbClr val="164A7B"/>
                </a:solidFill>
                <a:latin typeface="Noto Sans Hans"/>
                <a:ea typeface="Noto Sans Hans"/>
                <a:cs typeface="Noto Sans Hans"/>
              </a:rPr>
              <a:t>问题整改</a:t>
            </a:r>
            <a:endParaRPr sz="890" b="1">
              <a:solidFill>
                <a:srgbClr val="164A7B"/>
              </a:solidFill>
              <a:latin typeface="Noto Sans Hans"/>
              <a:ea typeface="Noto Sans Hans"/>
              <a:cs typeface="Noto Sans Hans"/>
            </a:endParaRPr>
          </a:p>
        </p:txBody>
      </p:sp>
      <p:sp>
        <p:nvSpPr>
          <p:cNvPr id="80" name="矩形 79"/>
          <p:cNvSpPr>
            <a:spLocks noGrp="1"/>
          </p:cNvSpPr>
          <p:nvPr/>
        </p:nvSpPr>
        <p:spPr>
          <a:xfrm>
            <a:off x="9486900" y="5905500"/>
            <a:ext cx="209550" cy="266700"/>
          </a:xfrm>
          <a:prstGeom prst="rect">
            <a:avLst/>
          </a:prstGeom>
          <a:noFill/>
          <a:ln w="0">
            <a:noFill/>
            <a:prstDash val="solid"/>
          </a:ln>
        </p:spPr>
        <p:txBody>
          <a:bodyPr wrap="square" lIns="47625" tIns="19050" rIns="47625" bIns="19050" anchor="ctr">
            <a:noAutofit/>
          </a:bodyPr>
          <a:lstStyle/>
          <a:p>
            <a:pPr algn="ctr">
              <a:defRPr sz="975" b="1">
                <a:solidFill>
                  <a:srgbClr val="D00914"/>
                </a:solidFill>
                <a:latin typeface="Noto Sans Hans"/>
                <a:ea typeface="Noto Sans Hans"/>
                <a:cs typeface="Noto Sans Hans"/>
              </a:defRPr>
            </a:pPr>
            <a:r>
              <a:rPr sz="1000" b="1">
                <a:solidFill>
                  <a:srgbClr val="D00914"/>
                </a:solidFill>
                <a:latin typeface="Noto Sans Hans"/>
                <a:ea typeface="Noto Sans Hans"/>
                <a:cs typeface="Noto Sans Hans"/>
              </a:rPr>
              <a:t>→</a:t>
            </a:r>
            <a:endParaRPr sz="1000" b="1">
              <a:solidFill>
                <a:srgbClr val="D00914"/>
              </a:solidFill>
              <a:latin typeface="Noto Sans Hans"/>
              <a:ea typeface="Noto Sans Hans"/>
              <a:cs typeface="Noto Sans Hans"/>
            </a:endParaRPr>
          </a:p>
        </p:txBody>
      </p:sp>
      <p:sp>
        <p:nvSpPr>
          <p:cNvPr id="81" name="圆角矩形 80"/>
          <p:cNvSpPr>
            <a:spLocks noGrp="1"/>
          </p:cNvSpPr>
          <p:nvPr/>
        </p:nvSpPr>
        <p:spPr>
          <a:xfrm>
            <a:off x="9705975" y="5895975"/>
            <a:ext cx="1381125" cy="304800"/>
          </a:xfrm>
          <a:prstGeom prst="roundRect">
            <a:avLst>
              <a:gd name="adj" fmla="val 6250"/>
            </a:avLst>
          </a:prstGeom>
          <a:solidFill>
            <a:srgbClr val="D00914"/>
          </a:solidFill>
          <a:ln w="0">
            <a:noFill/>
            <a:prstDash val="solid"/>
          </a:ln>
        </p:spPr>
      </p:sp>
      <p:sp>
        <p:nvSpPr>
          <p:cNvPr id="82" name="矩形 81"/>
          <p:cNvSpPr>
            <a:spLocks noGrp="1"/>
          </p:cNvSpPr>
          <p:nvPr/>
        </p:nvSpPr>
        <p:spPr>
          <a:xfrm>
            <a:off x="9744075" y="5924550"/>
            <a:ext cx="1304925" cy="247650"/>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形成行动计划</a:t>
            </a:r>
            <a:endParaRPr sz="890" b="1">
              <a:solidFill>
                <a:srgbClr val="FFFFFF"/>
              </a:solidFill>
              <a:latin typeface="Noto Sans Hans"/>
              <a:ea typeface="Noto Sans Hans"/>
              <a:cs typeface="Noto Sans Hans"/>
            </a:endParaRPr>
          </a:p>
        </p:txBody>
      </p:sp>
      <p:sp>
        <p:nvSpPr>
          <p:cNvPr id="83" name="矩形 82"/>
          <p:cNvSpPr>
            <a:spLocks noGrp="1"/>
          </p:cNvSpPr>
          <p:nvPr/>
        </p:nvSpPr>
        <p:spPr>
          <a:xfrm>
            <a:off x="1657350" y="6229350"/>
            <a:ext cx="9477375" cy="171450"/>
          </a:xfrm>
          <a:prstGeom prst="rect">
            <a:avLst/>
          </a:prstGeom>
          <a:noFill/>
          <a:ln w="0">
            <a:noFill/>
            <a:prstDash val="solid"/>
          </a:ln>
        </p:spPr>
        <p:txBody>
          <a:bodyPr wrap="square" lIns="47625" tIns="19050" rIns="47625" bIns="19050" anchor="ctr">
            <a:noAutofit/>
          </a:bodyPr>
          <a:lstStyle/>
          <a:p>
            <a:pPr algn="ctr">
              <a:defRPr sz="735" b="1">
                <a:solidFill>
                  <a:srgbClr val="716B68"/>
                </a:solidFill>
                <a:latin typeface="Noto Sans Hans"/>
                <a:ea typeface="Noto Sans Hans"/>
                <a:cs typeface="Noto Sans Hans"/>
              </a:defRPr>
            </a:pPr>
            <a:r>
              <a:rPr sz="840" b="1">
                <a:solidFill>
                  <a:srgbClr val="716B68"/>
                </a:solidFill>
                <a:latin typeface="Noto Sans Hans"/>
                <a:ea typeface="Noto Sans Hans"/>
                <a:cs typeface="Noto Sans Hans"/>
              </a:rPr>
              <a:t>清单实行持续更新：新增信息入库—来源核验—分级评分—明确责任主体—更新投资与合作建议</a:t>
            </a:r>
            <a:endParaRPr sz="840" b="1">
              <a:solidFill>
                <a:srgbClr val="716B68"/>
              </a:solidFill>
              <a:latin typeface="Noto Sans Hans"/>
              <a:ea typeface="Noto Sans Hans"/>
              <a:cs typeface="Noto Sans Hans"/>
            </a:endParaRPr>
          </a:p>
        </p:txBody>
      </p:sp>
      <p:sp>
        <p:nvSpPr>
          <p:cNvPr id="84" name="矩形 83"/>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820" b="0">
                <a:solidFill>
                  <a:srgbClr val="716B68"/>
                </a:solidFill>
                <a:latin typeface="Noto Sans Hans"/>
                <a:ea typeface="Noto Sans Hans"/>
                <a:cs typeface="Noto Sans Hans"/>
              </a:rPr>
              <a:t>资料来源：养老机器人产业增强基础数据库（截至2026年7月27日）；清单数量按唯一记录ID统计。</a:t>
            </a:r>
            <a:endParaRPr sz="820" b="0">
              <a:solidFill>
                <a:srgbClr val="716B68"/>
              </a:solidFill>
              <a:latin typeface="Noto Sans Hans"/>
              <a:ea typeface="Noto Sans Hans"/>
              <a:cs typeface="Noto Sans Hans"/>
            </a:endParaRPr>
          </a:p>
        </p:txBody>
      </p:sp>
      <p:sp>
        <p:nvSpPr>
          <p:cNvPr id="85" name="矩形 84"/>
          <p:cNvSpPr>
            <a:spLocks noGrp="1"/>
          </p:cNvSpPr>
          <p:nvPr/>
        </p:nvSpPr>
        <p:spPr>
          <a:xfrm>
            <a:off x="11096625" y="6534150"/>
            <a:ext cx="619125" cy="200025"/>
          </a:xfrm>
          <a:prstGeom prst="rect">
            <a:avLst/>
          </a:prstGeom>
          <a:noFill/>
          <a:ln w="0">
            <a:noFill/>
            <a:prstDash val="solid"/>
          </a:ln>
        </p:spPr>
        <p:txBody>
          <a:bodyPr wrap="square" lIns="47625" tIns="19050" rIns="47625" bIns="19050" anchor="ctr">
            <a:noAutofit/>
          </a:bodyPr>
          <a:lstStyle/>
          <a:p>
            <a:pPr algn="r">
              <a:defRPr sz="900" b="1">
                <a:solidFill>
                  <a:srgbClr val="D00914"/>
                </a:solidFill>
                <a:latin typeface="Noto Sans Hans"/>
                <a:ea typeface="Noto Sans Hans"/>
                <a:cs typeface="Noto Sans Hans"/>
              </a:defRPr>
            </a:pPr>
            <a:r>
              <a:rPr lang="en-US" sz="1000" b="1">
                <a:solidFill>
                  <a:srgbClr val="D00914"/>
                </a:solidFill>
                <a:latin typeface="Noto Sans Hans"/>
                <a:ea typeface="Noto Sans Hans"/>
                <a:cs typeface="Noto Sans Hans"/>
              </a:rPr>
              <a:t>10</a:t>
            </a:r>
            <a:endParaRPr lang="en-US" sz="1000" b="1">
              <a:solidFill>
                <a:srgbClr val="D00914"/>
              </a:solidFill>
              <a:latin typeface="Noto Sans Hans"/>
              <a:ea typeface="Noto Sans Hans"/>
              <a:cs typeface="Noto Sans H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09550"/>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85775"/>
          </a:xfrm>
          <a:prstGeom prst="rect">
            <a:avLst/>
          </a:prstGeom>
          <a:noFill/>
          <a:ln w="0">
            <a:noFill/>
            <a:prstDash val="solid"/>
          </a:ln>
        </p:spPr>
        <p:txBody>
          <a:bodyPr lIns="0" tIns="0" rIns="0" bIns="0" anchor="ctr">
            <a:normAutofit/>
          </a:bodyPr>
          <a:lstStyle/>
          <a:p>
            <a:r>
              <a:rPr lang="en-US" sz="2025" b="1">
                <a:solidFill>
                  <a:srgbClr val="D00914"/>
                </a:solidFill>
                <a:latin typeface="Noto Sans Hans"/>
                <a:ea typeface="Noto Sans Hans"/>
                <a:cs typeface="Noto Sans Hans"/>
              </a:rPr>
              <a:t>2.1</a:t>
            </a:r>
            <a:r>
              <a:rPr sz="2025" b="1">
                <a:solidFill>
                  <a:srgbClr val="D00914"/>
                </a:solidFill>
                <a:latin typeface="Noto Sans Hans"/>
                <a:ea typeface="Noto Sans Hans"/>
                <a:cs typeface="Noto Sans Hans"/>
              </a:rPr>
              <a:t>【产业集群清单】</a:t>
            </a:r>
            <a:r>
              <a:rPr sz="2025" b="1">
                <a:solidFill>
                  <a:srgbClr val="403A38"/>
                </a:solidFill>
                <a:latin typeface="Noto Sans Hans"/>
                <a:ea typeface="Noto Sans Hans"/>
                <a:cs typeface="Noto Sans Hans"/>
              </a:rPr>
              <a:t>武汉已具备“科研—中试—制造—场景—资本”五类养老机器人集群要素</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资源禀赋较完整，但养老机器人专属评测、数据闭环与规模化采购机制仍需补齐</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圆角矩形 5"/>
          <p:cNvSpPr>
            <a:spLocks noGrp="1"/>
          </p:cNvSpPr>
          <p:nvPr/>
        </p:nvSpPr>
        <p:spPr>
          <a:xfrm>
            <a:off x="457200" y="1162050"/>
            <a:ext cx="1524000" cy="971550"/>
          </a:xfrm>
          <a:prstGeom prst="roundRect">
            <a:avLst>
              <a:gd name="adj" fmla="val 1961"/>
            </a:avLst>
          </a:prstGeom>
          <a:solidFill>
            <a:srgbClr val="9A3037"/>
          </a:solidFill>
          <a:ln w="0">
            <a:noFill/>
            <a:prstDash val="solid"/>
          </a:ln>
        </p:spPr>
      </p:sp>
      <p:sp>
        <p:nvSpPr>
          <p:cNvPr id="7" name="椭圆 6"/>
          <p:cNvSpPr>
            <a:spLocks noGrp="1"/>
          </p:cNvSpPr>
          <p:nvPr/>
        </p:nvSpPr>
        <p:spPr>
          <a:xfrm>
            <a:off x="571500" y="1390650"/>
            <a:ext cx="514350" cy="514350"/>
          </a:xfrm>
          <a:prstGeom prst="ellipse">
            <a:avLst/>
          </a:prstGeom>
          <a:noFill/>
          <a:ln w="9525">
            <a:solidFill>
              <a:srgbClr val="FFFFFF"/>
            </a:solidFill>
            <a:prstDash val="solid"/>
          </a:ln>
        </p:spPr>
      </p:sp>
      <p:sp>
        <p:nvSpPr>
          <p:cNvPr id="8" name="矩形 7"/>
          <p:cNvSpPr>
            <a:spLocks noGrp="1"/>
          </p:cNvSpPr>
          <p:nvPr/>
        </p:nvSpPr>
        <p:spPr>
          <a:xfrm>
            <a:off x="685800" y="1590675"/>
            <a:ext cx="285750" cy="190500"/>
          </a:xfrm>
          <a:prstGeom prst="rect">
            <a:avLst/>
          </a:prstGeom>
          <a:noFill/>
          <a:ln w="9525">
            <a:solidFill>
              <a:srgbClr val="FFFFFF"/>
            </a:solidFill>
            <a:prstDash val="solid"/>
          </a:ln>
        </p:spPr>
      </p:sp>
      <p:sp>
        <p:nvSpPr>
          <p:cNvPr id="9" name="矩形 8"/>
          <p:cNvSpPr>
            <a:spLocks noGrp="1"/>
          </p:cNvSpPr>
          <p:nvPr/>
        </p:nvSpPr>
        <p:spPr>
          <a:xfrm>
            <a:off x="638175" y="1524000"/>
            <a:ext cx="381000" cy="66675"/>
          </a:xfrm>
          <a:prstGeom prst="rect">
            <a:avLst/>
          </a:prstGeom>
          <a:solidFill>
            <a:srgbClr val="FFFFFF"/>
          </a:solidFill>
          <a:ln w="0">
            <a:noFill/>
            <a:prstDash val="solid"/>
          </a:ln>
        </p:spPr>
      </p:sp>
      <p:sp>
        <p:nvSpPr>
          <p:cNvPr id="10" name="矩形 9"/>
          <p:cNvSpPr>
            <a:spLocks noGrp="1"/>
          </p:cNvSpPr>
          <p:nvPr/>
        </p:nvSpPr>
        <p:spPr>
          <a:xfrm>
            <a:off x="714375" y="1619250"/>
            <a:ext cx="28575" cy="133350"/>
          </a:xfrm>
          <a:prstGeom prst="rect">
            <a:avLst/>
          </a:prstGeom>
          <a:solidFill>
            <a:srgbClr val="FFFFFF"/>
          </a:solidFill>
          <a:ln w="0">
            <a:noFill/>
            <a:prstDash val="solid"/>
          </a:ln>
        </p:spPr>
      </p:sp>
      <p:sp>
        <p:nvSpPr>
          <p:cNvPr id="11" name="矩形 10"/>
          <p:cNvSpPr>
            <a:spLocks noGrp="1"/>
          </p:cNvSpPr>
          <p:nvPr/>
        </p:nvSpPr>
        <p:spPr>
          <a:xfrm>
            <a:off x="790575" y="1619250"/>
            <a:ext cx="28575" cy="133350"/>
          </a:xfrm>
          <a:prstGeom prst="rect">
            <a:avLst/>
          </a:prstGeom>
          <a:solidFill>
            <a:srgbClr val="FFFFFF"/>
          </a:solidFill>
          <a:ln w="0">
            <a:noFill/>
            <a:prstDash val="solid"/>
          </a:ln>
        </p:spPr>
      </p:sp>
      <p:sp>
        <p:nvSpPr>
          <p:cNvPr id="12" name="矩形 11"/>
          <p:cNvSpPr>
            <a:spLocks noGrp="1"/>
          </p:cNvSpPr>
          <p:nvPr/>
        </p:nvSpPr>
        <p:spPr>
          <a:xfrm>
            <a:off x="866775" y="1619250"/>
            <a:ext cx="28575" cy="133350"/>
          </a:xfrm>
          <a:prstGeom prst="rect">
            <a:avLst/>
          </a:prstGeom>
          <a:solidFill>
            <a:srgbClr val="FFFFFF"/>
          </a:solidFill>
          <a:ln w="0">
            <a:noFill/>
            <a:prstDash val="solid"/>
          </a:ln>
        </p:spPr>
      </p:sp>
      <p:sp>
        <p:nvSpPr>
          <p:cNvPr id="13" name="矩形 12"/>
          <p:cNvSpPr>
            <a:spLocks noGrp="1"/>
          </p:cNvSpPr>
          <p:nvPr/>
        </p:nvSpPr>
        <p:spPr>
          <a:xfrm>
            <a:off x="942975" y="1619250"/>
            <a:ext cx="28575" cy="133350"/>
          </a:xfrm>
          <a:prstGeom prst="rect">
            <a:avLst/>
          </a:prstGeom>
          <a:solidFill>
            <a:srgbClr val="FFFFFF"/>
          </a:solidFill>
          <a:ln w="0">
            <a:noFill/>
            <a:prstDash val="solid"/>
          </a:ln>
        </p:spPr>
      </p:sp>
      <p:sp>
        <p:nvSpPr>
          <p:cNvPr id="14" name="矩形 13"/>
          <p:cNvSpPr>
            <a:spLocks noGrp="1"/>
          </p:cNvSpPr>
          <p:nvPr/>
        </p:nvSpPr>
        <p:spPr>
          <a:xfrm>
            <a:off x="1104900" y="1247775"/>
            <a:ext cx="781050" cy="295275"/>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275" b="1">
                <a:solidFill>
                  <a:srgbClr val="FFFFFF"/>
                </a:solidFill>
                <a:latin typeface="Noto Sans Hans"/>
                <a:ea typeface="Noto Sans Hans"/>
                <a:cs typeface="Noto Sans Hans"/>
              </a:rPr>
              <a:t>高校医院</a:t>
            </a:r>
            <a:endParaRPr sz="1275" b="1">
              <a:solidFill>
                <a:srgbClr val="FFFFFF"/>
              </a:solidFill>
              <a:latin typeface="Noto Sans Hans"/>
              <a:ea typeface="Noto Sans Hans"/>
              <a:cs typeface="Noto Sans Hans"/>
            </a:endParaRPr>
          </a:p>
        </p:txBody>
      </p:sp>
      <p:sp>
        <p:nvSpPr>
          <p:cNvPr id="15" name="矩形 14"/>
          <p:cNvSpPr>
            <a:spLocks noGrp="1"/>
          </p:cNvSpPr>
          <p:nvPr/>
        </p:nvSpPr>
        <p:spPr>
          <a:xfrm>
            <a:off x="1057275" y="1581150"/>
            <a:ext cx="876300" cy="428625"/>
          </a:xfrm>
          <a:prstGeom prst="rect">
            <a:avLst/>
          </a:prstGeom>
          <a:noFill/>
          <a:ln w="0">
            <a:noFill/>
            <a:prstDash val="solid"/>
          </a:ln>
        </p:spPr>
        <p:txBody>
          <a:bodyPr wrap="square" lIns="47625" tIns="19050" rIns="47625" bIns="19050" anchor="ctr">
            <a:normAutofit/>
          </a:bodyPr>
          <a:lstStyle/>
          <a:p>
            <a:pPr algn="ctr">
              <a:defRPr sz="840" b="0">
                <a:solidFill>
                  <a:srgbClr val="FFFFFF"/>
                </a:solidFill>
                <a:latin typeface="Noto Sans Hans"/>
                <a:ea typeface="Noto Sans Hans"/>
                <a:cs typeface="Noto Sans Hans"/>
              </a:defRPr>
            </a:pPr>
            <a:r>
              <a:rPr sz="840" b="0">
                <a:solidFill>
                  <a:srgbClr val="FFFFFF"/>
                </a:solidFill>
                <a:latin typeface="Noto Sans Hans"/>
                <a:ea typeface="Noto Sans Hans"/>
                <a:cs typeface="Noto Sans Hans"/>
              </a:rPr>
              <a:t>技术与临床源头</a:t>
            </a:r>
            <a:endParaRPr sz="840" b="0">
              <a:solidFill>
                <a:srgbClr val="FFFFFF"/>
              </a:solidFill>
              <a:latin typeface="Noto Sans Hans"/>
              <a:ea typeface="Noto Sans Hans"/>
              <a:cs typeface="Noto Sans Hans"/>
            </a:endParaRPr>
          </a:p>
        </p:txBody>
      </p:sp>
      <p:sp>
        <p:nvSpPr>
          <p:cNvPr id="16" name="圆角矩形 15"/>
          <p:cNvSpPr>
            <a:spLocks noGrp="1"/>
          </p:cNvSpPr>
          <p:nvPr/>
        </p:nvSpPr>
        <p:spPr>
          <a:xfrm>
            <a:off x="2152650" y="1162050"/>
            <a:ext cx="2276475" cy="971550"/>
          </a:xfrm>
          <a:prstGeom prst="roundRect">
            <a:avLst>
              <a:gd name="adj" fmla="val 1961"/>
            </a:avLst>
          </a:prstGeom>
          <a:solidFill>
            <a:srgbClr val="F9E7E6"/>
          </a:solidFill>
          <a:ln w="9525">
            <a:solidFill>
              <a:srgbClr val="FFFFFF"/>
            </a:solidFill>
            <a:prstDash val="solid"/>
          </a:ln>
        </p:spPr>
      </p:sp>
      <p:sp>
        <p:nvSpPr>
          <p:cNvPr id="17" name="矩形 16"/>
          <p:cNvSpPr>
            <a:spLocks noGrp="1"/>
          </p:cNvSpPr>
          <p:nvPr/>
        </p:nvSpPr>
        <p:spPr>
          <a:xfrm>
            <a:off x="2219325" y="1257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华中科技大学</a:t>
            </a:r>
            <a:endParaRPr sz="1200" b="1">
              <a:solidFill>
                <a:srgbClr val="9A3037"/>
              </a:solidFill>
              <a:latin typeface="Noto Sans Hans"/>
              <a:ea typeface="Noto Sans Hans"/>
              <a:cs typeface="Noto Sans Hans"/>
            </a:endParaRPr>
          </a:p>
        </p:txBody>
      </p:sp>
      <p:sp>
        <p:nvSpPr>
          <p:cNvPr id="18" name="矩形 17"/>
          <p:cNvSpPr>
            <a:spLocks noGrp="1"/>
          </p:cNvSpPr>
          <p:nvPr/>
        </p:nvSpPr>
        <p:spPr>
          <a:xfrm>
            <a:off x="2247900" y="1562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机械、AI、脑机接口与医疗康复</a:t>
            </a:r>
            <a:endParaRPr sz="940" b="0">
              <a:solidFill>
                <a:srgbClr val="403A38"/>
              </a:solidFill>
              <a:latin typeface="Noto Sans Hans"/>
              <a:ea typeface="Noto Sans Hans"/>
              <a:cs typeface="Noto Sans Hans"/>
            </a:endParaRPr>
          </a:p>
        </p:txBody>
      </p:sp>
      <p:sp>
        <p:nvSpPr>
          <p:cNvPr id="19" name="圆角矩形 18"/>
          <p:cNvSpPr>
            <a:spLocks noGrp="1"/>
          </p:cNvSpPr>
          <p:nvPr/>
        </p:nvSpPr>
        <p:spPr>
          <a:xfrm>
            <a:off x="4505325" y="1162050"/>
            <a:ext cx="2276475" cy="971550"/>
          </a:xfrm>
          <a:prstGeom prst="roundRect">
            <a:avLst>
              <a:gd name="adj" fmla="val 1961"/>
            </a:avLst>
          </a:prstGeom>
          <a:solidFill>
            <a:srgbClr val="F9E7E6"/>
          </a:solidFill>
          <a:ln w="9525">
            <a:solidFill>
              <a:srgbClr val="FFFFFF"/>
            </a:solidFill>
            <a:prstDash val="solid"/>
          </a:ln>
        </p:spPr>
      </p:sp>
      <p:sp>
        <p:nvSpPr>
          <p:cNvPr id="20" name="矩形 19"/>
          <p:cNvSpPr>
            <a:spLocks noGrp="1"/>
          </p:cNvSpPr>
          <p:nvPr/>
        </p:nvSpPr>
        <p:spPr>
          <a:xfrm>
            <a:off x="4572000" y="1257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武汉大学</a:t>
            </a:r>
            <a:endParaRPr sz="1200" b="1">
              <a:solidFill>
                <a:srgbClr val="9A3037"/>
              </a:solidFill>
              <a:latin typeface="Noto Sans Hans"/>
              <a:ea typeface="Noto Sans Hans"/>
              <a:cs typeface="Noto Sans Hans"/>
            </a:endParaRPr>
          </a:p>
        </p:txBody>
      </p:sp>
      <p:sp>
        <p:nvSpPr>
          <p:cNvPr id="21" name="矩形 20"/>
          <p:cNvSpPr>
            <a:spLocks noGrp="1"/>
          </p:cNvSpPr>
          <p:nvPr/>
        </p:nvSpPr>
        <p:spPr>
          <a:xfrm>
            <a:off x="4600575" y="1562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人工智能、机器人与医学交叉</a:t>
            </a:r>
            <a:endParaRPr sz="940" b="0">
              <a:solidFill>
                <a:srgbClr val="403A38"/>
              </a:solidFill>
              <a:latin typeface="Noto Sans Hans"/>
              <a:ea typeface="Noto Sans Hans"/>
              <a:cs typeface="Noto Sans Hans"/>
            </a:endParaRPr>
          </a:p>
        </p:txBody>
      </p:sp>
      <p:sp>
        <p:nvSpPr>
          <p:cNvPr id="22" name="圆角矩形 21"/>
          <p:cNvSpPr>
            <a:spLocks noGrp="1"/>
          </p:cNvSpPr>
          <p:nvPr/>
        </p:nvSpPr>
        <p:spPr>
          <a:xfrm>
            <a:off x="6858000" y="1162050"/>
            <a:ext cx="2276475" cy="971550"/>
          </a:xfrm>
          <a:prstGeom prst="roundRect">
            <a:avLst>
              <a:gd name="adj" fmla="val 1961"/>
            </a:avLst>
          </a:prstGeom>
          <a:solidFill>
            <a:srgbClr val="F9E7E6"/>
          </a:solidFill>
          <a:ln w="9525">
            <a:solidFill>
              <a:srgbClr val="FFFFFF"/>
            </a:solidFill>
            <a:prstDash val="solid"/>
          </a:ln>
        </p:spPr>
      </p:sp>
      <p:sp>
        <p:nvSpPr>
          <p:cNvPr id="23" name="矩形 22"/>
          <p:cNvSpPr>
            <a:spLocks noGrp="1"/>
          </p:cNvSpPr>
          <p:nvPr/>
        </p:nvSpPr>
        <p:spPr>
          <a:xfrm>
            <a:off x="6924675" y="1257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武汉理工大学</a:t>
            </a:r>
            <a:endParaRPr sz="1200" b="1">
              <a:solidFill>
                <a:srgbClr val="9A3037"/>
              </a:solidFill>
              <a:latin typeface="Noto Sans Hans"/>
              <a:ea typeface="Noto Sans Hans"/>
              <a:cs typeface="Noto Sans Hans"/>
            </a:endParaRPr>
          </a:p>
        </p:txBody>
      </p:sp>
      <p:sp>
        <p:nvSpPr>
          <p:cNvPr id="24" name="矩形 23"/>
          <p:cNvSpPr>
            <a:spLocks noGrp="1"/>
          </p:cNvSpPr>
          <p:nvPr/>
        </p:nvSpPr>
        <p:spPr>
          <a:xfrm>
            <a:off x="6953250" y="1562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机械工程、控制与机器人</a:t>
            </a:r>
            <a:endParaRPr sz="940" b="0">
              <a:solidFill>
                <a:srgbClr val="403A38"/>
              </a:solidFill>
              <a:latin typeface="Noto Sans Hans"/>
              <a:ea typeface="Noto Sans Hans"/>
              <a:cs typeface="Noto Sans Hans"/>
            </a:endParaRPr>
          </a:p>
        </p:txBody>
      </p:sp>
      <p:sp>
        <p:nvSpPr>
          <p:cNvPr id="25" name="圆角矩形 24"/>
          <p:cNvSpPr>
            <a:spLocks noGrp="1"/>
          </p:cNvSpPr>
          <p:nvPr/>
        </p:nvSpPr>
        <p:spPr>
          <a:xfrm>
            <a:off x="9210675" y="1162050"/>
            <a:ext cx="2276475" cy="971550"/>
          </a:xfrm>
          <a:prstGeom prst="roundRect">
            <a:avLst>
              <a:gd name="adj" fmla="val 1961"/>
            </a:avLst>
          </a:prstGeom>
          <a:solidFill>
            <a:srgbClr val="F9E7E6"/>
          </a:solidFill>
          <a:ln w="9525">
            <a:solidFill>
              <a:srgbClr val="FFFFFF"/>
            </a:solidFill>
            <a:prstDash val="solid"/>
          </a:ln>
        </p:spPr>
      </p:sp>
      <p:sp>
        <p:nvSpPr>
          <p:cNvPr id="26" name="矩形 25"/>
          <p:cNvSpPr>
            <a:spLocks noGrp="1"/>
          </p:cNvSpPr>
          <p:nvPr/>
        </p:nvSpPr>
        <p:spPr>
          <a:xfrm>
            <a:off x="9277350" y="1257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高校医院网络</a:t>
            </a:r>
            <a:endParaRPr sz="1200" b="1">
              <a:solidFill>
                <a:srgbClr val="9A3037"/>
              </a:solidFill>
              <a:latin typeface="Noto Sans Hans"/>
              <a:ea typeface="Noto Sans Hans"/>
              <a:cs typeface="Noto Sans Hans"/>
            </a:endParaRPr>
          </a:p>
        </p:txBody>
      </p:sp>
      <p:sp>
        <p:nvSpPr>
          <p:cNvPr id="27" name="矩形 26"/>
          <p:cNvSpPr>
            <a:spLocks noGrp="1"/>
          </p:cNvSpPr>
          <p:nvPr/>
        </p:nvSpPr>
        <p:spPr>
          <a:xfrm>
            <a:off x="9305925" y="1562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临床需求定义、伦理与验证</a:t>
            </a:r>
            <a:endParaRPr sz="940" b="0">
              <a:solidFill>
                <a:srgbClr val="403A38"/>
              </a:solidFill>
              <a:latin typeface="Noto Sans Hans"/>
              <a:ea typeface="Noto Sans Hans"/>
              <a:cs typeface="Noto Sans Hans"/>
            </a:endParaRPr>
          </a:p>
        </p:txBody>
      </p:sp>
      <p:sp>
        <p:nvSpPr>
          <p:cNvPr id="28" name="圆角矩形 27"/>
          <p:cNvSpPr>
            <a:spLocks noGrp="1"/>
          </p:cNvSpPr>
          <p:nvPr/>
        </p:nvSpPr>
        <p:spPr>
          <a:xfrm>
            <a:off x="457200" y="2209800"/>
            <a:ext cx="1524000" cy="971550"/>
          </a:xfrm>
          <a:prstGeom prst="roundRect">
            <a:avLst>
              <a:gd name="adj" fmla="val 1961"/>
            </a:avLst>
          </a:prstGeom>
          <a:solidFill>
            <a:srgbClr val="B56A70"/>
          </a:solidFill>
          <a:ln w="0">
            <a:noFill/>
            <a:prstDash val="solid"/>
          </a:ln>
        </p:spPr>
      </p:sp>
      <p:sp>
        <p:nvSpPr>
          <p:cNvPr id="29" name="椭圆 28"/>
          <p:cNvSpPr>
            <a:spLocks noGrp="1"/>
          </p:cNvSpPr>
          <p:nvPr/>
        </p:nvSpPr>
        <p:spPr>
          <a:xfrm>
            <a:off x="571500" y="2438400"/>
            <a:ext cx="514350" cy="514350"/>
          </a:xfrm>
          <a:prstGeom prst="ellipse">
            <a:avLst/>
          </a:prstGeom>
          <a:noFill/>
          <a:ln w="9525">
            <a:solidFill>
              <a:srgbClr val="FFFFFF"/>
            </a:solidFill>
            <a:prstDash val="solid"/>
          </a:ln>
        </p:spPr>
      </p:sp>
      <p:sp>
        <p:nvSpPr>
          <p:cNvPr id="30" name="圆角矩形 29"/>
          <p:cNvSpPr>
            <a:spLocks noGrp="1"/>
          </p:cNvSpPr>
          <p:nvPr/>
        </p:nvSpPr>
        <p:spPr>
          <a:xfrm>
            <a:off x="733425" y="2562225"/>
            <a:ext cx="190500" cy="266700"/>
          </a:xfrm>
          <a:prstGeom prst="roundRect">
            <a:avLst>
              <a:gd name="adj" fmla="val 10000"/>
            </a:avLst>
          </a:prstGeom>
          <a:noFill/>
          <a:ln w="9525">
            <a:solidFill>
              <a:srgbClr val="FFFFFF"/>
            </a:solidFill>
            <a:prstDash val="solid"/>
          </a:ln>
        </p:spPr>
      </p:sp>
      <p:sp>
        <p:nvSpPr>
          <p:cNvPr id="31" name="椭圆 30"/>
          <p:cNvSpPr>
            <a:spLocks noGrp="1"/>
          </p:cNvSpPr>
          <p:nvPr/>
        </p:nvSpPr>
        <p:spPr>
          <a:xfrm>
            <a:off x="790575" y="2619375"/>
            <a:ext cx="76200" cy="76200"/>
          </a:xfrm>
          <a:prstGeom prst="ellipse">
            <a:avLst/>
          </a:prstGeom>
          <a:noFill/>
          <a:ln w="9525">
            <a:solidFill>
              <a:srgbClr val="FFFFFF"/>
            </a:solidFill>
            <a:prstDash val="solid"/>
          </a:ln>
        </p:spPr>
      </p:sp>
      <p:sp>
        <p:nvSpPr>
          <p:cNvPr id="32" name="矩形 31"/>
          <p:cNvSpPr>
            <a:spLocks noGrp="1"/>
          </p:cNvSpPr>
          <p:nvPr/>
        </p:nvSpPr>
        <p:spPr>
          <a:xfrm>
            <a:off x="781050" y="2733675"/>
            <a:ext cx="95250" cy="28575"/>
          </a:xfrm>
          <a:prstGeom prst="rect">
            <a:avLst/>
          </a:prstGeom>
          <a:solidFill>
            <a:srgbClr val="FFFFFF"/>
          </a:solidFill>
          <a:ln w="0">
            <a:noFill/>
            <a:prstDash val="solid"/>
          </a:ln>
        </p:spPr>
      </p:sp>
      <p:sp>
        <p:nvSpPr>
          <p:cNvPr id="33" name="矩形 32"/>
          <p:cNvSpPr>
            <a:spLocks noGrp="1"/>
          </p:cNvSpPr>
          <p:nvPr/>
        </p:nvSpPr>
        <p:spPr>
          <a:xfrm>
            <a:off x="1104900" y="2295525"/>
            <a:ext cx="781050" cy="295275"/>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275" b="1">
                <a:solidFill>
                  <a:srgbClr val="FFFFFF"/>
                </a:solidFill>
                <a:latin typeface="Noto Sans Hans"/>
                <a:ea typeface="Noto Sans Hans"/>
                <a:cs typeface="Noto Sans Hans"/>
              </a:rPr>
              <a:t>创新平台</a:t>
            </a:r>
            <a:endParaRPr sz="1275" b="1">
              <a:solidFill>
                <a:srgbClr val="FFFFFF"/>
              </a:solidFill>
              <a:latin typeface="Noto Sans Hans"/>
              <a:ea typeface="Noto Sans Hans"/>
              <a:cs typeface="Noto Sans Hans"/>
            </a:endParaRPr>
          </a:p>
        </p:txBody>
      </p:sp>
      <p:sp>
        <p:nvSpPr>
          <p:cNvPr id="34" name="矩形 33"/>
          <p:cNvSpPr>
            <a:spLocks noGrp="1"/>
          </p:cNvSpPr>
          <p:nvPr/>
        </p:nvSpPr>
        <p:spPr>
          <a:xfrm>
            <a:off x="1057275" y="2628900"/>
            <a:ext cx="876300" cy="428625"/>
          </a:xfrm>
          <a:prstGeom prst="rect">
            <a:avLst/>
          </a:prstGeom>
          <a:noFill/>
          <a:ln w="0">
            <a:noFill/>
            <a:prstDash val="solid"/>
          </a:ln>
        </p:spPr>
        <p:txBody>
          <a:bodyPr wrap="square" lIns="47625" tIns="19050" rIns="47625" bIns="19050" anchor="ctr">
            <a:normAutofit/>
          </a:bodyPr>
          <a:lstStyle/>
          <a:p>
            <a:pPr algn="ctr">
              <a:defRPr sz="840" b="0">
                <a:solidFill>
                  <a:srgbClr val="FFFFFF"/>
                </a:solidFill>
                <a:latin typeface="Noto Sans Hans"/>
                <a:ea typeface="Noto Sans Hans"/>
                <a:cs typeface="Noto Sans Hans"/>
              </a:defRPr>
            </a:pPr>
            <a:r>
              <a:rPr sz="840" b="0">
                <a:solidFill>
                  <a:srgbClr val="FFFFFF"/>
                </a:solidFill>
                <a:latin typeface="Noto Sans Hans"/>
                <a:ea typeface="Noto Sans Hans"/>
                <a:cs typeface="Noto Sans Hans"/>
              </a:rPr>
              <a:t>公共研发与验证</a:t>
            </a:r>
            <a:endParaRPr sz="840" b="0">
              <a:solidFill>
                <a:srgbClr val="FFFFFF"/>
              </a:solidFill>
              <a:latin typeface="Noto Sans Hans"/>
              <a:ea typeface="Noto Sans Hans"/>
              <a:cs typeface="Noto Sans Hans"/>
            </a:endParaRPr>
          </a:p>
        </p:txBody>
      </p:sp>
      <p:sp>
        <p:nvSpPr>
          <p:cNvPr id="35" name="圆角矩形 34"/>
          <p:cNvSpPr>
            <a:spLocks noGrp="1"/>
          </p:cNvSpPr>
          <p:nvPr/>
        </p:nvSpPr>
        <p:spPr>
          <a:xfrm>
            <a:off x="2152650" y="2209800"/>
            <a:ext cx="2276475" cy="971550"/>
          </a:xfrm>
          <a:prstGeom prst="roundRect">
            <a:avLst>
              <a:gd name="adj" fmla="val 1961"/>
            </a:avLst>
          </a:prstGeom>
          <a:solidFill>
            <a:srgbClr val="F7F3F1"/>
          </a:solidFill>
          <a:ln w="9525">
            <a:solidFill>
              <a:srgbClr val="FFFFFF"/>
            </a:solidFill>
            <a:prstDash val="solid"/>
          </a:ln>
        </p:spPr>
      </p:sp>
      <p:sp>
        <p:nvSpPr>
          <p:cNvPr id="36" name="矩形 35"/>
          <p:cNvSpPr>
            <a:spLocks noGrp="1"/>
          </p:cNvSpPr>
          <p:nvPr/>
        </p:nvSpPr>
        <p:spPr>
          <a:xfrm>
            <a:off x="2219325" y="23050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56A70"/>
                </a:solidFill>
                <a:latin typeface="Noto Sans Hans"/>
                <a:ea typeface="Noto Sans Hans"/>
                <a:cs typeface="Noto Sans Hans"/>
              </a:defRPr>
            </a:pPr>
            <a:r>
              <a:rPr sz="1200" b="1">
                <a:solidFill>
                  <a:srgbClr val="B56A70"/>
                </a:solidFill>
                <a:latin typeface="Noto Sans Hans"/>
                <a:ea typeface="Noto Sans Hans"/>
                <a:cs typeface="Noto Sans Hans"/>
              </a:rPr>
              <a:t>湖北人形机器人创新中心</a:t>
            </a:r>
            <a:endParaRPr sz="1200" b="1">
              <a:solidFill>
                <a:srgbClr val="B56A70"/>
              </a:solidFill>
              <a:latin typeface="Noto Sans Hans"/>
              <a:ea typeface="Noto Sans Hans"/>
              <a:cs typeface="Noto Sans Hans"/>
            </a:endParaRPr>
          </a:p>
        </p:txBody>
      </p:sp>
      <p:sp>
        <p:nvSpPr>
          <p:cNvPr id="37" name="矩形 36"/>
          <p:cNvSpPr>
            <a:spLocks noGrp="1"/>
          </p:cNvSpPr>
          <p:nvPr/>
        </p:nvSpPr>
        <p:spPr>
          <a:xfrm>
            <a:off x="2247900" y="26098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数据采集、技术验证、场景测试、孵化</a:t>
            </a:r>
            <a:endParaRPr sz="940" b="0">
              <a:solidFill>
                <a:srgbClr val="403A38"/>
              </a:solidFill>
              <a:latin typeface="Noto Sans Hans"/>
              <a:ea typeface="Noto Sans Hans"/>
              <a:cs typeface="Noto Sans Hans"/>
            </a:endParaRPr>
          </a:p>
        </p:txBody>
      </p:sp>
      <p:sp>
        <p:nvSpPr>
          <p:cNvPr id="38" name="圆角矩形 37"/>
          <p:cNvSpPr>
            <a:spLocks noGrp="1"/>
          </p:cNvSpPr>
          <p:nvPr/>
        </p:nvSpPr>
        <p:spPr>
          <a:xfrm>
            <a:off x="4505325" y="2209800"/>
            <a:ext cx="2276475" cy="971550"/>
          </a:xfrm>
          <a:prstGeom prst="roundRect">
            <a:avLst>
              <a:gd name="adj" fmla="val 1961"/>
            </a:avLst>
          </a:prstGeom>
          <a:solidFill>
            <a:srgbClr val="F7F3F1"/>
          </a:solidFill>
          <a:ln w="9525">
            <a:solidFill>
              <a:srgbClr val="FFFFFF"/>
            </a:solidFill>
            <a:prstDash val="solid"/>
          </a:ln>
        </p:spPr>
      </p:sp>
      <p:sp>
        <p:nvSpPr>
          <p:cNvPr id="39" name="矩形 38"/>
          <p:cNvSpPr>
            <a:spLocks noGrp="1"/>
          </p:cNvSpPr>
          <p:nvPr/>
        </p:nvSpPr>
        <p:spPr>
          <a:xfrm>
            <a:off x="4572000" y="23050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56A70"/>
                </a:solidFill>
                <a:latin typeface="Noto Sans Hans"/>
                <a:ea typeface="Noto Sans Hans"/>
                <a:cs typeface="Noto Sans Hans"/>
              </a:defRPr>
            </a:pPr>
            <a:r>
              <a:rPr sz="1200" b="1">
                <a:solidFill>
                  <a:srgbClr val="B56A70"/>
                </a:solidFill>
                <a:latin typeface="Noto Sans Hans"/>
                <a:ea typeface="Noto Sans Hans"/>
                <a:cs typeface="Noto Sans Hans"/>
              </a:rPr>
              <a:t>机器人谷三大片区</a:t>
            </a:r>
            <a:endParaRPr sz="1200" b="1">
              <a:solidFill>
                <a:srgbClr val="B56A70"/>
              </a:solidFill>
              <a:latin typeface="Noto Sans Hans"/>
              <a:ea typeface="Noto Sans Hans"/>
              <a:cs typeface="Noto Sans Hans"/>
            </a:endParaRPr>
          </a:p>
        </p:txBody>
      </p:sp>
      <p:sp>
        <p:nvSpPr>
          <p:cNvPr id="40" name="矩形 39"/>
          <p:cNvSpPr>
            <a:spLocks noGrp="1"/>
          </p:cNvSpPr>
          <p:nvPr/>
        </p:nvSpPr>
        <p:spPr>
          <a:xfrm>
            <a:off x="4600575" y="26098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光谷、南太子湖、汉江湾协同承载</a:t>
            </a:r>
            <a:endParaRPr sz="940" b="0">
              <a:solidFill>
                <a:srgbClr val="403A38"/>
              </a:solidFill>
              <a:latin typeface="Noto Sans Hans"/>
              <a:ea typeface="Noto Sans Hans"/>
              <a:cs typeface="Noto Sans Hans"/>
            </a:endParaRPr>
          </a:p>
        </p:txBody>
      </p:sp>
      <p:sp>
        <p:nvSpPr>
          <p:cNvPr id="41" name="圆角矩形 40"/>
          <p:cNvSpPr>
            <a:spLocks noGrp="1"/>
          </p:cNvSpPr>
          <p:nvPr/>
        </p:nvSpPr>
        <p:spPr>
          <a:xfrm>
            <a:off x="6858000" y="2209800"/>
            <a:ext cx="2276475" cy="971550"/>
          </a:xfrm>
          <a:prstGeom prst="roundRect">
            <a:avLst>
              <a:gd name="adj" fmla="val 1961"/>
            </a:avLst>
          </a:prstGeom>
          <a:solidFill>
            <a:srgbClr val="F7F3F1"/>
          </a:solidFill>
          <a:ln w="9525">
            <a:solidFill>
              <a:srgbClr val="FFFFFF"/>
            </a:solidFill>
            <a:prstDash val="solid"/>
          </a:ln>
        </p:spPr>
      </p:sp>
      <p:sp>
        <p:nvSpPr>
          <p:cNvPr id="42" name="矩形 41"/>
          <p:cNvSpPr>
            <a:spLocks noGrp="1"/>
          </p:cNvSpPr>
          <p:nvPr/>
        </p:nvSpPr>
        <p:spPr>
          <a:xfrm>
            <a:off x="6924675" y="23050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56A70"/>
                </a:solidFill>
                <a:latin typeface="Noto Sans Hans"/>
                <a:ea typeface="Noto Sans Hans"/>
                <a:cs typeface="Noto Sans Hans"/>
              </a:defRPr>
            </a:pPr>
            <a:r>
              <a:rPr sz="1200" b="1">
                <a:solidFill>
                  <a:srgbClr val="B56A70"/>
                </a:solidFill>
                <a:latin typeface="Noto Sans Hans"/>
                <a:ea typeface="Noto Sans Hans"/>
                <a:cs typeface="Noto Sans Hans"/>
              </a:rPr>
              <a:t>高校重点实验室</a:t>
            </a:r>
            <a:endParaRPr sz="1200" b="1">
              <a:solidFill>
                <a:srgbClr val="B56A70"/>
              </a:solidFill>
              <a:latin typeface="Noto Sans Hans"/>
              <a:ea typeface="Noto Sans Hans"/>
              <a:cs typeface="Noto Sans Hans"/>
            </a:endParaRPr>
          </a:p>
        </p:txBody>
      </p:sp>
      <p:sp>
        <p:nvSpPr>
          <p:cNvPr id="43" name="矩形 42"/>
          <p:cNvSpPr>
            <a:spLocks noGrp="1"/>
          </p:cNvSpPr>
          <p:nvPr/>
        </p:nvSpPr>
        <p:spPr>
          <a:xfrm>
            <a:off x="6953250" y="26098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感知、控制、康复医学成果转化</a:t>
            </a:r>
            <a:endParaRPr sz="940" b="0">
              <a:solidFill>
                <a:srgbClr val="403A38"/>
              </a:solidFill>
              <a:latin typeface="Noto Sans Hans"/>
              <a:ea typeface="Noto Sans Hans"/>
              <a:cs typeface="Noto Sans Hans"/>
            </a:endParaRPr>
          </a:p>
        </p:txBody>
      </p:sp>
      <p:sp>
        <p:nvSpPr>
          <p:cNvPr id="44" name="圆角矩形 43"/>
          <p:cNvSpPr>
            <a:spLocks noGrp="1"/>
          </p:cNvSpPr>
          <p:nvPr/>
        </p:nvSpPr>
        <p:spPr>
          <a:xfrm>
            <a:off x="9210675" y="2209800"/>
            <a:ext cx="2276475" cy="971550"/>
          </a:xfrm>
          <a:prstGeom prst="roundRect">
            <a:avLst>
              <a:gd name="adj" fmla="val 1961"/>
            </a:avLst>
          </a:prstGeom>
          <a:solidFill>
            <a:srgbClr val="F7F3F1"/>
          </a:solidFill>
          <a:ln w="9525">
            <a:solidFill>
              <a:srgbClr val="FFFFFF"/>
            </a:solidFill>
            <a:prstDash val="solid"/>
          </a:ln>
        </p:spPr>
      </p:sp>
      <p:sp>
        <p:nvSpPr>
          <p:cNvPr id="45" name="矩形 44"/>
          <p:cNvSpPr>
            <a:spLocks noGrp="1"/>
          </p:cNvSpPr>
          <p:nvPr/>
        </p:nvSpPr>
        <p:spPr>
          <a:xfrm>
            <a:off x="9277350" y="23050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56A70"/>
                </a:solidFill>
                <a:latin typeface="Noto Sans Hans"/>
                <a:ea typeface="Noto Sans Hans"/>
                <a:cs typeface="Noto Sans Hans"/>
              </a:defRPr>
            </a:pPr>
            <a:r>
              <a:rPr sz="1200" b="1">
                <a:solidFill>
                  <a:srgbClr val="B56A70"/>
                </a:solidFill>
                <a:latin typeface="Noto Sans Hans"/>
                <a:ea typeface="Noto Sans Hans"/>
                <a:cs typeface="Noto Sans Hans"/>
              </a:rPr>
              <a:t>建议共建评测平台</a:t>
            </a:r>
            <a:endParaRPr sz="1200" b="1">
              <a:solidFill>
                <a:srgbClr val="B56A70"/>
              </a:solidFill>
              <a:latin typeface="Noto Sans Hans"/>
              <a:ea typeface="Noto Sans Hans"/>
              <a:cs typeface="Noto Sans Hans"/>
            </a:endParaRPr>
          </a:p>
        </p:txBody>
      </p:sp>
      <p:sp>
        <p:nvSpPr>
          <p:cNvPr id="46" name="矩形 45"/>
          <p:cNvSpPr>
            <a:spLocks noGrp="1"/>
          </p:cNvSpPr>
          <p:nvPr/>
        </p:nvSpPr>
        <p:spPr>
          <a:xfrm>
            <a:off x="9305925" y="26098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安全、适老化、护理任务与真实世界数据</a:t>
            </a:r>
            <a:endParaRPr sz="940" b="0">
              <a:solidFill>
                <a:srgbClr val="403A38"/>
              </a:solidFill>
              <a:latin typeface="Noto Sans Hans"/>
              <a:ea typeface="Noto Sans Hans"/>
              <a:cs typeface="Noto Sans Hans"/>
            </a:endParaRPr>
          </a:p>
        </p:txBody>
      </p:sp>
      <p:sp>
        <p:nvSpPr>
          <p:cNvPr id="47" name="圆角矩形 46"/>
          <p:cNvSpPr>
            <a:spLocks noGrp="1"/>
          </p:cNvSpPr>
          <p:nvPr/>
        </p:nvSpPr>
        <p:spPr>
          <a:xfrm>
            <a:off x="457200" y="3257550"/>
            <a:ext cx="1524000" cy="971550"/>
          </a:xfrm>
          <a:prstGeom prst="roundRect">
            <a:avLst>
              <a:gd name="adj" fmla="val 1961"/>
            </a:avLst>
          </a:prstGeom>
          <a:solidFill>
            <a:srgbClr val="C84A27"/>
          </a:solidFill>
          <a:ln w="0">
            <a:noFill/>
            <a:prstDash val="solid"/>
          </a:ln>
        </p:spPr>
      </p:sp>
      <p:sp>
        <p:nvSpPr>
          <p:cNvPr id="48" name="椭圆 47"/>
          <p:cNvSpPr>
            <a:spLocks noGrp="1"/>
          </p:cNvSpPr>
          <p:nvPr/>
        </p:nvSpPr>
        <p:spPr>
          <a:xfrm>
            <a:off x="571500" y="3486150"/>
            <a:ext cx="514350" cy="514350"/>
          </a:xfrm>
          <a:prstGeom prst="ellipse">
            <a:avLst/>
          </a:prstGeom>
          <a:noFill/>
          <a:ln w="9525">
            <a:solidFill>
              <a:srgbClr val="FFFFFF"/>
            </a:solidFill>
            <a:prstDash val="solid"/>
          </a:ln>
        </p:spPr>
      </p:sp>
      <p:sp>
        <p:nvSpPr>
          <p:cNvPr id="49" name="矩形 48"/>
          <p:cNvSpPr>
            <a:spLocks noGrp="1"/>
          </p:cNvSpPr>
          <p:nvPr/>
        </p:nvSpPr>
        <p:spPr>
          <a:xfrm>
            <a:off x="666750" y="3609975"/>
            <a:ext cx="142875" cy="266700"/>
          </a:xfrm>
          <a:prstGeom prst="rect">
            <a:avLst/>
          </a:prstGeom>
          <a:noFill/>
          <a:ln w="9525">
            <a:solidFill>
              <a:srgbClr val="FFFFFF"/>
            </a:solidFill>
            <a:prstDash val="solid"/>
          </a:ln>
        </p:spPr>
      </p:sp>
      <p:sp>
        <p:nvSpPr>
          <p:cNvPr id="50" name="矩形 49"/>
          <p:cNvSpPr>
            <a:spLocks noGrp="1"/>
          </p:cNvSpPr>
          <p:nvPr/>
        </p:nvSpPr>
        <p:spPr>
          <a:xfrm>
            <a:off x="847725" y="3676650"/>
            <a:ext cx="142875" cy="200025"/>
          </a:xfrm>
          <a:prstGeom prst="rect">
            <a:avLst/>
          </a:prstGeom>
          <a:noFill/>
          <a:ln w="9525">
            <a:solidFill>
              <a:srgbClr val="FFFFFF"/>
            </a:solidFill>
            <a:prstDash val="solid"/>
          </a:ln>
        </p:spPr>
      </p:sp>
      <p:sp>
        <p:nvSpPr>
          <p:cNvPr id="51" name="矩形 50"/>
          <p:cNvSpPr>
            <a:spLocks noGrp="1"/>
          </p:cNvSpPr>
          <p:nvPr/>
        </p:nvSpPr>
        <p:spPr>
          <a:xfrm>
            <a:off x="704850" y="3648075"/>
            <a:ext cx="38100" cy="38100"/>
          </a:xfrm>
          <a:prstGeom prst="rect">
            <a:avLst/>
          </a:prstGeom>
          <a:solidFill>
            <a:srgbClr val="FFFFFF"/>
          </a:solidFill>
          <a:ln w="0">
            <a:noFill/>
            <a:prstDash val="solid"/>
          </a:ln>
        </p:spPr>
      </p:sp>
      <p:sp>
        <p:nvSpPr>
          <p:cNvPr id="52" name="矩形 51"/>
          <p:cNvSpPr>
            <a:spLocks noGrp="1"/>
          </p:cNvSpPr>
          <p:nvPr/>
        </p:nvSpPr>
        <p:spPr>
          <a:xfrm>
            <a:off x="885825" y="3714750"/>
            <a:ext cx="38100" cy="38100"/>
          </a:xfrm>
          <a:prstGeom prst="rect">
            <a:avLst/>
          </a:prstGeom>
          <a:solidFill>
            <a:srgbClr val="FFFFFF"/>
          </a:solidFill>
          <a:ln w="0">
            <a:noFill/>
            <a:prstDash val="solid"/>
          </a:ln>
        </p:spPr>
      </p:sp>
      <p:sp>
        <p:nvSpPr>
          <p:cNvPr id="53" name="矩形 52"/>
          <p:cNvSpPr>
            <a:spLocks noGrp="1"/>
          </p:cNvSpPr>
          <p:nvPr/>
        </p:nvSpPr>
        <p:spPr>
          <a:xfrm>
            <a:off x="704850" y="3724275"/>
            <a:ext cx="38100" cy="38100"/>
          </a:xfrm>
          <a:prstGeom prst="rect">
            <a:avLst/>
          </a:prstGeom>
          <a:solidFill>
            <a:srgbClr val="FFFFFF"/>
          </a:solidFill>
          <a:ln w="0">
            <a:noFill/>
            <a:prstDash val="solid"/>
          </a:ln>
        </p:spPr>
      </p:sp>
      <p:sp>
        <p:nvSpPr>
          <p:cNvPr id="54" name="矩形 53"/>
          <p:cNvSpPr>
            <a:spLocks noGrp="1"/>
          </p:cNvSpPr>
          <p:nvPr/>
        </p:nvSpPr>
        <p:spPr>
          <a:xfrm>
            <a:off x="885825" y="3781425"/>
            <a:ext cx="38100" cy="38100"/>
          </a:xfrm>
          <a:prstGeom prst="rect">
            <a:avLst/>
          </a:prstGeom>
          <a:solidFill>
            <a:srgbClr val="FFFFFF"/>
          </a:solidFill>
          <a:ln w="0">
            <a:noFill/>
            <a:prstDash val="solid"/>
          </a:ln>
        </p:spPr>
      </p:sp>
      <p:sp>
        <p:nvSpPr>
          <p:cNvPr id="55" name="矩形 54"/>
          <p:cNvSpPr>
            <a:spLocks noGrp="1"/>
          </p:cNvSpPr>
          <p:nvPr/>
        </p:nvSpPr>
        <p:spPr>
          <a:xfrm>
            <a:off x="704850" y="3800475"/>
            <a:ext cx="38100" cy="38100"/>
          </a:xfrm>
          <a:prstGeom prst="rect">
            <a:avLst/>
          </a:prstGeom>
          <a:solidFill>
            <a:srgbClr val="FFFFFF"/>
          </a:solidFill>
          <a:ln w="0">
            <a:noFill/>
            <a:prstDash val="solid"/>
          </a:ln>
        </p:spPr>
      </p:sp>
      <p:sp>
        <p:nvSpPr>
          <p:cNvPr id="56" name="矩形 55"/>
          <p:cNvSpPr>
            <a:spLocks noGrp="1"/>
          </p:cNvSpPr>
          <p:nvPr/>
        </p:nvSpPr>
        <p:spPr>
          <a:xfrm>
            <a:off x="885825" y="3848100"/>
            <a:ext cx="38100" cy="38100"/>
          </a:xfrm>
          <a:prstGeom prst="rect">
            <a:avLst/>
          </a:prstGeom>
          <a:solidFill>
            <a:srgbClr val="FFFFFF"/>
          </a:solidFill>
          <a:ln w="0">
            <a:noFill/>
            <a:prstDash val="solid"/>
          </a:ln>
        </p:spPr>
      </p:sp>
      <p:sp>
        <p:nvSpPr>
          <p:cNvPr id="57" name="矩形 56"/>
          <p:cNvSpPr>
            <a:spLocks noGrp="1"/>
          </p:cNvSpPr>
          <p:nvPr/>
        </p:nvSpPr>
        <p:spPr>
          <a:xfrm>
            <a:off x="1104900" y="3343275"/>
            <a:ext cx="781050" cy="295275"/>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275" b="1">
                <a:solidFill>
                  <a:srgbClr val="FFFFFF"/>
                </a:solidFill>
                <a:latin typeface="Noto Sans Hans"/>
                <a:ea typeface="Noto Sans Hans"/>
                <a:cs typeface="Noto Sans Hans"/>
              </a:rPr>
              <a:t>产业载体</a:t>
            </a:r>
            <a:endParaRPr sz="1275" b="1">
              <a:solidFill>
                <a:srgbClr val="FFFFFF"/>
              </a:solidFill>
              <a:latin typeface="Noto Sans Hans"/>
              <a:ea typeface="Noto Sans Hans"/>
              <a:cs typeface="Noto Sans Hans"/>
            </a:endParaRPr>
          </a:p>
        </p:txBody>
      </p:sp>
      <p:sp>
        <p:nvSpPr>
          <p:cNvPr id="58" name="矩形 57"/>
          <p:cNvSpPr>
            <a:spLocks noGrp="1"/>
          </p:cNvSpPr>
          <p:nvPr/>
        </p:nvSpPr>
        <p:spPr>
          <a:xfrm>
            <a:off x="1057275" y="3676650"/>
            <a:ext cx="876300" cy="428625"/>
          </a:xfrm>
          <a:prstGeom prst="rect">
            <a:avLst/>
          </a:prstGeom>
          <a:noFill/>
          <a:ln w="0">
            <a:noFill/>
            <a:prstDash val="solid"/>
          </a:ln>
        </p:spPr>
        <p:txBody>
          <a:bodyPr wrap="square" lIns="47625" tIns="19050" rIns="47625" bIns="19050" anchor="ctr">
            <a:normAutofit/>
          </a:bodyPr>
          <a:lstStyle/>
          <a:p>
            <a:pPr algn="ctr">
              <a:defRPr sz="840" b="0">
                <a:solidFill>
                  <a:srgbClr val="FFFFFF"/>
                </a:solidFill>
                <a:latin typeface="Noto Sans Hans"/>
                <a:ea typeface="Noto Sans Hans"/>
                <a:cs typeface="Noto Sans Hans"/>
              </a:defRPr>
            </a:pPr>
            <a:r>
              <a:rPr sz="840" b="0">
                <a:solidFill>
                  <a:srgbClr val="FFFFFF"/>
                </a:solidFill>
                <a:latin typeface="Noto Sans Hans"/>
                <a:ea typeface="Noto Sans Hans"/>
                <a:cs typeface="Noto Sans Hans"/>
              </a:rPr>
              <a:t>研发—制造—场景</a:t>
            </a:r>
            <a:endParaRPr sz="840" b="0">
              <a:solidFill>
                <a:srgbClr val="FFFFFF"/>
              </a:solidFill>
              <a:latin typeface="Noto Sans Hans"/>
              <a:ea typeface="Noto Sans Hans"/>
              <a:cs typeface="Noto Sans Hans"/>
            </a:endParaRPr>
          </a:p>
        </p:txBody>
      </p:sp>
      <p:sp>
        <p:nvSpPr>
          <p:cNvPr id="59" name="圆角矩形 58"/>
          <p:cNvSpPr>
            <a:spLocks noGrp="1"/>
          </p:cNvSpPr>
          <p:nvPr/>
        </p:nvSpPr>
        <p:spPr>
          <a:xfrm>
            <a:off x="2152650" y="3257550"/>
            <a:ext cx="2276475" cy="971550"/>
          </a:xfrm>
          <a:prstGeom prst="roundRect">
            <a:avLst>
              <a:gd name="adj" fmla="val 1961"/>
            </a:avLst>
          </a:prstGeom>
          <a:solidFill>
            <a:srgbClr val="F9E7E6"/>
          </a:solidFill>
          <a:ln w="9525">
            <a:solidFill>
              <a:srgbClr val="FFFFFF"/>
            </a:solidFill>
            <a:prstDash val="solid"/>
          </a:ln>
        </p:spPr>
      </p:sp>
      <p:sp>
        <p:nvSpPr>
          <p:cNvPr id="60" name="矩形 59"/>
          <p:cNvSpPr>
            <a:spLocks noGrp="1"/>
          </p:cNvSpPr>
          <p:nvPr/>
        </p:nvSpPr>
        <p:spPr>
          <a:xfrm>
            <a:off x="2219325" y="33528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C84A27"/>
                </a:solidFill>
                <a:latin typeface="Noto Sans Hans"/>
                <a:ea typeface="Noto Sans Hans"/>
                <a:cs typeface="Noto Sans Hans"/>
              </a:defRPr>
            </a:pPr>
            <a:r>
              <a:rPr sz="1200" b="1">
                <a:solidFill>
                  <a:srgbClr val="C84A27"/>
                </a:solidFill>
                <a:latin typeface="Noto Sans Hans"/>
                <a:ea typeface="Noto Sans Hans"/>
                <a:cs typeface="Noto Sans Hans"/>
              </a:rPr>
              <a:t>光谷</a:t>
            </a:r>
            <a:endParaRPr sz="1200" b="1">
              <a:solidFill>
                <a:srgbClr val="C84A27"/>
              </a:solidFill>
              <a:latin typeface="Noto Sans Hans"/>
              <a:ea typeface="Noto Sans Hans"/>
              <a:cs typeface="Noto Sans Hans"/>
            </a:endParaRPr>
          </a:p>
        </p:txBody>
      </p:sp>
      <p:sp>
        <p:nvSpPr>
          <p:cNvPr id="61" name="矩形 60"/>
          <p:cNvSpPr>
            <a:spLocks noGrp="1"/>
          </p:cNvSpPr>
          <p:nvPr/>
        </p:nvSpPr>
        <p:spPr>
          <a:xfrm>
            <a:off x="2247900" y="36576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整机、算法、视觉与区域研发总部</a:t>
            </a:r>
            <a:endParaRPr sz="940" b="0">
              <a:solidFill>
                <a:srgbClr val="403A38"/>
              </a:solidFill>
              <a:latin typeface="Noto Sans Hans"/>
              <a:ea typeface="Noto Sans Hans"/>
              <a:cs typeface="Noto Sans Hans"/>
            </a:endParaRPr>
          </a:p>
        </p:txBody>
      </p:sp>
      <p:sp>
        <p:nvSpPr>
          <p:cNvPr id="62" name="圆角矩形 61"/>
          <p:cNvSpPr>
            <a:spLocks noGrp="1"/>
          </p:cNvSpPr>
          <p:nvPr/>
        </p:nvSpPr>
        <p:spPr>
          <a:xfrm>
            <a:off x="4505325" y="3257550"/>
            <a:ext cx="2276475" cy="971550"/>
          </a:xfrm>
          <a:prstGeom prst="roundRect">
            <a:avLst>
              <a:gd name="adj" fmla="val 1961"/>
            </a:avLst>
          </a:prstGeom>
          <a:solidFill>
            <a:srgbClr val="F9E7E6"/>
          </a:solidFill>
          <a:ln w="9525">
            <a:solidFill>
              <a:srgbClr val="FFFFFF"/>
            </a:solidFill>
            <a:prstDash val="solid"/>
          </a:ln>
        </p:spPr>
      </p:sp>
      <p:sp>
        <p:nvSpPr>
          <p:cNvPr id="63" name="矩形 62"/>
          <p:cNvSpPr>
            <a:spLocks noGrp="1"/>
          </p:cNvSpPr>
          <p:nvPr/>
        </p:nvSpPr>
        <p:spPr>
          <a:xfrm>
            <a:off x="4572000" y="33528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C84A27"/>
                </a:solidFill>
                <a:latin typeface="Noto Sans Hans"/>
                <a:ea typeface="Noto Sans Hans"/>
                <a:cs typeface="Noto Sans Hans"/>
              </a:defRPr>
            </a:pPr>
            <a:r>
              <a:rPr sz="1200" b="1">
                <a:solidFill>
                  <a:srgbClr val="C84A27"/>
                </a:solidFill>
                <a:latin typeface="Noto Sans Hans"/>
                <a:ea typeface="Noto Sans Hans"/>
                <a:cs typeface="Noto Sans Hans"/>
              </a:rPr>
              <a:t>经开区 / 汉江湾</a:t>
            </a:r>
            <a:endParaRPr sz="1200" b="1">
              <a:solidFill>
                <a:srgbClr val="C84A27"/>
              </a:solidFill>
              <a:latin typeface="Noto Sans Hans"/>
              <a:ea typeface="Noto Sans Hans"/>
              <a:cs typeface="Noto Sans Hans"/>
            </a:endParaRPr>
          </a:p>
        </p:txBody>
      </p:sp>
      <p:sp>
        <p:nvSpPr>
          <p:cNvPr id="64" name="矩形 63"/>
          <p:cNvSpPr>
            <a:spLocks noGrp="1"/>
          </p:cNvSpPr>
          <p:nvPr/>
        </p:nvSpPr>
        <p:spPr>
          <a:xfrm>
            <a:off x="4600575" y="36576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中试、组装、汽车供应链复用</a:t>
            </a:r>
            <a:endParaRPr sz="940" b="0">
              <a:solidFill>
                <a:srgbClr val="403A38"/>
              </a:solidFill>
              <a:latin typeface="Noto Sans Hans"/>
              <a:ea typeface="Noto Sans Hans"/>
              <a:cs typeface="Noto Sans Hans"/>
            </a:endParaRPr>
          </a:p>
        </p:txBody>
      </p:sp>
      <p:sp>
        <p:nvSpPr>
          <p:cNvPr id="65" name="圆角矩形 64"/>
          <p:cNvSpPr>
            <a:spLocks noGrp="1"/>
          </p:cNvSpPr>
          <p:nvPr/>
        </p:nvSpPr>
        <p:spPr>
          <a:xfrm>
            <a:off x="6858000" y="3257550"/>
            <a:ext cx="2276475" cy="971550"/>
          </a:xfrm>
          <a:prstGeom prst="roundRect">
            <a:avLst>
              <a:gd name="adj" fmla="val 1961"/>
            </a:avLst>
          </a:prstGeom>
          <a:solidFill>
            <a:srgbClr val="F9E7E6"/>
          </a:solidFill>
          <a:ln w="9525">
            <a:solidFill>
              <a:srgbClr val="FFFFFF"/>
            </a:solidFill>
            <a:prstDash val="solid"/>
          </a:ln>
        </p:spPr>
      </p:sp>
      <p:sp>
        <p:nvSpPr>
          <p:cNvPr id="66" name="矩形 65"/>
          <p:cNvSpPr>
            <a:spLocks noGrp="1"/>
          </p:cNvSpPr>
          <p:nvPr/>
        </p:nvSpPr>
        <p:spPr>
          <a:xfrm>
            <a:off x="6924675" y="33528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C84A27"/>
                </a:solidFill>
                <a:latin typeface="Noto Sans Hans"/>
                <a:ea typeface="Noto Sans Hans"/>
                <a:cs typeface="Noto Sans Hans"/>
              </a:defRPr>
            </a:pPr>
            <a:r>
              <a:rPr sz="1200" b="1">
                <a:solidFill>
                  <a:srgbClr val="C84A27"/>
                </a:solidFill>
                <a:latin typeface="Noto Sans Hans"/>
                <a:ea typeface="Noto Sans Hans"/>
                <a:cs typeface="Noto Sans Hans"/>
              </a:rPr>
              <a:t>汉阳康养网络</a:t>
            </a:r>
            <a:endParaRPr sz="1200" b="1">
              <a:solidFill>
                <a:srgbClr val="C84A27"/>
              </a:solidFill>
              <a:latin typeface="Noto Sans Hans"/>
              <a:ea typeface="Noto Sans Hans"/>
              <a:cs typeface="Noto Sans Hans"/>
            </a:endParaRPr>
          </a:p>
        </p:txBody>
      </p:sp>
      <p:sp>
        <p:nvSpPr>
          <p:cNvPr id="67" name="矩形 66"/>
          <p:cNvSpPr>
            <a:spLocks noGrp="1"/>
          </p:cNvSpPr>
          <p:nvPr/>
        </p:nvSpPr>
        <p:spPr>
          <a:xfrm>
            <a:off x="6953250" y="36576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机构—社区—居家连续场景验证</a:t>
            </a:r>
            <a:endParaRPr sz="940" b="0">
              <a:solidFill>
                <a:srgbClr val="403A38"/>
              </a:solidFill>
              <a:latin typeface="Noto Sans Hans"/>
              <a:ea typeface="Noto Sans Hans"/>
              <a:cs typeface="Noto Sans Hans"/>
            </a:endParaRPr>
          </a:p>
        </p:txBody>
      </p:sp>
      <p:sp>
        <p:nvSpPr>
          <p:cNvPr id="68" name="圆角矩形 67"/>
          <p:cNvSpPr>
            <a:spLocks noGrp="1"/>
          </p:cNvSpPr>
          <p:nvPr/>
        </p:nvSpPr>
        <p:spPr>
          <a:xfrm>
            <a:off x="9210675" y="3257550"/>
            <a:ext cx="2276475" cy="971550"/>
          </a:xfrm>
          <a:prstGeom prst="roundRect">
            <a:avLst>
              <a:gd name="adj" fmla="val 1961"/>
            </a:avLst>
          </a:prstGeom>
          <a:solidFill>
            <a:srgbClr val="F9E7E6"/>
          </a:solidFill>
          <a:ln w="9525">
            <a:solidFill>
              <a:srgbClr val="FFFFFF"/>
            </a:solidFill>
            <a:prstDash val="solid"/>
          </a:ln>
        </p:spPr>
      </p:sp>
      <p:sp>
        <p:nvSpPr>
          <p:cNvPr id="69" name="矩形 68"/>
          <p:cNvSpPr>
            <a:spLocks noGrp="1"/>
          </p:cNvSpPr>
          <p:nvPr/>
        </p:nvSpPr>
        <p:spPr>
          <a:xfrm>
            <a:off x="9277350" y="33528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C84A27"/>
                </a:solidFill>
                <a:latin typeface="Noto Sans Hans"/>
                <a:ea typeface="Noto Sans Hans"/>
                <a:cs typeface="Noto Sans Hans"/>
              </a:defRPr>
            </a:pPr>
            <a:r>
              <a:rPr sz="1200" b="1">
                <a:solidFill>
                  <a:srgbClr val="C84A27"/>
                </a:solidFill>
                <a:latin typeface="Noto Sans Hans"/>
                <a:ea typeface="Noto Sans Hans"/>
                <a:cs typeface="Noto Sans Hans"/>
              </a:rPr>
              <a:t>武汉都市圈</a:t>
            </a:r>
            <a:endParaRPr sz="1200" b="1">
              <a:solidFill>
                <a:srgbClr val="C84A27"/>
              </a:solidFill>
              <a:latin typeface="Noto Sans Hans"/>
              <a:ea typeface="Noto Sans Hans"/>
              <a:cs typeface="Noto Sans Hans"/>
            </a:endParaRPr>
          </a:p>
        </p:txBody>
      </p:sp>
      <p:sp>
        <p:nvSpPr>
          <p:cNvPr id="70" name="矩形 69"/>
          <p:cNvSpPr>
            <a:spLocks noGrp="1"/>
          </p:cNvSpPr>
          <p:nvPr/>
        </p:nvSpPr>
        <p:spPr>
          <a:xfrm>
            <a:off x="9305925" y="36576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传动、触觉、制造与康养复制节点</a:t>
            </a:r>
            <a:endParaRPr sz="940" b="0">
              <a:solidFill>
                <a:srgbClr val="403A38"/>
              </a:solidFill>
              <a:latin typeface="Noto Sans Hans"/>
              <a:ea typeface="Noto Sans Hans"/>
              <a:cs typeface="Noto Sans Hans"/>
            </a:endParaRPr>
          </a:p>
        </p:txBody>
      </p:sp>
      <p:sp>
        <p:nvSpPr>
          <p:cNvPr id="71" name="圆角矩形 70"/>
          <p:cNvSpPr>
            <a:spLocks noGrp="1"/>
          </p:cNvSpPr>
          <p:nvPr/>
        </p:nvSpPr>
        <p:spPr>
          <a:xfrm>
            <a:off x="457200" y="4305300"/>
            <a:ext cx="1524000" cy="971550"/>
          </a:xfrm>
          <a:prstGeom prst="roundRect">
            <a:avLst>
              <a:gd name="adj" fmla="val 1961"/>
            </a:avLst>
          </a:prstGeom>
          <a:solidFill>
            <a:srgbClr val="B86440"/>
          </a:solidFill>
          <a:ln w="0">
            <a:noFill/>
            <a:prstDash val="solid"/>
          </a:ln>
        </p:spPr>
      </p:sp>
      <p:sp>
        <p:nvSpPr>
          <p:cNvPr id="72" name="椭圆 71"/>
          <p:cNvSpPr>
            <a:spLocks noGrp="1"/>
          </p:cNvSpPr>
          <p:nvPr/>
        </p:nvSpPr>
        <p:spPr>
          <a:xfrm>
            <a:off x="571500" y="4533900"/>
            <a:ext cx="514350" cy="514350"/>
          </a:xfrm>
          <a:prstGeom prst="ellipse">
            <a:avLst/>
          </a:prstGeom>
          <a:noFill/>
          <a:ln w="9525">
            <a:solidFill>
              <a:srgbClr val="FFFFFF"/>
            </a:solidFill>
            <a:prstDash val="solid"/>
          </a:ln>
        </p:spPr>
      </p:sp>
      <p:sp>
        <p:nvSpPr>
          <p:cNvPr id="73" name="椭圆 72"/>
          <p:cNvSpPr>
            <a:spLocks noGrp="1"/>
          </p:cNvSpPr>
          <p:nvPr/>
        </p:nvSpPr>
        <p:spPr>
          <a:xfrm>
            <a:off x="695325" y="4657725"/>
            <a:ext cx="114300" cy="114300"/>
          </a:xfrm>
          <a:prstGeom prst="ellipse">
            <a:avLst/>
          </a:prstGeom>
          <a:noFill/>
          <a:ln w="9525">
            <a:solidFill>
              <a:srgbClr val="FFFFFF"/>
            </a:solidFill>
            <a:prstDash val="solid"/>
          </a:ln>
        </p:spPr>
      </p:sp>
      <p:sp>
        <p:nvSpPr>
          <p:cNvPr id="74" name="椭圆 73"/>
          <p:cNvSpPr>
            <a:spLocks noGrp="1"/>
          </p:cNvSpPr>
          <p:nvPr/>
        </p:nvSpPr>
        <p:spPr>
          <a:xfrm>
            <a:off x="847725" y="4657725"/>
            <a:ext cx="114300" cy="114300"/>
          </a:xfrm>
          <a:prstGeom prst="ellipse">
            <a:avLst/>
          </a:prstGeom>
          <a:noFill/>
          <a:ln w="9525">
            <a:solidFill>
              <a:srgbClr val="FFFFFF"/>
            </a:solidFill>
            <a:prstDash val="solid"/>
          </a:ln>
        </p:spPr>
      </p:sp>
      <p:sp>
        <p:nvSpPr>
          <p:cNvPr id="75" name="椭圆 74"/>
          <p:cNvSpPr>
            <a:spLocks noGrp="1"/>
          </p:cNvSpPr>
          <p:nvPr/>
        </p:nvSpPr>
        <p:spPr>
          <a:xfrm>
            <a:off x="771525" y="4800600"/>
            <a:ext cx="114300" cy="114300"/>
          </a:xfrm>
          <a:prstGeom prst="ellipse">
            <a:avLst/>
          </a:prstGeom>
          <a:noFill/>
          <a:ln w="9525">
            <a:solidFill>
              <a:srgbClr val="FFFFFF"/>
            </a:solidFill>
            <a:prstDash val="solid"/>
          </a:ln>
        </p:spPr>
      </p:sp>
      <p:sp>
        <p:nvSpPr>
          <p:cNvPr id="76" name="矩形 75"/>
          <p:cNvSpPr>
            <a:spLocks noGrp="1"/>
          </p:cNvSpPr>
          <p:nvPr/>
        </p:nvSpPr>
        <p:spPr>
          <a:xfrm>
            <a:off x="657225" y="4924425"/>
            <a:ext cx="342900" cy="28575"/>
          </a:xfrm>
          <a:prstGeom prst="rect">
            <a:avLst/>
          </a:prstGeom>
          <a:solidFill>
            <a:srgbClr val="FFFFFF"/>
          </a:solidFill>
          <a:ln w="0">
            <a:noFill/>
            <a:prstDash val="solid"/>
          </a:ln>
        </p:spPr>
      </p:sp>
      <p:sp>
        <p:nvSpPr>
          <p:cNvPr id="77" name="矩形 76"/>
          <p:cNvSpPr>
            <a:spLocks noGrp="1"/>
          </p:cNvSpPr>
          <p:nvPr/>
        </p:nvSpPr>
        <p:spPr>
          <a:xfrm>
            <a:off x="1104900" y="4391025"/>
            <a:ext cx="781050" cy="295275"/>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275" b="1">
                <a:solidFill>
                  <a:srgbClr val="FFFFFF"/>
                </a:solidFill>
                <a:latin typeface="Noto Sans Hans"/>
                <a:ea typeface="Noto Sans Hans"/>
                <a:cs typeface="Noto Sans Hans"/>
              </a:rPr>
              <a:t>企业生态</a:t>
            </a:r>
            <a:endParaRPr sz="1275" b="1">
              <a:solidFill>
                <a:srgbClr val="FFFFFF"/>
              </a:solidFill>
              <a:latin typeface="Noto Sans Hans"/>
              <a:ea typeface="Noto Sans Hans"/>
              <a:cs typeface="Noto Sans Hans"/>
            </a:endParaRPr>
          </a:p>
        </p:txBody>
      </p:sp>
      <p:sp>
        <p:nvSpPr>
          <p:cNvPr id="78" name="矩形 77"/>
          <p:cNvSpPr>
            <a:spLocks noGrp="1"/>
          </p:cNvSpPr>
          <p:nvPr/>
        </p:nvSpPr>
        <p:spPr>
          <a:xfrm>
            <a:off x="1057275" y="4724400"/>
            <a:ext cx="876300" cy="428625"/>
          </a:xfrm>
          <a:prstGeom prst="rect">
            <a:avLst/>
          </a:prstGeom>
          <a:noFill/>
          <a:ln w="0">
            <a:noFill/>
            <a:prstDash val="solid"/>
          </a:ln>
        </p:spPr>
        <p:txBody>
          <a:bodyPr wrap="square" lIns="47625" tIns="19050" rIns="47625" bIns="19050" anchor="ctr">
            <a:normAutofit/>
          </a:bodyPr>
          <a:lstStyle/>
          <a:p>
            <a:pPr algn="ctr">
              <a:defRPr sz="840" b="0">
                <a:solidFill>
                  <a:srgbClr val="FFFFFF"/>
                </a:solidFill>
                <a:latin typeface="Noto Sans Hans"/>
                <a:ea typeface="Noto Sans Hans"/>
                <a:cs typeface="Noto Sans Hans"/>
              </a:defRPr>
            </a:pPr>
            <a:r>
              <a:rPr sz="840" b="0">
                <a:solidFill>
                  <a:srgbClr val="FFFFFF"/>
                </a:solidFill>
                <a:latin typeface="Noto Sans Hans"/>
                <a:ea typeface="Noto Sans Hans"/>
                <a:cs typeface="Noto Sans Hans"/>
              </a:rPr>
              <a:t>本地培育与外部导入</a:t>
            </a:r>
            <a:endParaRPr sz="840" b="0">
              <a:solidFill>
                <a:srgbClr val="FFFFFF"/>
              </a:solidFill>
              <a:latin typeface="Noto Sans Hans"/>
              <a:ea typeface="Noto Sans Hans"/>
              <a:cs typeface="Noto Sans Hans"/>
            </a:endParaRPr>
          </a:p>
        </p:txBody>
      </p:sp>
      <p:sp>
        <p:nvSpPr>
          <p:cNvPr id="79" name="圆角矩形 78"/>
          <p:cNvSpPr>
            <a:spLocks noGrp="1"/>
          </p:cNvSpPr>
          <p:nvPr/>
        </p:nvSpPr>
        <p:spPr>
          <a:xfrm>
            <a:off x="2152650" y="4305300"/>
            <a:ext cx="2276475" cy="971550"/>
          </a:xfrm>
          <a:prstGeom prst="roundRect">
            <a:avLst>
              <a:gd name="adj" fmla="val 1961"/>
            </a:avLst>
          </a:prstGeom>
          <a:solidFill>
            <a:srgbClr val="F7F3F1"/>
          </a:solidFill>
          <a:ln w="9525">
            <a:solidFill>
              <a:srgbClr val="FFFFFF"/>
            </a:solidFill>
            <a:prstDash val="solid"/>
          </a:ln>
        </p:spPr>
      </p:sp>
      <p:sp>
        <p:nvSpPr>
          <p:cNvPr id="80" name="矩形 79"/>
          <p:cNvSpPr>
            <a:spLocks noGrp="1"/>
          </p:cNvSpPr>
          <p:nvPr/>
        </p:nvSpPr>
        <p:spPr>
          <a:xfrm>
            <a:off x="2219325" y="44005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86440"/>
                </a:solidFill>
                <a:latin typeface="Noto Sans Hans"/>
                <a:ea typeface="Noto Sans Hans"/>
                <a:cs typeface="Noto Sans Hans"/>
              </a:defRPr>
            </a:pPr>
            <a:r>
              <a:rPr sz="1200" b="1">
                <a:solidFill>
                  <a:srgbClr val="B86440"/>
                </a:solidFill>
                <a:latin typeface="Noto Sans Hans"/>
                <a:ea typeface="Noto Sans Hans"/>
                <a:cs typeface="Noto Sans Hans"/>
              </a:rPr>
              <a:t>本地整机 / 方案</a:t>
            </a:r>
            <a:endParaRPr sz="1200" b="1">
              <a:solidFill>
                <a:srgbClr val="B86440"/>
              </a:solidFill>
              <a:latin typeface="Noto Sans Hans"/>
              <a:ea typeface="Noto Sans Hans"/>
              <a:cs typeface="Noto Sans Hans"/>
            </a:endParaRPr>
          </a:p>
        </p:txBody>
      </p:sp>
      <p:sp>
        <p:nvSpPr>
          <p:cNvPr id="81" name="矩形 80"/>
          <p:cNvSpPr>
            <a:spLocks noGrp="1"/>
          </p:cNvSpPr>
          <p:nvPr/>
        </p:nvSpPr>
        <p:spPr>
          <a:xfrm>
            <a:off x="2247900" y="47053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光谷东智、荆楚机器人等</a:t>
            </a:r>
            <a:endParaRPr sz="940" b="0">
              <a:solidFill>
                <a:srgbClr val="403A38"/>
              </a:solidFill>
              <a:latin typeface="Noto Sans Hans"/>
              <a:ea typeface="Noto Sans Hans"/>
              <a:cs typeface="Noto Sans Hans"/>
            </a:endParaRPr>
          </a:p>
        </p:txBody>
      </p:sp>
      <p:sp>
        <p:nvSpPr>
          <p:cNvPr id="82" name="圆角矩形 81"/>
          <p:cNvSpPr>
            <a:spLocks noGrp="1"/>
          </p:cNvSpPr>
          <p:nvPr/>
        </p:nvSpPr>
        <p:spPr>
          <a:xfrm>
            <a:off x="4505325" y="4305300"/>
            <a:ext cx="2276475" cy="971550"/>
          </a:xfrm>
          <a:prstGeom prst="roundRect">
            <a:avLst>
              <a:gd name="adj" fmla="val 1961"/>
            </a:avLst>
          </a:prstGeom>
          <a:solidFill>
            <a:srgbClr val="F7F3F1"/>
          </a:solidFill>
          <a:ln w="9525">
            <a:solidFill>
              <a:srgbClr val="FFFFFF"/>
            </a:solidFill>
            <a:prstDash val="solid"/>
          </a:ln>
        </p:spPr>
      </p:sp>
      <p:sp>
        <p:nvSpPr>
          <p:cNvPr id="83" name="矩形 82"/>
          <p:cNvSpPr>
            <a:spLocks noGrp="1"/>
          </p:cNvSpPr>
          <p:nvPr/>
        </p:nvSpPr>
        <p:spPr>
          <a:xfrm>
            <a:off x="4572000" y="44005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86440"/>
                </a:solidFill>
                <a:latin typeface="Noto Sans Hans"/>
                <a:ea typeface="Noto Sans Hans"/>
                <a:cs typeface="Noto Sans Hans"/>
              </a:defRPr>
            </a:pPr>
            <a:r>
              <a:rPr sz="1200" b="1">
                <a:solidFill>
                  <a:srgbClr val="B86440"/>
                </a:solidFill>
                <a:latin typeface="Noto Sans Hans"/>
                <a:ea typeface="Noto Sans Hans"/>
                <a:cs typeface="Noto Sans Hans"/>
              </a:rPr>
              <a:t>康复与助行</a:t>
            </a:r>
            <a:endParaRPr sz="1200" b="1">
              <a:solidFill>
                <a:srgbClr val="B86440"/>
              </a:solidFill>
              <a:latin typeface="Noto Sans Hans"/>
              <a:ea typeface="Noto Sans Hans"/>
              <a:cs typeface="Noto Sans Hans"/>
            </a:endParaRPr>
          </a:p>
        </p:txBody>
      </p:sp>
      <p:sp>
        <p:nvSpPr>
          <p:cNvPr id="84" name="矩形 83"/>
          <p:cNvSpPr>
            <a:spLocks noGrp="1"/>
          </p:cNvSpPr>
          <p:nvPr/>
        </p:nvSpPr>
        <p:spPr>
          <a:xfrm>
            <a:off x="4600575" y="47053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海沁医疗、沃森拓客等</a:t>
            </a:r>
            <a:endParaRPr sz="940" b="0">
              <a:solidFill>
                <a:srgbClr val="403A38"/>
              </a:solidFill>
              <a:latin typeface="Noto Sans Hans"/>
              <a:ea typeface="Noto Sans Hans"/>
              <a:cs typeface="Noto Sans Hans"/>
            </a:endParaRPr>
          </a:p>
        </p:txBody>
      </p:sp>
      <p:sp>
        <p:nvSpPr>
          <p:cNvPr id="85" name="圆角矩形 84"/>
          <p:cNvSpPr>
            <a:spLocks noGrp="1"/>
          </p:cNvSpPr>
          <p:nvPr/>
        </p:nvSpPr>
        <p:spPr>
          <a:xfrm>
            <a:off x="6858000" y="4305300"/>
            <a:ext cx="2276475" cy="971550"/>
          </a:xfrm>
          <a:prstGeom prst="roundRect">
            <a:avLst>
              <a:gd name="adj" fmla="val 1961"/>
            </a:avLst>
          </a:prstGeom>
          <a:solidFill>
            <a:srgbClr val="F7F3F1"/>
          </a:solidFill>
          <a:ln w="9525">
            <a:solidFill>
              <a:srgbClr val="FFFFFF"/>
            </a:solidFill>
            <a:prstDash val="solid"/>
          </a:ln>
        </p:spPr>
      </p:sp>
      <p:sp>
        <p:nvSpPr>
          <p:cNvPr id="86" name="矩形 85"/>
          <p:cNvSpPr>
            <a:spLocks noGrp="1"/>
          </p:cNvSpPr>
          <p:nvPr/>
        </p:nvSpPr>
        <p:spPr>
          <a:xfrm>
            <a:off x="6924675" y="44005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86440"/>
                </a:solidFill>
                <a:latin typeface="Noto Sans Hans"/>
                <a:ea typeface="Noto Sans Hans"/>
                <a:cs typeface="Noto Sans Hans"/>
              </a:defRPr>
            </a:pPr>
            <a:r>
              <a:rPr sz="1200" b="1">
                <a:solidFill>
                  <a:srgbClr val="B86440"/>
                </a:solidFill>
                <a:latin typeface="Noto Sans Hans"/>
                <a:ea typeface="Noto Sans Hans"/>
                <a:cs typeface="Noto Sans Hans"/>
              </a:rPr>
              <a:t>关键零部件</a:t>
            </a:r>
            <a:endParaRPr sz="1200" b="1">
              <a:solidFill>
                <a:srgbClr val="B86440"/>
              </a:solidFill>
              <a:latin typeface="Noto Sans Hans"/>
              <a:ea typeface="Noto Sans Hans"/>
              <a:cs typeface="Noto Sans Hans"/>
            </a:endParaRPr>
          </a:p>
        </p:txBody>
      </p:sp>
      <p:sp>
        <p:nvSpPr>
          <p:cNvPr id="87" name="矩形 86"/>
          <p:cNvSpPr>
            <a:spLocks noGrp="1"/>
          </p:cNvSpPr>
          <p:nvPr/>
        </p:nvSpPr>
        <p:spPr>
          <a:xfrm>
            <a:off x="6953250" y="47053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科峰传动、华威科及本地电机/传感企业</a:t>
            </a:r>
            <a:endParaRPr sz="940" b="0">
              <a:solidFill>
                <a:srgbClr val="403A38"/>
              </a:solidFill>
              <a:latin typeface="Noto Sans Hans"/>
              <a:ea typeface="Noto Sans Hans"/>
              <a:cs typeface="Noto Sans Hans"/>
            </a:endParaRPr>
          </a:p>
        </p:txBody>
      </p:sp>
      <p:sp>
        <p:nvSpPr>
          <p:cNvPr id="88" name="圆角矩形 87"/>
          <p:cNvSpPr>
            <a:spLocks noGrp="1"/>
          </p:cNvSpPr>
          <p:nvPr/>
        </p:nvSpPr>
        <p:spPr>
          <a:xfrm>
            <a:off x="9210675" y="4305300"/>
            <a:ext cx="2276475" cy="971550"/>
          </a:xfrm>
          <a:prstGeom prst="roundRect">
            <a:avLst>
              <a:gd name="adj" fmla="val 1961"/>
            </a:avLst>
          </a:prstGeom>
          <a:solidFill>
            <a:srgbClr val="F7F3F1"/>
          </a:solidFill>
          <a:ln w="9525">
            <a:solidFill>
              <a:srgbClr val="FFFFFF"/>
            </a:solidFill>
            <a:prstDash val="solid"/>
          </a:ln>
        </p:spPr>
      </p:sp>
      <p:sp>
        <p:nvSpPr>
          <p:cNvPr id="89" name="矩形 88"/>
          <p:cNvSpPr>
            <a:spLocks noGrp="1"/>
          </p:cNvSpPr>
          <p:nvPr/>
        </p:nvSpPr>
        <p:spPr>
          <a:xfrm>
            <a:off x="9277350" y="440055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B86440"/>
                </a:solidFill>
                <a:latin typeface="Noto Sans Hans"/>
                <a:ea typeface="Noto Sans Hans"/>
                <a:cs typeface="Noto Sans Hans"/>
              </a:defRPr>
            </a:pPr>
            <a:r>
              <a:rPr sz="1200" b="1">
                <a:solidFill>
                  <a:srgbClr val="B86440"/>
                </a:solidFill>
                <a:latin typeface="Noto Sans Hans"/>
                <a:ea typeface="Noto Sans Hans"/>
                <a:cs typeface="Noto Sans Hans"/>
              </a:rPr>
              <a:t>合作招引池</a:t>
            </a:r>
            <a:endParaRPr sz="1200" b="1">
              <a:solidFill>
                <a:srgbClr val="B86440"/>
              </a:solidFill>
              <a:latin typeface="Noto Sans Hans"/>
              <a:ea typeface="Noto Sans Hans"/>
              <a:cs typeface="Noto Sans Hans"/>
            </a:endParaRPr>
          </a:p>
        </p:txBody>
      </p:sp>
      <p:sp>
        <p:nvSpPr>
          <p:cNvPr id="90" name="矩形 89"/>
          <p:cNvSpPr>
            <a:spLocks noGrp="1"/>
          </p:cNvSpPr>
          <p:nvPr/>
        </p:nvSpPr>
        <p:spPr>
          <a:xfrm>
            <a:off x="9305925" y="470535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傅利叶、程天、优必选、擎朗、普渡等</a:t>
            </a:r>
            <a:endParaRPr sz="940" b="0">
              <a:solidFill>
                <a:srgbClr val="403A38"/>
              </a:solidFill>
              <a:latin typeface="Noto Sans Hans"/>
              <a:ea typeface="Noto Sans Hans"/>
              <a:cs typeface="Noto Sans Hans"/>
            </a:endParaRPr>
          </a:p>
        </p:txBody>
      </p:sp>
      <p:sp>
        <p:nvSpPr>
          <p:cNvPr id="91" name="圆角矩形 90"/>
          <p:cNvSpPr>
            <a:spLocks noGrp="1"/>
          </p:cNvSpPr>
          <p:nvPr/>
        </p:nvSpPr>
        <p:spPr>
          <a:xfrm>
            <a:off x="457200" y="5353050"/>
            <a:ext cx="1524000" cy="971550"/>
          </a:xfrm>
          <a:prstGeom prst="roundRect">
            <a:avLst>
              <a:gd name="adj" fmla="val 1961"/>
            </a:avLst>
          </a:prstGeom>
          <a:solidFill>
            <a:srgbClr val="851117"/>
          </a:solidFill>
          <a:ln w="0">
            <a:noFill/>
            <a:prstDash val="solid"/>
          </a:ln>
        </p:spPr>
      </p:sp>
      <p:sp>
        <p:nvSpPr>
          <p:cNvPr id="92" name="椭圆 91"/>
          <p:cNvSpPr>
            <a:spLocks noGrp="1"/>
          </p:cNvSpPr>
          <p:nvPr/>
        </p:nvSpPr>
        <p:spPr>
          <a:xfrm>
            <a:off x="571500" y="5581650"/>
            <a:ext cx="514350" cy="514350"/>
          </a:xfrm>
          <a:prstGeom prst="ellipse">
            <a:avLst/>
          </a:prstGeom>
          <a:noFill/>
          <a:ln w="9525">
            <a:solidFill>
              <a:srgbClr val="FFFFFF"/>
            </a:solidFill>
            <a:prstDash val="solid"/>
          </a:ln>
        </p:spPr>
      </p:sp>
      <p:sp>
        <p:nvSpPr>
          <p:cNvPr id="93" name="圆角矩形 92"/>
          <p:cNvSpPr>
            <a:spLocks noGrp="1"/>
          </p:cNvSpPr>
          <p:nvPr/>
        </p:nvSpPr>
        <p:spPr>
          <a:xfrm>
            <a:off x="676275" y="5724525"/>
            <a:ext cx="304800" cy="228600"/>
          </a:xfrm>
          <a:prstGeom prst="roundRect">
            <a:avLst>
              <a:gd name="adj" fmla="val 8333"/>
            </a:avLst>
          </a:prstGeom>
          <a:noFill/>
          <a:ln w="9525">
            <a:solidFill>
              <a:srgbClr val="FFFFFF"/>
            </a:solidFill>
            <a:prstDash val="solid"/>
          </a:ln>
        </p:spPr>
      </p:sp>
      <p:sp>
        <p:nvSpPr>
          <p:cNvPr id="94" name="矩形 93"/>
          <p:cNvSpPr>
            <a:spLocks noGrp="1"/>
          </p:cNvSpPr>
          <p:nvPr/>
        </p:nvSpPr>
        <p:spPr>
          <a:xfrm>
            <a:off x="714375" y="5743575"/>
            <a:ext cx="228600" cy="190500"/>
          </a:xfrm>
          <a:prstGeom prst="rect">
            <a:avLst/>
          </a:prstGeom>
          <a:noFill/>
          <a:ln w="0">
            <a:noFill/>
            <a:prstDash val="solid"/>
          </a:ln>
        </p:spPr>
        <p:txBody>
          <a:bodyPr wrap="square" lIns="47625" tIns="19050" rIns="47625" bIns="19050" anchor="ctr">
            <a:normAutofit fontScale="74074"/>
          </a:bodyPr>
          <a:lstStyle/>
          <a:p>
            <a:pPr algn="ctr">
              <a:defRPr sz="1350" b="1">
                <a:solidFill>
                  <a:srgbClr val="FFFFFF"/>
                </a:solidFill>
                <a:latin typeface="Noto Sans Hans"/>
                <a:ea typeface="Noto Sans Hans"/>
                <a:cs typeface="Noto Sans Hans"/>
              </a:defRPr>
            </a:pPr>
            <a:r>
              <a:rPr sz="1350" b="1">
                <a:solidFill>
                  <a:srgbClr val="FFFFFF"/>
                </a:solidFill>
                <a:latin typeface="Noto Sans Hans"/>
                <a:ea typeface="Noto Sans Hans"/>
                <a:cs typeface="Noto Sans Hans"/>
              </a:rPr>
              <a:t>¥</a:t>
            </a:r>
            <a:endParaRPr sz="1350" b="1">
              <a:solidFill>
                <a:srgbClr val="FFFFFF"/>
              </a:solidFill>
              <a:latin typeface="Noto Sans Hans"/>
              <a:ea typeface="Noto Sans Hans"/>
              <a:cs typeface="Noto Sans Hans"/>
            </a:endParaRPr>
          </a:p>
        </p:txBody>
      </p:sp>
      <p:sp>
        <p:nvSpPr>
          <p:cNvPr id="95" name="矩形 94"/>
          <p:cNvSpPr>
            <a:spLocks noGrp="1"/>
          </p:cNvSpPr>
          <p:nvPr/>
        </p:nvSpPr>
        <p:spPr>
          <a:xfrm>
            <a:off x="1104900" y="5438775"/>
            <a:ext cx="781050" cy="295275"/>
          </a:xfrm>
          <a:prstGeom prst="rect">
            <a:avLst/>
          </a:prstGeom>
          <a:noFill/>
          <a:ln w="0">
            <a:noFill/>
            <a:prstDash val="solid"/>
          </a:ln>
        </p:spPr>
        <p:txBody>
          <a:bodyPr wrap="square" lIns="47625" tIns="19050" rIns="47625" bIns="19050" anchor="ctr">
            <a:normAutofit/>
          </a:bodyPr>
          <a:lstStyle/>
          <a:p>
            <a:pPr algn="ctr">
              <a:defRPr sz="1275" b="1">
                <a:solidFill>
                  <a:srgbClr val="FFFFFF"/>
                </a:solidFill>
                <a:latin typeface="Noto Sans Hans"/>
                <a:ea typeface="Noto Sans Hans"/>
                <a:cs typeface="Noto Sans Hans"/>
              </a:defRPr>
            </a:pPr>
            <a:r>
              <a:rPr sz="1275" b="1">
                <a:solidFill>
                  <a:srgbClr val="FFFFFF"/>
                </a:solidFill>
                <a:latin typeface="Noto Sans Hans"/>
                <a:ea typeface="Noto Sans Hans"/>
                <a:cs typeface="Noto Sans Hans"/>
              </a:rPr>
              <a:t>资本场景</a:t>
            </a:r>
            <a:endParaRPr sz="1275" b="1">
              <a:solidFill>
                <a:srgbClr val="FFFFFF"/>
              </a:solidFill>
              <a:latin typeface="Noto Sans Hans"/>
              <a:ea typeface="Noto Sans Hans"/>
              <a:cs typeface="Noto Sans Hans"/>
            </a:endParaRPr>
          </a:p>
        </p:txBody>
      </p:sp>
      <p:sp>
        <p:nvSpPr>
          <p:cNvPr id="96" name="矩形 95"/>
          <p:cNvSpPr>
            <a:spLocks noGrp="1"/>
          </p:cNvSpPr>
          <p:nvPr/>
        </p:nvSpPr>
        <p:spPr>
          <a:xfrm>
            <a:off x="1057275" y="5772150"/>
            <a:ext cx="876300" cy="428625"/>
          </a:xfrm>
          <a:prstGeom prst="rect">
            <a:avLst/>
          </a:prstGeom>
          <a:noFill/>
          <a:ln w="0">
            <a:noFill/>
            <a:prstDash val="solid"/>
          </a:ln>
        </p:spPr>
        <p:txBody>
          <a:bodyPr wrap="square" lIns="47625" tIns="19050" rIns="47625" bIns="19050" anchor="ctr">
            <a:normAutofit/>
          </a:bodyPr>
          <a:lstStyle/>
          <a:p>
            <a:pPr algn="ctr">
              <a:defRPr sz="840" b="0">
                <a:solidFill>
                  <a:srgbClr val="FFFFFF"/>
                </a:solidFill>
                <a:latin typeface="Noto Sans Hans"/>
                <a:ea typeface="Noto Sans Hans"/>
                <a:cs typeface="Noto Sans Hans"/>
              </a:defRPr>
            </a:pPr>
            <a:r>
              <a:rPr sz="840" b="0">
                <a:solidFill>
                  <a:srgbClr val="FFFFFF"/>
                </a:solidFill>
                <a:latin typeface="Noto Sans Hans"/>
                <a:ea typeface="Noto Sans Hans"/>
                <a:cs typeface="Noto Sans Hans"/>
              </a:rPr>
              <a:t>需求牵引与放大器</a:t>
            </a:r>
            <a:endParaRPr sz="840" b="0">
              <a:solidFill>
                <a:srgbClr val="FFFFFF"/>
              </a:solidFill>
              <a:latin typeface="Noto Sans Hans"/>
              <a:ea typeface="Noto Sans Hans"/>
              <a:cs typeface="Noto Sans Hans"/>
            </a:endParaRPr>
          </a:p>
        </p:txBody>
      </p:sp>
      <p:sp>
        <p:nvSpPr>
          <p:cNvPr id="97" name="圆角矩形 96"/>
          <p:cNvSpPr>
            <a:spLocks noGrp="1"/>
          </p:cNvSpPr>
          <p:nvPr/>
        </p:nvSpPr>
        <p:spPr>
          <a:xfrm>
            <a:off x="2152650" y="5353050"/>
            <a:ext cx="2276475" cy="971550"/>
          </a:xfrm>
          <a:prstGeom prst="roundRect">
            <a:avLst>
              <a:gd name="adj" fmla="val 1961"/>
            </a:avLst>
          </a:prstGeom>
          <a:solidFill>
            <a:srgbClr val="F9E7E6"/>
          </a:solidFill>
          <a:ln w="9525">
            <a:solidFill>
              <a:srgbClr val="FFFFFF"/>
            </a:solidFill>
            <a:prstDash val="solid"/>
          </a:ln>
        </p:spPr>
      </p:sp>
      <p:sp>
        <p:nvSpPr>
          <p:cNvPr id="98" name="矩形 97"/>
          <p:cNvSpPr>
            <a:spLocks noGrp="1"/>
          </p:cNvSpPr>
          <p:nvPr/>
        </p:nvSpPr>
        <p:spPr>
          <a:xfrm>
            <a:off x="2219325" y="5448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851117"/>
                </a:solidFill>
                <a:latin typeface="Noto Sans Hans"/>
                <a:ea typeface="Noto Sans Hans"/>
                <a:cs typeface="Noto Sans Hans"/>
              </a:defRPr>
            </a:pPr>
            <a:r>
              <a:rPr sz="1200" b="1">
                <a:solidFill>
                  <a:srgbClr val="851117"/>
                </a:solidFill>
                <a:latin typeface="Noto Sans Hans"/>
                <a:ea typeface="Noto Sans Hans"/>
                <a:cs typeface="Noto Sans Hans"/>
              </a:rPr>
              <a:t>武汉城投康养</a:t>
            </a:r>
            <a:endParaRPr sz="1200" b="1">
              <a:solidFill>
                <a:srgbClr val="851117"/>
              </a:solidFill>
              <a:latin typeface="Noto Sans Hans"/>
              <a:ea typeface="Noto Sans Hans"/>
              <a:cs typeface="Noto Sans Hans"/>
            </a:endParaRPr>
          </a:p>
        </p:txBody>
      </p:sp>
      <p:sp>
        <p:nvSpPr>
          <p:cNvPr id="99" name="矩形 98"/>
          <p:cNvSpPr>
            <a:spLocks noGrp="1"/>
          </p:cNvSpPr>
          <p:nvPr/>
        </p:nvSpPr>
        <p:spPr>
          <a:xfrm>
            <a:off x="2247900" y="5753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养老设施、社区物业及城市服务资源</a:t>
            </a:r>
            <a:endParaRPr sz="940" b="0">
              <a:solidFill>
                <a:srgbClr val="403A38"/>
              </a:solidFill>
              <a:latin typeface="Noto Sans Hans"/>
              <a:ea typeface="Noto Sans Hans"/>
              <a:cs typeface="Noto Sans Hans"/>
            </a:endParaRPr>
          </a:p>
        </p:txBody>
      </p:sp>
      <p:sp>
        <p:nvSpPr>
          <p:cNvPr id="100" name="圆角矩形 99"/>
          <p:cNvSpPr>
            <a:spLocks noGrp="1"/>
          </p:cNvSpPr>
          <p:nvPr/>
        </p:nvSpPr>
        <p:spPr>
          <a:xfrm>
            <a:off x="4505325" y="5353050"/>
            <a:ext cx="2276475" cy="971550"/>
          </a:xfrm>
          <a:prstGeom prst="roundRect">
            <a:avLst>
              <a:gd name="adj" fmla="val 1961"/>
            </a:avLst>
          </a:prstGeom>
          <a:solidFill>
            <a:srgbClr val="F9E7E6"/>
          </a:solidFill>
          <a:ln w="9525">
            <a:solidFill>
              <a:srgbClr val="FFFFFF"/>
            </a:solidFill>
            <a:prstDash val="solid"/>
          </a:ln>
        </p:spPr>
      </p:sp>
      <p:sp>
        <p:nvSpPr>
          <p:cNvPr id="101" name="矩形 100"/>
          <p:cNvSpPr>
            <a:spLocks noGrp="1"/>
          </p:cNvSpPr>
          <p:nvPr/>
        </p:nvSpPr>
        <p:spPr>
          <a:xfrm>
            <a:off x="4572000" y="5448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851117"/>
                </a:solidFill>
                <a:latin typeface="Noto Sans Hans"/>
                <a:ea typeface="Noto Sans Hans"/>
                <a:cs typeface="Noto Sans Hans"/>
              </a:defRPr>
            </a:pPr>
            <a:r>
              <a:rPr sz="1200" b="1">
                <a:solidFill>
                  <a:srgbClr val="851117"/>
                </a:solidFill>
                <a:latin typeface="Noto Sans Hans"/>
                <a:ea typeface="Noto Sans Hans"/>
                <a:cs typeface="Noto Sans Hans"/>
              </a:rPr>
              <a:t>安养链平台</a:t>
            </a:r>
            <a:endParaRPr sz="1200" b="1">
              <a:solidFill>
                <a:srgbClr val="851117"/>
              </a:solidFill>
              <a:latin typeface="Noto Sans Hans"/>
              <a:ea typeface="Noto Sans Hans"/>
              <a:cs typeface="Noto Sans Hans"/>
            </a:endParaRPr>
          </a:p>
        </p:txBody>
      </p:sp>
      <p:sp>
        <p:nvSpPr>
          <p:cNvPr id="102" name="矩形 101"/>
          <p:cNvSpPr>
            <a:spLocks noGrp="1"/>
          </p:cNvSpPr>
          <p:nvPr/>
        </p:nvSpPr>
        <p:spPr>
          <a:xfrm>
            <a:off x="4600575" y="5753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服务商、产品与用户连接平台</a:t>
            </a:r>
            <a:endParaRPr sz="940" b="0">
              <a:solidFill>
                <a:srgbClr val="403A38"/>
              </a:solidFill>
              <a:latin typeface="Noto Sans Hans"/>
              <a:ea typeface="Noto Sans Hans"/>
              <a:cs typeface="Noto Sans Hans"/>
            </a:endParaRPr>
          </a:p>
        </p:txBody>
      </p:sp>
      <p:sp>
        <p:nvSpPr>
          <p:cNvPr id="103" name="圆角矩形 102"/>
          <p:cNvSpPr>
            <a:spLocks noGrp="1"/>
          </p:cNvSpPr>
          <p:nvPr/>
        </p:nvSpPr>
        <p:spPr>
          <a:xfrm>
            <a:off x="6858000" y="5353050"/>
            <a:ext cx="2276475" cy="971550"/>
          </a:xfrm>
          <a:prstGeom prst="roundRect">
            <a:avLst>
              <a:gd name="adj" fmla="val 1961"/>
            </a:avLst>
          </a:prstGeom>
          <a:solidFill>
            <a:srgbClr val="F9E7E6"/>
          </a:solidFill>
          <a:ln w="9525">
            <a:solidFill>
              <a:srgbClr val="FFFFFF"/>
            </a:solidFill>
            <a:prstDash val="solid"/>
          </a:ln>
        </p:spPr>
      </p:sp>
      <p:sp>
        <p:nvSpPr>
          <p:cNvPr id="104" name="矩形 103"/>
          <p:cNvSpPr>
            <a:spLocks noGrp="1"/>
          </p:cNvSpPr>
          <p:nvPr/>
        </p:nvSpPr>
        <p:spPr>
          <a:xfrm>
            <a:off x="6924675" y="5448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851117"/>
                </a:solidFill>
                <a:latin typeface="Noto Sans Hans"/>
                <a:ea typeface="Noto Sans Hans"/>
                <a:cs typeface="Noto Sans Hans"/>
              </a:defRPr>
            </a:pPr>
            <a:r>
              <a:rPr sz="1200" b="1">
                <a:solidFill>
                  <a:srgbClr val="851117"/>
                </a:solidFill>
                <a:latin typeface="Noto Sans Hans"/>
                <a:ea typeface="Noto Sans Hans"/>
                <a:cs typeface="Noto Sans Hans"/>
              </a:rPr>
              <a:t>产业基金体系</a:t>
            </a:r>
            <a:endParaRPr sz="1200" b="1">
              <a:solidFill>
                <a:srgbClr val="851117"/>
              </a:solidFill>
              <a:latin typeface="Noto Sans Hans"/>
              <a:ea typeface="Noto Sans Hans"/>
              <a:cs typeface="Noto Sans Hans"/>
            </a:endParaRPr>
          </a:p>
        </p:txBody>
      </p:sp>
      <p:sp>
        <p:nvSpPr>
          <p:cNvPr id="105" name="矩形 104"/>
          <p:cNvSpPr>
            <a:spLocks noGrp="1"/>
          </p:cNvSpPr>
          <p:nvPr/>
        </p:nvSpPr>
        <p:spPr>
          <a:xfrm>
            <a:off x="6953250" y="5753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人形机器人及AI产业基金资源</a:t>
            </a:r>
            <a:endParaRPr sz="940" b="0">
              <a:solidFill>
                <a:srgbClr val="403A38"/>
              </a:solidFill>
              <a:latin typeface="Noto Sans Hans"/>
              <a:ea typeface="Noto Sans Hans"/>
              <a:cs typeface="Noto Sans Hans"/>
            </a:endParaRPr>
          </a:p>
        </p:txBody>
      </p:sp>
      <p:sp>
        <p:nvSpPr>
          <p:cNvPr id="106" name="圆角矩形 105"/>
          <p:cNvSpPr>
            <a:spLocks noGrp="1"/>
          </p:cNvSpPr>
          <p:nvPr/>
        </p:nvSpPr>
        <p:spPr>
          <a:xfrm>
            <a:off x="9210675" y="5353050"/>
            <a:ext cx="2276475" cy="971550"/>
          </a:xfrm>
          <a:prstGeom prst="roundRect">
            <a:avLst>
              <a:gd name="adj" fmla="val 1961"/>
            </a:avLst>
          </a:prstGeom>
          <a:solidFill>
            <a:srgbClr val="F9E7E6"/>
          </a:solidFill>
          <a:ln w="9525">
            <a:solidFill>
              <a:srgbClr val="FFFFFF"/>
            </a:solidFill>
            <a:prstDash val="solid"/>
          </a:ln>
        </p:spPr>
      </p:sp>
      <p:sp>
        <p:nvSpPr>
          <p:cNvPr id="107" name="矩形 106"/>
          <p:cNvSpPr>
            <a:spLocks noGrp="1"/>
          </p:cNvSpPr>
          <p:nvPr/>
        </p:nvSpPr>
        <p:spPr>
          <a:xfrm>
            <a:off x="9277350" y="5448300"/>
            <a:ext cx="2143125" cy="266700"/>
          </a:xfrm>
          <a:prstGeom prst="rect">
            <a:avLst/>
          </a:prstGeom>
          <a:noFill/>
          <a:ln w="0">
            <a:noFill/>
            <a:prstDash val="solid"/>
          </a:ln>
        </p:spPr>
        <p:txBody>
          <a:bodyPr wrap="square" lIns="47625" tIns="19050" rIns="47625" bIns="19050" anchor="ctr">
            <a:normAutofit/>
          </a:bodyPr>
          <a:lstStyle/>
          <a:p>
            <a:pPr algn="ctr">
              <a:defRPr sz="1015" b="1">
                <a:solidFill>
                  <a:srgbClr val="851117"/>
                </a:solidFill>
                <a:latin typeface="Noto Sans Hans"/>
                <a:ea typeface="Noto Sans Hans"/>
                <a:cs typeface="Noto Sans Hans"/>
              </a:defRPr>
            </a:pPr>
            <a:r>
              <a:rPr sz="1200" b="1">
                <a:solidFill>
                  <a:srgbClr val="851117"/>
                </a:solidFill>
                <a:latin typeface="Noto Sans Hans"/>
                <a:ea typeface="Noto Sans Hans"/>
                <a:cs typeface="Noto Sans Hans"/>
              </a:rPr>
              <a:t>政策与项目</a:t>
            </a:r>
            <a:endParaRPr sz="1200" b="1">
              <a:solidFill>
                <a:srgbClr val="851117"/>
              </a:solidFill>
              <a:latin typeface="Noto Sans Hans"/>
              <a:ea typeface="Noto Sans Hans"/>
              <a:cs typeface="Noto Sans Hans"/>
            </a:endParaRPr>
          </a:p>
        </p:txBody>
      </p:sp>
      <p:sp>
        <p:nvSpPr>
          <p:cNvPr id="108" name="矩形 107"/>
          <p:cNvSpPr>
            <a:spLocks noGrp="1"/>
          </p:cNvSpPr>
          <p:nvPr/>
        </p:nvSpPr>
        <p:spPr>
          <a:xfrm>
            <a:off x="9305925" y="5753100"/>
            <a:ext cx="2085975" cy="4572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养老设施更新、床位和社区网络建设</a:t>
            </a:r>
            <a:endParaRPr sz="940" b="0">
              <a:solidFill>
                <a:srgbClr val="403A38"/>
              </a:solidFill>
              <a:latin typeface="Noto Sans Hans"/>
              <a:ea typeface="Noto Sans Hans"/>
              <a:cs typeface="Noto Sans Hans"/>
            </a:endParaRPr>
          </a:p>
        </p:txBody>
      </p:sp>
      <p:sp>
        <p:nvSpPr>
          <p:cNvPr id="109" name="矩形 108"/>
          <p:cNvSpPr>
            <a:spLocks noGrp="1"/>
          </p:cNvSpPr>
          <p:nvPr/>
        </p:nvSpPr>
        <p:spPr>
          <a:xfrm>
            <a:off x="476250" y="6553200"/>
            <a:ext cx="10668000" cy="190500"/>
          </a:xfrm>
          <a:prstGeom prst="rect">
            <a:avLst/>
          </a:prstGeom>
          <a:noFill/>
          <a:ln w="0">
            <a:noFill/>
            <a:prstDash val="solid"/>
          </a:ln>
        </p:spPr>
        <p:txBody>
          <a:bodyPr wrap="square" lIns="47625" tIns="19050" rIns="47625" bIns="19050" anchor="ctr">
            <a:normAutofit/>
          </a:bodyPr>
          <a:lstStyle/>
          <a:p>
            <a:pPr algn="l">
              <a:defRPr sz="720" b="0">
                <a:solidFill>
                  <a:srgbClr val="716B68"/>
                </a:solidFill>
                <a:latin typeface="Noto Sans Hans"/>
                <a:ea typeface="Noto Sans Hans"/>
                <a:cs typeface="Noto Sans Hans"/>
              </a:defRPr>
            </a:pPr>
            <a:r>
              <a:rPr sz="720" b="0">
                <a:solidFill>
                  <a:srgbClr val="716B68"/>
                </a:solidFill>
                <a:latin typeface="Noto Sans Hans"/>
                <a:ea typeface="Noto Sans Hans"/>
                <a:cs typeface="Noto Sans Hans"/>
              </a:rPr>
              <a:t>资料来源：养老机器人产业增强基础数据库；武汉市人民政府、湖北省经信厅、武汉城投等公开资料。建议招引企业不代表已落地。</a:t>
            </a:r>
            <a:endParaRPr sz="720" b="0">
              <a:solidFill>
                <a:srgbClr val="716B68"/>
              </a:solidFill>
              <a:latin typeface="Noto Sans Hans"/>
              <a:ea typeface="Noto Sans Hans"/>
              <a:cs typeface="Noto Sans Hans"/>
            </a:endParaRPr>
          </a:p>
        </p:txBody>
      </p:sp>
      <p:sp>
        <p:nvSpPr>
          <p:cNvPr id="110" name="矩形 109"/>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a:t>
            </a:r>
            <a:r>
              <a:rPr sz="900" b="1">
                <a:solidFill>
                  <a:srgbClr val="D00914"/>
                </a:solidFill>
                <a:latin typeface="Noto Sans Hans"/>
                <a:ea typeface="Noto Sans Hans"/>
                <a:cs typeface="Noto Sans Hans"/>
              </a:rPr>
              <a:t>1</a:t>
            </a:r>
            <a:endParaRPr sz="900" b="1">
              <a:solidFill>
                <a:srgbClr val="D00914"/>
              </a:solidFill>
              <a:latin typeface="Noto Sans Hans"/>
              <a:ea typeface="Noto Sans Hans"/>
              <a:cs typeface="Noto Sans H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09550"/>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85775"/>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【集群载体】</a:t>
            </a:r>
            <a:r>
              <a:rPr sz="2025" b="1">
                <a:solidFill>
                  <a:srgbClr val="403A38"/>
                </a:solidFill>
                <a:latin typeface="Noto Sans Hans"/>
                <a:ea typeface="Noto Sans Hans"/>
                <a:cs typeface="Noto Sans Hans"/>
              </a:rPr>
              <a:t>四类载体分工清晰，需以康养任务牵引形成养老机器人专属能力</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从“泛机器人集聚”转向“技术验证—中试制造—场景运营—都市圈复制”的1+3+N协同体系</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28625" y="1019175"/>
            <a:ext cx="1809750" cy="266700"/>
          </a:xfrm>
          <a:prstGeom prst="rect">
            <a:avLst/>
          </a:prstGeom>
          <a:noFill/>
          <a:ln w="0">
            <a:noFill/>
            <a:prstDash val="solid"/>
          </a:ln>
        </p:spPr>
        <p:txBody>
          <a:bodyPr wrap="square" lIns="47625" tIns="19050" rIns="47625" bIns="19050" anchor="ctr">
            <a:normAutofit/>
          </a:bodyPr>
          <a:lstStyle/>
          <a:p>
            <a:pPr algn="ctr">
              <a:defRPr sz="1050"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产业集聚区</a:t>
            </a:r>
            <a:endParaRPr sz="1200" b="1">
              <a:solidFill>
                <a:srgbClr val="9A3037"/>
              </a:solidFill>
              <a:latin typeface="Noto Sans Hans"/>
              <a:ea typeface="Noto Sans Hans"/>
              <a:cs typeface="Noto Sans Hans"/>
            </a:endParaRPr>
          </a:p>
        </p:txBody>
      </p:sp>
      <p:sp>
        <p:nvSpPr>
          <p:cNvPr id="7" name="矩形 6"/>
          <p:cNvSpPr>
            <a:spLocks noGrp="1"/>
          </p:cNvSpPr>
          <p:nvPr/>
        </p:nvSpPr>
        <p:spPr>
          <a:xfrm>
            <a:off x="2286000" y="1019175"/>
            <a:ext cx="4762500" cy="266700"/>
          </a:xfrm>
          <a:prstGeom prst="rect">
            <a:avLst/>
          </a:prstGeom>
          <a:noFill/>
          <a:ln w="0">
            <a:noFill/>
            <a:prstDash val="solid"/>
          </a:ln>
        </p:spPr>
        <p:txBody>
          <a:bodyPr wrap="square" lIns="47625" tIns="19050" rIns="47625" bIns="19050" anchor="ctr">
            <a:normAutofit/>
          </a:bodyPr>
          <a:lstStyle/>
          <a:p>
            <a:pPr algn="ctr">
              <a:defRPr sz="1050"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功能定位 / 聚焦领域</a:t>
            </a:r>
            <a:endParaRPr sz="1200" b="1">
              <a:solidFill>
                <a:srgbClr val="9A3037"/>
              </a:solidFill>
              <a:latin typeface="Noto Sans Hans"/>
              <a:ea typeface="Noto Sans Hans"/>
              <a:cs typeface="Noto Sans Hans"/>
            </a:endParaRPr>
          </a:p>
        </p:txBody>
      </p:sp>
      <p:sp>
        <p:nvSpPr>
          <p:cNvPr id="8" name="矩形 7"/>
          <p:cNvSpPr>
            <a:spLocks noGrp="1"/>
          </p:cNvSpPr>
          <p:nvPr/>
        </p:nvSpPr>
        <p:spPr>
          <a:xfrm>
            <a:off x="7143750" y="1019175"/>
            <a:ext cx="2428875" cy="266700"/>
          </a:xfrm>
          <a:prstGeom prst="rect">
            <a:avLst/>
          </a:prstGeom>
          <a:noFill/>
          <a:ln w="0">
            <a:noFill/>
            <a:prstDash val="solid"/>
          </a:ln>
        </p:spPr>
        <p:txBody>
          <a:bodyPr wrap="square" lIns="47625" tIns="19050" rIns="47625" bIns="19050" anchor="ctr">
            <a:normAutofit/>
          </a:bodyPr>
          <a:lstStyle/>
          <a:p>
            <a:pPr algn="ctr">
              <a:defRPr sz="1050"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现有企业、机构与平台</a:t>
            </a:r>
            <a:endParaRPr sz="1200" b="1">
              <a:solidFill>
                <a:srgbClr val="9A3037"/>
              </a:solidFill>
              <a:latin typeface="Noto Sans Hans"/>
              <a:ea typeface="Noto Sans Hans"/>
              <a:cs typeface="Noto Sans Hans"/>
            </a:endParaRPr>
          </a:p>
        </p:txBody>
      </p:sp>
      <p:sp>
        <p:nvSpPr>
          <p:cNvPr id="9" name="矩形 8"/>
          <p:cNvSpPr>
            <a:spLocks noGrp="1"/>
          </p:cNvSpPr>
          <p:nvPr/>
        </p:nvSpPr>
        <p:spPr>
          <a:xfrm>
            <a:off x="9667875" y="1019175"/>
            <a:ext cx="2095500" cy="266700"/>
          </a:xfrm>
          <a:prstGeom prst="rect">
            <a:avLst/>
          </a:prstGeom>
          <a:noFill/>
          <a:ln w="0">
            <a:noFill/>
            <a:prstDash val="solid"/>
          </a:ln>
        </p:spPr>
        <p:txBody>
          <a:bodyPr wrap="square" lIns="47625" tIns="19050" rIns="47625" bIns="19050" anchor="ctr">
            <a:normAutofit/>
          </a:bodyPr>
          <a:lstStyle/>
          <a:p>
            <a:pPr algn="ctr">
              <a:defRPr sz="1050" b="1">
                <a:solidFill>
                  <a:srgbClr val="9A3037"/>
                </a:solidFill>
                <a:latin typeface="Noto Sans Hans"/>
                <a:ea typeface="Noto Sans Hans"/>
                <a:cs typeface="Noto Sans Hans"/>
              </a:defRPr>
            </a:pPr>
            <a:r>
              <a:rPr sz="1200" b="1">
                <a:solidFill>
                  <a:srgbClr val="9A3037"/>
                </a:solidFill>
                <a:latin typeface="Noto Sans Hans"/>
                <a:ea typeface="Noto Sans Hans"/>
                <a:cs typeface="Noto Sans Hans"/>
              </a:rPr>
              <a:t>建议合作 / 招引机会</a:t>
            </a:r>
            <a:endParaRPr sz="1200" b="1">
              <a:solidFill>
                <a:srgbClr val="9A3037"/>
              </a:solidFill>
              <a:latin typeface="Noto Sans Hans"/>
              <a:ea typeface="Noto Sans Hans"/>
              <a:cs typeface="Noto Sans Hans"/>
            </a:endParaRPr>
          </a:p>
        </p:txBody>
      </p:sp>
      <p:sp>
        <p:nvSpPr>
          <p:cNvPr id="10" name="矩形 9"/>
          <p:cNvSpPr>
            <a:spLocks noGrp="1"/>
          </p:cNvSpPr>
          <p:nvPr/>
        </p:nvSpPr>
        <p:spPr>
          <a:xfrm>
            <a:off x="428625" y="1285875"/>
            <a:ext cx="1809750" cy="1104900"/>
          </a:xfrm>
          <a:prstGeom prst="rect">
            <a:avLst/>
          </a:prstGeom>
          <a:solidFill>
            <a:srgbClr val="D00914"/>
          </a:solidFill>
          <a:ln w="0">
            <a:noFill/>
            <a:prstDash val="solid"/>
          </a:ln>
        </p:spPr>
      </p:sp>
      <p:sp>
        <p:nvSpPr>
          <p:cNvPr id="11" name="矩形 10"/>
          <p:cNvSpPr>
            <a:spLocks noGrp="1"/>
          </p:cNvSpPr>
          <p:nvPr/>
        </p:nvSpPr>
        <p:spPr>
          <a:xfrm>
            <a:off x="504825" y="1371600"/>
            <a:ext cx="1657350" cy="914400"/>
          </a:xfrm>
          <a:prstGeom prst="rect">
            <a:avLst/>
          </a:prstGeom>
          <a:noFill/>
          <a:ln w="0">
            <a:noFill/>
            <a:prstDash val="solid"/>
          </a:ln>
        </p:spPr>
        <p:txBody>
          <a:bodyPr wrap="square" lIns="47625" tIns="19050" rIns="47625" bIns="19050" anchor="ctr">
            <a:normAutofit/>
          </a:bodyPr>
          <a:lstStyle/>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光谷</a:t>
            </a:r>
            <a:endParaRPr sz="1400" b="1">
              <a:solidFill>
                <a:srgbClr val="FFFFFF"/>
              </a:solidFill>
              <a:latin typeface="Noto Sans Hans"/>
              <a:ea typeface="Noto Sans Hans"/>
              <a:cs typeface="Noto Sans Hans"/>
            </a:endParaRPr>
          </a:p>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机器人谷 / 创新中心</a:t>
            </a:r>
            <a:endParaRPr sz="1400" b="1">
              <a:solidFill>
                <a:srgbClr val="FFFFFF"/>
              </a:solidFill>
              <a:latin typeface="Noto Sans Hans"/>
              <a:ea typeface="Noto Sans Hans"/>
              <a:cs typeface="Noto Sans Hans"/>
            </a:endParaRPr>
          </a:p>
        </p:txBody>
      </p:sp>
      <p:sp>
        <p:nvSpPr>
          <p:cNvPr id="12" name="矩形 11"/>
          <p:cNvSpPr>
            <a:spLocks noGrp="1"/>
          </p:cNvSpPr>
          <p:nvPr/>
        </p:nvSpPr>
        <p:spPr>
          <a:xfrm>
            <a:off x="2286000" y="1285875"/>
            <a:ext cx="4762500" cy="1104900"/>
          </a:xfrm>
          <a:prstGeom prst="rect">
            <a:avLst/>
          </a:prstGeom>
          <a:solidFill>
            <a:srgbClr val="F9E7E6"/>
          </a:solidFill>
          <a:ln w="9525">
            <a:solidFill>
              <a:srgbClr val="FFFFFF"/>
            </a:solidFill>
            <a:prstDash val="solid"/>
          </a:ln>
        </p:spPr>
      </p:sp>
      <p:sp>
        <p:nvSpPr>
          <p:cNvPr id="13" name="圆角矩形 12"/>
          <p:cNvSpPr>
            <a:spLocks noGrp="1"/>
          </p:cNvSpPr>
          <p:nvPr/>
        </p:nvSpPr>
        <p:spPr>
          <a:xfrm>
            <a:off x="2400300" y="1476375"/>
            <a:ext cx="1409700" cy="723900"/>
          </a:xfrm>
          <a:prstGeom prst="roundRect">
            <a:avLst>
              <a:gd name="adj" fmla="val 2632"/>
            </a:avLst>
          </a:prstGeom>
          <a:solidFill>
            <a:srgbClr val="FFFFFF"/>
          </a:solidFill>
          <a:ln w="9525">
            <a:solidFill>
              <a:srgbClr val="D00914"/>
            </a:solidFill>
            <a:prstDash val="solid"/>
          </a:ln>
        </p:spPr>
      </p:sp>
      <p:sp>
        <p:nvSpPr>
          <p:cNvPr id="14" name="椭圆 13"/>
          <p:cNvSpPr>
            <a:spLocks noGrp="1"/>
          </p:cNvSpPr>
          <p:nvPr/>
        </p:nvSpPr>
        <p:spPr>
          <a:xfrm>
            <a:off x="2505075" y="1562100"/>
            <a:ext cx="228600" cy="228600"/>
          </a:xfrm>
          <a:prstGeom prst="ellipse">
            <a:avLst/>
          </a:prstGeom>
          <a:solidFill>
            <a:srgbClr val="D00914"/>
          </a:solidFill>
          <a:ln w="0">
            <a:noFill/>
            <a:prstDash val="solid"/>
          </a:ln>
        </p:spPr>
      </p:sp>
      <p:sp>
        <p:nvSpPr>
          <p:cNvPr id="15" name="矩形 14"/>
          <p:cNvSpPr>
            <a:spLocks noGrp="1"/>
          </p:cNvSpPr>
          <p:nvPr/>
        </p:nvSpPr>
        <p:spPr>
          <a:xfrm>
            <a:off x="2524125" y="156210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1</a:t>
            </a:r>
            <a:endParaRPr sz="930" b="1">
              <a:solidFill>
                <a:srgbClr val="FFFFFF"/>
              </a:solidFill>
              <a:latin typeface="Noto Sans Hans"/>
              <a:ea typeface="Noto Sans Hans"/>
              <a:cs typeface="Noto Sans Hans"/>
            </a:endParaRPr>
          </a:p>
        </p:txBody>
      </p:sp>
      <p:sp>
        <p:nvSpPr>
          <p:cNvPr id="16" name="矩形 15"/>
          <p:cNvSpPr>
            <a:spLocks noGrp="1"/>
          </p:cNvSpPr>
          <p:nvPr/>
        </p:nvSpPr>
        <p:spPr>
          <a:xfrm>
            <a:off x="2762250" y="1438275"/>
            <a:ext cx="981075" cy="800100"/>
          </a:xfrm>
          <a:prstGeom prst="rect">
            <a:avLst/>
          </a:prstGeom>
          <a:noFill/>
          <a:ln w="0">
            <a:noFill/>
            <a:prstDash val="solid"/>
          </a:ln>
        </p:spPr>
        <p:txBody>
          <a:bodyPr wrap="square" lIns="47625" tIns="19050" rIns="47625" bIns="19050" anchor="ctr">
            <a:normAutofit/>
          </a:bodyPr>
          <a:lstStyle/>
          <a:p>
            <a:pPr algn="ctr">
              <a:defRPr sz="840" b="1">
                <a:solidFill>
                  <a:srgbClr val="403A38"/>
                </a:solidFill>
                <a:latin typeface="Noto Sans Hans"/>
                <a:ea typeface="Noto Sans Hans"/>
                <a:cs typeface="Noto Sans Hans"/>
              </a:defRPr>
            </a:pPr>
            <a:r>
              <a:rPr sz="940" b="1">
                <a:solidFill>
                  <a:srgbClr val="403A38"/>
                </a:solidFill>
                <a:latin typeface="Noto Sans Hans"/>
                <a:ea typeface="Noto Sans Hans"/>
                <a:cs typeface="Noto Sans Hans"/>
              </a:rPr>
              <a:t>区域研发总部</a:t>
            </a:r>
            <a:endParaRPr sz="940" b="1">
              <a:solidFill>
                <a:srgbClr val="403A38"/>
              </a:solidFill>
              <a:latin typeface="Noto Sans Hans"/>
              <a:ea typeface="Noto Sans Hans"/>
              <a:cs typeface="Noto Sans Hans"/>
            </a:endParaRPr>
          </a:p>
        </p:txBody>
      </p:sp>
      <p:sp>
        <p:nvSpPr>
          <p:cNvPr id="17" name="圆角矩形 16"/>
          <p:cNvSpPr>
            <a:spLocks noGrp="1"/>
          </p:cNvSpPr>
          <p:nvPr/>
        </p:nvSpPr>
        <p:spPr>
          <a:xfrm>
            <a:off x="3924300" y="1476375"/>
            <a:ext cx="1409700" cy="723900"/>
          </a:xfrm>
          <a:prstGeom prst="roundRect">
            <a:avLst>
              <a:gd name="adj" fmla="val 2632"/>
            </a:avLst>
          </a:prstGeom>
          <a:solidFill>
            <a:srgbClr val="FFFFFF"/>
          </a:solidFill>
          <a:ln w="9525">
            <a:solidFill>
              <a:srgbClr val="D00914"/>
            </a:solidFill>
            <a:prstDash val="solid"/>
          </a:ln>
        </p:spPr>
      </p:sp>
      <p:sp>
        <p:nvSpPr>
          <p:cNvPr id="18" name="椭圆 17"/>
          <p:cNvSpPr>
            <a:spLocks noGrp="1"/>
          </p:cNvSpPr>
          <p:nvPr/>
        </p:nvSpPr>
        <p:spPr>
          <a:xfrm>
            <a:off x="4029075" y="1562100"/>
            <a:ext cx="228600" cy="228600"/>
          </a:xfrm>
          <a:prstGeom prst="ellipse">
            <a:avLst/>
          </a:prstGeom>
          <a:solidFill>
            <a:srgbClr val="D00914"/>
          </a:solidFill>
          <a:ln w="0">
            <a:noFill/>
            <a:prstDash val="solid"/>
          </a:ln>
        </p:spPr>
      </p:sp>
      <p:sp>
        <p:nvSpPr>
          <p:cNvPr id="19" name="矩形 18"/>
          <p:cNvSpPr>
            <a:spLocks noGrp="1"/>
          </p:cNvSpPr>
          <p:nvPr/>
        </p:nvSpPr>
        <p:spPr>
          <a:xfrm>
            <a:off x="4048125" y="156210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2</a:t>
            </a:r>
            <a:endParaRPr sz="930" b="1">
              <a:solidFill>
                <a:srgbClr val="FFFFFF"/>
              </a:solidFill>
              <a:latin typeface="Noto Sans Hans"/>
              <a:ea typeface="Noto Sans Hans"/>
              <a:cs typeface="Noto Sans Hans"/>
            </a:endParaRPr>
          </a:p>
        </p:txBody>
      </p:sp>
      <p:sp>
        <p:nvSpPr>
          <p:cNvPr id="20" name="矩形 19"/>
          <p:cNvSpPr>
            <a:spLocks noGrp="1"/>
          </p:cNvSpPr>
          <p:nvPr/>
        </p:nvSpPr>
        <p:spPr>
          <a:xfrm>
            <a:off x="4286250" y="143827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整机、算法、3D视觉</a:t>
            </a:r>
            <a:endParaRPr sz="940" b="0">
              <a:solidFill>
                <a:srgbClr val="403A38"/>
              </a:solidFill>
              <a:latin typeface="Noto Sans Hans"/>
              <a:ea typeface="Noto Sans Hans"/>
              <a:cs typeface="Noto Sans Hans"/>
            </a:endParaRPr>
          </a:p>
        </p:txBody>
      </p:sp>
      <p:sp>
        <p:nvSpPr>
          <p:cNvPr id="21" name="圆角矩形 20"/>
          <p:cNvSpPr>
            <a:spLocks noGrp="1"/>
          </p:cNvSpPr>
          <p:nvPr/>
        </p:nvSpPr>
        <p:spPr>
          <a:xfrm>
            <a:off x="5448300" y="1476375"/>
            <a:ext cx="1409700" cy="723900"/>
          </a:xfrm>
          <a:prstGeom prst="roundRect">
            <a:avLst>
              <a:gd name="adj" fmla="val 2632"/>
            </a:avLst>
          </a:prstGeom>
          <a:solidFill>
            <a:srgbClr val="FFFFFF"/>
          </a:solidFill>
          <a:ln w="9525">
            <a:solidFill>
              <a:srgbClr val="D00914"/>
            </a:solidFill>
            <a:prstDash val="solid"/>
          </a:ln>
        </p:spPr>
      </p:sp>
      <p:sp>
        <p:nvSpPr>
          <p:cNvPr id="22" name="椭圆 21"/>
          <p:cNvSpPr>
            <a:spLocks noGrp="1"/>
          </p:cNvSpPr>
          <p:nvPr/>
        </p:nvSpPr>
        <p:spPr>
          <a:xfrm>
            <a:off x="5553075" y="1562100"/>
            <a:ext cx="228600" cy="228600"/>
          </a:xfrm>
          <a:prstGeom prst="ellipse">
            <a:avLst/>
          </a:prstGeom>
          <a:solidFill>
            <a:srgbClr val="D00914"/>
          </a:solidFill>
          <a:ln w="0">
            <a:noFill/>
            <a:prstDash val="solid"/>
          </a:ln>
        </p:spPr>
      </p:sp>
      <p:sp>
        <p:nvSpPr>
          <p:cNvPr id="23" name="矩形 22"/>
          <p:cNvSpPr>
            <a:spLocks noGrp="1"/>
          </p:cNvSpPr>
          <p:nvPr/>
        </p:nvSpPr>
        <p:spPr>
          <a:xfrm>
            <a:off x="5572125" y="156210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3</a:t>
            </a:r>
            <a:endParaRPr sz="930" b="1">
              <a:solidFill>
                <a:srgbClr val="FFFFFF"/>
              </a:solidFill>
              <a:latin typeface="Noto Sans Hans"/>
              <a:ea typeface="Noto Sans Hans"/>
              <a:cs typeface="Noto Sans Hans"/>
            </a:endParaRPr>
          </a:p>
        </p:txBody>
      </p:sp>
      <p:sp>
        <p:nvSpPr>
          <p:cNvPr id="24" name="矩形 23"/>
          <p:cNvSpPr>
            <a:spLocks noGrp="1"/>
          </p:cNvSpPr>
          <p:nvPr/>
        </p:nvSpPr>
        <p:spPr>
          <a:xfrm>
            <a:off x="5810250" y="143827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康复与人形验证</a:t>
            </a:r>
            <a:endParaRPr sz="940" b="0">
              <a:solidFill>
                <a:srgbClr val="403A38"/>
              </a:solidFill>
              <a:latin typeface="Noto Sans Hans"/>
              <a:ea typeface="Noto Sans Hans"/>
              <a:cs typeface="Noto Sans Hans"/>
            </a:endParaRPr>
          </a:p>
        </p:txBody>
      </p:sp>
      <p:sp>
        <p:nvSpPr>
          <p:cNvPr id="25" name="矩形 24"/>
          <p:cNvSpPr>
            <a:spLocks noGrp="1"/>
          </p:cNvSpPr>
          <p:nvPr/>
        </p:nvSpPr>
        <p:spPr>
          <a:xfrm>
            <a:off x="7143750" y="1285875"/>
            <a:ext cx="2428875" cy="1104900"/>
          </a:xfrm>
          <a:prstGeom prst="rect">
            <a:avLst/>
          </a:prstGeom>
          <a:solidFill>
            <a:srgbClr val="F9E7E6"/>
          </a:solidFill>
          <a:ln w="9525">
            <a:solidFill>
              <a:srgbClr val="FFFFFF"/>
            </a:solidFill>
            <a:prstDash val="solid"/>
          </a:ln>
        </p:spPr>
      </p:sp>
      <p:sp>
        <p:nvSpPr>
          <p:cNvPr id="26" name="矩形 25"/>
          <p:cNvSpPr>
            <a:spLocks noGrp="1"/>
          </p:cNvSpPr>
          <p:nvPr/>
        </p:nvSpPr>
        <p:spPr>
          <a:xfrm>
            <a:off x="7239000" y="1381125"/>
            <a:ext cx="2238375" cy="914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湖北人形机器人创新中心</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光谷东智、海沁医疗</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华科大、武大等高校院所</a:t>
            </a:r>
            <a:endParaRPr sz="1100" b="0">
              <a:solidFill>
                <a:srgbClr val="403A38"/>
              </a:solidFill>
              <a:latin typeface="Noto Sans Hans"/>
              <a:ea typeface="Noto Sans Hans"/>
              <a:cs typeface="Noto Sans Hans"/>
            </a:endParaRPr>
          </a:p>
        </p:txBody>
      </p:sp>
      <p:sp>
        <p:nvSpPr>
          <p:cNvPr id="27" name="矩形 26"/>
          <p:cNvSpPr>
            <a:spLocks noGrp="1"/>
          </p:cNvSpPr>
          <p:nvPr/>
        </p:nvSpPr>
        <p:spPr>
          <a:xfrm>
            <a:off x="9667875" y="1285875"/>
            <a:ext cx="2095500" cy="1104900"/>
          </a:xfrm>
          <a:prstGeom prst="rect">
            <a:avLst/>
          </a:prstGeom>
          <a:solidFill>
            <a:srgbClr val="F9E7E6"/>
          </a:solidFill>
          <a:ln w="9525">
            <a:solidFill>
              <a:srgbClr val="FFFFFF"/>
            </a:solidFill>
            <a:prstDash val="solid"/>
          </a:ln>
        </p:spPr>
      </p:sp>
      <p:sp>
        <p:nvSpPr>
          <p:cNvPr id="28" name="矩形 27"/>
          <p:cNvSpPr>
            <a:spLocks noGrp="1"/>
          </p:cNvSpPr>
          <p:nvPr/>
        </p:nvSpPr>
        <p:spPr>
          <a:xfrm>
            <a:off x="9763125" y="1381125"/>
            <a:ext cx="1905000" cy="914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傅利叶、程天、司羿</a:t>
            </a:r>
            <a:endParaRPr sz="1100" b="0">
              <a:solidFill>
                <a:srgbClr val="403A38"/>
              </a:solidFill>
              <a:latin typeface="Noto Sans Hans"/>
              <a:ea typeface="Noto Sans Hans"/>
              <a:cs typeface="Noto Sans Hans"/>
            </a:endParaRPr>
          </a:p>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奥比中光等感知企业</a:t>
            </a:r>
            <a:endParaRPr sz="1100" b="0">
              <a:solidFill>
                <a:srgbClr val="403A38"/>
              </a:solidFill>
              <a:latin typeface="Noto Sans Hans"/>
              <a:ea typeface="Noto Sans Hans"/>
              <a:cs typeface="Noto Sans Hans"/>
            </a:endParaRPr>
          </a:p>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共建康养评测与数据中心</a:t>
            </a:r>
            <a:endParaRPr sz="1100" b="0">
              <a:solidFill>
                <a:srgbClr val="403A38"/>
              </a:solidFill>
              <a:latin typeface="Noto Sans Hans"/>
              <a:ea typeface="Noto Sans Hans"/>
              <a:cs typeface="Noto Sans Hans"/>
            </a:endParaRPr>
          </a:p>
        </p:txBody>
      </p:sp>
      <p:sp>
        <p:nvSpPr>
          <p:cNvPr id="29" name="矩形 28"/>
          <p:cNvSpPr>
            <a:spLocks noGrp="1"/>
          </p:cNvSpPr>
          <p:nvPr/>
        </p:nvSpPr>
        <p:spPr>
          <a:xfrm>
            <a:off x="428625" y="2486025"/>
            <a:ext cx="1809750" cy="1104900"/>
          </a:xfrm>
          <a:prstGeom prst="rect">
            <a:avLst/>
          </a:prstGeom>
          <a:solidFill>
            <a:srgbClr val="C84A27"/>
          </a:solidFill>
          <a:ln w="0">
            <a:noFill/>
            <a:prstDash val="solid"/>
          </a:ln>
        </p:spPr>
      </p:sp>
      <p:sp>
        <p:nvSpPr>
          <p:cNvPr id="30" name="矩形 29"/>
          <p:cNvSpPr>
            <a:spLocks noGrp="1"/>
          </p:cNvSpPr>
          <p:nvPr/>
        </p:nvSpPr>
        <p:spPr>
          <a:xfrm>
            <a:off x="504825" y="2571750"/>
            <a:ext cx="1657350" cy="914400"/>
          </a:xfrm>
          <a:prstGeom prst="rect">
            <a:avLst/>
          </a:prstGeom>
          <a:noFill/>
          <a:ln w="0">
            <a:noFill/>
            <a:prstDash val="solid"/>
          </a:ln>
        </p:spPr>
        <p:txBody>
          <a:bodyPr wrap="square" lIns="47625" tIns="19050" rIns="47625" bIns="19050" anchor="ctr">
            <a:normAutofit/>
          </a:bodyPr>
          <a:lstStyle/>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经开区 / 南太子湖</a:t>
            </a:r>
            <a:endParaRPr sz="1400" b="1">
              <a:solidFill>
                <a:srgbClr val="FFFFFF"/>
              </a:solidFill>
              <a:latin typeface="Noto Sans Hans"/>
              <a:ea typeface="Noto Sans Hans"/>
              <a:cs typeface="Noto Sans Hans"/>
            </a:endParaRPr>
          </a:p>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汉江湾机器人集聚区</a:t>
            </a:r>
            <a:endParaRPr sz="1400" b="1">
              <a:solidFill>
                <a:srgbClr val="FFFFFF"/>
              </a:solidFill>
              <a:latin typeface="Noto Sans Hans"/>
              <a:ea typeface="Noto Sans Hans"/>
              <a:cs typeface="Noto Sans Hans"/>
            </a:endParaRPr>
          </a:p>
        </p:txBody>
      </p:sp>
      <p:sp>
        <p:nvSpPr>
          <p:cNvPr id="31" name="矩形 30"/>
          <p:cNvSpPr>
            <a:spLocks noGrp="1"/>
          </p:cNvSpPr>
          <p:nvPr/>
        </p:nvSpPr>
        <p:spPr>
          <a:xfrm>
            <a:off x="2286000" y="2486025"/>
            <a:ext cx="4762500" cy="1104900"/>
          </a:xfrm>
          <a:prstGeom prst="rect">
            <a:avLst/>
          </a:prstGeom>
          <a:solidFill>
            <a:srgbClr val="F7F3F1"/>
          </a:solidFill>
          <a:ln w="9525">
            <a:solidFill>
              <a:srgbClr val="FFFFFF"/>
            </a:solidFill>
            <a:prstDash val="solid"/>
          </a:ln>
        </p:spPr>
      </p:sp>
      <p:sp>
        <p:nvSpPr>
          <p:cNvPr id="32" name="圆角矩形 31"/>
          <p:cNvSpPr>
            <a:spLocks noGrp="1"/>
          </p:cNvSpPr>
          <p:nvPr/>
        </p:nvSpPr>
        <p:spPr>
          <a:xfrm>
            <a:off x="2400300" y="2676525"/>
            <a:ext cx="1409700" cy="723900"/>
          </a:xfrm>
          <a:prstGeom prst="roundRect">
            <a:avLst>
              <a:gd name="adj" fmla="val 2632"/>
            </a:avLst>
          </a:prstGeom>
          <a:solidFill>
            <a:srgbClr val="FFFFFF"/>
          </a:solidFill>
          <a:ln w="9525">
            <a:solidFill>
              <a:srgbClr val="C84A27"/>
            </a:solidFill>
            <a:prstDash val="solid"/>
          </a:ln>
        </p:spPr>
      </p:sp>
      <p:sp>
        <p:nvSpPr>
          <p:cNvPr id="33" name="椭圆 32"/>
          <p:cNvSpPr>
            <a:spLocks noGrp="1"/>
          </p:cNvSpPr>
          <p:nvPr/>
        </p:nvSpPr>
        <p:spPr>
          <a:xfrm>
            <a:off x="2505075" y="2762250"/>
            <a:ext cx="228600" cy="228600"/>
          </a:xfrm>
          <a:prstGeom prst="ellipse">
            <a:avLst/>
          </a:prstGeom>
          <a:solidFill>
            <a:srgbClr val="C84A27"/>
          </a:solidFill>
          <a:ln w="0">
            <a:noFill/>
            <a:prstDash val="solid"/>
          </a:ln>
        </p:spPr>
      </p:sp>
      <p:sp>
        <p:nvSpPr>
          <p:cNvPr id="34" name="矩形 33"/>
          <p:cNvSpPr>
            <a:spLocks noGrp="1"/>
          </p:cNvSpPr>
          <p:nvPr/>
        </p:nvSpPr>
        <p:spPr>
          <a:xfrm>
            <a:off x="2524125" y="276225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1</a:t>
            </a:r>
            <a:endParaRPr sz="930" b="1">
              <a:solidFill>
                <a:srgbClr val="FFFFFF"/>
              </a:solidFill>
              <a:latin typeface="Noto Sans Hans"/>
              <a:ea typeface="Noto Sans Hans"/>
              <a:cs typeface="Noto Sans Hans"/>
            </a:endParaRPr>
          </a:p>
        </p:txBody>
      </p:sp>
      <p:sp>
        <p:nvSpPr>
          <p:cNvPr id="35" name="矩形 34"/>
          <p:cNvSpPr>
            <a:spLocks noGrp="1"/>
          </p:cNvSpPr>
          <p:nvPr/>
        </p:nvSpPr>
        <p:spPr>
          <a:xfrm>
            <a:off x="2762250" y="2638425"/>
            <a:ext cx="981075" cy="800100"/>
          </a:xfrm>
          <a:prstGeom prst="rect">
            <a:avLst/>
          </a:prstGeom>
          <a:noFill/>
          <a:ln w="0">
            <a:noFill/>
            <a:prstDash val="solid"/>
          </a:ln>
        </p:spPr>
        <p:txBody>
          <a:bodyPr wrap="square" lIns="47625" tIns="19050" rIns="47625" bIns="19050" anchor="ctr">
            <a:normAutofit/>
          </a:bodyPr>
          <a:lstStyle/>
          <a:p>
            <a:pPr algn="ctr">
              <a:defRPr sz="840" b="1">
                <a:solidFill>
                  <a:srgbClr val="403A38"/>
                </a:solidFill>
                <a:latin typeface="Noto Sans Hans"/>
                <a:ea typeface="Noto Sans Hans"/>
                <a:cs typeface="Noto Sans Hans"/>
              </a:defRPr>
            </a:pPr>
            <a:r>
              <a:rPr sz="940" b="1">
                <a:solidFill>
                  <a:srgbClr val="403A38"/>
                </a:solidFill>
                <a:latin typeface="Noto Sans Hans"/>
                <a:ea typeface="Noto Sans Hans"/>
                <a:cs typeface="Noto Sans Hans"/>
              </a:rPr>
              <a:t>中试、组装与供应链</a:t>
            </a:r>
            <a:endParaRPr sz="940" b="1">
              <a:solidFill>
                <a:srgbClr val="403A38"/>
              </a:solidFill>
              <a:latin typeface="Noto Sans Hans"/>
              <a:ea typeface="Noto Sans Hans"/>
              <a:cs typeface="Noto Sans Hans"/>
            </a:endParaRPr>
          </a:p>
        </p:txBody>
      </p:sp>
      <p:sp>
        <p:nvSpPr>
          <p:cNvPr id="36" name="圆角矩形 35"/>
          <p:cNvSpPr>
            <a:spLocks noGrp="1"/>
          </p:cNvSpPr>
          <p:nvPr/>
        </p:nvSpPr>
        <p:spPr>
          <a:xfrm>
            <a:off x="3924300" y="2676525"/>
            <a:ext cx="1409700" cy="723900"/>
          </a:xfrm>
          <a:prstGeom prst="roundRect">
            <a:avLst>
              <a:gd name="adj" fmla="val 2632"/>
            </a:avLst>
          </a:prstGeom>
          <a:solidFill>
            <a:srgbClr val="FFFFFF"/>
          </a:solidFill>
          <a:ln w="9525">
            <a:solidFill>
              <a:srgbClr val="C84A27"/>
            </a:solidFill>
            <a:prstDash val="solid"/>
          </a:ln>
        </p:spPr>
      </p:sp>
      <p:sp>
        <p:nvSpPr>
          <p:cNvPr id="37" name="椭圆 36"/>
          <p:cNvSpPr>
            <a:spLocks noGrp="1"/>
          </p:cNvSpPr>
          <p:nvPr/>
        </p:nvSpPr>
        <p:spPr>
          <a:xfrm>
            <a:off x="4029075" y="2762250"/>
            <a:ext cx="228600" cy="228600"/>
          </a:xfrm>
          <a:prstGeom prst="ellipse">
            <a:avLst/>
          </a:prstGeom>
          <a:solidFill>
            <a:srgbClr val="C84A27"/>
          </a:solidFill>
          <a:ln w="0">
            <a:noFill/>
            <a:prstDash val="solid"/>
          </a:ln>
        </p:spPr>
      </p:sp>
      <p:sp>
        <p:nvSpPr>
          <p:cNvPr id="38" name="矩形 37"/>
          <p:cNvSpPr>
            <a:spLocks noGrp="1"/>
          </p:cNvSpPr>
          <p:nvPr/>
        </p:nvSpPr>
        <p:spPr>
          <a:xfrm>
            <a:off x="4048125" y="276225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2</a:t>
            </a:r>
            <a:endParaRPr sz="930" b="1">
              <a:solidFill>
                <a:srgbClr val="FFFFFF"/>
              </a:solidFill>
              <a:latin typeface="Noto Sans Hans"/>
              <a:ea typeface="Noto Sans Hans"/>
              <a:cs typeface="Noto Sans Hans"/>
            </a:endParaRPr>
          </a:p>
        </p:txBody>
      </p:sp>
      <p:sp>
        <p:nvSpPr>
          <p:cNvPr id="39" name="矩形 38"/>
          <p:cNvSpPr>
            <a:spLocks noGrp="1"/>
          </p:cNvSpPr>
          <p:nvPr/>
        </p:nvSpPr>
        <p:spPr>
          <a:xfrm>
            <a:off x="4286250" y="263842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汽车制造能力复用</a:t>
            </a:r>
            <a:endParaRPr sz="940" b="0">
              <a:solidFill>
                <a:srgbClr val="403A38"/>
              </a:solidFill>
              <a:latin typeface="Noto Sans Hans"/>
              <a:ea typeface="Noto Sans Hans"/>
              <a:cs typeface="Noto Sans Hans"/>
            </a:endParaRPr>
          </a:p>
        </p:txBody>
      </p:sp>
      <p:sp>
        <p:nvSpPr>
          <p:cNvPr id="40" name="圆角矩形 39"/>
          <p:cNvSpPr>
            <a:spLocks noGrp="1"/>
          </p:cNvSpPr>
          <p:nvPr/>
        </p:nvSpPr>
        <p:spPr>
          <a:xfrm>
            <a:off x="5448300" y="2676525"/>
            <a:ext cx="1409700" cy="723900"/>
          </a:xfrm>
          <a:prstGeom prst="roundRect">
            <a:avLst>
              <a:gd name="adj" fmla="val 2632"/>
            </a:avLst>
          </a:prstGeom>
          <a:solidFill>
            <a:srgbClr val="FFFFFF"/>
          </a:solidFill>
          <a:ln w="9525">
            <a:solidFill>
              <a:srgbClr val="C84A27"/>
            </a:solidFill>
            <a:prstDash val="solid"/>
          </a:ln>
        </p:spPr>
      </p:sp>
      <p:sp>
        <p:nvSpPr>
          <p:cNvPr id="41" name="椭圆 40"/>
          <p:cNvSpPr>
            <a:spLocks noGrp="1"/>
          </p:cNvSpPr>
          <p:nvPr/>
        </p:nvSpPr>
        <p:spPr>
          <a:xfrm>
            <a:off x="5553075" y="2762250"/>
            <a:ext cx="228600" cy="228600"/>
          </a:xfrm>
          <a:prstGeom prst="ellipse">
            <a:avLst/>
          </a:prstGeom>
          <a:solidFill>
            <a:srgbClr val="C84A27"/>
          </a:solidFill>
          <a:ln w="0">
            <a:noFill/>
            <a:prstDash val="solid"/>
          </a:ln>
        </p:spPr>
      </p:sp>
      <p:sp>
        <p:nvSpPr>
          <p:cNvPr id="42" name="矩形 41"/>
          <p:cNvSpPr>
            <a:spLocks noGrp="1"/>
          </p:cNvSpPr>
          <p:nvPr/>
        </p:nvSpPr>
        <p:spPr>
          <a:xfrm>
            <a:off x="5572125" y="276225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3</a:t>
            </a:r>
            <a:endParaRPr sz="930" b="1">
              <a:solidFill>
                <a:srgbClr val="FFFFFF"/>
              </a:solidFill>
              <a:latin typeface="Noto Sans Hans"/>
              <a:ea typeface="Noto Sans Hans"/>
              <a:cs typeface="Noto Sans Hans"/>
            </a:endParaRPr>
          </a:p>
        </p:txBody>
      </p:sp>
      <p:sp>
        <p:nvSpPr>
          <p:cNvPr id="43" name="矩形 42"/>
          <p:cNvSpPr>
            <a:spLocks noGrp="1"/>
          </p:cNvSpPr>
          <p:nvPr/>
        </p:nvSpPr>
        <p:spPr>
          <a:xfrm>
            <a:off x="5810250" y="263842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城市服务机器人适配</a:t>
            </a:r>
            <a:endParaRPr sz="940" b="0">
              <a:solidFill>
                <a:srgbClr val="403A38"/>
              </a:solidFill>
              <a:latin typeface="Noto Sans Hans"/>
              <a:ea typeface="Noto Sans Hans"/>
              <a:cs typeface="Noto Sans Hans"/>
            </a:endParaRPr>
          </a:p>
        </p:txBody>
      </p:sp>
      <p:sp>
        <p:nvSpPr>
          <p:cNvPr id="44" name="矩形 43"/>
          <p:cNvSpPr>
            <a:spLocks noGrp="1"/>
          </p:cNvSpPr>
          <p:nvPr/>
        </p:nvSpPr>
        <p:spPr>
          <a:xfrm>
            <a:off x="7143750" y="2486025"/>
            <a:ext cx="2428875" cy="1104900"/>
          </a:xfrm>
          <a:prstGeom prst="rect">
            <a:avLst/>
          </a:prstGeom>
          <a:solidFill>
            <a:srgbClr val="F7F3F1"/>
          </a:solidFill>
          <a:ln w="9525">
            <a:solidFill>
              <a:srgbClr val="FFFFFF"/>
            </a:solidFill>
            <a:prstDash val="solid"/>
          </a:ln>
        </p:spPr>
      </p:sp>
      <p:sp>
        <p:nvSpPr>
          <p:cNvPr id="45" name="矩形 44"/>
          <p:cNvSpPr>
            <a:spLocks noGrp="1"/>
          </p:cNvSpPr>
          <p:nvPr/>
        </p:nvSpPr>
        <p:spPr>
          <a:xfrm>
            <a:off x="7239000" y="2581275"/>
            <a:ext cx="2238375" cy="914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机器人谷制造承载区</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汽车与装备供应链</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城市服务和产业园资源</a:t>
            </a:r>
            <a:endParaRPr sz="1100" b="0">
              <a:solidFill>
                <a:srgbClr val="403A38"/>
              </a:solidFill>
              <a:latin typeface="Noto Sans Hans"/>
              <a:ea typeface="Noto Sans Hans"/>
              <a:cs typeface="Noto Sans Hans"/>
            </a:endParaRPr>
          </a:p>
        </p:txBody>
      </p:sp>
      <p:sp>
        <p:nvSpPr>
          <p:cNvPr id="46" name="矩形 45"/>
          <p:cNvSpPr>
            <a:spLocks noGrp="1"/>
          </p:cNvSpPr>
          <p:nvPr/>
        </p:nvSpPr>
        <p:spPr>
          <a:xfrm>
            <a:off x="9667875" y="2486025"/>
            <a:ext cx="2095500" cy="1104900"/>
          </a:xfrm>
          <a:prstGeom prst="rect">
            <a:avLst/>
          </a:prstGeom>
          <a:solidFill>
            <a:srgbClr val="F7F3F1"/>
          </a:solidFill>
          <a:ln w="9525">
            <a:solidFill>
              <a:srgbClr val="FFFFFF"/>
            </a:solidFill>
            <a:prstDash val="solid"/>
          </a:ln>
        </p:spPr>
      </p:sp>
      <p:sp>
        <p:nvSpPr>
          <p:cNvPr id="47" name="矩形 46"/>
          <p:cNvSpPr>
            <a:spLocks noGrp="1"/>
          </p:cNvSpPr>
          <p:nvPr/>
        </p:nvSpPr>
        <p:spPr>
          <a:xfrm>
            <a:off x="9763125" y="2581275"/>
            <a:ext cx="1905000" cy="914400"/>
          </a:xfrm>
          <a:prstGeom prst="rect">
            <a:avLst/>
          </a:prstGeom>
          <a:noFill/>
          <a:ln w="0">
            <a:noFill/>
            <a:prstDash val="solid"/>
          </a:ln>
        </p:spPr>
        <p:txBody>
          <a:bodyPr wrap="square" lIns="47625" tIns="19050" rIns="47625" bIns="19050" anchor="t">
            <a:noAutofit/>
          </a:bodyPr>
          <a:lstStyle/>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优必选、擎朗、普渡</a:t>
            </a:r>
            <a:endParaRPr sz="1100" b="0">
              <a:solidFill>
                <a:srgbClr val="403A38"/>
              </a:solidFill>
              <a:latin typeface="Noto Sans Hans"/>
              <a:ea typeface="Noto Sans Hans"/>
              <a:cs typeface="Noto Sans Hans"/>
            </a:endParaRPr>
          </a:p>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控制器、电机、减速器企业</a:t>
            </a:r>
            <a:endParaRPr sz="1100" b="0">
              <a:solidFill>
                <a:srgbClr val="403A38"/>
              </a:solidFill>
              <a:latin typeface="Noto Sans Hans"/>
              <a:ea typeface="Noto Sans Hans"/>
              <a:cs typeface="Noto Sans Hans"/>
            </a:endParaRPr>
          </a:p>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区域交付、维保与租赁中心</a:t>
            </a:r>
            <a:endParaRPr sz="1100" b="0">
              <a:solidFill>
                <a:srgbClr val="403A38"/>
              </a:solidFill>
              <a:latin typeface="Noto Sans Hans"/>
              <a:ea typeface="Noto Sans Hans"/>
              <a:cs typeface="Noto Sans Hans"/>
            </a:endParaRPr>
          </a:p>
        </p:txBody>
      </p:sp>
      <p:sp>
        <p:nvSpPr>
          <p:cNvPr id="48" name="矩形 47"/>
          <p:cNvSpPr>
            <a:spLocks noGrp="1"/>
          </p:cNvSpPr>
          <p:nvPr/>
        </p:nvSpPr>
        <p:spPr>
          <a:xfrm>
            <a:off x="428625" y="3686175"/>
            <a:ext cx="1809750" cy="1104900"/>
          </a:xfrm>
          <a:prstGeom prst="rect">
            <a:avLst/>
          </a:prstGeom>
          <a:solidFill>
            <a:srgbClr val="9A3037"/>
          </a:solidFill>
          <a:ln w="0">
            <a:noFill/>
            <a:prstDash val="solid"/>
          </a:ln>
        </p:spPr>
      </p:sp>
      <p:sp>
        <p:nvSpPr>
          <p:cNvPr id="49" name="矩形 48"/>
          <p:cNvSpPr>
            <a:spLocks noGrp="1"/>
          </p:cNvSpPr>
          <p:nvPr/>
        </p:nvSpPr>
        <p:spPr>
          <a:xfrm>
            <a:off x="504825" y="3771900"/>
            <a:ext cx="1657350" cy="914400"/>
          </a:xfrm>
          <a:prstGeom prst="rect">
            <a:avLst/>
          </a:prstGeom>
          <a:noFill/>
          <a:ln w="0">
            <a:noFill/>
            <a:prstDash val="solid"/>
          </a:ln>
        </p:spPr>
        <p:txBody>
          <a:bodyPr wrap="square" lIns="47625" tIns="19050" rIns="47625" bIns="19050" anchor="ctr">
            <a:normAutofit/>
          </a:bodyPr>
          <a:lstStyle/>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汉阳康养网络</a:t>
            </a:r>
            <a:endParaRPr sz="1400" b="1">
              <a:solidFill>
                <a:srgbClr val="FFFFFF"/>
              </a:solidFill>
              <a:latin typeface="Noto Sans Hans"/>
              <a:ea typeface="Noto Sans Hans"/>
              <a:cs typeface="Noto Sans Hans"/>
            </a:endParaRPr>
          </a:p>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安养链平台</a:t>
            </a:r>
            <a:endParaRPr sz="1400" b="1">
              <a:solidFill>
                <a:srgbClr val="FFFFFF"/>
              </a:solidFill>
              <a:latin typeface="Noto Sans Hans"/>
              <a:ea typeface="Noto Sans Hans"/>
              <a:cs typeface="Noto Sans Hans"/>
            </a:endParaRPr>
          </a:p>
        </p:txBody>
      </p:sp>
      <p:sp>
        <p:nvSpPr>
          <p:cNvPr id="50" name="矩形 49"/>
          <p:cNvSpPr>
            <a:spLocks noGrp="1"/>
          </p:cNvSpPr>
          <p:nvPr/>
        </p:nvSpPr>
        <p:spPr>
          <a:xfrm>
            <a:off x="2286000" y="3686175"/>
            <a:ext cx="4762500" cy="1104900"/>
          </a:xfrm>
          <a:prstGeom prst="rect">
            <a:avLst/>
          </a:prstGeom>
          <a:solidFill>
            <a:srgbClr val="F9E7E6"/>
          </a:solidFill>
          <a:ln w="9525">
            <a:solidFill>
              <a:srgbClr val="FFFFFF"/>
            </a:solidFill>
            <a:prstDash val="solid"/>
          </a:ln>
        </p:spPr>
      </p:sp>
      <p:sp>
        <p:nvSpPr>
          <p:cNvPr id="51" name="圆角矩形 50"/>
          <p:cNvSpPr>
            <a:spLocks noGrp="1"/>
          </p:cNvSpPr>
          <p:nvPr/>
        </p:nvSpPr>
        <p:spPr>
          <a:xfrm>
            <a:off x="2400300" y="3876675"/>
            <a:ext cx="1409700" cy="723900"/>
          </a:xfrm>
          <a:prstGeom prst="roundRect">
            <a:avLst>
              <a:gd name="adj" fmla="val 2632"/>
            </a:avLst>
          </a:prstGeom>
          <a:solidFill>
            <a:srgbClr val="FFFFFF"/>
          </a:solidFill>
          <a:ln w="9525">
            <a:solidFill>
              <a:srgbClr val="9A3037"/>
            </a:solidFill>
            <a:prstDash val="solid"/>
          </a:ln>
        </p:spPr>
      </p:sp>
      <p:sp>
        <p:nvSpPr>
          <p:cNvPr id="52" name="椭圆 51"/>
          <p:cNvSpPr>
            <a:spLocks noGrp="1"/>
          </p:cNvSpPr>
          <p:nvPr/>
        </p:nvSpPr>
        <p:spPr>
          <a:xfrm>
            <a:off x="2505075" y="3962400"/>
            <a:ext cx="228600" cy="228600"/>
          </a:xfrm>
          <a:prstGeom prst="ellipse">
            <a:avLst/>
          </a:prstGeom>
          <a:solidFill>
            <a:srgbClr val="9A3037"/>
          </a:solidFill>
          <a:ln w="0">
            <a:noFill/>
            <a:prstDash val="solid"/>
          </a:ln>
        </p:spPr>
      </p:sp>
      <p:sp>
        <p:nvSpPr>
          <p:cNvPr id="53" name="矩形 52"/>
          <p:cNvSpPr>
            <a:spLocks noGrp="1"/>
          </p:cNvSpPr>
          <p:nvPr/>
        </p:nvSpPr>
        <p:spPr>
          <a:xfrm>
            <a:off x="2524125" y="396240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1</a:t>
            </a:r>
            <a:endParaRPr sz="930" b="1">
              <a:solidFill>
                <a:srgbClr val="FFFFFF"/>
              </a:solidFill>
              <a:latin typeface="Noto Sans Hans"/>
              <a:ea typeface="Noto Sans Hans"/>
              <a:cs typeface="Noto Sans Hans"/>
            </a:endParaRPr>
          </a:p>
        </p:txBody>
      </p:sp>
      <p:sp>
        <p:nvSpPr>
          <p:cNvPr id="54" name="矩形 53"/>
          <p:cNvSpPr>
            <a:spLocks noGrp="1"/>
          </p:cNvSpPr>
          <p:nvPr/>
        </p:nvSpPr>
        <p:spPr>
          <a:xfrm>
            <a:off x="2762250" y="3838575"/>
            <a:ext cx="981075" cy="800100"/>
          </a:xfrm>
          <a:prstGeom prst="rect">
            <a:avLst/>
          </a:prstGeom>
          <a:noFill/>
          <a:ln w="0">
            <a:noFill/>
            <a:prstDash val="solid"/>
          </a:ln>
        </p:spPr>
        <p:txBody>
          <a:bodyPr wrap="square" lIns="47625" tIns="19050" rIns="47625" bIns="19050" anchor="ctr">
            <a:normAutofit/>
          </a:bodyPr>
          <a:lstStyle/>
          <a:p>
            <a:pPr algn="ctr">
              <a:defRPr sz="840" b="1">
                <a:solidFill>
                  <a:srgbClr val="403A38"/>
                </a:solidFill>
                <a:latin typeface="Noto Sans Hans"/>
                <a:ea typeface="Noto Sans Hans"/>
                <a:cs typeface="Noto Sans Hans"/>
              </a:defRPr>
            </a:pPr>
            <a:r>
              <a:rPr sz="940" b="1">
                <a:solidFill>
                  <a:srgbClr val="403A38"/>
                </a:solidFill>
                <a:latin typeface="Noto Sans Hans"/>
                <a:ea typeface="Noto Sans Hans"/>
                <a:cs typeface="Noto Sans Hans"/>
              </a:rPr>
              <a:t>机构—社区—居家场景</a:t>
            </a:r>
            <a:endParaRPr sz="940" b="1">
              <a:solidFill>
                <a:srgbClr val="403A38"/>
              </a:solidFill>
              <a:latin typeface="Noto Sans Hans"/>
              <a:ea typeface="Noto Sans Hans"/>
              <a:cs typeface="Noto Sans Hans"/>
            </a:endParaRPr>
          </a:p>
        </p:txBody>
      </p:sp>
      <p:sp>
        <p:nvSpPr>
          <p:cNvPr id="55" name="圆角矩形 54"/>
          <p:cNvSpPr>
            <a:spLocks noGrp="1"/>
          </p:cNvSpPr>
          <p:nvPr/>
        </p:nvSpPr>
        <p:spPr>
          <a:xfrm>
            <a:off x="3924300" y="3876675"/>
            <a:ext cx="1409700" cy="723900"/>
          </a:xfrm>
          <a:prstGeom prst="roundRect">
            <a:avLst>
              <a:gd name="adj" fmla="val 2632"/>
            </a:avLst>
          </a:prstGeom>
          <a:solidFill>
            <a:srgbClr val="FFFFFF"/>
          </a:solidFill>
          <a:ln w="9525">
            <a:solidFill>
              <a:srgbClr val="9A3037"/>
            </a:solidFill>
            <a:prstDash val="solid"/>
          </a:ln>
        </p:spPr>
      </p:sp>
      <p:sp>
        <p:nvSpPr>
          <p:cNvPr id="56" name="椭圆 55"/>
          <p:cNvSpPr>
            <a:spLocks noGrp="1"/>
          </p:cNvSpPr>
          <p:nvPr/>
        </p:nvSpPr>
        <p:spPr>
          <a:xfrm>
            <a:off x="4029075" y="3962400"/>
            <a:ext cx="228600" cy="228600"/>
          </a:xfrm>
          <a:prstGeom prst="ellipse">
            <a:avLst/>
          </a:prstGeom>
          <a:solidFill>
            <a:srgbClr val="9A3037"/>
          </a:solidFill>
          <a:ln w="0">
            <a:noFill/>
            <a:prstDash val="solid"/>
          </a:ln>
        </p:spPr>
      </p:sp>
      <p:sp>
        <p:nvSpPr>
          <p:cNvPr id="57" name="矩形 56"/>
          <p:cNvSpPr>
            <a:spLocks noGrp="1"/>
          </p:cNvSpPr>
          <p:nvPr/>
        </p:nvSpPr>
        <p:spPr>
          <a:xfrm>
            <a:off x="4048125" y="396240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2</a:t>
            </a:r>
            <a:endParaRPr sz="930" b="1">
              <a:solidFill>
                <a:srgbClr val="FFFFFF"/>
              </a:solidFill>
              <a:latin typeface="Noto Sans Hans"/>
              <a:ea typeface="Noto Sans Hans"/>
              <a:cs typeface="Noto Sans Hans"/>
            </a:endParaRPr>
          </a:p>
        </p:txBody>
      </p:sp>
      <p:sp>
        <p:nvSpPr>
          <p:cNvPr id="58" name="矩形 57"/>
          <p:cNvSpPr>
            <a:spLocks noGrp="1"/>
          </p:cNvSpPr>
          <p:nvPr/>
        </p:nvSpPr>
        <p:spPr>
          <a:xfrm>
            <a:off x="4286250" y="383857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需求定义与产品验证</a:t>
            </a:r>
            <a:endParaRPr sz="940" b="0">
              <a:solidFill>
                <a:srgbClr val="403A38"/>
              </a:solidFill>
              <a:latin typeface="Noto Sans Hans"/>
              <a:ea typeface="Noto Sans Hans"/>
              <a:cs typeface="Noto Sans Hans"/>
            </a:endParaRPr>
          </a:p>
        </p:txBody>
      </p:sp>
      <p:sp>
        <p:nvSpPr>
          <p:cNvPr id="59" name="圆角矩形 58"/>
          <p:cNvSpPr>
            <a:spLocks noGrp="1"/>
          </p:cNvSpPr>
          <p:nvPr/>
        </p:nvSpPr>
        <p:spPr>
          <a:xfrm>
            <a:off x="5448300" y="3876675"/>
            <a:ext cx="1409700" cy="723900"/>
          </a:xfrm>
          <a:prstGeom prst="roundRect">
            <a:avLst>
              <a:gd name="adj" fmla="val 2632"/>
            </a:avLst>
          </a:prstGeom>
          <a:solidFill>
            <a:srgbClr val="FFFFFF"/>
          </a:solidFill>
          <a:ln w="9525">
            <a:solidFill>
              <a:srgbClr val="9A3037"/>
            </a:solidFill>
            <a:prstDash val="solid"/>
          </a:ln>
        </p:spPr>
      </p:sp>
      <p:sp>
        <p:nvSpPr>
          <p:cNvPr id="60" name="椭圆 59"/>
          <p:cNvSpPr>
            <a:spLocks noGrp="1"/>
          </p:cNvSpPr>
          <p:nvPr/>
        </p:nvSpPr>
        <p:spPr>
          <a:xfrm>
            <a:off x="5553075" y="3962400"/>
            <a:ext cx="228600" cy="228600"/>
          </a:xfrm>
          <a:prstGeom prst="ellipse">
            <a:avLst/>
          </a:prstGeom>
          <a:solidFill>
            <a:srgbClr val="9A3037"/>
          </a:solidFill>
          <a:ln w="0">
            <a:noFill/>
            <a:prstDash val="solid"/>
          </a:ln>
        </p:spPr>
      </p:sp>
      <p:sp>
        <p:nvSpPr>
          <p:cNvPr id="61" name="矩形 60"/>
          <p:cNvSpPr>
            <a:spLocks noGrp="1"/>
          </p:cNvSpPr>
          <p:nvPr/>
        </p:nvSpPr>
        <p:spPr>
          <a:xfrm>
            <a:off x="5572125" y="396240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3</a:t>
            </a:r>
            <a:endParaRPr sz="930" b="1">
              <a:solidFill>
                <a:srgbClr val="FFFFFF"/>
              </a:solidFill>
              <a:latin typeface="Noto Sans Hans"/>
              <a:ea typeface="Noto Sans Hans"/>
              <a:cs typeface="Noto Sans Hans"/>
            </a:endParaRPr>
          </a:p>
        </p:txBody>
      </p:sp>
      <p:sp>
        <p:nvSpPr>
          <p:cNvPr id="62" name="矩形 61"/>
          <p:cNvSpPr>
            <a:spLocks noGrp="1"/>
          </p:cNvSpPr>
          <p:nvPr/>
        </p:nvSpPr>
        <p:spPr>
          <a:xfrm>
            <a:off x="5810250" y="383857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运营、采购与RaaS模式</a:t>
            </a:r>
            <a:endParaRPr sz="940" b="0">
              <a:solidFill>
                <a:srgbClr val="403A38"/>
              </a:solidFill>
              <a:latin typeface="Noto Sans Hans"/>
              <a:ea typeface="Noto Sans Hans"/>
              <a:cs typeface="Noto Sans Hans"/>
            </a:endParaRPr>
          </a:p>
        </p:txBody>
      </p:sp>
      <p:sp>
        <p:nvSpPr>
          <p:cNvPr id="63" name="矩形 62"/>
          <p:cNvSpPr>
            <a:spLocks noGrp="1"/>
          </p:cNvSpPr>
          <p:nvPr/>
        </p:nvSpPr>
        <p:spPr>
          <a:xfrm>
            <a:off x="7143750" y="3686175"/>
            <a:ext cx="2428875" cy="1104900"/>
          </a:xfrm>
          <a:prstGeom prst="rect">
            <a:avLst/>
          </a:prstGeom>
          <a:solidFill>
            <a:srgbClr val="F9E7E6"/>
          </a:solidFill>
          <a:ln w="9525">
            <a:solidFill>
              <a:srgbClr val="FFFFFF"/>
            </a:solidFill>
            <a:prstDash val="solid"/>
          </a:ln>
        </p:spPr>
      </p:sp>
      <p:sp>
        <p:nvSpPr>
          <p:cNvPr id="64" name="矩形 63"/>
          <p:cNvSpPr>
            <a:spLocks noGrp="1"/>
          </p:cNvSpPr>
          <p:nvPr/>
        </p:nvSpPr>
        <p:spPr>
          <a:xfrm>
            <a:off x="7239000" y="3781425"/>
            <a:ext cx="2238375" cy="914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武汉城投康养集团</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安养链及社区养老设施</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养老床位、物业与家庭用户</a:t>
            </a:r>
            <a:endParaRPr sz="1100" b="0">
              <a:solidFill>
                <a:srgbClr val="403A38"/>
              </a:solidFill>
              <a:latin typeface="Noto Sans Hans"/>
              <a:ea typeface="Noto Sans Hans"/>
              <a:cs typeface="Noto Sans Hans"/>
            </a:endParaRPr>
          </a:p>
        </p:txBody>
      </p:sp>
      <p:sp>
        <p:nvSpPr>
          <p:cNvPr id="65" name="矩形 64"/>
          <p:cNvSpPr>
            <a:spLocks noGrp="1"/>
          </p:cNvSpPr>
          <p:nvPr/>
        </p:nvSpPr>
        <p:spPr>
          <a:xfrm>
            <a:off x="9667875" y="3686175"/>
            <a:ext cx="2095500" cy="1104900"/>
          </a:xfrm>
          <a:prstGeom prst="rect">
            <a:avLst/>
          </a:prstGeom>
          <a:solidFill>
            <a:srgbClr val="F6EFE0"/>
          </a:solidFill>
          <a:ln w="9525">
            <a:solidFill>
              <a:srgbClr val="FFFFFF"/>
            </a:solidFill>
            <a:prstDash val="solid"/>
          </a:ln>
        </p:spPr>
      </p:sp>
      <p:sp>
        <p:nvSpPr>
          <p:cNvPr id="66" name="矩形 65"/>
          <p:cNvSpPr>
            <a:spLocks noGrp="1"/>
          </p:cNvSpPr>
          <p:nvPr/>
        </p:nvSpPr>
        <p:spPr>
          <a:xfrm>
            <a:off x="9763125" y="3781425"/>
            <a:ext cx="1905000" cy="914400"/>
          </a:xfrm>
          <a:prstGeom prst="rect">
            <a:avLst/>
          </a:prstGeom>
          <a:noFill/>
          <a:ln w="0">
            <a:noFill/>
            <a:prstDash val="solid"/>
          </a:ln>
        </p:spPr>
        <p:txBody>
          <a:bodyPr wrap="square" lIns="47625" tIns="19050" rIns="47625" bIns="19050" anchor="t">
            <a:noAutofit/>
          </a:bodyPr>
          <a:lstStyle/>
          <a:p>
            <a:pPr algn="l" eaLnBrk="1" fontAlgn="auto" latinLnBrk="0" hangingPunct="1">
              <a:lnSpc>
                <a:spcPct val="120000"/>
              </a:lnSpc>
              <a:defRPr sz="830" b="0">
                <a:solidFill>
                  <a:srgbClr val="851117"/>
                </a:solidFill>
                <a:latin typeface="Noto Sans Hans"/>
                <a:ea typeface="Noto Sans Hans"/>
                <a:cs typeface="Noto Sans Hans"/>
              </a:defRPr>
            </a:pPr>
            <a:r>
              <a:rPr sz="1100" b="0">
                <a:solidFill>
                  <a:srgbClr val="851117"/>
                </a:solidFill>
                <a:latin typeface="Noto Sans Hans"/>
                <a:ea typeface="Noto Sans Hans"/>
                <a:cs typeface="Noto Sans Hans"/>
              </a:rPr>
              <a:t>✓ 护理、陪伴、监测机器人</a:t>
            </a:r>
            <a:endParaRPr sz="1100" b="0">
              <a:solidFill>
                <a:srgbClr val="851117"/>
              </a:solidFill>
              <a:latin typeface="Noto Sans Hans"/>
              <a:ea typeface="Noto Sans Hans"/>
              <a:cs typeface="Noto Sans Hans"/>
            </a:endParaRPr>
          </a:p>
          <a:p>
            <a:pPr algn="l" eaLnBrk="1" fontAlgn="auto" latinLnBrk="0" hangingPunct="1">
              <a:lnSpc>
                <a:spcPct val="120000"/>
              </a:lnSpc>
              <a:defRPr sz="830" b="0">
                <a:solidFill>
                  <a:srgbClr val="851117"/>
                </a:solidFill>
                <a:latin typeface="Noto Sans Hans"/>
                <a:ea typeface="Noto Sans Hans"/>
                <a:cs typeface="Noto Sans Hans"/>
              </a:defRPr>
            </a:pPr>
            <a:r>
              <a:rPr sz="1100" b="0">
                <a:solidFill>
                  <a:srgbClr val="851117"/>
                </a:solidFill>
                <a:latin typeface="Noto Sans Hans"/>
                <a:ea typeface="Noto Sans Hans"/>
                <a:cs typeface="Noto Sans Hans"/>
              </a:rPr>
              <a:t>✓ 联合试点与效果评估</a:t>
            </a:r>
            <a:endParaRPr sz="1100" b="0">
              <a:solidFill>
                <a:srgbClr val="851117"/>
              </a:solidFill>
              <a:latin typeface="Noto Sans Hans"/>
              <a:ea typeface="Noto Sans Hans"/>
              <a:cs typeface="Noto Sans Hans"/>
            </a:endParaRPr>
          </a:p>
          <a:p>
            <a:pPr algn="l" eaLnBrk="1" fontAlgn="auto" latinLnBrk="0" hangingPunct="1">
              <a:lnSpc>
                <a:spcPct val="120000"/>
              </a:lnSpc>
              <a:defRPr sz="830" b="0">
                <a:solidFill>
                  <a:srgbClr val="851117"/>
                </a:solidFill>
                <a:latin typeface="Noto Sans Hans"/>
                <a:ea typeface="Noto Sans Hans"/>
                <a:cs typeface="Noto Sans Hans"/>
              </a:defRPr>
            </a:pPr>
            <a:r>
              <a:rPr sz="1100" b="0">
                <a:solidFill>
                  <a:srgbClr val="851117"/>
                </a:solidFill>
                <a:latin typeface="Noto Sans Hans"/>
                <a:ea typeface="Noto Sans Hans"/>
                <a:cs typeface="Noto Sans Hans"/>
              </a:rPr>
              <a:t>✓ 按服务付费和规模采购机制</a:t>
            </a:r>
            <a:endParaRPr sz="1100" b="0">
              <a:solidFill>
                <a:srgbClr val="851117"/>
              </a:solidFill>
              <a:latin typeface="Noto Sans Hans"/>
              <a:ea typeface="Noto Sans Hans"/>
              <a:cs typeface="Noto Sans Hans"/>
            </a:endParaRPr>
          </a:p>
        </p:txBody>
      </p:sp>
      <p:sp>
        <p:nvSpPr>
          <p:cNvPr id="67" name="矩形 66"/>
          <p:cNvSpPr>
            <a:spLocks noGrp="1"/>
          </p:cNvSpPr>
          <p:nvPr/>
        </p:nvSpPr>
        <p:spPr>
          <a:xfrm>
            <a:off x="428625" y="4886325"/>
            <a:ext cx="1809750" cy="1104900"/>
          </a:xfrm>
          <a:prstGeom prst="rect">
            <a:avLst/>
          </a:prstGeom>
          <a:solidFill>
            <a:srgbClr val="B56A70"/>
          </a:solidFill>
          <a:ln w="0">
            <a:noFill/>
            <a:prstDash val="solid"/>
          </a:ln>
        </p:spPr>
      </p:sp>
      <p:sp>
        <p:nvSpPr>
          <p:cNvPr id="68" name="矩形 67"/>
          <p:cNvSpPr>
            <a:spLocks noGrp="1"/>
          </p:cNvSpPr>
          <p:nvPr/>
        </p:nvSpPr>
        <p:spPr>
          <a:xfrm>
            <a:off x="504825" y="4972050"/>
            <a:ext cx="1657350" cy="914400"/>
          </a:xfrm>
          <a:prstGeom prst="rect">
            <a:avLst/>
          </a:prstGeom>
          <a:noFill/>
          <a:ln w="0">
            <a:noFill/>
            <a:prstDash val="solid"/>
          </a:ln>
        </p:spPr>
        <p:txBody>
          <a:bodyPr wrap="square" lIns="47625" tIns="19050" rIns="47625" bIns="19050" anchor="ctr">
            <a:normAutofit/>
          </a:bodyPr>
          <a:lstStyle/>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武汉都市圈</a:t>
            </a:r>
            <a:endParaRPr sz="1400" b="1">
              <a:solidFill>
                <a:srgbClr val="FFFFFF"/>
              </a:solidFill>
              <a:latin typeface="Noto Sans Hans"/>
              <a:ea typeface="Noto Sans Hans"/>
              <a:cs typeface="Noto Sans Hans"/>
            </a:endParaRPr>
          </a:p>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协同制造与复制节点</a:t>
            </a:r>
            <a:endParaRPr sz="1400" b="1">
              <a:solidFill>
                <a:srgbClr val="FFFFFF"/>
              </a:solidFill>
              <a:latin typeface="Noto Sans Hans"/>
              <a:ea typeface="Noto Sans Hans"/>
              <a:cs typeface="Noto Sans Hans"/>
            </a:endParaRPr>
          </a:p>
        </p:txBody>
      </p:sp>
      <p:sp>
        <p:nvSpPr>
          <p:cNvPr id="69" name="矩形 68"/>
          <p:cNvSpPr>
            <a:spLocks noGrp="1"/>
          </p:cNvSpPr>
          <p:nvPr/>
        </p:nvSpPr>
        <p:spPr>
          <a:xfrm>
            <a:off x="2286000" y="4886325"/>
            <a:ext cx="4762500" cy="1104900"/>
          </a:xfrm>
          <a:prstGeom prst="rect">
            <a:avLst/>
          </a:prstGeom>
          <a:solidFill>
            <a:srgbClr val="F7F3F1"/>
          </a:solidFill>
          <a:ln w="9525">
            <a:solidFill>
              <a:srgbClr val="FFFFFF"/>
            </a:solidFill>
            <a:prstDash val="solid"/>
          </a:ln>
        </p:spPr>
      </p:sp>
      <p:sp>
        <p:nvSpPr>
          <p:cNvPr id="70" name="圆角矩形 69"/>
          <p:cNvSpPr>
            <a:spLocks noGrp="1"/>
          </p:cNvSpPr>
          <p:nvPr/>
        </p:nvSpPr>
        <p:spPr>
          <a:xfrm>
            <a:off x="2400300" y="5076825"/>
            <a:ext cx="1409700" cy="723900"/>
          </a:xfrm>
          <a:prstGeom prst="roundRect">
            <a:avLst>
              <a:gd name="adj" fmla="val 2632"/>
            </a:avLst>
          </a:prstGeom>
          <a:solidFill>
            <a:srgbClr val="FFFFFF"/>
          </a:solidFill>
          <a:ln w="9525">
            <a:solidFill>
              <a:srgbClr val="B56A70"/>
            </a:solidFill>
            <a:prstDash val="solid"/>
          </a:ln>
        </p:spPr>
      </p:sp>
      <p:sp>
        <p:nvSpPr>
          <p:cNvPr id="71" name="椭圆 70"/>
          <p:cNvSpPr>
            <a:spLocks noGrp="1"/>
          </p:cNvSpPr>
          <p:nvPr/>
        </p:nvSpPr>
        <p:spPr>
          <a:xfrm>
            <a:off x="2505075" y="5162550"/>
            <a:ext cx="228600" cy="228600"/>
          </a:xfrm>
          <a:prstGeom prst="ellipse">
            <a:avLst/>
          </a:prstGeom>
          <a:solidFill>
            <a:srgbClr val="B56A70"/>
          </a:solidFill>
          <a:ln w="0">
            <a:noFill/>
            <a:prstDash val="solid"/>
          </a:ln>
        </p:spPr>
      </p:sp>
      <p:sp>
        <p:nvSpPr>
          <p:cNvPr id="72" name="矩形 71"/>
          <p:cNvSpPr>
            <a:spLocks noGrp="1"/>
          </p:cNvSpPr>
          <p:nvPr/>
        </p:nvSpPr>
        <p:spPr>
          <a:xfrm>
            <a:off x="2524125" y="516255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1</a:t>
            </a:r>
            <a:endParaRPr sz="930" b="1">
              <a:solidFill>
                <a:srgbClr val="FFFFFF"/>
              </a:solidFill>
              <a:latin typeface="Noto Sans Hans"/>
              <a:ea typeface="Noto Sans Hans"/>
              <a:cs typeface="Noto Sans Hans"/>
            </a:endParaRPr>
          </a:p>
        </p:txBody>
      </p:sp>
      <p:sp>
        <p:nvSpPr>
          <p:cNvPr id="73" name="矩形 72"/>
          <p:cNvSpPr>
            <a:spLocks noGrp="1"/>
          </p:cNvSpPr>
          <p:nvPr/>
        </p:nvSpPr>
        <p:spPr>
          <a:xfrm>
            <a:off x="2762250" y="5038725"/>
            <a:ext cx="981075" cy="800100"/>
          </a:xfrm>
          <a:prstGeom prst="rect">
            <a:avLst/>
          </a:prstGeom>
          <a:noFill/>
          <a:ln w="0">
            <a:noFill/>
            <a:prstDash val="solid"/>
          </a:ln>
        </p:spPr>
        <p:txBody>
          <a:bodyPr wrap="square" lIns="47625" tIns="19050" rIns="47625" bIns="19050" anchor="ctr">
            <a:normAutofit/>
          </a:bodyPr>
          <a:lstStyle/>
          <a:p>
            <a:pPr algn="ctr">
              <a:defRPr sz="840" b="1">
                <a:solidFill>
                  <a:srgbClr val="403A38"/>
                </a:solidFill>
                <a:latin typeface="Noto Sans Hans"/>
                <a:ea typeface="Noto Sans Hans"/>
                <a:cs typeface="Noto Sans Hans"/>
              </a:defRPr>
            </a:pPr>
            <a:r>
              <a:rPr sz="940" b="1">
                <a:solidFill>
                  <a:srgbClr val="403A38"/>
                </a:solidFill>
                <a:latin typeface="Noto Sans Hans"/>
                <a:ea typeface="Noto Sans Hans"/>
                <a:cs typeface="Noto Sans Hans"/>
              </a:rPr>
              <a:t>零部件与成本型制造</a:t>
            </a:r>
            <a:endParaRPr sz="940" b="1">
              <a:solidFill>
                <a:srgbClr val="403A38"/>
              </a:solidFill>
              <a:latin typeface="Noto Sans Hans"/>
              <a:ea typeface="Noto Sans Hans"/>
              <a:cs typeface="Noto Sans Hans"/>
            </a:endParaRPr>
          </a:p>
        </p:txBody>
      </p:sp>
      <p:sp>
        <p:nvSpPr>
          <p:cNvPr id="74" name="圆角矩形 73"/>
          <p:cNvSpPr>
            <a:spLocks noGrp="1"/>
          </p:cNvSpPr>
          <p:nvPr/>
        </p:nvSpPr>
        <p:spPr>
          <a:xfrm>
            <a:off x="3924300" y="5076825"/>
            <a:ext cx="1409700" cy="723900"/>
          </a:xfrm>
          <a:prstGeom prst="roundRect">
            <a:avLst>
              <a:gd name="adj" fmla="val 2632"/>
            </a:avLst>
          </a:prstGeom>
          <a:solidFill>
            <a:srgbClr val="FFFFFF"/>
          </a:solidFill>
          <a:ln w="9525">
            <a:solidFill>
              <a:srgbClr val="B56A70"/>
            </a:solidFill>
            <a:prstDash val="solid"/>
          </a:ln>
        </p:spPr>
      </p:sp>
      <p:sp>
        <p:nvSpPr>
          <p:cNvPr id="75" name="椭圆 74"/>
          <p:cNvSpPr>
            <a:spLocks noGrp="1"/>
          </p:cNvSpPr>
          <p:nvPr/>
        </p:nvSpPr>
        <p:spPr>
          <a:xfrm>
            <a:off x="4029075" y="5162550"/>
            <a:ext cx="228600" cy="228600"/>
          </a:xfrm>
          <a:prstGeom prst="ellipse">
            <a:avLst/>
          </a:prstGeom>
          <a:solidFill>
            <a:srgbClr val="B56A70"/>
          </a:solidFill>
          <a:ln w="0">
            <a:noFill/>
            <a:prstDash val="solid"/>
          </a:ln>
        </p:spPr>
      </p:sp>
      <p:sp>
        <p:nvSpPr>
          <p:cNvPr id="76" name="矩形 75"/>
          <p:cNvSpPr>
            <a:spLocks noGrp="1"/>
          </p:cNvSpPr>
          <p:nvPr/>
        </p:nvSpPr>
        <p:spPr>
          <a:xfrm>
            <a:off x="4048125" y="516255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2</a:t>
            </a:r>
            <a:endParaRPr sz="930" b="1">
              <a:solidFill>
                <a:srgbClr val="FFFFFF"/>
              </a:solidFill>
              <a:latin typeface="Noto Sans Hans"/>
              <a:ea typeface="Noto Sans Hans"/>
              <a:cs typeface="Noto Sans Hans"/>
            </a:endParaRPr>
          </a:p>
        </p:txBody>
      </p:sp>
      <p:sp>
        <p:nvSpPr>
          <p:cNvPr id="77" name="矩形 76"/>
          <p:cNvSpPr>
            <a:spLocks noGrp="1"/>
          </p:cNvSpPr>
          <p:nvPr/>
        </p:nvSpPr>
        <p:spPr>
          <a:xfrm>
            <a:off x="4286250" y="503872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医疗康复和康养场景</a:t>
            </a:r>
            <a:endParaRPr sz="940" b="0">
              <a:solidFill>
                <a:srgbClr val="403A38"/>
              </a:solidFill>
              <a:latin typeface="Noto Sans Hans"/>
              <a:ea typeface="Noto Sans Hans"/>
              <a:cs typeface="Noto Sans Hans"/>
            </a:endParaRPr>
          </a:p>
        </p:txBody>
      </p:sp>
      <p:sp>
        <p:nvSpPr>
          <p:cNvPr id="78" name="圆角矩形 77"/>
          <p:cNvSpPr>
            <a:spLocks noGrp="1"/>
          </p:cNvSpPr>
          <p:nvPr/>
        </p:nvSpPr>
        <p:spPr>
          <a:xfrm>
            <a:off x="5448300" y="5076825"/>
            <a:ext cx="1409700" cy="723900"/>
          </a:xfrm>
          <a:prstGeom prst="roundRect">
            <a:avLst>
              <a:gd name="adj" fmla="val 2632"/>
            </a:avLst>
          </a:prstGeom>
          <a:solidFill>
            <a:srgbClr val="FFFFFF"/>
          </a:solidFill>
          <a:ln w="9525">
            <a:solidFill>
              <a:srgbClr val="B56A70"/>
            </a:solidFill>
            <a:prstDash val="solid"/>
          </a:ln>
        </p:spPr>
      </p:sp>
      <p:sp>
        <p:nvSpPr>
          <p:cNvPr id="79" name="椭圆 78"/>
          <p:cNvSpPr>
            <a:spLocks noGrp="1"/>
          </p:cNvSpPr>
          <p:nvPr/>
        </p:nvSpPr>
        <p:spPr>
          <a:xfrm>
            <a:off x="5553075" y="5162550"/>
            <a:ext cx="228600" cy="228600"/>
          </a:xfrm>
          <a:prstGeom prst="ellipse">
            <a:avLst/>
          </a:prstGeom>
          <a:solidFill>
            <a:srgbClr val="B56A70"/>
          </a:solidFill>
          <a:ln w="0">
            <a:noFill/>
            <a:prstDash val="solid"/>
          </a:ln>
        </p:spPr>
      </p:sp>
      <p:sp>
        <p:nvSpPr>
          <p:cNvPr id="80" name="矩形 79"/>
          <p:cNvSpPr>
            <a:spLocks noGrp="1"/>
          </p:cNvSpPr>
          <p:nvPr/>
        </p:nvSpPr>
        <p:spPr>
          <a:xfrm>
            <a:off x="5572125" y="5162550"/>
            <a:ext cx="190500" cy="209550"/>
          </a:xfrm>
          <a:prstGeom prst="rect">
            <a:avLst/>
          </a:prstGeom>
          <a:noFill/>
          <a:ln w="0">
            <a:noFill/>
            <a:prstDash val="solid"/>
          </a:ln>
        </p:spPr>
        <p:txBody>
          <a:bodyPr wrap="square" lIns="47625" tIns="19050" rIns="47625" bIns="19050" anchor="ctr">
            <a:normAutofit/>
          </a:bodyPr>
          <a:lstStyle/>
          <a:p>
            <a:pPr algn="ctr">
              <a:defRPr sz="825"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3</a:t>
            </a:r>
            <a:endParaRPr sz="930" b="1">
              <a:solidFill>
                <a:srgbClr val="FFFFFF"/>
              </a:solidFill>
              <a:latin typeface="Noto Sans Hans"/>
              <a:ea typeface="Noto Sans Hans"/>
              <a:cs typeface="Noto Sans Hans"/>
            </a:endParaRPr>
          </a:p>
        </p:txBody>
      </p:sp>
      <p:sp>
        <p:nvSpPr>
          <p:cNvPr id="81" name="矩形 80"/>
          <p:cNvSpPr>
            <a:spLocks noGrp="1"/>
          </p:cNvSpPr>
          <p:nvPr/>
        </p:nvSpPr>
        <p:spPr>
          <a:xfrm>
            <a:off x="5810250" y="5038725"/>
            <a:ext cx="981075" cy="800100"/>
          </a:xfrm>
          <a:prstGeom prst="rect">
            <a:avLst/>
          </a:prstGeom>
          <a:noFill/>
          <a:ln w="0">
            <a:noFill/>
            <a:prstDash val="solid"/>
          </a:ln>
        </p:spPr>
        <p:txBody>
          <a:bodyPr wrap="square" lIns="47625" tIns="19050" rIns="47625" bIns="19050" anchor="ctr">
            <a:normAutofit/>
          </a:bodyPr>
          <a:lstStyle/>
          <a:p>
            <a:pPr algn="ctr">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区域复制与售后网络</a:t>
            </a:r>
            <a:endParaRPr sz="940" b="0">
              <a:solidFill>
                <a:srgbClr val="403A38"/>
              </a:solidFill>
              <a:latin typeface="Noto Sans Hans"/>
              <a:ea typeface="Noto Sans Hans"/>
              <a:cs typeface="Noto Sans Hans"/>
            </a:endParaRPr>
          </a:p>
        </p:txBody>
      </p:sp>
      <p:sp>
        <p:nvSpPr>
          <p:cNvPr id="82" name="矩形 81"/>
          <p:cNvSpPr>
            <a:spLocks noGrp="1"/>
          </p:cNvSpPr>
          <p:nvPr/>
        </p:nvSpPr>
        <p:spPr>
          <a:xfrm>
            <a:off x="7143750" y="4886325"/>
            <a:ext cx="2428875" cy="1104900"/>
          </a:xfrm>
          <a:prstGeom prst="rect">
            <a:avLst/>
          </a:prstGeom>
          <a:solidFill>
            <a:srgbClr val="F7F3F1"/>
          </a:solidFill>
          <a:ln w="9525">
            <a:solidFill>
              <a:srgbClr val="FFFFFF"/>
            </a:solidFill>
            <a:prstDash val="solid"/>
          </a:ln>
        </p:spPr>
      </p:sp>
      <p:sp>
        <p:nvSpPr>
          <p:cNvPr id="83" name="矩形 82"/>
          <p:cNvSpPr>
            <a:spLocks noGrp="1"/>
          </p:cNvSpPr>
          <p:nvPr/>
        </p:nvSpPr>
        <p:spPr>
          <a:xfrm>
            <a:off x="7239000" y="4981575"/>
            <a:ext cx="2238375" cy="91440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黄冈科峰：精密传动</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鄂州华威科：电子皮肤</a:t>
            </a:r>
            <a:endParaRPr sz="1100" b="0">
              <a:solidFill>
                <a:srgbClr val="403A38"/>
              </a:solidFill>
              <a:latin typeface="Noto Sans Hans"/>
              <a:ea typeface="Noto Sans Hans"/>
              <a:cs typeface="Noto Sans Hans"/>
            </a:endParaRPr>
          </a:p>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黄石/孝感：制造；咸宁：康养</a:t>
            </a:r>
            <a:endParaRPr sz="1100" b="0">
              <a:solidFill>
                <a:srgbClr val="403A38"/>
              </a:solidFill>
              <a:latin typeface="Noto Sans Hans"/>
              <a:ea typeface="Noto Sans Hans"/>
              <a:cs typeface="Noto Sans Hans"/>
            </a:endParaRPr>
          </a:p>
        </p:txBody>
      </p:sp>
      <p:sp>
        <p:nvSpPr>
          <p:cNvPr id="84" name="矩形 83"/>
          <p:cNvSpPr>
            <a:spLocks noGrp="1"/>
          </p:cNvSpPr>
          <p:nvPr/>
        </p:nvSpPr>
        <p:spPr>
          <a:xfrm>
            <a:off x="9667875" y="4886325"/>
            <a:ext cx="2095500" cy="1104900"/>
          </a:xfrm>
          <a:prstGeom prst="rect">
            <a:avLst/>
          </a:prstGeom>
          <a:solidFill>
            <a:srgbClr val="F7F3F1"/>
          </a:solidFill>
          <a:ln w="9525">
            <a:solidFill>
              <a:srgbClr val="FFFFFF"/>
            </a:solidFill>
            <a:prstDash val="solid"/>
          </a:ln>
        </p:spPr>
      </p:sp>
      <p:sp>
        <p:nvSpPr>
          <p:cNvPr id="85" name="矩形 84"/>
          <p:cNvSpPr>
            <a:spLocks noGrp="1"/>
          </p:cNvSpPr>
          <p:nvPr/>
        </p:nvSpPr>
        <p:spPr>
          <a:xfrm>
            <a:off x="9763125" y="4981575"/>
            <a:ext cx="1905000" cy="914400"/>
          </a:xfrm>
          <a:prstGeom prst="rect">
            <a:avLst/>
          </a:prstGeom>
          <a:noFill/>
          <a:ln w="0">
            <a:noFill/>
            <a:prstDash val="solid"/>
          </a:ln>
        </p:spPr>
        <p:txBody>
          <a:bodyPr wrap="square" lIns="47625" tIns="19050" rIns="47625" bIns="19050" anchor="t">
            <a:noAutofit/>
          </a:bodyPr>
          <a:lstStyle/>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关键部件扩产与联合验证</a:t>
            </a:r>
            <a:endParaRPr sz="1100" b="0">
              <a:solidFill>
                <a:srgbClr val="403A38"/>
              </a:solidFill>
              <a:latin typeface="Noto Sans Hans"/>
              <a:ea typeface="Noto Sans Hans"/>
              <a:cs typeface="Noto Sans Hans"/>
            </a:endParaRPr>
          </a:p>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整机批量制造与质量体系</a:t>
            </a:r>
            <a:endParaRPr sz="1100" b="0">
              <a:solidFill>
                <a:srgbClr val="403A38"/>
              </a:solidFill>
              <a:latin typeface="Noto Sans Hans"/>
              <a:ea typeface="Noto Sans Hans"/>
              <a:cs typeface="Noto Sans Hans"/>
            </a:endParaRPr>
          </a:p>
          <a:p>
            <a:pPr algn="l" eaLnBrk="1" fontAlgn="auto" latinLnBrk="0" hangingPunct="1">
              <a:lnSpc>
                <a:spcPct val="120000"/>
              </a:lnSpc>
              <a:defRPr sz="83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都市圈示范项目联合申报</a:t>
            </a:r>
            <a:endParaRPr sz="1100" b="0">
              <a:solidFill>
                <a:srgbClr val="403A38"/>
              </a:solidFill>
              <a:latin typeface="Noto Sans Hans"/>
              <a:ea typeface="Noto Sans Hans"/>
              <a:cs typeface="Noto Sans Hans"/>
            </a:endParaRPr>
          </a:p>
        </p:txBody>
      </p:sp>
      <p:sp>
        <p:nvSpPr>
          <p:cNvPr id="86" name="圆角矩形 85"/>
          <p:cNvSpPr>
            <a:spLocks noGrp="1"/>
          </p:cNvSpPr>
          <p:nvPr/>
        </p:nvSpPr>
        <p:spPr>
          <a:xfrm>
            <a:off x="428625" y="6172200"/>
            <a:ext cx="11334750" cy="304800"/>
          </a:xfrm>
          <a:prstGeom prst="roundRect">
            <a:avLst>
              <a:gd name="adj" fmla="val 6250"/>
            </a:avLst>
          </a:prstGeom>
          <a:solidFill>
            <a:srgbClr val="851117"/>
          </a:solidFill>
          <a:ln w="0">
            <a:noFill/>
            <a:prstDash val="solid"/>
          </a:ln>
        </p:spPr>
      </p:sp>
      <p:sp>
        <p:nvSpPr>
          <p:cNvPr id="87" name="矩形 86"/>
          <p:cNvSpPr>
            <a:spLocks noGrp="1"/>
          </p:cNvSpPr>
          <p:nvPr/>
        </p:nvSpPr>
        <p:spPr>
          <a:xfrm>
            <a:off x="523875" y="6200775"/>
            <a:ext cx="2238375" cy="247650"/>
          </a:xfrm>
          <a:prstGeom prst="rect">
            <a:avLst/>
          </a:prstGeom>
          <a:noFill/>
          <a:ln w="0">
            <a:noFill/>
            <a:prstDash val="solid"/>
          </a:ln>
        </p:spPr>
        <p:txBody>
          <a:bodyPr wrap="square" lIns="47625" tIns="19050" rIns="47625" bIns="19050" anchor="ctr">
            <a:normAutofit/>
          </a:bodyPr>
          <a:lstStyle/>
          <a:p>
            <a:pPr algn="ctr">
              <a:defRPr sz="945" b="1">
                <a:solidFill>
                  <a:srgbClr val="FFFFFF"/>
                </a:solidFill>
                <a:latin typeface="Noto Sans Hans"/>
                <a:ea typeface="Noto Sans Hans"/>
                <a:cs typeface="Noto Sans Hans"/>
              </a:defRPr>
            </a:pPr>
            <a:r>
              <a:rPr sz="1050" b="1">
                <a:solidFill>
                  <a:srgbClr val="FFFFFF"/>
                </a:solidFill>
                <a:latin typeface="Noto Sans Hans"/>
                <a:ea typeface="Noto Sans Hans"/>
                <a:cs typeface="Noto Sans Hans"/>
              </a:rPr>
              <a:t>1 个总部与运营平台</a:t>
            </a:r>
            <a:endParaRPr sz="1050" b="1">
              <a:solidFill>
                <a:srgbClr val="FFFFFF"/>
              </a:solidFill>
              <a:latin typeface="Noto Sans Hans"/>
              <a:ea typeface="Noto Sans Hans"/>
              <a:cs typeface="Noto Sans Hans"/>
            </a:endParaRPr>
          </a:p>
        </p:txBody>
      </p:sp>
      <p:sp>
        <p:nvSpPr>
          <p:cNvPr id="88" name="矩形 87"/>
          <p:cNvSpPr>
            <a:spLocks noGrp="1"/>
          </p:cNvSpPr>
          <p:nvPr/>
        </p:nvSpPr>
        <p:spPr>
          <a:xfrm>
            <a:off x="2790825" y="6200775"/>
            <a:ext cx="333375" cy="247650"/>
          </a:xfrm>
          <a:prstGeom prst="rect">
            <a:avLst/>
          </a:prstGeom>
          <a:noFill/>
          <a:ln w="0">
            <a:noFill/>
            <a:prstDash val="solid"/>
          </a:ln>
        </p:spPr>
        <p:txBody>
          <a:bodyPr wrap="square" lIns="47625" tIns="19050" rIns="47625" bIns="19050" anchor="ctr">
            <a:noAutofit/>
          </a:bodyPr>
          <a:lstStyle/>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89" name="矩形 88"/>
          <p:cNvSpPr>
            <a:spLocks noGrp="1"/>
          </p:cNvSpPr>
          <p:nvPr/>
        </p:nvSpPr>
        <p:spPr>
          <a:xfrm>
            <a:off x="3143250" y="6200775"/>
            <a:ext cx="5095875" cy="247650"/>
          </a:xfrm>
          <a:prstGeom prst="rect">
            <a:avLst/>
          </a:prstGeom>
          <a:noFill/>
          <a:ln w="0">
            <a:noFill/>
            <a:prstDash val="solid"/>
          </a:ln>
        </p:spPr>
        <p:txBody>
          <a:bodyPr wrap="square" lIns="47625" tIns="19050" rIns="47625" bIns="19050" anchor="ctr">
            <a:normAutofit/>
          </a:bodyPr>
          <a:lstStyle/>
          <a:p>
            <a:pPr algn="ctr">
              <a:defRPr sz="945" b="1">
                <a:solidFill>
                  <a:srgbClr val="FFFFFF"/>
                </a:solidFill>
                <a:latin typeface="Noto Sans Hans"/>
                <a:ea typeface="Noto Sans Hans"/>
                <a:cs typeface="Noto Sans Hans"/>
              </a:defRPr>
            </a:pPr>
            <a:r>
              <a:rPr sz="1050" b="1">
                <a:solidFill>
                  <a:srgbClr val="FFFFFF"/>
                </a:solidFill>
                <a:latin typeface="Noto Sans Hans"/>
                <a:ea typeface="Noto Sans Hans"/>
                <a:cs typeface="Noto Sans Hans"/>
              </a:rPr>
              <a:t>3 类核心载体：研发验证｜中试制造｜场景运营</a:t>
            </a:r>
            <a:endParaRPr sz="1050" b="1">
              <a:solidFill>
                <a:srgbClr val="FFFFFF"/>
              </a:solidFill>
              <a:latin typeface="Noto Sans Hans"/>
              <a:ea typeface="Noto Sans Hans"/>
              <a:cs typeface="Noto Sans Hans"/>
            </a:endParaRPr>
          </a:p>
        </p:txBody>
      </p:sp>
      <p:sp>
        <p:nvSpPr>
          <p:cNvPr id="90" name="矩形 89"/>
          <p:cNvSpPr>
            <a:spLocks noGrp="1"/>
          </p:cNvSpPr>
          <p:nvPr/>
        </p:nvSpPr>
        <p:spPr>
          <a:xfrm>
            <a:off x="8267700" y="6200775"/>
            <a:ext cx="333375" cy="247650"/>
          </a:xfrm>
          <a:prstGeom prst="rect">
            <a:avLst/>
          </a:prstGeom>
          <a:noFill/>
          <a:ln w="0">
            <a:noFill/>
            <a:prstDash val="solid"/>
          </a:ln>
        </p:spPr>
        <p:txBody>
          <a:bodyPr wrap="square" lIns="47625" tIns="19050" rIns="47625" bIns="19050" anchor="ctr">
            <a:noAutofit/>
          </a:bodyPr>
          <a:lstStyle/>
          <a:p>
            <a:pPr algn="ctr">
              <a:defRPr sz="120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91" name="矩形 90"/>
          <p:cNvSpPr>
            <a:spLocks noGrp="1"/>
          </p:cNvSpPr>
          <p:nvPr/>
        </p:nvSpPr>
        <p:spPr>
          <a:xfrm>
            <a:off x="8620125" y="6200775"/>
            <a:ext cx="3048000" cy="247650"/>
          </a:xfrm>
          <a:prstGeom prst="rect">
            <a:avLst/>
          </a:prstGeom>
          <a:noFill/>
          <a:ln w="0">
            <a:noFill/>
            <a:prstDash val="solid"/>
          </a:ln>
        </p:spPr>
        <p:txBody>
          <a:bodyPr wrap="square" lIns="47625" tIns="19050" rIns="47625" bIns="19050" anchor="ctr">
            <a:normAutofit/>
          </a:bodyPr>
          <a:lstStyle/>
          <a:p>
            <a:pPr algn="ctr">
              <a:defRPr sz="945" b="1">
                <a:solidFill>
                  <a:srgbClr val="FFFFFF"/>
                </a:solidFill>
                <a:latin typeface="Noto Sans Hans"/>
                <a:ea typeface="Noto Sans Hans"/>
                <a:cs typeface="Noto Sans Hans"/>
              </a:defRPr>
            </a:pPr>
            <a:r>
              <a:rPr sz="1050" b="1">
                <a:solidFill>
                  <a:srgbClr val="FFFFFF"/>
                </a:solidFill>
                <a:latin typeface="Noto Sans Hans"/>
                <a:ea typeface="Noto Sans Hans"/>
                <a:cs typeface="Noto Sans Hans"/>
              </a:rPr>
              <a:t>N 个都市圈制造与场景节点</a:t>
            </a:r>
            <a:endParaRPr sz="1050" b="1">
              <a:solidFill>
                <a:srgbClr val="FFFFFF"/>
              </a:solidFill>
              <a:latin typeface="Noto Sans Hans"/>
              <a:ea typeface="Noto Sans Hans"/>
              <a:cs typeface="Noto Sans Hans"/>
            </a:endParaRPr>
          </a:p>
        </p:txBody>
      </p:sp>
      <p:sp>
        <p:nvSpPr>
          <p:cNvPr id="92" name="矩形 91"/>
          <p:cNvSpPr>
            <a:spLocks noGrp="1"/>
          </p:cNvSpPr>
          <p:nvPr/>
        </p:nvSpPr>
        <p:spPr>
          <a:xfrm>
            <a:off x="476250" y="6553200"/>
            <a:ext cx="10668000" cy="190500"/>
          </a:xfrm>
          <a:prstGeom prst="rect">
            <a:avLst/>
          </a:prstGeom>
          <a:noFill/>
          <a:ln w="0">
            <a:noFill/>
            <a:prstDash val="solid"/>
          </a:ln>
        </p:spPr>
        <p:txBody>
          <a:bodyPr wrap="square" lIns="47625" tIns="19050" rIns="47625" bIns="19050" anchor="ctr">
            <a:normAutofit/>
          </a:bodyPr>
          <a:lstStyle/>
          <a:p>
            <a:pPr algn="l">
              <a:defRPr sz="720" b="0">
                <a:solidFill>
                  <a:srgbClr val="716B68"/>
                </a:solidFill>
                <a:latin typeface="Noto Sans Hans"/>
                <a:ea typeface="Noto Sans Hans"/>
                <a:cs typeface="Noto Sans Hans"/>
              </a:defRPr>
            </a:pPr>
            <a:r>
              <a:rPr sz="820" b="0">
                <a:solidFill>
                  <a:srgbClr val="716B68"/>
                </a:solidFill>
                <a:latin typeface="Noto Sans Hans"/>
                <a:ea typeface="Noto Sans Hans"/>
                <a:cs typeface="Noto Sans Hans"/>
              </a:rPr>
              <a:t>资料来源：养老机器人产业增强基础数据库；武汉市、湖北省相关公开资料。右栏为基于产业缺口形成的合作与招引建议。</a:t>
            </a:r>
            <a:endParaRPr sz="820" b="0">
              <a:solidFill>
                <a:srgbClr val="716B68"/>
              </a:solidFill>
              <a:latin typeface="Noto Sans Hans"/>
              <a:ea typeface="Noto Sans Hans"/>
              <a:cs typeface="Noto Sans Hans"/>
            </a:endParaRPr>
          </a:p>
        </p:txBody>
      </p:sp>
      <p:sp>
        <p:nvSpPr>
          <p:cNvPr id="93" name="矩形 92"/>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1000" b="1">
                <a:solidFill>
                  <a:srgbClr val="D00914"/>
                </a:solidFill>
                <a:latin typeface="Noto Sans Hans"/>
                <a:ea typeface="Noto Sans Hans"/>
                <a:cs typeface="Noto Sans Hans"/>
              </a:rPr>
              <a:t>1</a:t>
            </a:r>
            <a:r>
              <a:rPr sz="1000" b="1">
                <a:solidFill>
                  <a:srgbClr val="D00914"/>
                </a:solidFill>
                <a:latin typeface="Noto Sans Hans"/>
                <a:ea typeface="Noto Sans Hans"/>
                <a:cs typeface="Noto Sans Hans"/>
              </a:rPr>
              <a:t>2</a:t>
            </a:r>
            <a:endParaRPr sz="1000" b="1">
              <a:solidFill>
                <a:srgbClr val="D00914"/>
              </a:solidFill>
              <a:latin typeface="Noto Sans Hans"/>
              <a:ea typeface="Noto Sans Hans"/>
              <a:cs typeface="Noto Sans H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lang="en-US" sz="2025" b="1">
                <a:solidFill>
                  <a:srgbClr val="D00914"/>
                </a:solidFill>
                <a:latin typeface="Noto Sans Hans"/>
                <a:ea typeface="Noto Sans Hans"/>
                <a:cs typeface="Noto Sans Hans"/>
              </a:rPr>
              <a:t>2.2</a:t>
            </a:r>
            <a:r>
              <a:rPr sz="2025" b="1">
                <a:solidFill>
                  <a:srgbClr val="D00914"/>
                </a:solidFill>
                <a:latin typeface="Noto Sans Hans"/>
                <a:ea typeface="Noto Sans Hans"/>
                <a:cs typeface="Noto Sans Hans"/>
              </a:rPr>
              <a:t>【政策清单】</a:t>
            </a:r>
            <a:r>
              <a:rPr sz="2025" b="1">
                <a:solidFill>
                  <a:srgbClr val="403A38"/>
                </a:solidFill>
                <a:latin typeface="Noto Sans Hans"/>
                <a:ea typeface="Noto Sans Hans"/>
                <a:cs typeface="Noto Sans Hans"/>
              </a:rPr>
              <a:t>养老机器人政策已形成“国家定方向—部门抓试点—地方建场景”的三级体系</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政策支持不等同于商业价值，目录入选、试点资格与补贴均需结合产品成熟度和采购能力复核</a:t>
            </a:r>
            <a:r>
              <a:rPr lang="zh-CN" sz="1065" b="0">
                <a:solidFill>
                  <a:srgbClr val="716B68"/>
                </a:solidFill>
                <a:latin typeface="Noto Sans Hans"/>
                <a:ea typeface="Noto Sans Hans"/>
                <a:cs typeface="Noto Sans Hans"/>
              </a:rPr>
              <a:t>验证</a:t>
            </a:r>
            <a:endParaRPr lang="zh-CN"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181100"/>
            <a:ext cx="876300" cy="323850"/>
          </a:xfrm>
          <a:prstGeom prst="rect">
            <a:avLst/>
          </a:prstGeom>
          <a:solidFill>
            <a:srgbClr val="8E1118"/>
          </a:solidFill>
          <a:ln w="9525">
            <a:solidFill>
              <a:srgbClr val="FFFFFF"/>
            </a:solidFill>
            <a:prstDash val="solid"/>
          </a:ln>
        </p:spPr>
      </p:sp>
      <p:sp>
        <p:nvSpPr>
          <p:cNvPr id="7" name="矩形 6"/>
          <p:cNvSpPr>
            <a:spLocks noGrp="1"/>
          </p:cNvSpPr>
          <p:nvPr/>
        </p:nvSpPr>
        <p:spPr>
          <a:xfrm>
            <a:off x="485775" y="1200150"/>
            <a:ext cx="819150" cy="285750"/>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政策层级</a:t>
            </a:r>
            <a:endParaRPr sz="1040" b="1">
              <a:solidFill>
                <a:srgbClr val="FFFFFF"/>
              </a:solidFill>
              <a:latin typeface="Noto Sans Hans"/>
              <a:ea typeface="Noto Sans Hans"/>
              <a:cs typeface="Noto Sans Hans"/>
            </a:endParaRPr>
          </a:p>
        </p:txBody>
      </p:sp>
      <p:sp>
        <p:nvSpPr>
          <p:cNvPr id="8" name="矩形 7"/>
          <p:cNvSpPr>
            <a:spLocks noGrp="1"/>
          </p:cNvSpPr>
          <p:nvPr/>
        </p:nvSpPr>
        <p:spPr>
          <a:xfrm>
            <a:off x="1333500" y="1181100"/>
            <a:ext cx="857250" cy="323850"/>
          </a:xfrm>
          <a:prstGeom prst="rect">
            <a:avLst/>
          </a:prstGeom>
          <a:solidFill>
            <a:srgbClr val="8E1118"/>
          </a:solidFill>
          <a:ln w="9525">
            <a:solidFill>
              <a:srgbClr val="FFFFFF"/>
            </a:solidFill>
            <a:prstDash val="solid"/>
          </a:ln>
        </p:spPr>
      </p:sp>
      <p:sp>
        <p:nvSpPr>
          <p:cNvPr id="9" name="矩形 8"/>
          <p:cNvSpPr>
            <a:spLocks noGrp="1"/>
          </p:cNvSpPr>
          <p:nvPr/>
        </p:nvSpPr>
        <p:spPr>
          <a:xfrm>
            <a:off x="1362075" y="1200150"/>
            <a:ext cx="800100" cy="285750"/>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时间</a:t>
            </a:r>
            <a:endParaRPr sz="1040" b="1">
              <a:solidFill>
                <a:srgbClr val="FFFFFF"/>
              </a:solidFill>
              <a:latin typeface="Noto Sans Hans"/>
              <a:ea typeface="Noto Sans Hans"/>
              <a:cs typeface="Noto Sans Hans"/>
            </a:endParaRPr>
          </a:p>
        </p:txBody>
      </p:sp>
      <p:sp>
        <p:nvSpPr>
          <p:cNvPr id="10" name="矩形 9"/>
          <p:cNvSpPr>
            <a:spLocks noGrp="1"/>
          </p:cNvSpPr>
          <p:nvPr/>
        </p:nvSpPr>
        <p:spPr>
          <a:xfrm>
            <a:off x="2190750" y="1181100"/>
            <a:ext cx="2600325" cy="323850"/>
          </a:xfrm>
          <a:prstGeom prst="rect">
            <a:avLst/>
          </a:prstGeom>
          <a:solidFill>
            <a:srgbClr val="8E1118"/>
          </a:solidFill>
          <a:ln w="9525">
            <a:solidFill>
              <a:srgbClr val="FFFFFF"/>
            </a:solidFill>
            <a:prstDash val="solid"/>
          </a:ln>
        </p:spPr>
      </p:sp>
      <p:sp>
        <p:nvSpPr>
          <p:cNvPr id="11" name="矩形 10"/>
          <p:cNvSpPr>
            <a:spLocks noGrp="1"/>
          </p:cNvSpPr>
          <p:nvPr/>
        </p:nvSpPr>
        <p:spPr>
          <a:xfrm>
            <a:off x="2219325" y="1200150"/>
            <a:ext cx="2536825" cy="285750"/>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政策名称 / 发布主体</a:t>
            </a:r>
            <a:endParaRPr sz="1040" b="1">
              <a:solidFill>
                <a:srgbClr val="FFFFFF"/>
              </a:solidFill>
              <a:latin typeface="Noto Sans Hans"/>
              <a:ea typeface="Noto Sans Hans"/>
              <a:cs typeface="Noto Sans Hans"/>
            </a:endParaRPr>
          </a:p>
        </p:txBody>
      </p:sp>
      <p:sp>
        <p:nvSpPr>
          <p:cNvPr id="12" name="矩形 11"/>
          <p:cNvSpPr>
            <a:spLocks noGrp="1"/>
          </p:cNvSpPr>
          <p:nvPr/>
        </p:nvSpPr>
        <p:spPr>
          <a:xfrm>
            <a:off x="4791075" y="1181100"/>
            <a:ext cx="3362325" cy="323850"/>
          </a:xfrm>
          <a:prstGeom prst="rect">
            <a:avLst/>
          </a:prstGeom>
          <a:solidFill>
            <a:srgbClr val="8E1118"/>
          </a:solidFill>
          <a:ln w="9525">
            <a:solidFill>
              <a:srgbClr val="FFFFFF"/>
            </a:solidFill>
            <a:prstDash val="solid"/>
          </a:ln>
        </p:spPr>
      </p:sp>
      <p:sp>
        <p:nvSpPr>
          <p:cNvPr id="13" name="矩形 12"/>
          <p:cNvSpPr>
            <a:spLocks noGrp="1"/>
          </p:cNvSpPr>
          <p:nvPr/>
        </p:nvSpPr>
        <p:spPr>
          <a:xfrm>
            <a:off x="4815840" y="1200150"/>
            <a:ext cx="3308985" cy="285750"/>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核心政策内容</a:t>
            </a:r>
            <a:endParaRPr sz="1040" b="1">
              <a:solidFill>
                <a:srgbClr val="FFFFFF"/>
              </a:solidFill>
              <a:latin typeface="Noto Sans Hans"/>
              <a:ea typeface="Noto Sans Hans"/>
              <a:cs typeface="Noto Sans Hans"/>
            </a:endParaRPr>
          </a:p>
        </p:txBody>
      </p:sp>
      <p:sp>
        <p:nvSpPr>
          <p:cNvPr id="14" name="矩形 13"/>
          <p:cNvSpPr>
            <a:spLocks noGrp="1"/>
          </p:cNvSpPr>
          <p:nvPr/>
        </p:nvSpPr>
        <p:spPr>
          <a:xfrm>
            <a:off x="8153400" y="1181100"/>
            <a:ext cx="3143250" cy="323850"/>
          </a:xfrm>
          <a:prstGeom prst="rect">
            <a:avLst/>
          </a:prstGeom>
          <a:solidFill>
            <a:srgbClr val="8E1118"/>
          </a:solidFill>
          <a:ln w="9525">
            <a:solidFill>
              <a:srgbClr val="FFFFFF"/>
            </a:solidFill>
            <a:prstDash val="solid"/>
          </a:ln>
        </p:spPr>
      </p:sp>
      <p:sp>
        <p:nvSpPr>
          <p:cNvPr id="15" name="矩形 14"/>
          <p:cNvSpPr>
            <a:spLocks noGrp="1"/>
          </p:cNvSpPr>
          <p:nvPr/>
        </p:nvSpPr>
        <p:spPr>
          <a:xfrm>
            <a:off x="8181975" y="1200150"/>
            <a:ext cx="3086100" cy="285750"/>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对武汉城投的直接启示</a:t>
            </a:r>
            <a:endParaRPr sz="1040" b="1">
              <a:solidFill>
                <a:srgbClr val="FFFFFF"/>
              </a:solidFill>
              <a:latin typeface="Noto Sans Hans"/>
              <a:ea typeface="Noto Sans Hans"/>
              <a:cs typeface="Noto Sans Hans"/>
            </a:endParaRPr>
          </a:p>
        </p:txBody>
      </p:sp>
      <p:sp>
        <p:nvSpPr>
          <p:cNvPr id="16" name="矩形 15"/>
          <p:cNvSpPr>
            <a:spLocks noGrp="1"/>
          </p:cNvSpPr>
          <p:nvPr/>
        </p:nvSpPr>
        <p:spPr>
          <a:xfrm>
            <a:off x="457200" y="1504950"/>
            <a:ext cx="876300" cy="451485"/>
          </a:xfrm>
          <a:prstGeom prst="rect">
            <a:avLst/>
          </a:prstGeom>
          <a:solidFill>
            <a:srgbClr val="9E3038"/>
          </a:solidFill>
          <a:ln w="9525">
            <a:solidFill>
              <a:srgbClr val="FFFFFF"/>
            </a:solidFill>
            <a:prstDash val="solid"/>
          </a:ln>
        </p:spPr>
      </p:sp>
      <p:sp>
        <p:nvSpPr>
          <p:cNvPr id="17" name="矩形 16"/>
          <p:cNvSpPr>
            <a:spLocks noGrp="1"/>
          </p:cNvSpPr>
          <p:nvPr/>
        </p:nvSpPr>
        <p:spPr>
          <a:xfrm>
            <a:off x="485775" y="1524000"/>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国家</a:t>
            </a:r>
            <a:endParaRPr sz="1040" b="1">
              <a:solidFill>
                <a:srgbClr val="FFFFFF"/>
              </a:solidFill>
              <a:latin typeface="Noto Sans Hans"/>
              <a:ea typeface="Noto Sans Hans"/>
              <a:cs typeface="Noto Sans Hans"/>
            </a:endParaRPr>
          </a:p>
        </p:txBody>
      </p:sp>
      <p:sp>
        <p:nvSpPr>
          <p:cNvPr id="18" name="矩形 17"/>
          <p:cNvSpPr>
            <a:spLocks noGrp="1"/>
          </p:cNvSpPr>
          <p:nvPr/>
        </p:nvSpPr>
        <p:spPr>
          <a:xfrm>
            <a:off x="1333500" y="1504950"/>
            <a:ext cx="857250" cy="451485"/>
          </a:xfrm>
          <a:prstGeom prst="rect">
            <a:avLst/>
          </a:prstGeom>
          <a:solidFill>
            <a:srgbClr val="F8E5E4"/>
          </a:solidFill>
          <a:ln w="9525">
            <a:solidFill>
              <a:srgbClr val="FFFFFF"/>
            </a:solidFill>
            <a:prstDash val="solid"/>
          </a:ln>
        </p:spPr>
      </p:sp>
      <p:sp>
        <p:nvSpPr>
          <p:cNvPr id="19" name="矩形 18"/>
          <p:cNvSpPr>
            <a:spLocks noGrp="1"/>
          </p:cNvSpPr>
          <p:nvPr/>
        </p:nvSpPr>
        <p:spPr>
          <a:xfrm>
            <a:off x="1362075" y="1524000"/>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2022</a:t>
            </a:r>
            <a:endParaRPr sz="910" b="1">
              <a:solidFill>
                <a:srgbClr val="403A38"/>
              </a:solidFill>
              <a:latin typeface="Noto Sans Hans"/>
              <a:ea typeface="Noto Sans Hans"/>
              <a:cs typeface="Noto Sans Hans"/>
            </a:endParaRPr>
          </a:p>
        </p:txBody>
      </p:sp>
      <p:sp>
        <p:nvSpPr>
          <p:cNvPr id="20" name="矩形 19"/>
          <p:cNvSpPr>
            <a:spLocks noGrp="1"/>
          </p:cNvSpPr>
          <p:nvPr/>
        </p:nvSpPr>
        <p:spPr>
          <a:xfrm>
            <a:off x="2190750" y="1504950"/>
            <a:ext cx="2600325" cy="451485"/>
          </a:xfrm>
          <a:prstGeom prst="rect">
            <a:avLst/>
          </a:prstGeom>
          <a:solidFill>
            <a:srgbClr val="F8E5E4"/>
          </a:solidFill>
          <a:ln w="9525">
            <a:solidFill>
              <a:srgbClr val="FFFFFF"/>
            </a:solidFill>
            <a:prstDash val="solid"/>
          </a:ln>
        </p:spPr>
      </p:sp>
      <p:sp>
        <p:nvSpPr>
          <p:cNvPr id="21" name="矩形 20"/>
          <p:cNvSpPr>
            <a:spLocks noGrp="1"/>
          </p:cNvSpPr>
          <p:nvPr/>
        </p:nvSpPr>
        <p:spPr>
          <a:xfrm>
            <a:off x="2219325" y="1524000"/>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“十四五”国家老龄事业和养老服务体系规划</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国务院</a:t>
            </a:r>
            <a:endParaRPr sz="890" b="1">
              <a:solidFill>
                <a:srgbClr val="403A38"/>
              </a:solidFill>
              <a:latin typeface="Noto Sans Hans"/>
              <a:ea typeface="Noto Sans Hans"/>
              <a:cs typeface="Noto Sans Hans"/>
            </a:endParaRPr>
          </a:p>
        </p:txBody>
      </p:sp>
      <p:sp>
        <p:nvSpPr>
          <p:cNvPr id="22" name="矩形 21"/>
          <p:cNvSpPr>
            <a:spLocks noGrp="1"/>
          </p:cNvSpPr>
          <p:nvPr/>
        </p:nvSpPr>
        <p:spPr>
          <a:xfrm>
            <a:off x="4791075" y="1504950"/>
            <a:ext cx="3362325" cy="451485"/>
          </a:xfrm>
          <a:prstGeom prst="rect">
            <a:avLst/>
          </a:prstGeom>
          <a:solidFill>
            <a:srgbClr val="F8E5E4"/>
          </a:solidFill>
          <a:ln w="9525">
            <a:solidFill>
              <a:srgbClr val="FFFFFF"/>
            </a:solidFill>
            <a:prstDash val="solid"/>
          </a:ln>
        </p:spPr>
      </p:sp>
      <p:sp>
        <p:nvSpPr>
          <p:cNvPr id="23" name="矩形 22"/>
          <p:cNvSpPr>
            <a:spLocks noGrp="1"/>
          </p:cNvSpPr>
          <p:nvPr/>
        </p:nvSpPr>
        <p:spPr>
          <a:xfrm>
            <a:off x="4815840" y="1524000"/>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发展智能假肢、机器人等康复护理和安全监护产品</a:t>
            </a:r>
            <a:endParaRPr sz="880" b="0">
              <a:solidFill>
                <a:srgbClr val="403A38"/>
              </a:solidFill>
              <a:latin typeface="Noto Sans Hans"/>
              <a:ea typeface="Noto Sans Hans"/>
              <a:cs typeface="Noto Sans Hans"/>
            </a:endParaRPr>
          </a:p>
        </p:txBody>
      </p:sp>
      <p:sp>
        <p:nvSpPr>
          <p:cNvPr id="24" name="矩形 23"/>
          <p:cNvSpPr>
            <a:spLocks noGrp="1"/>
          </p:cNvSpPr>
          <p:nvPr/>
        </p:nvSpPr>
        <p:spPr>
          <a:xfrm>
            <a:off x="8153400" y="1504950"/>
            <a:ext cx="3143250" cy="451485"/>
          </a:xfrm>
          <a:prstGeom prst="rect">
            <a:avLst/>
          </a:prstGeom>
          <a:solidFill>
            <a:srgbClr val="F8E5E4"/>
          </a:solidFill>
          <a:ln w="9525">
            <a:solidFill>
              <a:srgbClr val="FFFFFF"/>
            </a:solidFill>
            <a:prstDash val="solid"/>
          </a:ln>
        </p:spPr>
      </p:sp>
      <p:sp>
        <p:nvSpPr>
          <p:cNvPr id="25" name="矩形 24"/>
          <p:cNvSpPr>
            <a:spLocks noGrp="1"/>
          </p:cNvSpPr>
          <p:nvPr/>
        </p:nvSpPr>
        <p:spPr>
          <a:xfrm>
            <a:off x="8181975" y="1524000"/>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把失能照护、居家—社区—机构协同作为需求基线</a:t>
            </a:r>
            <a:endParaRPr sz="880" b="0">
              <a:solidFill>
                <a:srgbClr val="403A38"/>
              </a:solidFill>
              <a:latin typeface="Noto Sans Hans"/>
              <a:ea typeface="Noto Sans Hans"/>
              <a:cs typeface="Noto Sans Hans"/>
            </a:endParaRPr>
          </a:p>
        </p:txBody>
      </p:sp>
      <p:sp>
        <p:nvSpPr>
          <p:cNvPr id="26" name="矩形 25"/>
          <p:cNvSpPr>
            <a:spLocks noGrp="1"/>
          </p:cNvSpPr>
          <p:nvPr/>
        </p:nvSpPr>
        <p:spPr>
          <a:xfrm>
            <a:off x="457200" y="1956435"/>
            <a:ext cx="876300" cy="451485"/>
          </a:xfrm>
          <a:prstGeom prst="rect">
            <a:avLst/>
          </a:prstGeom>
          <a:solidFill>
            <a:srgbClr val="9E3038"/>
          </a:solidFill>
          <a:ln w="9525">
            <a:solidFill>
              <a:srgbClr val="FFFFFF"/>
            </a:solidFill>
            <a:prstDash val="solid"/>
          </a:ln>
        </p:spPr>
      </p:sp>
      <p:sp>
        <p:nvSpPr>
          <p:cNvPr id="27" name="矩形 26"/>
          <p:cNvSpPr>
            <a:spLocks noGrp="1"/>
          </p:cNvSpPr>
          <p:nvPr/>
        </p:nvSpPr>
        <p:spPr>
          <a:xfrm>
            <a:off x="485775" y="1975485"/>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国家</a:t>
            </a:r>
            <a:endParaRPr sz="1040" b="1">
              <a:solidFill>
                <a:srgbClr val="FFFFFF"/>
              </a:solidFill>
              <a:latin typeface="Noto Sans Hans"/>
              <a:ea typeface="Noto Sans Hans"/>
              <a:cs typeface="Noto Sans Hans"/>
            </a:endParaRPr>
          </a:p>
        </p:txBody>
      </p:sp>
      <p:sp>
        <p:nvSpPr>
          <p:cNvPr id="28" name="矩形 27"/>
          <p:cNvSpPr>
            <a:spLocks noGrp="1"/>
          </p:cNvSpPr>
          <p:nvPr/>
        </p:nvSpPr>
        <p:spPr>
          <a:xfrm>
            <a:off x="1333500" y="1956435"/>
            <a:ext cx="857250" cy="451485"/>
          </a:xfrm>
          <a:prstGeom prst="rect">
            <a:avLst/>
          </a:prstGeom>
          <a:solidFill>
            <a:srgbClr val="F7F3F1"/>
          </a:solidFill>
          <a:ln w="9525">
            <a:solidFill>
              <a:srgbClr val="FFFFFF"/>
            </a:solidFill>
            <a:prstDash val="solid"/>
          </a:ln>
        </p:spPr>
      </p:sp>
      <p:sp>
        <p:nvSpPr>
          <p:cNvPr id="29" name="矩形 28"/>
          <p:cNvSpPr>
            <a:spLocks noGrp="1"/>
          </p:cNvSpPr>
          <p:nvPr/>
        </p:nvSpPr>
        <p:spPr>
          <a:xfrm>
            <a:off x="1362075" y="1975485"/>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2023.01</a:t>
            </a:r>
            <a:endParaRPr sz="910" b="1">
              <a:solidFill>
                <a:srgbClr val="403A38"/>
              </a:solidFill>
              <a:latin typeface="Noto Sans Hans"/>
              <a:ea typeface="Noto Sans Hans"/>
              <a:cs typeface="Noto Sans Hans"/>
            </a:endParaRPr>
          </a:p>
        </p:txBody>
      </p:sp>
      <p:sp>
        <p:nvSpPr>
          <p:cNvPr id="30" name="矩形 29"/>
          <p:cNvSpPr>
            <a:spLocks noGrp="1"/>
          </p:cNvSpPr>
          <p:nvPr/>
        </p:nvSpPr>
        <p:spPr>
          <a:xfrm>
            <a:off x="2190750" y="1956435"/>
            <a:ext cx="2600325" cy="451485"/>
          </a:xfrm>
          <a:prstGeom prst="rect">
            <a:avLst/>
          </a:prstGeom>
          <a:solidFill>
            <a:srgbClr val="F7F3F1"/>
          </a:solidFill>
          <a:ln w="9525">
            <a:solidFill>
              <a:srgbClr val="FFFFFF"/>
            </a:solidFill>
            <a:prstDash val="solid"/>
          </a:ln>
        </p:spPr>
      </p:sp>
      <p:sp>
        <p:nvSpPr>
          <p:cNvPr id="31" name="矩形 30"/>
          <p:cNvSpPr>
            <a:spLocks noGrp="1"/>
          </p:cNvSpPr>
          <p:nvPr/>
        </p:nvSpPr>
        <p:spPr>
          <a:xfrm>
            <a:off x="2219325" y="1975485"/>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“机器人+”应用行动实施方案</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工业和信息化部等17部门</a:t>
            </a:r>
            <a:endParaRPr sz="890" b="1">
              <a:solidFill>
                <a:srgbClr val="403A38"/>
              </a:solidFill>
              <a:latin typeface="Noto Sans Hans"/>
              <a:ea typeface="Noto Sans Hans"/>
              <a:cs typeface="Noto Sans Hans"/>
            </a:endParaRPr>
          </a:p>
        </p:txBody>
      </p:sp>
      <p:sp>
        <p:nvSpPr>
          <p:cNvPr id="32" name="矩形 31"/>
          <p:cNvSpPr>
            <a:spLocks noGrp="1"/>
          </p:cNvSpPr>
          <p:nvPr/>
        </p:nvSpPr>
        <p:spPr>
          <a:xfrm>
            <a:off x="4791075" y="1956435"/>
            <a:ext cx="3362325" cy="451485"/>
          </a:xfrm>
          <a:prstGeom prst="rect">
            <a:avLst/>
          </a:prstGeom>
          <a:solidFill>
            <a:srgbClr val="F7F3F1"/>
          </a:solidFill>
          <a:ln w="9525">
            <a:solidFill>
              <a:srgbClr val="FFFFFF"/>
            </a:solidFill>
            <a:prstDash val="solid"/>
          </a:ln>
        </p:spPr>
      </p:sp>
      <p:sp>
        <p:nvSpPr>
          <p:cNvPr id="33" name="矩形 32"/>
          <p:cNvSpPr>
            <a:spLocks noGrp="1"/>
          </p:cNvSpPr>
          <p:nvPr/>
        </p:nvSpPr>
        <p:spPr>
          <a:xfrm>
            <a:off x="4815840" y="1975485"/>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养老服务列为重点应用领域，推动外骨骼和护理机器人验证</a:t>
            </a:r>
            <a:endParaRPr sz="880" b="0">
              <a:solidFill>
                <a:srgbClr val="403A38"/>
              </a:solidFill>
              <a:latin typeface="Noto Sans Hans"/>
              <a:ea typeface="Noto Sans Hans"/>
              <a:cs typeface="Noto Sans Hans"/>
            </a:endParaRPr>
          </a:p>
        </p:txBody>
      </p:sp>
      <p:sp>
        <p:nvSpPr>
          <p:cNvPr id="34" name="矩形 33"/>
          <p:cNvSpPr>
            <a:spLocks noGrp="1"/>
          </p:cNvSpPr>
          <p:nvPr/>
        </p:nvSpPr>
        <p:spPr>
          <a:xfrm>
            <a:off x="8153400" y="1956435"/>
            <a:ext cx="3143250" cy="451485"/>
          </a:xfrm>
          <a:prstGeom prst="rect">
            <a:avLst/>
          </a:prstGeom>
          <a:solidFill>
            <a:srgbClr val="F7F3F1"/>
          </a:solidFill>
          <a:ln w="9525">
            <a:solidFill>
              <a:srgbClr val="FFFFFF"/>
            </a:solidFill>
            <a:prstDash val="solid"/>
          </a:ln>
        </p:spPr>
      </p:sp>
      <p:sp>
        <p:nvSpPr>
          <p:cNvPr id="35" name="矩形 34"/>
          <p:cNvSpPr>
            <a:spLocks noGrp="1"/>
          </p:cNvSpPr>
          <p:nvPr/>
        </p:nvSpPr>
        <p:spPr>
          <a:xfrm>
            <a:off x="8181975" y="1975485"/>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开放康养场景，组织企业、高校和机构联合申报</a:t>
            </a:r>
            <a:endParaRPr sz="880" b="0">
              <a:solidFill>
                <a:srgbClr val="403A38"/>
              </a:solidFill>
              <a:latin typeface="Noto Sans Hans"/>
              <a:ea typeface="Noto Sans Hans"/>
              <a:cs typeface="Noto Sans Hans"/>
            </a:endParaRPr>
          </a:p>
        </p:txBody>
      </p:sp>
      <p:sp>
        <p:nvSpPr>
          <p:cNvPr id="36" name="矩形 35"/>
          <p:cNvSpPr>
            <a:spLocks noGrp="1"/>
          </p:cNvSpPr>
          <p:nvPr/>
        </p:nvSpPr>
        <p:spPr>
          <a:xfrm>
            <a:off x="457200" y="2407920"/>
            <a:ext cx="876300" cy="451485"/>
          </a:xfrm>
          <a:prstGeom prst="rect">
            <a:avLst/>
          </a:prstGeom>
          <a:solidFill>
            <a:srgbClr val="9E3038"/>
          </a:solidFill>
          <a:ln w="9525">
            <a:solidFill>
              <a:srgbClr val="FFFFFF"/>
            </a:solidFill>
            <a:prstDash val="solid"/>
          </a:ln>
        </p:spPr>
      </p:sp>
      <p:sp>
        <p:nvSpPr>
          <p:cNvPr id="37" name="矩形 36"/>
          <p:cNvSpPr>
            <a:spLocks noGrp="1"/>
          </p:cNvSpPr>
          <p:nvPr/>
        </p:nvSpPr>
        <p:spPr>
          <a:xfrm>
            <a:off x="485775" y="2426970"/>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国家</a:t>
            </a:r>
            <a:endParaRPr sz="1040" b="1">
              <a:solidFill>
                <a:srgbClr val="FFFFFF"/>
              </a:solidFill>
              <a:latin typeface="Noto Sans Hans"/>
              <a:ea typeface="Noto Sans Hans"/>
              <a:cs typeface="Noto Sans Hans"/>
            </a:endParaRPr>
          </a:p>
        </p:txBody>
      </p:sp>
      <p:sp>
        <p:nvSpPr>
          <p:cNvPr id="38" name="矩形 37"/>
          <p:cNvSpPr>
            <a:spLocks noGrp="1"/>
          </p:cNvSpPr>
          <p:nvPr/>
        </p:nvSpPr>
        <p:spPr>
          <a:xfrm>
            <a:off x="1333500" y="2407920"/>
            <a:ext cx="857250" cy="451485"/>
          </a:xfrm>
          <a:prstGeom prst="rect">
            <a:avLst/>
          </a:prstGeom>
          <a:solidFill>
            <a:srgbClr val="F8E5E4"/>
          </a:solidFill>
          <a:ln w="9525">
            <a:solidFill>
              <a:srgbClr val="FFFFFF"/>
            </a:solidFill>
            <a:prstDash val="solid"/>
          </a:ln>
        </p:spPr>
      </p:sp>
      <p:sp>
        <p:nvSpPr>
          <p:cNvPr id="39" name="矩形 38"/>
          <p:cNvSpPr>
            <a:spLocks noGrp="1"/>
          </p:cNvSpPr>
          <p:nvPr/>
        </p:nvSpPr>
        <p:spPr>
          <a:xfrm>
            <a:off x="1362075" y="2426970"/>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2024.01</a:t>
            </a:r>
            <a:endParaRPr sz="910" b="1">
              <a:solidFill>
                <a:srgbClr val="403A38"/>
              </a:solidFill>
              <a:latin typeface="Noto Sans Hans"/>
              <a:ea typeface="Noto Sans Hans"/>
              <a:cs typeface="Noto Sans Hans"/>
            </a:endParaRPr>
          </a:p>
        </p:txBody>
      </p:sp>
      <p:sp>
        <p:nvSpPr>
          <p:cNvPr id="40" name="矩形 39"/>
          <p:cNvSpPr>
            <a:spLocks noGrp="1"/>
          </p:cNvSpPr>
          <p:nvPr/>
        </p:nvSpPr>
        <p:spPr>
          <a:xfrm>
            <a:off x="2190750" y="2407920"/>
            <a:ext cx="2600325" cy="451485"/>
          </a:xfrm>
          <a:prstGeom prst="rect">
            <a:avLst/>
          </a:prstGeom>
          <a:solidFill>
            <a:srgbClr val="F8E5E4"/>
          </a:solidFill>
          <a:ln w="9525">
            <a:solidFill>
              <a:srgbClr val="FFFFFF"/>
            </a:solidFill>
            <a:prstDash val="solid"/>
          </a:ln>
        </p:spPr>
      </p:sp>
      <p:sp>
        <p:nvSpPr>
          <p:cNvPr id="41" name="矩形 40"/>
          <p:cNvSpPr>
            <a:spLocks noGrp="1"/>
          </p:cNvSpPr>
          <p:nvPr/>
        </p:nvSpPr>
        <p:spPr>
          <a:xfrm>
            <a:off x="2219325" y="2426970"/>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关于发展银发经济增进老年人福祉的意见</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国务院办公厅</a:t>
            </a:r>
            <a:endParaRPr sz="890" b="1">
              <a:solidFill>
                <a:srgbClr val="403A38"/>
              </a:solidFill>
              <a:latin typeface="Noto Sans Hans"/>
              <a:ea typeface="Noto Sans Hans"/>
              <a:cs typeface="Noto Sans Hans"/>
            </a:endParaRPr>
          </a:p>
        </p:txBody>
      </p:sp>
      <p:sp>
        <p:nvSpPr>
          <p:cNvPr id="42" name="矩形 41"/>
          <p:cNvSpPr>
            <a:spLocks noGrp="1"/>
          </p:cNvSpPr>
          <p:nvPr/>
        </p:nvSpPr>
        <p:spPr>
          <a:xfrm>
            <a:off x="4791075" y="2407920"/>
            <a:ext cx="3362325" cy="451485"/>
          </a:xfrm>
          <a:prstGeom prst="rect">
            <a:avLst/>
          </a:prstGeom>
          <a:solidFill>
            <a:srgbClr val="F8E5E4"/>
          </a:solidFill>
          <a:ln w="9525">
            <a:solidFill>
              <a:srgbClr val="FFFFFF"/>
            </a:solidFill>
            <a:prstDash val="solid"/>
          </a:ln>
        </p:spPr>
      </p:sp>
      <p:sp>
        <p:nvSpPr>
          <p:cNvPr id="43" name="矩形 42"/>
          <p:cNvSpPr>
            <a:spLocks noGrp="1"/>
          </p:cNvSpPr>
          <p:nvPr/>
        </p:nvSpPr>
        <p:spPr>
          <a:xfrm>
            <a:off x="4815840" y="2426970"/>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推广智能护理、家庭服务机器人和智能康复辅具</a:t>
            </a:r>
            <a:endParaRPr sz="880" b="0">
              <a:solidFill>
                <a:srgbClr val="403A38"/>
              </a:solidFill>
              <a:latin typeface="Noto Sans Hans"/>
              <a:ea typeface="Noto Sans Hans"/>
              <a:cs typeface="Noto Sans Hans"/>
            </a:endParaRPr>
          </a:p>
        </p:txBody>
      </p:sp>
      <p:sp>
        <p:nvSpPr>
          <p:cNvPr id="44" name="矩形 43"/>
          <p:cNvSpPr>
            <a:spLocks noGrp="1"/>
          </p:cNvSpPr>
          <p:nvPr/>
        </p:nvSpPr>
        <p:spPr>
          <a:xfrm>
            <a:off x="8153400" y="2407920"/>
            <a:ext cx="3143250" cy="451485"/>
          </a:xfrm>
          <a:prstGeom prst="rect">
            <a:avLst/>
          </a:prstGeom>
          <a:solidFill>
            <a:srgbClr val="F8E5E4"/>
          </a:solidFill>
          <a:ln w="9525">
            <a:solidFill>
              <a:srgbClr val="FFFFFF"/>
            </a:solidFill>
            <a:prstDash val="solid"/>
          </a:ln>
        </p:spPr>
      </p:sp>
      <p:sp>
        <p:nvSpPr>
          <p:cNvPr id="45" name="矩形 44"/>
          <p:cNvSpPr>
            <a:spLocks noGrp="1"/>
          </p:cNvSpPr>
          <p:nvPr/>
        </p:nvSpPr>
        <p:spPr>
          <a:xfrm>
            <a:off x="8181975" y="2426970"/>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建立产品池与首购首用机制，优先验证成熟产品</a:t>
            </a:r>
            <a:endParaRPr sz="880" b="0">
              <a:solidFill>
                <a:srgbClr val="403A38"/>
              </a:solidFill>
              <a:latin typeface="Noto Sans Hans"/>
              <a:ea typeface="Noto Sans Hans"/>
              <a:cs typeface="Noto Sans Hans"/>
            </a:endParaRPr>
          </a:p>
        </p:txBody>
      </p:sp>
      <p:sp>
        <p:nvSpPr>
          <p:cNvPr id="46" name="矩形 45"/>
          <p:cNvSpPr>
            <a:spLocks noGrp="1"/>
          </p:cNvSpPr>
          <p:nvPr/>
        </p:nvSpPr>
        <p:spPr>
          <a:xfrm>
            <a:off x="457200" y="2859405"/>
            <a:ext cx="876300" cy="451485"/>
          </a:xfrm>
          <a:prstGeom prst="rect">
            <a:avLst/>
          </a:prstGeom>
          <a:solidFill>
            <a:srgbClr val="9E3038"/>
          </a:solidFill>
          <a:ln w="9525">
            <a:solidFill>
              <a:srgbClr val="FFFFFF"/>
            </a:solidFill>
            <a:prstDash val="solid"/>
          </a:ln>
        </p:spPr>
      </p:sp>
      <p:sp>
        <p:nvSpPr>
          <p:cNvPr id="47" name="矩形 46"/>
          <p:cNvSpPr>
            <a:spLocks noGrp="1"/>
          </p:cNvSpPr>
          <p:nvPr/>
        </p:nvSpPr>
        <p:spPr>
          <a:xfrm>
            <a:off x="485775" y="2878455"/>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国家</a:t>
            </a:r>
            <a:endParaRPr sz="1040" b="1">
              <a:solidFill>
                <a:srgbClr val="FFFFFF"/>
              </a:solidFill>
              <a:latin typeface="Noto Sans Hans"/>
              <a:ea typeface="Noto Sans Hans"/>
              <a:cs typeface="Noto Sans Hans"/>
            </a:endParaRPr>
          </a:p>
        </p:txBody>
      </p:sp>
      <p:sp>
        <p:nvSpPr>
          <p:cNvPr id="48" name="矩形 47"/>
          <p:cNvSpPr>
            <a:spLocks noGrp="1"/>
          </p:cNvSpPr>
          <p:nvPr/>
        </p:nvSpPr>
        <p:spPr>
          <a:xfrm>
            <a:off x="1333500" y="2859405"/>
            <a:ext cx="857250" cy="451485"/>
          </a:xfrm>
          <a:prstGeom prst="rect">
            <a:avLst/>
          </a:prstGeom>
          <a:solidFill>
            <a:srgbClr val="F7F3F1"/>
          </a:solidFill>
          <a:ln w="9525">
            <a:solidFill>
              <a:srgbClr val="FFFFFF"/>
            </a:solidFill>
            <a:prstDash val="solid"/>
          </a:ln>
        </p:spPr>
      </p:sp>
      <p:sp>
        <p:nvSpPr>
          <p:cNvPr id="49" name="矩形 48"/>
          <p:cNvSpPr>
            <a:spLocks noGrp="1"/>
          </p:cNvSpPr>
          <p:nvPr/>
        </p:nvSpPr>
        <p:spPr>
          <a:xfrm>
            <a:off x="1362075" y="2878455"/>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2025.01</a:t>
            </a:r>
            <a:endParaRPr sz="910" b="1">
              <a:solidFill>
                <a:srgbClr val="403A38"/>
              </a:solidFill>
              <a:latin typeface="Noto Sans Hans"/>
              <a:ea typeface="Noto Sans Hans"/>
              <a:cs typeface="Noto Sans Hans"/>
            </a:endParaRPr>
          </a:p>
        </p:txBody>
      </p:sp>
      <p:sp>
        <p:nvSpPr>
          <p:cNvPr id="50" name="矩形 49"/>
          <p:cNvSpPr>
            <a:spLocks noGrp="1"/>
          </p:cNvSpPr>
          <p:nvPr/>
        </p:nvSpPr>
        <p:spPr>
          <a:xfrm>
            <a:off x="2190750" y="2859405"/>
            <a:ext cx="2600325" cy="451485"/>
          </a:xfrm>
          <a:prstGeom prst="rect">
            <a:avLst/>
          </a:prstGeom>
          <a:solidFill>
            <a:srgbClr val="F7F3F1"/>
          </a:solidFill>
          <a:ln w="9525">
            <a:solidFill>
              <a:srgbClr val="FFFFFF"/>
            </a:solidFill>
            <a:prstDash val="solid"/>
          </a:ln>
        </p:spPr>
      </p:sp>
      <p:sp>
        <p:nvSpPr>
          <p:cNvPr id="51" name="矩形 50"/>
          <p:cNvSpPr>
            <a:spLocks noGrp="1"/>
          </p:cNvSpPr>
          <p:nvPr/>
        </p:nvSpPr>
        <p:spPr>
          <a:xfrm>
            <a:off x="2219325" y="2878455"/>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关于深化养老服务改革发展的意见</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中共中央、国务院</a:t>
            </a:r>
            <a:endParaRPr sz="890" b="1">
              <a:solidFill>
                <a:srgbClr val="403A38"/>
              </a:solidFill>
              <a:latin typeface="Noto Sans Hans"/>
              <a:ea typeface="Noto Sans Hans"/>
              <a:cs typeface="Noto Sans Hans"/>
            </a:endParaRPr>
          </a:p>
        </p:txBody>
      </p:sp>
      <p:sp>
        <p:nvSpPr>
          <p:cNvPr id="52" name="矩形 51"/>
          <p:cNvSpPr>
            <a:spLocks noGrp="1"/>
          </p:cNvSpPr>
          <p:nvPr/>
        </p:nvSpPr>
        <p:spPr>
          <a:xfrm>
            <a:off x="4791075" y="2859405"/>
            <a:ext cx="3362325" cy="451485"/>
          </a:xfrm>
          <a:prstGeom prst="rect">
            <a:avLst/>
          </a:prstGeom>
          <a:solidFill>
            <a:srgbClr val="F7F3F1"/>
          </a:solidFill>
          <a:ln w="9525">
            <a:solidFill>
              <a:srgbClr val="FFFFFF"/>
            </a:solidFill>
            <a:prstDash val="solid"/>
          </a:ln>
        </p:spPr>
      </p:sp>
      <p:sp>
        <p:nvSpPr>
          <p:cNvPr id="53" name="矩形 52"/>
          <p:cNvSpPr>
            <a:spLocks noGrp="1"/>
          </p:cNvSpPr>
          <p:nvPr/>
        </p:nvSpPr>
        <p:spPr>
          <a:xfrm>
            <a:off x="4815840" y="2878455"/>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推动人形机器人、脑机接口和人工智能产品研发应用</a:t>
            </a:r>
            <a:endParaRPr sz="880" b="0">
              <a:solidFill>
                <a:srgbClr val="403A38"/>
              </a:solidFill>
              <a:latin typeface="Noto Sans Hans"/>
              <a:ea typeface="Noto Sans Hans"/>
              <a:cs typeface="Noto Sans Hans"/>
            </a:endParaRPr>
          </a:p>
        </p:txBody>
      </p:sp>
      <p:sp>
        <p:nvSpPr>
          <p:cNvPr id="54" name="矩形 53"/>
          <p:cNvSpPr>
            <a:spLocks noGrp="1"/>
          </p:cNvSpPr>
          <p:nvPr/>
        </p:nvSpPr>
        <p:spPr>
          <a:xfrm>
            <a:off x="8153400" y="2859405"/>
            <a:ext cx="3143250" cy="451485"/>
          </a:xfrm>
          <a:prstGeom prst="rect">
            <a:avLst/>
          </a:prstGeom>
          <a:solidFill>
            <a:srgbClr val="F7F3F1"/>
          </a:solidFill>
          <a:ln w="9525">
            <a:solidFill>
              <a:srgbClr val="FFFFFF"/>
            </a:solidFill>
            <a:prstDash val="solid"/>
          </a:ln>
        </p:spPr>
      </p:sp>
      <p:sp>
        <p:nvSpPr>
          <p:cNvPr id="55" name="矩形 54"/>
          <p:cNvSpPr>
            <a:spLocks noGrp="1"/>
          </p:cNvSpPr>
          <p:nvPr/>
        </p:nvSpPr>
        <p:spPr>
          <a:xfrm>
            <a:off x="8181975" y="2878455"/>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联合高校医院定义任务，人形机器人先做低风险工作</a:t>
            </a:r>
            <a:endParaRPr sz="880" b="0">
              <a:solidFill>
                <a:srgbClr val="403A38"/>
              </a:solidFill>
              <a:latin typeface="Noto Sans Hans"/>
              <a:ea typeface="Noto Sans Hans"/>
              <a:cs typeface="Noto Sans Hans"/>
            </a:endParaRPr>
          </a:p>
        </p:txBody>
      </p:sp>
      <p:sp>
        <p:nvSpPr>
          <p:cNvPr id="56" name="矩形 55"/>
          <p:cNvSpPr>
            <a:spLocks noGrp="1"/>
          </p:cNvSpPr>
          <p:nvPr/>
        </p:nvSpPr>
        <p:spPr>
          <a:xfrm>
            <a:off x="457200" y="3310890"/>
            <a:ext cx="876300" cy="451485"/>
          </a:xfrm>
          <a:prstGeom prst="rect">
            <a:avLst/>
          </a:prstGeom>
          <a:solidFill>
            <a:srgbClr val="9E3038"/>
          </a:solidFill>
          <a:ln w="9525">
            <a:solidFill>
              <a:srgbClr val="FFFFFF"/>
            </a:solidFill>
            <a:prstDash val="solid"/>
          </a:ln>
        </p:spPr>
      </p:sp>
      <p:sp>
        <p:nvSpPr>
          <p:cNvPr id="57" name="矩形 56"/>
          <p:cNvSpPr>
            <a:spLocks noGrp="1"/>
          </p:cNvSpPr>
          <p:nvPr/>
        </p:nvSpPr>
        <p:spPr>
          <a:xfrm>
            <a:off x="485775" y="3329940"/>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国家</a:t>
            </a:r>
            <a:endParaRPr sz="1040" b="1">
              <a:solidFill>
                <a:srgbClr val="FFFFFF"/>
              </a:solidFill>
              <a:latin typeface="Noto Sans Hans"/>
              <a:ea typeface="Noto Sans Hans"/>
              <a:cs typeface="Noto Sans Hans"/>
            </a:endParaRPr>
          </a:p>
        </p:txBody>
      </p:sp>
      <p:sp>
        <p:nvSpPr>
          <p:cNvPr id="58" name="矩形 57"/>
          <p:cNvSpPr>
            <a:spLocks noGrp="1"/>
          </p:cNvSpPr>
          <p:nvPr/>
        </p:nvSpPr>
        <p:spPr>
          <a:xfrm>
            <a:off x="1333500" y="3310890"/>
            <a:ext cx="857250" cy="451485"/>
          </a:xfrm>
          <a:prstGeom prst="rect">
            <a:avLst/>
          </a:prstGeom>
          <a:solidFill>
            <a:srgbClr val="F8E5E4"/>
          </a:solidFill>
          <a:ln w="9525">
            <a:solidFill>
              <a:srgbClr val="FFFFFF"/>
            </a:solidFill>
            <a:prstDash val="solid"/>
          </a:ln>
        </p:spPr>
      </p:sp>
      <p:sp>
        <p:nvSpPr>
          <p:cNvPr id="59" name="矩形 58"/>
          <p:cNvSpPr>
            <a:spLocks noGrp="1"/>
          </p:cNvSpPr>
          <p:nvPr/>
        </p:nvSpPr>
        <p:spPr>
          <a:xfrm>
            <a:off x="1362075" y="3329940"/>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2025.06</a:t>
            </a:r>
            <a:endParaRPr sz="910" b="1">
              <a:solidFill>
                <a:srgbClr val="403A38"/>
              </a:solidFill>
              <a:latin typeface="Noto Sans Hans"/>
              <a:ea typeface="Noto Sans Hans"/>
              <a:cs typeface="Noto Sans Hans"/>
            </a:endParaRPr>
          </a:p>
        </p:txBody>
      </p:sp>
      <p:sp>
        <p:nvSpPr>
          <p:cNvPr id="60" name="矩形 59"/>
          <p:cNvSpPr>
            <a:spLocks noGrp="1"/>
          </p:cNvSpPr>
          <p:nvPr/>
        </p:nvSpPr>
        <p:spPr>
          <a:xfrm>
            <a:off x="2190750" y="3310890"/>
            <a:ext cx="2600325" cy="451485"/>
          </a:xfrm>
          <a:prstGeom prst="rect">
            <a:avLst/>
          </a:prstGeom>
          <a:solidFill>
            <a:srgbClr val="F8E5E4"/>
          </a:solidFill>
          <a:ln w="9525">
            <a:solidFill>
              <a:srgbClr val="FFFFFF"/>
            </a:solidFill>
            <a:prstDash val="solid"/>
          </a:ln>
        </p:spPr>
      </p:sp>
      <p:sp>
        <p:nvSpPr>
          <p:cNvPr id="61" name="矩形 60"/>
          <p:cNvSpPr>
            <a:spLocks noGrp="1"/>
          </p:cNvSpPr>
          <p:nvPr/>
        </p:nvSpPr>
        <p:spPr>
          <a:xfrm>
            <a:off x="2219325" y="3329940"/>
            <a:ext cx="2536825" cy="413385"/>
          </a:xfrm>
          <a:prstGeom prst="rect">
            <a:avLst/>
          </a:prstGeom>
          <a:noFill/>
          <a:ln w="0">
            <a:noFill/>
            <a:prstDash val="solid"/>
          </a:ln>
        </p:spPr>
        <p:txBody>
          <a:bodyPr wrap="square" lIns="47625" tIns="19050" rIns="47625" bIns="19050" anchor="ctr">
            <a:no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智能养老服务机器人结对攻关与场景应用试点</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工业和信息化部、民政部</a:t>
            </a:r>
            <a:endParaRPr sz="890" b="1">
              <a:solidFill>
                <a:srgbClr val="403A38"/>
              </a:solidFill>
              <a:latin typeface="Noto Sans Hans"/>
              <a:ea typeface="Noto Sans Hans"/>
              <a:cs typeface="Noto Sans Hans"/>
            </a:endParaRPr>
          </a:p>
        </p:txBody>
      </p:sp>
      <p:sp>
        <p:nvSpPr>
          <p:cNvPr id="62" name="矩形 61"/>
          <p:cNvSpPr>
            <a:spLocks noGrp="1"/>
          </p:cNvSpPr>
          <p:nvPr/>
        </p:nvSpPr>
        <p:spPr>
          <a:xfrm>
            <a:off x="4791075" y="3310890"/>
            <a:ext cx="3362325" cy="451485"/>
          </a:xfrm>
          <a:prstGeom prst="rect">
            <a:avLst/>
          </a:prstGeom>
          <a:solidFill>
            <a:srgbClr val="F8E5E4"/>
          </a:solidFill>
          <a:ln w="9525">
            <a:solidFill>
              <a:srgbClr val="FFFFFF"/>
            </a:solidFill>
            <a:prstDash val="solid"/>
          </a:ln>
        </p:spPr>
      </p:sp>
      <p:sp>
        <p:nvSpPr>
          <p:cNvPr id="63" name="矩形 62"/>
          <p:cNvSpPr>
            <a:spLocks noGrp="1"/>
          </p:cNvSpPr>
          <p:nvPr/>
        </p:nvSpPr>
        <p:spPr>
          <a:xfrm>
            <a:off x="4815840" y="3329940"/>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2025—2027年围绕居家、社区、机构开展研用结对验证</a:t>
            </a:r>
            <a:endParaRPr sz="880" b="0">
              <a:solidFill>
                <a:srgbClr val="403A38"/>
              </a:solidFill>
              <a:latin typeface="Noto Sans Hans"/>
              <a:ea typeface="Noto Sans Hans"/>
              <a:cs typeface="Noto Sans Hans"/>
            </a:endParaRPr>
          </a:p>
        </p:txBody>
      </p:sp>
      <p:sp>
        <p:nvSpPr>
          <p:cNvPr id="64" name="矩形 63"/>
          <p:cNvSpPr>
            <a:spLocks noGrp="1"/>
          </p:cNvSpPr>
          <p:nvPr/>
        </p:nvSpPr>
        <p:spPr>
          <a:xfrm>
            <a:off x="8153400" y="3310890"/>
            <a:ext cx="3143250" cy="451485"/>
          </a:xfrm>
          <a:prstGeom prst="rect">
            <a:avLst/>
          </a:prstGeom>
          <a:solidFill>
            <a:srgbClr val="F5EDDA"/>
          </a:solidFill>
          <a:ln w="9525">
            <a:solidFill>
              <a:srgbClr val="FFFFFF"/>
            </a:solidFill>
            <a:prstDash val="solid"/>
          </a:ln>
        </p:spPr>
      </p:sp>
      <p:sp>
        <p:nvSpPr>
          <p:cNvPr id="65" name="矩形 64"/>
          <p:cNvSpPr>
            <a:spLocks noGrp="1"/>
          </p:cNvSpPr>
          <p:nvPr/>
        </p:nvSpPr>
        <p:spPr>
          <a:xfrm>
            <a:off x="8181975" y="3329940"/>
            <a:ext cx="3086100" cy="413385"/>
          </a:xfrm>
          <a:prstGeom prst="rect">
            <a:avLst/>
          </a:prstGeom>
          <a:noFill/>
          <a:ln w="0">
            <a:noFill/>
            <a:prstDash val="solid"/>
          </a:ln>
        </p:spPr>
        <p:txBody>
          <a:bodyPr wrap="square" lIns="47625" tIns="19050" rIns="47625" bIns="19050" anchor="ctr">
            <a:normAutofit/>
          </a:bodyPr>
          <a:lstStyle/>
          <a:p>
            <a:pPr algn="l">
              <a:defRPr sz="775" b="1">
                <a:solidFill>
                  <a:srgbClr val="8E1118"/>
                </a:solidFill>
                <a:latin typeface="Noto Sans Hans"/>
                <a:ea typeface="Noto Sans Hans"/>
                <a:cs typeface="Noto Sans Hans"/>
              </a:defRPr>
            </a:pPr>
            <a:r>
              <a:rPr sz="880" b="1">
                <a:solidFill>
                  <a:srgbClr val="8E1118"/>
                </a:solidFill>
                <a:latin typeface="Noto Sans Hans"/>
                <a:ea typeface="Noto Sans Hans"/>
                <a:cs typeface="Noto Sans Hans"/>
              </a:rPr>
              <a:t>组建“企业+养老机构+高校医院”联合体，形成常态化申报</a:t>
            </a:r>
            <a:endParaRPr sz="880" b="1">
              <a:solidFill>
                <a:srgbClr val="8E1118"/>
              </a:solidFill>
              <a:latin typeface="Noto Sans Hans"/>
              <a:ea typeface="Noto Sans Hans"/>
              <a:cs typeface="Noto Sans Hans"/>
            </a:endParaRPr>
          </a:p>
        </p:txBody>
      </p:sp>
      <p:sp>
        <p:nvSpPr>
          <p:cNvPr id="66" name="矩形 65"/>
          <p:cNvSpPr>
            <a:spLocks noGrp="1"/>
          </p:cNvSpPr>
          <p:nvPr/>
        </p:nvSpPr>
        <p:spPr>
          <a:xfrm>
            <a:off x="457200" y="3762375"/>
            <a:ext cx="876300" cy="451485"/>
          </a:xfrm>
          <a:prstGeom prst="rect">
            <a:avLst/>
          </a:prstGeom>
          <a:solidFill>
            <a:srgbClr val="9E3038"/>
          </a:solidFill>
          <a:ln w="9525">
            <a:solidFill>
              <a:srgbClr val="FFFFFF"/>
            </a:solidFill>
            <a:prstDash val="solid"/>
          </a:ln>
        </p:spPr>
      </p:sp>
      <p:sp>
        <p:nvSpPr>
          <p:cNvPr id="67" name="矩形 66"/>
          <p:cNvSpPr>
            <a:spLocks noGrp="1"/>
          </p:cNvSpPr>
          <p:nvPr/>
        </p:nvSpPr>
        <p:spPr>
          <a:xfrm>
            <a:off x="485775" y="3781425"/>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国家</a:t>
            </a:r>
            <a:endParaRPr sz="1040" b="1">
              <a:solidFill>
                <a:srgbClr val="FFFFFF"/>
              </a:solidFill>
              <a:latin typeface="Noto Sans Hans"/>
              <a:ea typeface="Noto Sans Hans"/>
              <a:cs typeface="Noto Sans Hans"/>
            </a:endParaRPr>
          </a:p>
        </p:txBody>
      </p:sp>
      <p:sp>
        <p:nvSpPr>
          <p:cNvPr id="68" name="矩形 67"/>
          <p:cNvSpPr>
            <a:spLocks noGrp="1"/>
          </p:cNvSpPr>
          <p:nvPr/>
        </p:nvSpPr>
        <p:spPr>
          <a:xfrm>
            <a:off x="1333500" y="3762375"/>
            <a:ext cx="857250" cy="451485"/>
          </a:xfrm>
          <a:prstGeom prst="rect">
            <a:avLst/>
          </a:prstGeom>
          <a:solidFill>
            <a:srgbClr val="F7F3F1"/>
          </a:solidFill>
          <a:ln w="9525">
            <a:solidFill>
              <a:srgbClr val="FFFFFF"/>
            </a:solidFill>
            <a:prstDash val="solid"/>
          </a:ln>
        </p:spPr>
      </p:sp>
      <p:sp>
        <p:nvSpPr>
          <p:cNvPr id="69" name="矩形 68"/>
          <p:cNvSpPr>
            <a:spLocks noGrp="1"/>
          </p:cNvSpPr>
          <p:nvPr/>
        </p:nvSpPr>
        <p:spPr>
          <a:xfrm>
            <a:off x="1362075" y="3781425"/>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a:t>
            </a:r>
            <a:r>
              <a:rPr lang="en-US" sz="910" b="1">
                <a:solidFill>
                  <a:srgbClr val="403A38"/>
                </a:solidFill>
                <a:latin typeface="Noto Sans Hans"/>
                <a:ea typeface="Noto Sans Hans"/>
                <a:cs typeface="Noto Sans Hans"/>
              </a:rPr>
              <a:t>6.07</a:t>
            </a:r>
            <a:endParaRPr lang="en-US" sz="910" b="1">
              <a:solidFill>
                <a:srgbClr val="403A38"/>
              </a:solidFill>
              <a:latin typeface="Noto Sans Hans"/>
              <a:ea typeface="Noto Sans Hans"/>
              <a:cs typeface="Noto Sans Hans"/>
            </a:endParaRPr>
          </a:p>
        </p:txBody>
      </p:sp>
      <p:sp>
        <p:nvSpPr>
          <p:cNvPr id="70" name="矩形 69"/>
          <p:cNvSpPr>
            <a:spLocks noGrp="1"/>
          </p:cNvSpPr>
          <p:nvPr/>
        </p:nvSpPr>
        <p:spPr>
          <a:xfrm>
            <a:off x="2190750" y="3762375"/>
            <a:ext cx="2600325" cy="451485"/>
          </a:xfrm>
          <a:prstGeom prst="rect">
            <a:avLst/>
          </a:prstGeom>
          <a:solidFill>
            <a:srgbClr val="F7F3F1"/>
          </a:solidFill>
          <a:ln w="9525">
            <a:solidFill>
              <a:srgbClr val="FFFFFF"/>
            </a:solidFill>
            <a:prstDash val="solid"/>
          </a:ln>
        </p:spPr>
      </p:sp>
      <p:sp>
        <p:nvSpPr>
          <p:cNvPr id="71" name="矩形 70"/>
          <p:cNvSpPr>
            <a:spLocks noGrp="1"/>
          </p:cNvSpPr>
          <p:nvPr/>
        </p:nvSpPr>
        <p:spPr>
          <a:xfrm>
            <a:off x="2219325" y="3781425"/>
            <a:ext cx="2536825" cy="413385"/>
          </a:xfrm>
          <a:prstGeom prst="rect">
            <a:avLst/>
          </a:prstGeom>
          <a:noFill/>
          <a:ln w="0">
            <a:noFill/>
            <a:prstDash val="solid"/>
          </a:ln>
        </p:spPr>
        <p:txBody>
          <a:bodyPr wrap="square" lIns="47625" tIns="19050" rIns="47625" bIns="19050" anchor="ctr">
            <a:noAutofit/>
          </a:bodyPr>
          <a:lstStyle/>
          <a:p>
            <a:pPr algn="ctr">
              <a:defRPr sz="790" b="1">
                <a:solidFill>
                  <a:srgbClr val="403A38"/>
                </a:solidFill>
                <a:latin typeface="Noto Sans Hans"/>
                <a:ea typeface="Noto Sans Hans"/>
                <a:cs typeface="Noto Sans Hans"/>
              </a:defRPr>
            </a:pPr>
            <a:r>
              <a:rPr lang="zh-CN" altLang="en-US" sz="890" b="1">
                <a:solidFill>
                  <a:srgbClr val="403A38"/>
                </a:solidFill>
                <a:latin typeface="Noto Sans Hans"/>
                <a:ea typeface="Noto Sans Hans"/>
                <a:cs typeface="Noto Sans Hans"/>
              </a:rPr>
              <a:t>康复辅助器具产业扩能提质三年行动方案（2026—2028年）民政部等14部门</a:t>
            </a:r>
            <a:endParaRPr lang="zh-CN" altLang="en-US" sz="890" b="1">
              <a:solidFill>
                <a:srgbClr val="403A38"/>
              </a:solidFill>
              <a:latin typeface="Noto Sans Hans"/>
              <a:ea typeface="Noto Sans Hans"/>
              <a:cs typeface="Noto Sans Hans"/>
            </a:endParaRPr>
          </a:p>
        </p:txBody>
      </p:sp>
      <p:sp>
        <p:nvSpPr>
          <p:cNvPr id="72" name="矩形 71"/>
          <p:cNvSpPr>
            <a:spLocks noGrp="1"/>
          </p:cNvSpPr>
          <p:nvPr/>
        </p:nvSpPr>
        <p:spPr>
          <a:xfrm>
            <a:off x="4791075" y="3762375"/>
            <a:ext cx="3362325" cy="451485"/>
          </a:xfrm>
          <a:prstGeom prst="rect">
            <a:avLst/>
          </a:prstGeom>
          <a:solidFill>
            <a:srgbClr val="F7F3F1"/>
          </a:solidFill>
          <a:ln w="9525">
            <a:solidFill>
              <a:srgbClr val="FFFFFF"/>
            </a:solidFill>
            <a:prstDash val="solid"/>
          </a:ln>
        </p:spPr>
      </p:sp>
      <p:sp>
        <p:nvSpPr>
          <p:cNvPr id="73" name="矩形 72"/>
          <p:cNvSpPr>
            <a:spLocks noGrp="1"/>
          </p:cNvSpPr>
          <p:nvPr/>
        </p:nvSpPr>
        <p:spPr>
          <a:xfrm>
            <a:off x="4815840" y="3781425"/>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lang="zh-CN" altLang="en-US" sz="880" b="0">
                <a:solidFill>
                  <a:srgbClr val="403A38"/>
                </a:solidFill>
                <a:latin typeface="Noto Sans Hans"/>
                <a:ea typeface="Noto Sans Hans"/>
                <a:cs typeface="Noto Sans Hans"/>
              </a:rPr>
              <a:t>推进康复辅具进机构、进社区、进家庭，重点发展康养机器人、脑机接口、外骨骼等产品和技术</a:t>
            </a:r>
            <a:endParaRPr lang="zh-CN" altLang="en-US" sz="880" b="0">
              <a:solidFill>
                <a:srgbClr val="403A38"/>
              </a:solidFill>
              <a:latin typeface="Noto Sans Hans"/>
              <a:ea typeface="Noto Sans Hans"/>
              <a:cs typeface="Noto Sans Hans"/>
            </a:endParaRPr>
          </a:p>
        </p:txBody>
      </p:sp>
      <p:sp>
        <p:nvSpPr>
          <p:cNvPr id="74" name="矩形 73"/>
          <p:cNvSpPr>
            <a:spLocks noGrp="1"/>
          </p:cNvSpPr>
          <p:nvPr/>
        </p:nvSpPr>
        <p:spPr>
          <a:xfrm>
            <a:off x="8153400" y="3762375"/>
            <a:ext cx="3143250" cy="451485"/>
          </a:xfrm>
          <a:prstGeom prst="rect">
            <a:avLst/>
          </a:prstGeom>
          <a:solidFill>
            <a:srgbClr val="F7F3F1"/>
          </a:solidFill>
          <a:ln w="9525">
            <a:solidFill>
              <a:srgbClr val="FFFFFF"/>
            </a:solidFill>
            <a:prstDash val="solid"/>
          </a:ln>
        </p:spPr>
      </p:sp>
      <p:sp>
        <p:nvSpPr>
          <p:cNvPr id="75" name="矩形 74"/>
          <p:cNvSpPr>
            <a:spLocks noGrp="1"/>
          </p:cNvSpPr>
          <p:nvPr/>
        </p:nvSpPr>
        <p:spPr>
          <a:xfrm>
            <a:off x="8181975" y="3781425"/>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lang="zh-CN" altLang="en-US" sz="880" b="0">
                <a:solidFill>
                  <a:srgbClr val="403A38"/>
                </a:solidFill>
                <a:latin typeface="Noto Sans Hans"/>
                <a:ea typeface="Noto Sans Hans"/>
                <a:cs typeface="Noto Sans Hans"/>
              </a:rPr>
              <a:t>依托养老机构和社区开放应用场景，联合高校、医院及企业申报示范项目，重点储备康养机器人和脑机接口项目</a:t>
            </a:r>
            <a:endParaRPr lang="zh-CN" altLang="en-US" sz="880" b="0">
              <a:solidFill>
                <a:srgbClr val="403A38"/>
              </a:solidFill>
              <a:latin typeface="Noto Sans Hans"/>
              <a:ea typeface="Noto Sans Hans"/>
              <a:cs typeface="Noto Sans Hans"/>
            </a:endParaRPr>
          </a:p>
        </p:txBody>
      </p:sp>
      <p:sp>
        <p:nvSpPr>
          <p:cNvPr id="76" name="矩形 75"/>
          <p:cNvSpPr>
            <a:spLocks noGrp="1"/>
          </p:cNvSpPr>
          <p:nvPr/>
        </p:nvSpPr>
        <p:spPr>
          <a:xfrm>
            <a:off x="457200" y="4213860"/>
            <a:ext cx="876300" cy="451485"/>
          </a:xfrm>
          <a:prstGeom prst="rect">
            <a:avLst/>
          </a:prstGeom>
          <a:solidFill>
            <a:srgbClr val="C94A27"/>
          </a:solidFill>
          <a:ln w="9525">
            <a:solidFill>
              <a:srgbClr val="FFFFFF"/>
            </a:solidFill>
            <a:prstDash val="solid"/>
          </a:ln>
        </p:spPr>
      </p:sp>
      <p:sp>
        <p:nvSpPr>
          <p:cNvPr id="77" name="矩形 76"/>
          <p:cNvSpPr>
            <a:spLocks noGrp="1"/>
          </p:cNvSpPr>
          <p:nvPr/>
        </p:nvSpPr>
        <p:spPr>
          <a:xfrm>
            <a:off x="485775" y="4232910"/>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湖北</a:t>
            </a:r>
            <a:endParaRPr sz="1040" b="1">
              <a:solidFill>
                <a:srgbClr val="FFFFFF"/>
              </a:solidFill>
              <a:latin typeface="Noto Sans Hans"/>
              <a:ea typeface="Noto Sans Hans"/>
              <a:cs typeface="Noto Sans Hans"/>
            </a:endParaRPr>
          </a:p>
        </p:txBody>
      </p:sp>
      <p:sp>
        <p:nvSpPr>
          <p:cNvPr id="78" name="矩形 77"/>
          <p:cNvSpPr>
            <a:spLocks noGrp="1"/>
          </p:cNvSpPr>
          <p:nvPr/>
        </p:nvSpPr>
        <p:spPr>
          <a:xfrm>
            <a:off x="1333500" y="4213860"/>
            <a:ext cx="857250" cy="451485"/>
          </a:xfrm>
          <a:prstGeom prst="rect">
            <a:avLst/>
          </a:prstGeom>
          <a:solidFill>
            <a:srgbClr val="F8E5E4"/>
          </a:solidFill>
          <a:ln w="9525">
            <a:solidFill>
              <a:srgbClr val="FFFFFF"/>
            </a:solidFill>
            <a:prstDash val="solid"/>
          </a:ln>
        </p:spPr>
      </p:sp>
      <p:sp>
        <p:nvSpPr>
          <p:cNvPr id="79" name="矩形 78"/>
          <p:cNvSpPr>
            <a:spLocks noGrp="1"/>
          </p:cNvSpPr>
          <p:nvPr/>
        </p:nvSpPr>
        <p:spPr>
          <a:xfrm>
            <a:off x="1362075" y="4232910"/>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2025</a:t>
            </a:r>
            <a:endParaRPr sz="910" b="1">
              <a:solidFill>
                <a:srgbClr val="403A38"/>
              </a:solidFill>
              <a:latin typeface="Noto Sans Hans"/>
              <a:ea typeface="Noto Sans Hans"/>
              <a:cs typeface="Noto Sans Hans"/>
            </a:endParaRPr>
          </a:p>
        </p:txBody>
      </p:sp>
      <p:sp>
        <p:nvSpPr>
          <p:cNvPr id="80" name="矩形 79"/>
          <p:cNvSpPr>
            <a:spLocks noGrp="1"/>
          </p:cNvSpPr>
          <p:nvPr/>
        </p:nvSpPr>
        <p:spPr>
          <a:xfrm>
            <a:off x="2190750" y="4213860"/>
            <a:ext cx="2600325" cy="451485"/>
          </a:xfrm>
          <a:prstGeom prst="rect">
            <a:avLst/>
          </a:prstGeom>
          <a:solidFill>
            <a:srgbClr val="F8E5E4"/>
          </a:solidFill>
          <a:ln w="9525">
            <a:solidFill>
              <a:srgbClr val="FFFFFF"/>
            </a:solidFill>
            <a:prstDash val="solid"/>
          </a:ln>
        </p:spPr>
      </p:sp>
      <p:sp>
        <p:nvSpPr>
          <p:cNvPr id="81" name="矩形 80"/>
          <p:cNvSpPr>
            <a:spLocks noGrp="1"/>
          </p:cNvSpPr>
          <p:nvPr/>
        </p:nvSpPr>
        <p:spPr>
          <a:xfrm>
            <a:off x="2219325" y="4232910"/>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加快建设多元化养老服务体系实施方案</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湖北省人民政府</a:t>
            </a:r>
            <a:endParaRPr sz="890" b="1">
              <a:solidFill>
                <a:srgbClr val="403A38"/>
              </a:solidFill>
              <a:latin typeface="Noto Sans Hans"/>
              <a:ea typeface="Noto Sans Hans"/>
              <a:cs typeface="Noto Sans Hans"/>
            </a:endParaRPr>
          </a:p>
        </p:txBody>
      </p:sp>
      <p:sp>
        <p:nvSpPr>
          <p:cNvPr id="82" name="矩形 81"/>
          <p:cNvSpPr>
            <a:spLocks noGrp="1"/>
          </p:cNvSpPr>
          <p:nvPr/>
        </p:nvSpPr>
        <p:spPr>
          <a:xfrm>
            <a:off x="4791075" y="4213860"/>
            <a:ext cx="3362325" cy="451485"/>
          </a:xfrm>
          <a:prstGeom prst="rect">
            <a:avLst/>
          </a:prstGeom>
          <a:solidFill>
            <a:srgbClr val="F8E5E4"/>
          </a:solidFill>
          <a:ln w="9525">
            <a:solidFill>
              <a:srgbClr val="FFFFFF"/>
            </a:solidFill>
            <a:prstDash val="solid"/>
          </a:ln>
        </p:spPr>
      </p:sp>
      <p:sp>
        <p:nvSpPr>
          <p:cNvPr id="83" name="矩形 82"/>
          <p:cNvSpPr>
            <a:spLocks noGrp="1"/>
          </p:cNvSpPr>
          <p:nvPr/>
        </p:nvSpPr>
        <p:spPr>
          <a:xfrm>
            <a:off x="4815840" y="4232910"/>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规划智能机器人、康复辅具和银发经济产业园</a:t>
            </a:r>
            <a:endParaRPr sz="880" b="0">
              <a:solidFill>
                <a:srgbClr val="403A38"/>
              </a:solidFill>
              <a:latin typeface="Noto Sans Hans"/>
              <a:ea typeface="Noto Sans Hans"/>
              <a:cs typeface="Noto Sans Hans"/>
            </a:endParaRPr>
          </a:p>
        </p:txBody>
      </p:sp>
      <p:sp>
        <p:nvSpPr>
          <p:cNvPr id="84" name="矩形 83"/>
          <p:cNvSpPr>
            <a:spLocks noGrp="1"/>
          </p:cNvSpPr>
          <p:nvPr/>
        </p:nvSpPr>
        <p:spPr>
          <a:xfrm>
            <a:off x="8153400" y="4213860"/>
            <a:ext cx="3143250" cy="451485"/>
          </a:xfrm>
          <a:prstGeom prst="rect">
            <a:avLst/>
          </a:prstGeom>
          <a:solidFill>
            <a:srgbClr val="F8E5E4"/>
          </a:solidFill>
          <a:ln w="9525">
            <a:solidFill>
              <a:srgbClr val="FFFFFF"/>
            </a:solidFill>
            <a:prstDash val="solid"/>
          </a:ln>
        </p:spPr>
      </p:sp>
      <p:sp>
        <p:nvSpPr>
          <p:cNvPr id="85" name="矩形 84"/>
          <p:cNvSpPr>
            <a:spLocks noGrp="1"/>
          </p:cNvSpPr>
          <p:nvPr/>
        </p:nvSpPr>
        <p:spPr>
          <a:xfrm>
            <a:off x="8181975" y="4232910"/>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争取省级园区、示范场景和产业链协同资源</a:t>
            </a:r>
            <a:endParaRPr sz="880" b="0">
              <a:solidFill>
                <a:srgbClr val="403A38"/>
              </a:solidFill>
              <a:latin typeface="Noto Sans Hans"/>
              <a:ea typeface="Noto Sans Hans"/>
              <a:cs typeface="Noto Sans Hans"/>
            </a:endParaRPr>
          </a:p>
        </p:txBody>
      </p:sp>
      <p:sp>
        <p:nvSpPr>
          <p:cNvPr id="86" name="矩形 85"/>
          <p:cNvSpPr>
            <a:spLocks noGrp="1"/>
          </p:cNvSpPr>
          <p:nvPr/>
        </p:nvSpPr>
        <p:spPr>
          <a:xfrm>
            <a:off x="457200" y="4665345"/>
            <a:ext cx="876300" cy="451485"/>
          </a:xfrm>
          <a:prstGeom prst="rect">
            <a:avLst/>
          </a:prstGeom>
          <a:solidFill>
            <a:srgbClr val="C94A27"/>
          </a:solidFill>
          <a:ln w="9525">
            <a:solidFill>
              <a:srgbClr val="FFFFFF"/>
            </a:solidFill>
            <a:prstDash val="solid"/>
          </a:ln>
        </p:spPr>
      </p:sp>
      <p:sp>
        <p:nvSpPr>
          <p:cNvPr id="87" name="矩形 86"/>
          <p:cNvSpPr>
            <a:spLocks noGrp="1"/>
          </p:cNvSpPr>
          <p:nvPr/>
        </p:nvSpPr>
        <p:spPr>
          <a:xfrm>
            <a:off x="485775" y="4684395"/>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湖北</a:t>
            </a:r>
            <a:endParaRPr sz="1040" b="1">
              <a:solidFill>
                <a:srgbClr val="FFFFFF"/>
              </a:solidFill>
              <a:latin typeface="Noto Sans Hans"/>
              <a:ea typeface="Noto Sans Hans"/>
              <a:cs typeface="Noto Sans Hans"/>
            </a:endParaRPr>
          </a:p>
        </p:txBody>
      </p:sp>
      <p:sp>
        <p:nvSpPr>
          <p:cNvPr id="88" name="矩形 87"/>
          <p:cNvSpPr>
            <a:spLocks noGrp="1"/>
          </p:cNvSpPr>
          <p:nvPr/>
        </p:nvSpPr>
        <p:spPr>
          <a:xfrm>
            <a:off x="1333500" y="4665345"/>
            <a:ext cx="857250" cy="451485"/>
          </a:xfrm>
          <a:prstGeom prst="rect">
            <a:avLst/>
          </a:prstGeom>
          <a:solidFill>
            <a:srgbClr val="F7F3F1"/>
          </a:solidFill>
          <a:ln w="9525">
            <a:solidFill>
              <a:srgbClr val="FFFFFF"/>
            </a:solidFill>
            <a:prstDash val="solid"/>
          </a:ln>
        </p:spPr>
      </p:sp>
      <p:sp>
        <p:nvSpPr>
          <p:cNvPr id="89" name="矩形 88"/>
          <p:cNvSpPr>
            <a:spLocks noGrp="1"/>
          </p:cNvSpPr>
          <p:nvPr/>
        </p:nvSpPr>
        <p:spPr>
          <a:xfrm>
            <a:off x="1362075" y="4684395"/>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2025</a:t>
            </a:r>
            <a:endParaRPr sz="910" b="1">
              <a:solidFill>
                <a:srgbClr val="403A38"/>
              </a:solidFill>
              <a:latin typeface="Noto Sans Hans"/>
              <a:ea typeface="Noto Sans Hans"/>
              <a:cs typeface="Noto Sans Hans"/>
            </a:endParaRPr>
          </a:p>
        </p:txBody>
      </p:sp>
      <p:sp>
        <p:nvSpPr>
          <p:cNvPr id="90" name="矩形 89"/>
          <p:cNvSpPr>
            <a:spLocks noGrp="1"/>
          </p:cNvSpPr>
          <p:nvPr/>
        </p:nvSpPr>
        <p:spPr>
          <a:xfrm>
            <a:off x="2190750" y="4665345"/>
            <a:ext cx="2600325" cy="451485"/>
          </a:xfrm>
          <a:prstGeom prst="rect">
            <a:avLst/>
          </a:prstGeom>
          <a:solidFill>
            <a:srgbClr val="F7F3F1"/>
          </a:solidFill>
          <a:ln w="9525">
            <a:solidFill>
              <a:srgbClr val="FFFFFF"/>
            </a:solidFill>
            <a:prstDash val="solid"/>
          </a:ln>
        </p:spPr>
      </p:sp>
      <p:sp>
        <p:nvSpPr>
          <p:cNvPr id="91" name="矩形 90"/>
          <p:cNvSpPr>
            <a:spLocks noGrp="1"/>
          </p:cNvSpPr>
          <p:nvPr/>
        </p:nvSpPr>
        <p:spPr>
          <a:xfrm>
            <a:off x="2219325" y="4684395"/>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加快场景培育与应用实施方案</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湖北省人民政府办公厅</a:t>
            </a:r>
            <a:endParaRPr sz="890" b="1">
              <a:solidFill>
                <a:srgbClr val="403A38"/>
              </a:solidFill>
              <a:latin typeface="Noto Sans Hans"/>
              <a:ea typeface="Noto Sans Hans"/>
              <a:cs typeface="Noto Sans Hans"/>
            </a:endParaRPr>
          </a:p>
        </p:txBody>
      </p:sp>
      <p:sp>
        <p:nvSpPr>
          <p:cNvPr id="92" name="矩形 91"/>
          <p:cNvSpPr>
            <a:spLocks noGrp="1"/>
          </p:cNvSpPr>
          <p:nvPr/>
        </p:nvSpPr>
        <p:spPr>
          <a:xfrm>
            <a:off x="4791075" y="4665345"/>
            <a:ext cx="3362325" cy="451485"/>
          </a:xfrm>
          <a:prstGeom prst="rect">
            <a:avLst/>
          </a:prstGeom>
          <a:solidFill>
            <a:srgbClr val="F7F3F1"/>
          </a:solidFill>
          <a:ln w="9525">
            <a:solidFill>
              <a:srgbClr val="FFFFFF"/>
            </a:solidFill>
            <a:prstDash val="solid"/>
          </a:ln>
        </p:spPr>
      </p:sp>
      <p:sp>
        <p:nvSpPr>
          <p:cNvPr id="93" name="矩形 92"/>
          <p:cNvSpPr>
            <a:spLocks noGrp="1"/>
          </p:cNvSpPr>
          <p:nvPr/>
        </p:nvSpPr>
        <p:spPr>
          <a:xfrm>
            <a:off x="4815840" y="4684395"/>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开放医疗、康复、养老助残等场景</a:t>
            </a:r>
            <a:endParaRPr sz="880" b="0">
              <a:solidFill>
                <a:srgbClr val="403A38"/>
              </a:solidFill>
              <a:latin typeface="Noto Sans Hans"/>
              <a:ea typeface="Noto Sans Hans"/>
              <a:cs typeface="Noto Sans Hans"/>
            </a:endParaRPr>
          </a:p>
        </p:txBody>
      </p:sp>
      <p:sp>
        <p:nvSpPr>
          <p:cNvPr id="94" name="矩形 93"/>
          <p:cNvSpPr>
            <a:spLocks noGrp="1"/>
          </p:cNvSpPr>
          <p:nvPr/>
        </p:nvSpPr>
        <p:spPr>
          <a:xfrm>
            <a:off x="8153400" y="4665345"/>
            <a:ext cx="3143250" cy="451485"/>
          </a:xfrm>
          <a:prstGeom prst="rect">
            <a:avLst/>
          </a:prstGeom>
          <a:solidFill>
            <a:srgbClr val="F7F3F1"/>
          </a:solidFill>
          <a:ln w="9525">
            <a:solidFill>
              <a:srgbClr val="FFFFFF"/>
            </a:solidFill>
            <a:prstDash val="solid"/>
          </a:ln>
        </p:spPr>
      </p:sp>
      <p:sp>
        <p:nvSpPr>
          <p:cNvPr id="95" name="矩形 94"/>
          <p:cNvSpPr>
            <a:spLocks noGrp="1"/>
          </p:cNvSpPr>
          <p:nvPr/>
        </p:nvSpPr>
        <p:spPr>
          <a:xfrm>
            <a:off x="8181975" y="4684395"/>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形成可发布、可申报、可采购的机器人场景机会清单</a:t>
            </a:r>
            <a:endParaRPr sz="880" b="0">
              <a:solidFill>
                <a:srgbClr val="403A38"/>
              </a:solidFill>
              <a:latin typeface="Noto Sans Hans"/>
              <a:ea typeface="Noto Sans Hans"/>
              <a:cs typeface="Noto Sans Hans"/>
            </a:endParaRPr>
          </a:p>
        </p:txBody>
      </p:sp>
      <p:sp>
        <p:nvSpPr>
          <p:cNvPr id="96" name="矩形 95"/>
          <p:cNvSpPr>
            <a:spLocks noGrp="1"/>
          </p:cNvSpPr>
          <p:nvPr/>
        </p:nvSpPr>
        <p:spPr>
          <a:xfrm>
            <a:off x="457200" y="5116830"/>
            <a:ext cx="876300" cy="451485"/>
          </a:xfrm>
          <a:prstGeom prst="rect">
            <a:avLst/>
          </a:prstGeom>
          <a:solidFill>
            <a:srgbClr val="B76D73"/>
          </a:solidFill>
          <a:ln w="9525">
            <a:solidFill>
              <a:srgbClr val="FFFFFF"/>
            </a:solidFill>
            <a:prstDash val="solid"/>
          </a:ln>
        </p:spPr>
      </p:sp>
      <p:sp>
        <p:nvSpPr>
          <p:cNvPr id="97" name="矩形 96"/>
          <p:cNvSpPr>
            <a:spLocks noGrp="1"/>
          </p:cNvSpPr>
          <p:nvPr/>
        </p:nvSpPr>
        <p:spPr>
          <a:xfrm>
            <a:off x="485775" y="5135880"/>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武汉</a:t>
            </a:r>
            <a:endParaRPr sz="1040" b="1">
              <a:solidFill>
                <a:srgbClr val="FFFFFF"/>
              </a:solidFill>
              <a:latin typeface="Noto Sans Hans"/>
              <a:ea typeface="Noto Sans Hans"/>
              <a:cs typeface="Noto Sans Hans"/>
            </a:endParaRPr>
          </a:p>
        </p:txBody>
      </p:sp>
      <p:sp>
        <p:nvSpPr>
          <p:cNvPr id="98" name="矩形 97"/>
          <p:cNvSpPr>
            <a:spLocks noGrp="1"/>
          </p:cNvSpPr>
          <p:nvPr/>
        </p:nvSpPr>
        <p:spPr>
          <a:xfrm>
            <a:off x="1333500" y="5116830"/>
            <a:ext cx="857250" cy="451485"/>
          </a:xfrm>
          <a:prstGeom prst="rect">
            <a:avLst/>
          </a:prstGeom>
          <a:solidFill>
            <a:srgbClr val="F8E5E4"/>
          </a:solidFill>
          <a:ln w="9525">
            <a:solidFill>
              <a:srgbClr val="FFFFFF"/>
            </a:solidFill>
            <a:prstDash val="solid"/>
          </a:ln>
        </p:spPr>
      </p:sp>
      <p:sp>
        <p:nvSpPr>
          <p:cNvPr id="99" name="矩形 98"/>
          <p:cNvSpPr>
            <a:spLocks noGrp="1"/>
          </p:cNvSpPr>
          <p:nvPr/>
        </p:nvSpPr>
        <p:spPr>
          <a:xfrm>
            <a:off x="1362075" y="5135880"/>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2025.06</a:t>
            </a:r>
            <a:endParaRPr sz="910" b="1">
              <a:solidFill>
                <a:srgbClr val="403A38"/>
              </a:solidFill>
              <a:latin typeface="Noto Sans Hans"/>
              <a:ea typeface="Noto Sans Hans"/>
              <a:cs typeface="Noto Sans Hans"/>
            </a:endParaRPr>
          </a:p>
        </p:txBody>
      </p:sp>
      <p:sp>
        <p:nvSpPr>
          <p:cNvPr id="100" name="矩形 99"/>
          <p:cNvSpPr>
            <a:spLocks noGrp="1"/>
          </p:cNvSpPr>
          <p:nvPr/>
        </p:nvSpPr>
        <p:spPr>
          <a:xfrm>
            <a:off x="2190750" y="5116830"/>
            <a:ext cx="2600325" cy="451485"/>
          </a:xfrm>
          <a:prstGeom prst="rect">
            <a:avLst/>
          </a:prstGeom>
          <a:solidFill>
            <a:srgbClr val="F8E5E4"/>
          </a:solidFill>
          <a:ln w="9525">
            <a:solidFill>
              <a:srgbClr val="FFFFFF"/>
            </a:solidFill>
            <a:prstDash val="solid"/>
          </a:ln>
        </p:spPr>
      </p:sp>
      <p:sp>
        <p:nvSpPr>
          <p:cNvPr id="101" name="矩形 100"/>
          <p:cNvSpPr>
            <a:spLocks noGrp="1"/>
          </p:cNvSpPr>
          <p:nvPr/>
        </p:nvSpPr>
        <p:spPr>
          <a:xfrm>
            <a:off x="2219325" y="5135880"/>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人形机器人行动方案及若干政策措施</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武汉市</a:t>
            </a:r>
            <a:endParaRPr sz="890" b="1">
              <a:solidFill>
                <a:srgbClr val="403A38"/>
              </a:solidFill>
              <a:latin typeface="Noto Sans Hans"/>
              <a:ea typeface="Noto Sans Hans"/>
              <a:cs typeface="Noto Sans Hans"/>
            </a:endParaRPr>
          </a:p>
        </p:txBody>
      </p:sp>
      <p:sp>
        <p:nvSpPr>
          <p:cNvPr id="102" name="矩形 101"/>
          <p:cNvSpPr>
            <a:spLocks noGrp="1"/>
          </p:cNvSpPr>
          <p:nvPr/>
        </p:nvSpPr>
        <p:spPr>
          <a:xfrm>
            <a:off x="4791075" y="5116830"/>
            <a:ext cx="3362325" cy="451485"/>
          </a:xfrm>
          <a:prstGeom prst="rect">
            <a:avLst/>
          </a:prstGeom>
          <a:solidFill>
            <a:srgbClr val="F8E5E4"/>
          </a:solidFill>
          <a:ln w="9525">
            <a:solidFill>
              <a:srgbClr val="FFFFFF"/>
            </a:solidFill>
            <a:prstDash val="solid"/>
          </a:ln>
        </p:spPr>
      </p:sp>
      <p:sp>
        <p:nvSpPr>
          <p:cNvPr id="103" name="矩形 102"/>
          <p:cNvSpPr>
            <a:spLocks noGrp="1"/>
          </p:cNvSpPr>
          <p:nvPr/>
        </p:nvSpPr>
        <p:spPr>
          <a:xfrm>
            <a:off x="4815840" y="5135880"/>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实施平台、场景、整机、部件和生态五大行动</a:t>
            </a:r>
            <a:endParaRPr sz="880" b="0">
              <a:solidFill>
                <a:srgbClr val="403A38"/>
              </a:solidFill>
              <a:latin typeface="Noto Sans Hans"/>
              <a:ea typeface="Noto Sans Hans"/>
              <a:cs typeface="Noto Sans Hans"/>
            </a:endParaRPr>
          </a:p>
        </p:txBody>
      </p:sp>
      <p:sp>
        <p:nvSpPr>
          <p:cNvPr id="104" name="矩形 103"/>
          <p:cNvSpPr>
            <a:spLocks noGrp="1"/>
          </p:cNvSpPr>
          <p:nvPr/>
        </p:nvSpPr>
        <p:spPr>
          <a:xfrm>
            <a:off x="8153400" y="5116830"/>
            <a:ext cx="3143250" cy="451485"/>
          </a:xfrm>
          <a:prstGeom prst="rect">
            <a:avLst/>
          </a:prstGeom>
          <a:solidFill>
            <a:srgbClr val="F8E5E4"/>
          </a:solidFill>
          <a:ln w="9525">
            <a:solidFill>
              <a:srgbClr val="FFFFFF"/>
            </a:solidFill>
            <a:prstDash val="solid"/>
          </a:ln>
        </p:spPr>
      </p:sp>
      <p:sp>
        <p:nvSpPr>
          <p:cNvPr id="105" name="矩形 104"/>
          <p:cNvSpPr>
            <a:spLocks noGrp="1"/>
          </p:cNvSpPr>
          <p:nvPr/>
        </p:nvSpPr>
        <p:spPr>
          <a:xfrm>
            <a:off x="8181975" y="5135880"/>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用创新中心、联合实验室和场景奖补支持项目落地</a:t>
            </a:r>
            <a:endParaRPr sz="880" b="0">
              <a:solidFill>
                <a:srgbClr val="403A38"/>
              </a:solidFill>
              <a:latin typeface="Noto Sans Hans"/>
              <a:ea typeface="Noto Sans Hans"/>
              <a:cs typeface="Noto Sans Hans"/>
            </a:endParaRPr>
          </a:p>
        </p:txBody>
      </p:sp>
      <p:sp>
        <p:nvSpPr>
          <p:cNvPr id="106" name="矩形 105"/>
          <p:cNvSpPr>
            <a:spLocks noGrp="1"/>
          </p:cNvSpPr>
          <p:nvPr/>
        </p:nvSpPr>
        <p:spPr>
          <a:xfrm>
            <a:off x="457200" y="5568315"/>
            <a:ext cx="876300" cy="451485"/>
          </a:xfrm>
          <a:prstGeom prst="rect">
            <a:avLst/>
          </a:prstGeom>
          <a:solidFill>
            <a:srgbClr val="B76D73"/>
          </a:solidFill>
          <a:ln w="9525">
            <a:solidFill>
              <a:srgbClr val="FFFFFF"/>
            </a:solidFill>
            <a:prstDash val="solid"/>
          </a:ln>
        </p:spPr>
      </p:sp>
      <p:sp>
        <p:nvSpPr>
          <p:cNvPr id="107" name="矩形 106"/>
          <p:cNvSpPr>
            <a:spLocks noGrp="1"/>
          </p:cNvSpPr>
          <p:nvPr/>
        </p:nvSpPr>
        <p:spPr>
          <a:xfrm>
            <a:off x="485775" y="5587365"/>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武汉</a:t>
            </a:r>
            <a:endParaRPr sz="1040" b="1">
              <a:solidFill>
                <a:srgbClr val="FFFFFF"/>
              </a:solidFill>
              <a:latin typeface="Noto Sans Hans"/>
              <a:ea typeface="Noto Sans Hans"/>
              <a:cs typeface="Noto Sans Hans"/>
            </a:endParaRPr>
          </a:p>
        </p:txBody>
      </p:sp>
      <p:sp>
        <p:nvSpPr>
          <p:cNvPr id="108" name="矩形 107"/>
          <p:cNvSpPr>
            <a:spLocks noGrp="1"/>
          </p:cNvSpPr>
          <p:nvPr/>
        </p:nvSpPr>
        <p:spPr>
          <a:xfrm>
            <a:off x="1333500" y="5568315"/>
            <a:ext cx="857250" cy="451485"/>
          </a:xfrm>
          <a:prstGeom prst="rect">
            <a:avLst/>
          </a:prstGeom>
          <a:solidFill>
            <a:srgbClr val="F7F3F1"/>
          </a:solidFill>
          <a:ln w="9525">
            <a:solidFill>
              <a:srgbClr val="FFFFFF"/>
            </a:solidFill>
            <a:prstDash val="solid"/>
          </a:ln>
        </p:spPr>
      </p:sp>
      <p:sp>
        <p:nvSpPr>
          <p:cNvPr id="109" name="矩形 108"/>
          <p:cNvSpPr>
            <a:spLocks noGrp="1"/>
          </p:cNvSpPr>
          <p:nvPr/>
        </p:nvSpPr>
        <p:spPr>
          <a:xfrm>
            <a:off x="1362075" y="5587365"/>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2025—27</a:t>
            </a:r>
            <a:endParaRPr sz="910" b="1">
              <a:solidFill>
                <a:srgbClr val="403A38"/>
              </a:solidFill>
              <a:latin typeface="Noto Sans Hans"/>
              <a:ea typeface="Noto Sans Hans"/>
              <a:cs typeface="Noto Sans Hans"/>
            </a:endParaRPr>
          </a:p>
        </p:txBody>
      </p:sp>
      <p:sp>
        <p:nvSpPr>
          <p:cNvPr id="110" name="矩形 109"/>
          <p:cNvSpPr>
            <a:spLocks noGrp="1"/>
          </p:cNvSpPr>
          <p:nvPr/>
        </p:nvSpPr>
        <p:spPr>
          <a:xfrm>
            <a:off x="2190750" y="5568315"/>
            <a:ext cx="2600325" cy="451485"/>
          </a:xfrm>
          <a:prstGeom prst="rect">
            <a:avLst/>
          </a:prstGeom>
          <a:solidFill>
            <a:srgbClr val="F7F3F1"/>
          </a:solidFill>
          <a:ln w="9525">
            <a:solidFill>
              <a:srgbClr val="FFFFFF"/>
            </a:solidFill>
            <a:prstDash val="solid"/>
          </a:ln>
        </p:spPr>
      </p:sp>
      <p:sp>
        <p:nvSpPr>
          <p:cNvPr id="111" name="矩形 110"/>
          <p:cNvSpPr>
            <a:spLocks noGrp="1"/>
          </p:cNvSpPr>
          <p:nvPr/>
        </p:nvSpPr>
        <p:spPr>
          <a:xfrm>
            <a:off x="2219325" y="5587365"/>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养老设施建设三年行动计划</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武汉市</a:t>
            </a:r>
            <a:endParaRPr sz="890" b="1">
              <a:solidFill>
                <a:srgbClr val="403A38"/>
              </a:solidFill>
              <a:latin typeface="Noto Sans Hans"/>
              <a:ea typeface="Noto Sans Hans"/>
              <a:cs typeface="Noto Sans Hans"/>
            </a:endParaRPr>
          </a:p>
        </p:txBody>
      </p:sp>
      <p:sp>
        <p:nvSpPr>
          <p:cNvPr id="112" name="矩形 111"/>
          <p:cNvSpPr>
            <a:spLocks noGrp="1"/>
          </p:cNvSpPr>
          <p:nvPr/>
        </p:nvSpPr>
        <p:spPr>
          <a:xfrm>
            <a:off x="4791075" y="5568315"/>
            <a:ext cx="3362325" cy="451485"/>
          </a:xfrm>
          <a:prstGeom prst="rect">
            <a:avLst/>
          </a:prstGeom>
          <a:solidFill>
            <a:srgbClr val="F7F3F1"/>
          </a:solidFill>
          <a:ln w="9525">
            <a:solidFill>
              <a:srgbClr val="FFFFFF"/>
            </a:solidFill>
            <a:prstDash val="solid"/>
          </a:ln>
        </p:spPr>
      </p:sp>
      <p:sp>
        <p:nvSpPr>
          <p:cNvPr id="113" name="矩形 112"/>
          <p:cNvSpPr>
            <a:spLocks noGrp="1"/>
          </p:cNvSpPr>
          <p:nvPr/>
        </p:nvSpPr>
        <p:spPr>
          <a:xfrm>
            <a:off x="4815840" y="5587365"/>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完善居家、社区、机构养老设施网络</a:t>
            </a:r>
            <a:endParaRPr sz="880" b="0">
              <a:solidFill>
                <a:srgbClr val="403A38"/>
              </a:solidFill>
              <a:latin typeface="Noto Sans Hans"/>
              <a:ea typeface="Noto Sans Hans"/>
              <a:cs typeface="Noto Sans Hans"/>
            </a:endParaRPr>
          </a:p>
        </p:txBody>
      </p:sp>
      <p:sp>
        <p:nvSpPr>
          <p:cNvPr id="114" name="矩形 113"/>
          <p:cNvSpPr>
            <a:spLocks noGrp="1"/>
          </p:cNvSpPr>
          <p:nvPr/>
        </p:nvSpPr>
        <p:spPr>
          <a:xfrm>
            <a:off x="8153400" y="5568315"/>
            <a:ext cx="3143250" cy="451485"/>
          </a:xfrm>
          <a:prstGeom prst="rect">
            <a:avLst/>
          </a:prstGeom>
          <a:solidFill>
            <a:srgbClr val="F5EDDA"/>
          </a:solidFill>
          <a:ln w="9525">
            <a:solidFill>
              <a:srgbClr val="FFFFFF"/>
            </a:solidFill>
            <a:prstDash val="solid"/>
          </a:ln>
        </p:spPr>
      </p:sp>
      <p:sp>
        <p:nvSpPr>
          <p:cNvPr id="115" name="矩形 114"/>
          <p:cNvSpPr>
            <a:spLocks noGrp="1"/>
          </p:cNvSpPr>
          <p:nvPr/>
        </p:nvSpPr>
        <p:spPr>
          <a:xfrm>
            <a:off x="8181975" y="5587365"/>
            <a:ext cx="3086100" cy="413385"/>
          </a:xfrm>
          <a:prstGeom prst="rect">
            <a:avLst/>
          </a:prstGeom>
          <a:noFill/>
          <a:ln w="0">
            <a:noFill/>
            <a:prstDash val="solid"/>
          </a:ln>
        </p:spPr>
        <p:txBody>
          <a:bodyPr wrap="square" lIns="47625" tIns="19050" rIns="47625" bIns="19050" anchor="ctr">
            <a:normAutofit/>
          </a:bodyPr>
          <a:lstStyle/>
          <a:p>
            <a:pPr algn="l">
              <a:defRPr sz="775" b="1">
                <a:solidFill>
                  <a:srgbClr val="8E1118"/>
                </a:solidFill>
                <a:latin typeface="Noto Sans Hans"/>
                <a:ea typeface="Noto Sans Hans"/>
                <a:cs typeface="Noto Sans Hans"/>
              </a:defRPr>
            </a:pPr>
            <a:r>
              <a:rPr sz="880" b="1">
                <a:solidFill>
                  <a:srgbClr val="8E1118"/>
                </a:solidFill>
                <a:latin typeface="Noto Sans Hans"/>
                <a:ea typeface="Noto Sans Hans"/>
                <a:cs typeface="Noto Sans Hans"/>
              </a:rPr>
              <a:t>新建和改造项目预留设备接口、网络条件和试点空间</a:t>
            </a:r>
            <a:endParaRPr sz="880" b="1">
              <a:solidFill>
                <a:srgbClr val="8E1118"/>
              </a:solidFill>
              <a:latin typeface="Noto Sans Hans"/>
              <a:ea typeface="Noto Sans Hans"/>
              <a:cs typeface="Noto Sans Hans"/>
            </a:endParaRPr>
          </a:p>
        </p:txBody>
      </p:sp>
      <p:sp>
        <p:nvSpPr>
          <p:cNvPr id="116" name="矩形 115"/>
          <p:cNvSpPr>
            <a:spLocks noGrp="1"/>
          </p:cNvSpPr>
          <p:nvPr/>
        </p:nvSpPr>
        <p:spPr>
          <a:xfrm>
            <a:off x="457200" y="6019800"/>
            <a:ext cx="876300" cy="451485"/>
          </a:xfrm>
          <a:prstGeom prst="rect">
            <a:avLst/>
          </a:prstGeom>
          <a:solidFill>
            <a:srgbClr val="B76D73"/>
          </a:solidFill>
          <a:ln w="9525">
            <a:solidFill>
              <a:srgbClr val="FFFFFF"/>
            </a:solidFill>
            <a:prstDash val="solid"/>
          </a:ln>
        </p:spPr>
      </p:sp>
      <p:sp>
        <p:nvSpPr>
          <p:cNvPr id="117" name="矩形 116"/>
          <p:cNvSpPr>
            <a:spLocks noGrp="1"/>
          </p:cNvSpPr>
          <p:nvPr/>
        </p:nvSpPr>
        <p:spPr>
          <a:xfrm>
            <a:off x="485775" y="6038850"/>
            <a:ext cx="819150" cy="413385"/>
          </a:xfrm>
          <a:prstGeom prst="rect">
            <a:avLst/>
          </a:prstGeom>
          <a:noFill/>
          <a:ln w="0">
            <a:noFill/>
            <a:prstDash val="solid"/>
          </a:ln>
        </p:spPr>
        <p:txBody>
          <a:bodyPr wrap="square" lIns="47625" tIns="19050" rIns="47625" bIns="19050" anchor="ctr">
            <a:normAutofit/>
          </a:bodyPr>
          <a:lstStyle/>
          <a:p>
            <a:pPr algn="ctr">
              <a:defRPr sz="940" b="1">
                <a:solidFill>
                  <a:srgbClr val="FFFFFF"/>
                </a:solidFill>
                <a:latin typeface="Noto Sans Hans"/>
                <a:ea typeface="Noto Sans Hans"/>
                <a:cs typeface="Noto Sans Hans"/>
              </a:defRPr>
            </a:pPr>
            <a:r>
              <a:rPr sz="1040" b="1">
                <a:solidFill>
                  <a:srgbClr val="FFFFFF"/>
                </a:solidFill>
                <a:latin typeface="Noto Sans Hans"/>
                <a:ea typeface="Noto Sans Hans"/>
                <a:cs typeface="Noto Sans Hans"/>
              </a:rPr>
              <a:t>武汉</a:t>
            </a:r>
            <a:endParaRPr sz="1040" b="1">
              <a:solidFill>
                <a:srgbClr val="FFFFFF"/>
              </a:solidFill>
              <a:latin typeface="Noto Sans Hans"/>
              <a:ea typeface="Noto Sans Hans"/>
              <a:cs typeface="Noto Sans Hans"/>
            </a:endParaRPr>
          </a:p>
        </p:txBody>
      </p:sp>
      <p:sp>
        <p:nvSpPr>
          <p:cNvPr id="118" name="矩形 117"/>
          <p:cNvSpPr>
            <a:spLocks noGrp="1"/>
          </p:cNvSpPr>
          <p:nvPr/>
        </p:nvSpPr>
        <p:spPr>
          <a:xfrm>
            <a:off x="1333500" y="6019800"/>
            <a:ext cx="857250" cy="451485"/>
          </a:xfrm>
          <a:prstGeom prst="rect">
            <a:avLst/>
          </a:prstGeom>
          <a:solidFill>
            <a:srgbClr val="F8E5E4"/>
          </a:solidFill>
          <a:ln w="9525">
            <a:solidFill>
              <a:srgbClr val="FFFFFF"/>
            </a:solidFill>
            <a:prstDash val="solid"/>
          </a:ln>
        </p:spPr>
      </p:sp>
      <p:sp>
        <p:nvSpPr>
          <p:cNvPr id="119" name="矩形 118"/>
          <p:cNvSpPr>
            <a:spLocks noGrp="1"/>
          </p:cNvSpPr>
          <p:nvPr/>
        </p:nvSpPr>
        <p:spPr>
          <a:xfrm>
            <a:off x="1362075" y="6038850"/>
            <a:ext cx="800100" cy="413385"/>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2026.03</a:t>
            </a:r>
            <a:endParaRPr sz="910" b="1">
              <a:solidFill>
                <a:srgbClr val="403A38"/>
              </a:solidFill>
              <a:latin typeface="Noto Sans Hans"/>
              <a:ea typeface="Noto Sans Hans"/>
              <a:cs typeface="Noto Sans Hans"/>
            </a:endParaRPr>
          </a:p>
        </p:txBody>
      </p:sp>
      <p:sp>
        <p:nvSpPr>
          <p:cNvPr id="120" name="矩形 119"/>
          <p:cNvSpPr>
            <a:spLocks noGrp="1"/>
          </p:cNvSpPr>
          <p:nvPr/>
        </p:nvSpPr>
        <p:spPr>
          <a:xfrm>
            <a:off x="2190750" y="6019800"/>
            <a:ext cx="2600325" cy="451485"/>
          </a:xfrm>
          <a:prstGeom prst="rect">
            <a:avLst/>
          </a:prstGeom>
          <a:solidFill>
            <a:srgbClr val="F8E5E4"/>
          </a:solidFill>
          <a:ln w="9525">
            <a:solidFill>
              <a:srgbClr val="FFFFFF"/>
            </a:solidFill>
            <a:prstDash val="solid"/>
          </a:ln>
        </p:spPr>
      </p:sp>
      <p:sp>
        <p:nvSpPr>
          <p:cNvPr id="121" name="矩形 120"/>
          <p:cNvSpPr>
            <a:spLocks noGrp="1"/>
          </p:cNvSpPr>
          <p:nvPr/>
        </p:nvSpPr>
        <p:spPr>
          <a:xfrm>
            <a:off x="2219325" y="6038850"/>
            <a:ext cx="2536825" cy="413385"/>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武汉市“人工智能+”行动方案</a:t>
            </a:r>
            <a:endParaRPr sz="890" b="1">
              <a:solidFill>
                <a:srgbClr val="403A38"/>
              </a:solidFill>
              <a:latin typeface="Noto Sans Hans"/>
              <a:ea typeface="Noto Sans Hans"/>
              <a:cs typeface="Noto Sans Hans"/>
            </a:endParaRPr>
          </a:p>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武汉市人民政府</a:t>
            </a:r>
            <a:endParaRPr sz="890" b="1">
              <a:solidFill>
                <a:srgbClr val="403A38"/>
              </a:solidFill>
              <a:latin typeface="Noto Sans Hans"/>
              <a:ea typeface="Noto Sans Hans"/>
              <a:cs typeface="Noto Sans Hans"/>
            </a:endParaRPr>
          </a:p>
        </p:txBody>
      </p:sp>
      <p:sp>
        <p:nvSpPr>
          <p:cNvPr id="122" name="矩形 121"/>
          <p:cNvSpPr>
            <a:spLocks noGrp="1"/>
          </p:cNvSpPr>
          <p:nvPr/>
        </p:nvSpPr>
        <p:spPr>
          <a:xfrm>
            <a:off x="4791075" y="6019800"/>
            <a:ext cx="3362325" cy="451485"/>
          </a:xfrm>
          <a:prstGeom prst="rect">
            <a:avLst/>
          </a:prstGeom>
          <a:solidFill>
            <a:srgbClr val="F8E5E4"/>
          </a:solidFill>
          <a:ln w="9525">
            <a:solidFill>
              <a:srgbClr val="FFFFFF"/>
            </a:solidFill>
            <a:prstDash val="solid"/>
          </a:ln>
        </p:spPr>
      </p:sp>
      <p:sp>
        <p:nvSpPr>
          <p:cNvPr id="123" name="矩形 122"/>
          <p:cNvSpPr>
            <a:spLocks noGrp="1"/>
          </p:cNvSpPr>
          <p:nvPr/>
        </p:nvSpPr>
        <p:spPr>
          <a:xfrm>
            <a:off x="4815840" y="6038850"/>
            <a:ext cx="3308985"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布局智慧养老、人形机器人和城市级人工智能场景</a:t>
            </a:r>
            <a:endParaRPr sz="880" b="0">
              <a:solidFill>
                <a:srgbClr val="403A38"/>
              </a:solidFill>
              <a:latin typeface="Noto Sans Hans"/>
              <a:ea typeface="Noto Sans Hans"/>
              <a:cs typeface="Noto Sans Hans"/>
            </a:endParaRPr>
          </a:p>
        </p:txBody>
      </p:sp>
      <p:sp>
        <p:nvSpPr>
          <p:cNvPr id="124" name="矩形 123"/>
          <p:cNvSpPr>
            <a:spLocks noGrp="1"/>
          </p:cNvSpPr>
          <p:nvPr/>
        </p:nvSpPr>
        <p:spPr>
          <a:xfrm>
            <a:off x="8153400" y="6019800"/>
            <a:ext cx="3143250" cy="451485"/>
          </a:xfrm>
          <a:prstGeom prst="rect">
            <a:avLst/>
          </a:prstGeom>
          <a:solidFill>
            <a:srgbClr val="F8E5E4"/>
          </a:solidFill>
          <a:ln w="9525">
            <a:solidFill>
              <a:srgbClr val="FFFFFF"/>
            </a:solidFill>
            <a:prstDash val="solid"/>
          </a:ln>
        </p:spPr>
      </p:sp>
      <p:sp>
        <p:nvSpPr>
          <p:cNvPr id="125" name="矩形 124"/>
          <p:cNvSpPr>
            <a:spLocks noGrp="1"/>
          </p:cNvSpPr>
          <p:nvPr/>
        </p:nvSpPr>
        <p:spPr>
          <a:xfrm>
            <a:off x="8181975" y="6038850"/>
            <a:ext cx="3086100" cy="413385"/>
          </a:xfrm>
          <a:prstGeom prst="rect">
            <a:avLst/>
          </a:prstGeom>
          <a:noFill/>
          <a:ln w="0">
            <a:noFill/>
            <a:prstDash val="solid"/>
          </a:ln>
        </p:spPr>
        <p:txBody>
          <a:bodyPr wrap="square" lIns="47625" tIns="19050" rIns="47625" bIns="19050" anchor="ctr">
            <a:normAutofit/>
          </a:bodyPr>
          <a:lstStyle/>
          <a:p>
            <a:pPr algn="l">
              <a:defRPr sz="775" b="0">
                <a:solidFill>
                  <a:srgbClr val="403A38"/>
                </a:solidFill>
                <a:latin typeface="Noto Sans Hans"/>
                <a:ea typeface="Noto Sans Hans"/>
                <a:cs typeface="Noto Sans Hans"/>
              </a:defRPr>
            </a:pPr>
            <a:r>
              <a:rPr sz="880" b="0">
                <a:solidFill>
                  <a:srgbClr val="403A38"/>
                </a:solidFill>
                <a:latin typeface="Noto Sans Hans"/>
                <a:ea typeface="Noto Sans Hans"/>
                <a:cs typeface="Noto Sans Hans"/>
              </a:rPr>
              <a:t>把养老机器人纳入城市级场景包和实景实训体系</a:t>
            </a:r>
            <a:endParaRPr sz="880" b="0">
              <a:solidFill>
                <a:srgbClr val="403A38"/>
              </a:solidFill>
              <a:latin typeface="Noto Sans Hans"/>
              <a:ea typeface="Noto Sans Hans"/>
              <a:cs typeface="Noto Sans Hans"/>
            </a:endParaRPr>
          </a:p>
        </p:txBody>
      </p:sp>
      <p:sp>
        <p:nvSpPr>
          <p:cNvPr id="126" name="矩形 125"/>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资料来源：养老机器人产业增强基础数据库“政策清单”；国务院、工业和信息化部、民政部、湖北省、武汉市等公开政策。</a:t>
            </a:r>
            <a:endParaRPr sz="715" b="0">
              <a:solidFill>
                <a:srgbClr val="716B68"/>
              </a:solidFill>
              <a:latin typeface="Noto Sans Hans"/>
              <a:ea typeface="Noto Sans Hans"/>
              <a:cs typeface="Noto Sans Hans"/>
            </a:endParaRPr>
          </a:p>
        </p:txBody>
      </p:sp>
      <p:sp>
        <p:nvSpPr>
          <p:cNvPr id="127" name="矩形 126"/>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13</a:t>
            </a:r>
            <a:endParaRPr lang="en-US" sz="900" b="1">
              <a:solidFill>
                <a:srgbClr val="D00914"/>
              </a:solidFill>
              <a:latin typeface="Noto Sans Hans"/>
              <a:ea typeface="Noto Sans Hans"/>
              <a:cs typeface="Noto Sans H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【政策解读】</a:t>
            </a:r>
            <a:r>
              <a:rPr sz="2025" b="1">
                <a:solidFill>
                  <a:srgbClr val="403A38"/>
                </a:solidFill>
                <a:latin typeface="Noto Sans Hans"/>
                <a:ea typeface="Noto Sans Hans"/>
                <a:cs typeface="Noto Sans Hans"/>
              </a:rPr>
              <a:t>政策重心已由“鼓励研发”转向“场景验证、目录准入、产业化支持和支付衔接”</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武汉城投的核心角色不是单纯投资，而是用康养场景和建设项目把政策支持转化为可验证、可采购、可复制的项目</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219200"/>
            <a:ext cx="3333750" cy="4762500"/>
          </a:xfrm>
          <a:prstGeom prst="rect">
            <a:avLst/>
          </a:prstGeom>
          <a:solidFill>
            <a:srgbClr val="FFFFFF"/>
          </a:solidFill>
          <a:ln w="9525">
            <a:solidFill>
              <a:srgbClr val="D8D1CD"/>
            </a:solidFill>
            <a:prstDash val="solid"/>
          </a:ln>
        </p:spPr>
      </p:sp>
      <p:sp>
        <p:nvSpPr>
          <p:cNvPr id="7" name="矩形 6"/>
          <p:cNvSpPr>
            <a:spLocks noGrp="1"/>
          </p:cNvSpPr>
          <p:nvPr/>
        </p:nvSpPr>
        <p:spPr>
          <a:xfrm>
            <a:off x="457200" y="1219200"/>
            <a:ext cx="3333750" cy="361950"/>
          </a:xfrm>
          <a:prstGeom prst="rect">
            <a:avLst/>
          </a:prstGeom>
          <a:solidFill>
            <a:srgbClr val="8E1118"/>
          </a:solidFill>
          <a:ln w="0">
            <a:noFill/>
            <a:prstDash val="solid"/>
          </a:ln>
        </p:spPr>
      </p:sp>
      <p:sp>
        <p:nvSpPr>
          <p:cNvPr id="8" name="矩形 7"/>
          <p:cNvSpPr>
            <a:spLocks noGrp="1"/>
          </p:cNvSpPr>
          <p:nvPr/>
        </p:nvSpPr>
        <p:spPr>
          <a:xfrm>
            <a:off x="473075" y="1257300"/>
            <a:ext cx="3251200" cy="281940"/>
          </a:xfrm>
          <a:prstGeom prst="rect">
            <a:avLst/>
          </a:prstGeom>
          <a:noFill/>
          <a:ln w="0">
            <a:noFill/>
            <a:prstDash val="solid"/>
          </a:ln>
        </p:spPr>
        <p:txBody>
          <a:bodyPr wrap="square" lIns="47625" tIns="19050" rIns="47625" bIns="19050" anchor="ct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智能养老服务机器人结对攻关与场景应用试点</a:t>
            </a:r>
            <a:endParaRPr sz="1200" b="1">
              <a:solidFill>
                <a:srgbClr val="FFFFFF"/>
              </a:solidFill>
              <a:latin typeface="Noto Sans Hans"/>
              <a:ea typeface="Noto Sans Hans"/>
              <a:cs typeface="Noto Sans Hans"/>
            </a:endParaRPr>
          </a:p>
        </p:txBody>
      </p:sp>
      <p:sp>
        <p:nvSpPr>
          <p:cNvPr id="9" name="矩形 8"/>
          <p:cNvSpPr>
            <a:spLocks noGrp="1"/>
          </p:cNvSpPr>
          <p:nvPr/>
        </p:nvSpPr>
        <p:spPr>
          <a:xfrm>
            <a:off x="590550" y="1685925"/>
            <a:ext cx="876300" cy="381000"/>
          </a:xfrm>
          <a:prstGeom prst="rect">
            <a:avLst/>
          </a:prstGeom>
          <a:solidFill>
            <a:srgbClr val="F8E5E4"/>
          </a:solidFill>
          <a:ln w="0">
            <a:noFill/>
            <a:prstDash val="solid"/>
          </a:ln>
        </p:spPr>
      </p:sp>
      <p:sp>
        <p:nvSpPr>
          <p:cNvPr id="10" name="矩形 9"/>
          <p:cNvSpPr>
            <a:spLocks noGrp="1"/>
          </p:cNvSpPr>
          <p:nvPr/>
        </p:nvSpPr>
        <p:spPr>
          <a:xfrm>
            <a:off x="619125" y="1714500"/>
            <a:ext cx="819150" cy="323850"/>
          </a:xfrm>
          <a:prstGeom prst="rect">
            <a:avLst/>
          </a:prstGeom>
          <a:noFill/>
          <a:ln w="0">
            <a:noFill/>
            <a:prstDash val="solid"/>
          </a:ln>
        </p:spPr>
        <p:txBody>
          <a:bodyPr wrap="square" lIns="47625" tIns="19050" rIns="47625" bIns="19050" anchor="ctr">
            <a:normAutofit/>
          </a:bodyPr>
          <a:lstStyle/>
          <a:p>
            <a:pPr algn="ctr">
              <a:defRPr sz="865" b="1">
                <a:solidFill>
                  <a:srgbClr val="9E3038"/>
                </a:solidFill>
                <a:latin typeface="Noto Sans Hans"/>
                <a:ea typeface="Noto Sans Hans"/>
                <a:cs typeface="Noto Sans Hans"/>
              </a:defRPr>
            </a:pPr>
            <a:r>
              <a:rPr sz="970" b="1">
                <a:solidFill>
                  <a:srgbClr val="9E3038"/>
                </a:solidFill>
                <a:latin typeface="Noto Sans Hans"/>
                <a:ea typeface="Noto Sans Hans"/>
                <a:cs typeface="Noto Sans Hans"/>
              </a:rPr>
              <a:t>发布部门</a:t>
            </a:r>
            <a:endParaRPr sz="970" b="1">
              <a:solidFill>
                <a:srgbClr val="9E3038"/>
              </a:solidFill>
              <a:latin typeface="Noto Sans Hans"/>
              <a:ea typeface="Noto Sans Hans"/>
              <a:cs typeface="Noto Sans Hans"/>
            </a:endParaRPr>
          </a:p>
        </p:txBody>
      </p:sp>
      <p:sp>
        <p:nvSpPr>
          <p:cNvPr id="11" name="矩形 10"/>
          <p:cNvSpPr>
            <a:spLocks noGrp="1"/>
          </p:cNvSpPr>
          <p:nvPr/>
        </p:nvSpPr>
        <p:spPr>
          <a:xfrm>
            <a:off x="1543050" y="1714500"/>
            <a:ext cx="2076450" cy="323850"/>
          </a:xfrm>
          <a:prstGeom prst="rect">
            <a:avLst/>
          </a:prstGeom>
          <a:noFill/>
          <a:ln w="0">
            <a:noFill/>
            <a:prstDash val="solid"/>
          </a:ln>
        </p:spPr>
        <p:txBody>
          <a:bodyPr wrap="square" lIns="47625" tIns="19050" rIns="47625" bIns="19050" anchor="ctr">
            <a:normAutofit/>
          </a:bodyPr>
          <a:lstStyle/>
          <a:p>
            <a:pPr algn="l">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工业和信息化部、民政部</a:t>
            </a:r>
            <a:endParaRPr sz="940" b="0">
              <a:solidFill>
                <a:srgbClr val="403A38"/>
              </a:solidFill>
              <a:latin typeface="Noto Sans Hans"/>
              <a:ea typeface="Noto Sans Hans"/>
              <a:cs typeface="Noto Sans Hans"/>
            </a:endParaRPr>
          </a:p>
        </p:txBody>
      </p:sp>
      <p:sp>
        <p:nvSpPr>
          <p:cNvPr id="12" name="矩形 11"/>
          <p:cNvSpPr>
            <a:spLocks noGrp="1"/>
          </p:cNvSpPr>
          <p:nvPr/>
        </p:nvSpPr>
        <p:spPr>
          <a:xfrm>
            <a:off x="590550" y="2095500"/>
            <a:ext cx="3028950" cy="9525"/>
          </a:xfrm>
          <a:prstGeom prst="rect">
            <a:avLst/>
          </a:prstGeom>
          <a:solidFill>
            <a:srgbClr val="D8D1CD"/>
          </a:solidFill>
          <a:ln w="0">
            <a:noFill/>
            <a:prstDash val="solid"/>
          </a:ln>
        </p:spPr>
      </p:sp>
      <p:sp>
        <p:nvSpPr>
          <p:cNvPr id="13" name="矩形 12"/>
          <p:cNvSpPr>
            <a:spLocks noGrp="1"/>
          </p:cNvSpPr>
          <p:nvPr/>
        </p:nvSpPr>
        <p:spPr>
          <a:xfrm>
            <a:off x="590550" y="2162175"/>
            <a:ext cx="876300" cy="381000"/>
          </a:xfrm>
          <a:prstGeom prst="rect">
            <a:avLst/>
          </a:prstGeom>
          <a:solidFill>
            <a:srgbClr val="F7F3F1"/>
          </a:solidFill>
          <a:ln w="0">
            <a:noFill/>
            <a:prstDash val="solid"/>
          </a:ln>
        </p:spPr>
      </p:sp>
      <p:sp>
        <p:nvSpPr>
          <p:cNvPr id="14" name="矩形 13"/>
          <p:cNvSpPr>
            <a:spLocks noGrp="1"/>
          </p:cNvSpPr>
          <p:nvPr/>
        </p:nvSpPr>
        <p:spPr>
          <a:xfrm>
            <a:off x="619125" y="2190750"/>
            <a:ext cx="819150" cy="323850"/>
          </a:xfrm>
          <a:prstGeom prst="rect">
            <a:avLst/>
          </a:prstGeom>
          <a:noFill/>
          <a:ln w="0">
            <a:noFill/>
            <a:prstDash val="solid"/>
          </a:ln>
        </p:spPr>
        <p:txBody>
          <a:bodyPr wrap="square" lIns="47625" tIns="19050" rIns="47625" bIns="19050" anchor="ctr">
            <a:normAutofit/>
          </a:bodyPr>
          <a:lstStyle/>
          <a:p>
            <a:pPr algn="ctr">
              <a:defRPr sz="865" b="1">
                <a:solidFill>
                  <a:srgbClr val="9E3038"/>
                </a:solidFill>
                <a:latin typeface="Noto Sans Hans"/>
                <a:ea typeface="Noto Sans Hans"/>
                <a:cs typeface="Noto Sans Hans"/>
              </a:defRPr>
            </a:pPr>
            <a:r>
              <a:rPr sz="970" b="1">
                <a:solidFill>
                  <a:srgbClr val="9E3038"/>
                </a:solidFill>
                <a:latin typeface="Noto Sans Hans"/>
                <a:ea typeface="Noto Sans Hans"/>
                <a:cs typeface="Noto Sans Hans"/>
              </a:rPr>
              <a:t>实施周期</a:t>
            </a:r>
            <a:endParaRPr sz="970" b="1">
              <a:solidFill>
                <a:srgbClr val="9E3038"/>
              </a:solidFill>
              <a:latin typeface="Noto Sans Hans"/>
              <a:ea typeface="Noto Sans Hans"/>
              <a:cs typeface="Noto Sans Hans"/>
            </a:endParaRPr>
          </a:p>
        </p:txBody>
      </p:sp>
      <p:sp>
        <p:nvSpPr>
          <p:cNvPr id="15" name="矩形 14"/>
          <p:cNvSpPr>
            <a:spLocks noGrp="1"/>
          </p:cNvSpPr>
          <p:nvPr/>
        </p:nvSpPr>
        <p:spPr>
          <a:xfrm>
            <a:off x="1543050" y="2190750"/>
            <a:ext cx="2076450" cy="323850"/>
          </a:xfrm>
          <a:prstGeom prst="rect">
            <a:avLst/>
          </a:prstGeom>
          <a:noFill/>
          <a:ln w="0">
            <a:noFill/>
            <a:prstDash val="solid"/>
          </a:ln>
        </p:spPr>
        <p:txBody>
          <a:bodyPr wrap="square" lIns="47625" tIns="19050" rIns="47625" bIns="19050" anchor="ctr">
            <a:normAutofit/>
          </a:bodyPr>
          <a:lstStyle/>
          <a:p>
            <a:pPr algn="l">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2025—2027年</a:t>
            </a:r>
            <a:endParaRPr sz="940" b="0">
              <a:solidFill>
                <a:srgbClr val="403A38"/>
              </a:solidFill>
              <a:latin typeface="Noto Sans Hans"/>
              <a:ea typeface="Noto Sans Hans"/>
              <a:cs typeface="Noto Sans Hans"/>
            </a:endParaRPr>
          </a:p>
        </p:txBody>
      </p:sp>
      <p:sp>
        <p:nvSpPr>
          <p:cNvPr id="16" name="矩形 15"/>
          <p:cNvSpPr>
            <a:spLocks noGrp="1"/>
          </p:cNvSpPr>
          <p:nvPr/>
        </p:nvSpPr>
        <p:spPr>
          <a:xfrm>
            <a:off x="590550" y="2571750"/>
            <a:ext cx="3028950" cy="9525"/>
          </a:xfrm>
          <a:prstGeom prst="rect">
            <a:avLst/>
          </a:prstGeom>
          <a:solidFill>
            <a:srgbClr val="D8D1CD"/>
          </a:solidFill>
          <a:ln w="0">
            <a:noFill/>
            <a:prstDash val="solid"/>
          </a:ln>
        </p:spPr>
      </p:sp>
      <p:sp>
        <p:nvSpPr>
          <p:cNvPr id="17" name="矩形 16"/>
          <p:cNvSpPr>
            <a:spLocks noGrp="1"/>
          </p:cNvSpPr>
          <p:nvPr/>
        </p:nvSpPr>
        <p:spPr>
          <a:xfrm>
            <a:off x="590550" y="2638425"/>
            <a:ext cx="876300" cy="381000"/>
          </a:xfrm>
          <a:prstGeom prst="rect">
            <a:avLst/>
          </a:prstGeom>
          <a:solidFill>
            <a:srgbClr val="F8E5E4"/>
          </a:solidFill>
          <a:ln w="0">
            <a:noFill/>
            <a:prstDash val="solid"/>
          </a:ln>
        </p:spPr>
      </p:sp>
      <p:sp>
        <p:nvSpPr>
          <p:cNvPr id="18" name="矩形 17"/>
          <p:cNvSpPr>
            <a:spLocks noGrp="1"/>
          </p:cNvSpPr>
          <p:nvPr/>
        </p:nvSpPr>
        <p:spPr>
          <a:xfrm>
            <a:off x="619125" y="2667000"/>
            <a:ext cx="819150" cy="323850"/>
          </a:xfrm>
          <a:prstGeom prst="rect">
            <a:avLst/>
          </a:prstGeom>
          <a:noFill/>
          <a:ln w="0">
            <a:noFill/>
            <a:prstDash val="solid"/>
          </a:ln>
        </p:spPr>
        <p:txBody>
          <a:bodyPr wrap="square" lIns="47625" tIns="19050" rIns="47625" bIns="19050" anchor="ctr">
            <a:normAutofit/>
          </a:bodyPr>
          <a:lstStyle/>
          <a:p>
            <a:pPr algn="ctr">
              <a:defRPr sz="865" b="1">
                <a:solidFill>
                  <a:srgbClr val="9E3038"/>
                </a:solidFill>
                <a:latin typeface="Noto Sans Hans"/>
                <a:ea typeface="Noto Sans Hans"/>
                <a:cs typeface="Noto Sans Hans"/>
              </a:defRPr>
            </a:pPr>
            <a:r>
              <a:rPr sz="970" b="1">
                <a:solidFill>
                  <a:srgbClr val="9E3038"/>
                </a:solidFill>
                <a:latin typeface="Noto Sans Hans"/>
                <a:ea typeface="Noto Sans Hans"/>
                <a:cs typeface="Noto Sans Hans"/>
              </a:rPr>
              <a:t>应用空间</a:t>
            </a:r>
            <a:endParaRPr sz="970" b="1">
              <a:solidFill>
                <a:srgbClr val="9E3038"/>
              </a:solidFill>
              <a:latin typeface="Noto Sans Hans"/>
              <a:ea typeface="Noto Sans Hans"/>
              <a:cs typeface="Noto Sans Hans"/>
            </a:endParaRPr>
          </a:p>
        </p:txBody>
      </p:sp>
      <p:sp>
        <p:nvSpPr>
          <p:cNvPr id="19" name="矩形 18"/>
          <p:cNvSpPr>
            <a:spLocks noGrp="1"/>
          </p:cNvSpPr>
          <p:nvPr/>
        </p:nvSpPr>
        <p:spPr>
          <a:xfrm>
            <a:off x="1543050" y="2667000"/>
            <a:ext cx="2076450" cy="323850"/>
          </a:xfrm>
          <a:prstGeom prst="rect">
            <a:avLst/>
          </a:prstGeom>
          <a:noFill/>
          <a:ln w="0">
            <a:noFill/>
            <a:prstDash val="solid"/>
          </a:ln>
        </p:spPr>
        <p:txBody>
          <a:bodyPr wrap="square" lIns="47625" tIns="19050" rIns="47625" bIns="19050" anchor="ctr">
            <a:normAutofit/>
          </a:bodyPr>
          <a:lstStyle/>
          <a:p>
            <a:pPr algn="l">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居家｜社区｜养老机构</a:t>
            </a:r>
            <a:endParaRPr sz="940" b="0">
              <a:solidFill>
                <a:srgbClr val="403A38"/>
              </a:solidFill>
              <a:latin typeface="Noto Sans Hans"/>
              <a:ea typeface="Noto Sans Hans"/>
              <a:cs typeface="Noto Sans Hans"/>
            </a:endParaRPr>
          </a:p>
        </p:txBody>
      </p:sp>
      <p:sp>
        <p:nvSpPr>
          <p:cNvPr id="20" name="矩形 19"/>
          <p:cNvSpPr>
            <a:spLocks noGrp="1"/>
          </p:cNvSpPr>
          <p:nvPr/>
        </p:nvSpPr>
        <p:spPr>
          <a:xfrm>
            <a:off x="590550" y="3048000"/>
            <a:ext cx="3028950" cy="9525"/>
          </a:xfrm>
          <a:prstGeom prst="rect">
            <a:avLst/>
          </a:prstGeom>
          <a:solidFill>
            <a:srgbClr val="D8D1CD"/>
          </a:solidFill>
          <a:ln w="0">
            <a:noFill/>
            <a:prstDash val="solid"/>
          </a:ln>
        </p:spPr>
      </p:sp>
      <p:sp>
        <p:nvSpPr>
          <p:cNvPr id="21" name="矩形 20"/>
          <p:cNvSpPr>
            <a:spLocks noGrp="1"/>
          </p:cNvSpPr>
          <p:nvPr/>
        </p:nvSpPr>
        <p:spPr>
          <a:xfrm>
            <a:off x="590550" y="3114675"/>
            <a:ext cx="876300" cy="381000"/>
          </a:xfrm>
          <a:prstGeom prst="rect">
            <a:avLst/>
          </a:prstGeom>
          <a:solidFill>
            <a:srgbClr val="F7F3F1"/>
          </a:solidFill>
          <a:ln w="0">
            <a:noFill/>
            <a:prstDash val="solid"/>
          </a:ln>
        </p:spPr>
      </p:sp>
      <p:sp>
        <p:nvSpPr>
          <p:cNvPr id="22" name="矩形 21"/>
          <p:cNvSpPr>
            <a:spLocks noGrp="1"/>
          </p:cNvSpPr>
          <p:nvPr/>
        </p:nvSpPr>
        <p:spPr>
          <a:xfrm>
            <a:off x="619125" y="3143250"/>
            <a:ext cx="819150" cy="323850"/>
          </a:xfrm>
          <a:prstGeom prst="rect">
            <a:avLst/>
          </a:prstGeom>
          <a:noFill/>
          <a:ln w="0">
            <a:noFill/>
            <a:prstDash val="solid"/>
          </a:ln>
        </p:spPr>
        <p:txBody>
          <a:bodyPr wrap="square" lIns="47625" tIns="19050" rIns="47625" bIns="19050" anchor="ctr">
            <a:normAutofit/>
          </a:bodyPr>
          <a:lstStyle/>
          <a:p>
            <a:pPr algn="ctr">
              <a:defRPr sz="865" b="1">
                <a:solidFill>
                  <a:srgbClr val="9E3038"/>
                </a:solidFill>
                <a:latin typeface="Noto Sans Hans"/>
                <a:ea typeface="Noto Sans Hans"/>
                <a:cs typeface="Noto Sans Hans"/>
              </a:defRPr>
            </a:pPr>
            <a:r>
              <a:rPr sz="970" b="1">
                <a:solidFill>
                  <a:srgbClr val="9E3038"/>
                </a:solidFill>
                <a:latin typeface="Noto Sans Hans"/>
                <a:ea typeface="Noto Sans Hans"/>
                <a:cs typeface="Noto Sans Hans"/>
              </a:rPr>
              <a:t>组织方式</a:t>
            </a:r>
            <a:endParaRPr sz="970" b="1">
              <a:solidFill>
                <a:srgbClr val="9E3038"/>
              </a:solidFill>
              <a:latin typeface="Noto Sans Hans"/>
              <a:ea typeface="Noto Sans Hans"/>
              <a:cs typeface="Noto Sans Hans"/>
            </a:endParaRPr>
          </a:p>
        </p:txBody>
      </p:sp>
      <p:sp>
        <p:nvSpPr>
          <p:cNvPr id="23" name="矩形 22"/>
          <p:cNvSpPr>
            <a:spLocks noGrp="1"/>
          </p:cNvSpPr>
          <p:nvPr/>
        </p:nvSpPr>
        <p:spPr>
          <a:xfrm>
            <a:off x="1543050" y="3143250"/>
            <a:ext cx="2076450" cy="323850"/>
          </a:xfrm>
          <a:prstGeom prst="rect">
            <a:avLst/>
          </a:prstGeom>
          <a:noFill/>
          <a:ln w="0">
            <a:noFill/>
            <a:prstDash val="solid"/>
          </a:ln>
        </p:spPr>
        <p:txBody>
          <a:bodyPr wrap="square" lIns="47625" tIns="19050" rIns="47625" bIns="19050" anchor="ctr">
            <a:normAutofit/>
          </a:bodyPr>
          <a:lstStyle/>
          <a:p>
            <a:pPr algn="l">
              <a:defRPr sz="840" b="1">
                <a:solidFill>
                  <a:srgbClr val="403A38"/>
                </a:solidFill>
                <a:latin typeface="Noto Sans Hans"/>
                <a:ea typeface="Noto Sans Hans"/>
                <a:cs typeface="Noto Sans Hans"/>
              </a:defRPr>
            </a:pPr>
            <a:r>
              <a:rPr sz="940" b="1">
                <a:solidFill>
                  <a:srgbClr val="403A38"/>
                </a:solidFill>
                <a:latin typeface="Noto Sans Hans"/>
                <a:ea typeface="Noto Sans Hans"/>
                <a:cs typeface="Noto Sans Hans"/>
              </a:rPr>
              <a:t>企业 + 用户单位 + 高校院所</a:t>
            </a:r>
            <a:endParaRPr sz="940" b="1">
              <a:solidFill>
                <a:srgbClr val="403A38"/>
              </a:solidFill>
              <a:latin typeface="Noto Sans Hans"/>
              <a:ea typeface="Noto Sans Hans"/>
              <a:cs typeface="Noto Sans Hans"/>
            </a:endParaRPr>
          </a:p>
        </p:txBody>
      </p:sp>
      <p:sp>
        <p:nvSpPr>
          <p:cNvPr id="24" name="矩形 23"/>
          <p:cNvSpPr>
            <a:spLocks noGrp="1"/>
          </p:cNvSpPr>
          <p:nvPr/>
        </p:nvSpPr>
        <p:spPr>
          <a:xfrm>
            <a:off x="590550" y="3524250"/>
            <a:ext cx="3028950" cy="9525"/>
          </a:xfrm>
          <a:prstGeom prst="rect">
            <a:avLst/>
          </a:prstGeom>
          <a:solidFill>
            <a:srgbClr val="D8D1CD"/>
          </a:solidFill>
          <a:ln w="0">
            <a:noFill/>
            <a:prstDash val="solid"/>
          </a:ln>
        </p:spPr>
      </p:sp>
      <p:sp>
        <p:nvSpPr>
          <p:cNvPr id="25" name="矩形 24"/>
          <p:cNvSpPr>
            <a:spLocks noGrp="1"/>
          </p:cNvSpPr>
          <p:nvPr/>
        </p:nvSpPr>
        <p:spPr>
          <a:xfrm>
            <a:off x="590550" y="3590925"/>
            <a:ext cx="876300" cy="381000"/>
          </a:xfrm>
          <a:prstGeom prst="rect">
            <a:avLst/>
          </a:prstGeom>
          <a:solidFill>
            <a:srgbClr val="F8E5E4"/>
          </a:solidFill>
          <a:ln w="0">
            <a:noFill/>
            <a:prstDash val="solid"/>
          </a:ln>
        </p:spPr>
      </p:sp>
      <p:sp>
        <p:nvSpPr>
          <p:cNvPr id="26" name="矩形 25"/>
          <p:cNvSpPr>
            <a:spLocks noGrp="1"/>
          </p:cNvSpPr>
          <p:nvPr/>
        </p:nvSpPr>
        <p:spPr>
          <a:xfrm>
            <a:off x="619125" y="3619500"/>
            <a:ext cx="819150" cy="323850"/>
          </a:xfrm>
          <a:prstGeom prst="rect">
            <a:avLst/>
          </a:prstGeom>
          <a:noFill/>
          <a:ln w="0">
            <a:noFill/>
            <a:prstDash val="solid"/>
          </a:ln>
        </p:spPr>
        <p:txBody>
          <a:bodyPr wrap="square" lIns="47625" tIns="19050" rIns="47625" bIns="19050" anchor="ctr">
            <a:normAutofit/>
          </a:bodyPr>
          <a:lstStyle/>
          <a:p>
            <a:pPr algn="ctr">
              <a:defRPr sz="865" b="1">
                <a:solidFill>
                  <a:srgbClr val="9E3038"/>
                </a:solidFill>
                <a:latin typeface="Noto Sans Hans"/>
                <a:ea typeface="Noto Sans Hans"/>
                <a:cs typeface="Noto Sans Hans"/>
              </a:defRPr>
            </a:pPr>
            <a:r>
              <a:rPr sz="970" b="1">
                <a:solidFill>
                  <a:srgbClr val="9E3038"/>
                </a:solidFill>
                <a:latin typeface="Noto Sans Hans"/>
                <a:ea typeface="Noto Sans Hans"/>
                <a:cs typeface="Noto Sans Hans"/>
              </a:rPr>
              <a:t>验证重点</a:t>
            </a:r>
            <a:endParaRPr sz="970" b="1">
              <a:solidFill>
                <a:srgbClr val="9E3038"/>
              </a:solidFill>
              <a:latin typeface="Noto Sans Hans"/>
              <a:ea typeface="Noto Sans Hans"/>
              <a:cs typeface="Noto Sans Hans"/>
            </a:endParaRPr>
          </a:p>
        </p:txBody>
      </p:sp>
      <p:sp>
        <p:nvSpPr>
          <p:cNvPr id="27" name="矩形 26"/>
          <p:cNvSpPr>
            <a:spLocks noGrp="1"/>
          </p:cNvSpPr>
          <p:nvPr/>
        </p:nvSpPr>
        <p:spPr>
          <a:xfrm>
            <a:off x="1543050" y="3619500"/>
            <a:ext cx="2076450" cy="323850"/>
          </a:xfrm>
          <a:prstGeom prst="rect">
            <a:avLst/>
          </a:prstGeom>
          <a:noFill/>
          <a:ln w="0">
            <a:noFill/>
            <a:prstDash val="solid"/>
          </a:ln>
        </p:spPr>
        <p:txBody>
          <a:bodyPr wrap="square" lIns="47625" tIns="19050" rIns="47625" bIns="19050" anchor="ctr">
            <a:normAutofit/>
          </a:bodyPr>
          <a:lstStyle/>
          <a:p>
            <a:pPr algn="l">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功能、可靠性、安全性、适老化</a:t>
            </a:r>
            <a:endParaRPr sz="940" b="0">
              <a:solidFill>
                <a:srgbClr val="403A38"/>
              </a:solidFill>
              <a:latin typeface="Noto Sans Hans"/>
              <a:ea typeface="Noto Sans Hans"/>
              <a:cs typeface="Noto Sans Hans"/>
            </a:endParaRPr>
          </a:p>
        </p:txBody>
      </p:sp>
      <p:sp>
        <p:nvSpPr>
          <p:cNvPr id="28" name="矩形 27"/>
          <p:cNvSpPr>
            <a:spLocks noGrp="1"/>
          </p:cNvSpPr>
          <p:nvPr/>
        </p:nvSpPr>
        <p:spPr>
          <a:xfrm>
            <a:off x="590550" y="4000500"/>
            <a:ext cx="3028950" cy="9525"/>
          </a:xfrm>
          <a:prstGeom prst="rect">
            <a:avLst/>
          </a:prstGeom>
          <a:solidFill>
            <a:srgbClr val="D8D1CD"/>
          </a:solidFill>
          <a:ln w="0">
            <a:noFill/>
            <a:prstDash val="solid"/>
          </a:ln>
        </p:spPr>
      </p:sp>
      <p:sp>
        <p:nvSpPr>
          <p:cNvPr id="29" name="矩形 28"/>
          <p:cNvSpPr>
            <a:spLocks noGrp="1"/>
          </p:cNvSpPr>
          <p:nvPr/>
        </p:nvSpPr>
        <p:spPr>
          <a:xfrm>
            <a:off x="590550" y="4067175"/>
            <a:ext cx="876300" cy="381000"/>
          </a:xfrm>
          <a:prstGeom prst="rect">
            <a:avLst/>
          </a:prstGeom>
          <a:solidFill>
            <a:srgbClr val="F7F3F1"/>
          </a:solidFill>
          <a:ln w="0">
            <a:noFill/>
            <a:prstDash val="solid"/>
          </a:ln>
        </p:spPr>
      </p:sp>
      <p:sp>
        <p:nvSpPr>
          <p:cNvPr id="30" name="矩形 29"/>
          <p:cNvSpPr>
            <a:spLocks noGrp="1"/>
          </p:cNvSpPr>
          <p:nvPr/>
        </p:nvSpPr>
        <p:spPr>
          <a:xfrm>
            <a:off x="619125" y="4095750"/>
            <a:ext cx="819150" cy="323850"/>
          </a:xfrm>
          <a:prstGeom prst="rect">
            <a:avLst/>
          </a:prstGeom>
          <a:noFill/>
          <a:ln w="0">
            <a:noFill/>
            <a:prstDash val="solid"/>
          </a:ln>
        </p:spPr>
        <p:txBody>
          <a:bodyPr wrap="square" lIns="47625" tIns="19050" rIns="47625" bIns="19050" anchor="ctr">
            <a:normAutofit/>
          </a:bodyPr>
          <a:lstStyle/>
          <a:p>
            <a:pPr algn="ctr">
              <a:defRPr sz="865" b="1">
                <a:solidFill>
                  <a:srgbClr val="9E3038"/>
                </a:solidFill>
                <a:latin typeface="Noto Sans Hans"/>
                <a:ea typeface="Noto Sans Hans"/>
                <a:cs typeface="Noto Sans Hans"/>
              </a:defRPr>
            </a:pPr>
            <a:r>
              <a:rPr sz="970" b="1">
                <a:solidFill>
                  <a:srgbClr val="9E3038"/>
                </a:solidFill>
                <a:latin typeface="Noto Sans Hans"/>
                <a:ea typeface="Noto Sans Hans"/>
                <a:cs typeface="Noto Sans Hans"/>
              </a:rPr>
              <a:t>政策定位</a:t>
            </a:r>
            <a:endParaRPr sz="970" b="1">
              <a:solidFill>
                <a:srgbClr val="9E3038"/>
              </a:solidFill>
              <a:latin typeface="Noto Sans Hans"/>
              <a:ea typeface="Noto Sans Hans"/>
              <a:cs typeface="Noto Sans Hans"/>
            </a:endParaRPr>
          </a:p>
        </p:txBody>
      </p:sp>
      <p:sp>
        <p:nvSpPr>
          <p:cNvPr id="31" name="矩形 30"/>
          <p:cNvSpPr>
            <a:spLocks noGrp="1"/>
          </p:cNvSpPr>
          <p:nvPr/>
        </p:nvSpPr>
        <p:spPr>
          <a:xfrm>
            <a:off x="1543050" y="4095750"/>
            <a:ext cx="2076450" cy="323850"/>
          </a:xfrm>
          <a:prstGeom prst="rect">
            <a:avLst/>
          </a:prstGeom>
          <a:noFill/>
          <a:ln w="0">
            <a:noFill/>
            <a:prstDash val="solid"/>
          </a:ln>
        </p:spPr>
        <p:txBody>
          <a:bodyPr wrap="square" lIns="47625" tIns="19050" rIns="47625" bIns="19050" anchor="ctr">
            <a:normAutofit/>
          </a:bodyPr>
          <a:lstStyle/>
          <a:p>
            <a:pPr algn="l">
              <a:defRPr sz="840" b="0">
                <a:solidFill>
                  <a:srgbClr val="403A38"/>
                </a:solidFill>
                <a:latin typeface="Noto Sans Hans"/>
                <a:ea typeface="Noto Sans Hans"/>
                <a:cs typeface="Noto Sans Hans"/>
              </a:defRPr>
            </a:pPr>
            <a:r>
              <a:rPr sz="940" b="0">
                <a:solidFill>
                  <a:srgbClr val="403A38"/>
                </a:solidFill>
                <a:latin typeface="Noto Sans Hans"/>
                <a:ea typeface="Noto Sans Hans"/>
                <a:cs typeface="Noto Sans Hans"/>
              </a:rPr>
              <a:t>研用结对、场景验证、产品迭代</a:t>
            </a:r>
            <a:endParaRPr sz="940" b="0">
              <a:solidFill>
                <a:srgbClr val="403A38"/>
              </a:solidFill>
              <a:latin typeface="Noto Sans Hans"/>
              <a:ea typeface="Noto Sans Hans"/>
              <a:cs typeface="Noto Sans Hans"/>
            </a:endParaRPr>
          </a:p>
        </p:txBody>
      </p:sp>
      <p:sp>
        <p:nvSpPr>
          <p:cNvPr id="32" name="矩形 31"/>
          <p:cNvSpPr>
            <a:spLocks noGrp="1"/>
          </p:cNvSpPr>
          <p:nvPr/>
        </p:nvSpPr>
        <p:spPr>
          <a:xfrm>
            <a:off x="590550" y="4476750"/>
            <a:ext cx="3028950" cy="9525"/>
          </a:xfrm>
          <a:prstGeom prst="rect">
            <a:avLst/>
          </a:prstGeom>
          <a:solidFill>
            <a:srgbClr val="D8D1CD"/>
          </a:solidFill>
          <a:ln w="0">
            <a:noFill/>
            <a:prstDash val="solid"/>
          </a:ln>
        </p:spPr>
      </p:sp>
      <p:sp>
        <p:nvSpPr>
          <p:cNvPr id="33" name="圆角矩形 32"/>
          <p:cNvSpPr>
            <a:spLocks noGrp="1"/>
          </p:cNvSpPr>
          <p:nvPr/>
        </p:nvSpPr>
        <p:spPr>
          <a:xfrm>
            <a:off x="590550" y="4629150"/>
            <a:ext cx="3028950" cy="1162050"/>
          </a:xfrm>
          <a:prstGeom prst="roundRect">
            <a:avLst>
              <a:gd name="adj" fmla="val 1639"/>
            </a:avLst>
          </a:prstGeom>
          <a:solidFill>
            <a:srgbClr val="F5EDDA"/>
          </a:solidFill>
          <a:ln w="9525">
            <a:solidFill>
              <a:srgbClr val="C94A27"/>
            </a:solidFill>
            <a:prstDash val="solid"/>
          </a:ln>
        </p:spPr>
      </p:sp>
      <p:sp>
        <p:nvSpPr>
          <p:cNvPr id="34" name="矩形 33"/>
          <p:cNvSpPr>
            <a:spLocks noGrp="1"/>
          </p:cNvSpPr>
          <p:nvPr/>
        </p:nvSpPr>
        <p:spPr>
          <a:xfrm>
            <a:off x="685800" y="4705350"/>
            <a:ext cx="781050" cy="247650"/>
          </a:xfrm>
          <a:prstGeom prst="rect">
            <a:avLst/>
          </a:prstGeom>
          <a:noFill/>
          <a:ln w="0">
            <a:noFill/>
            <a:prstDash val="solid"/>
          </a:ln>
        </p:spPr>
        <p:txBody>
          <a:bodyPr wrap="square" lIns="47625" tIns="19050" rIns="47625" bIns="19050" anchor="ctr">
            <a:normAutofit/>
          </a:bodyPr>
          <a:lstStyle/>
          <a:p>
            <a:pPr algn="ctr">
              <a:defRPr sz="900" b="1">
                <a:solidFill>
                  <a:srgbClr val="C94A27"/>
                </a:solidFill>
                <a:latin typeface="Noto Sans Hans"/>
                <a:ea typeface="Noto Sans Hans"/>
                <a:cs typeface="Noto Sans Hans"/>
              </a:defRPr>
            </a:pPr>
            <a:r>
              <a:rPr sz="1000" b="1">
                <a:solidFill>
                  <a:srgbClr val="C94A27"/>
                </a:solidFill>
                <a:latin typeface="Noto Sans Hans"/>
                <a:ea typeface="Noto Sans Hans"/>
                <a:cs typeface="Noto Sans Hans"/>
              </a:rPr>
              <a:t>制度信号</a:t>
            </a:r>
            <a:endParaRPr sz="1000" b="1">
              <a:solidFill>
                <a:srgbClr val="C94A27"/>
              </a:solidFill>
              <a:latin typeface="Noto Sans Hans"/>
              <a:ea typeface="Noto Sans Hans"/>
              <a:cs typeface="Noto Sans Hans"/>
            </a:endParaRPr>
          </a:p>
        </p:txBody>
      </p:sp>
      <p:sp>
        <p:nvSpPr>
          <p:cNvPr id="35" name="矩形 34"/>
          <p:cNvSpPr>
            <a:spLocks noGrp="1"/>
          </p:cNvSpPr>
          <p:nvPr/>
        </p:nvSpPr>
        <p:spPr>
          <a:xfrm>
            <a:off x="723900" y="4962525"/>
            <a:ext cx="2762250" cy="685800"/>
          </a:xfrm>
          <a:prstGeom prst="rect">
            <a:avLst/>
          </a:prstGeom>
          <a:noFill/>
          <a:ln w="0">
            <a:noFill/>
            <a:prstDash val="solid"/>
          </a:ln>
        </p:spPr>
        <p:txBody>
          <a:bodyPr wrap="square" lIns="47625" tIns="19050" rIns="47625" bIns="19050" anchor="t">
            <a:normAutofit lnSpcReduction="20000"/>
          </a:bodyPr>
          <a:lstStyle/>
          <a:p>
            <a:pPr algn="l" eaLnBrk="1" fontAlgn="auto" latinLnBrk="0" hangingPunct="1">
              <a:lnSpc>
                <a:spcPct val="120000"/>
              </a:lnSpc>
              <a:defRPr sz="915" b="1">
                <a:solidFill>
                  <a:srgbClr val="403A38"/>
                </a:solidFill>
                <a:latin typeface="Noto Sans Hans"/>
                <a:ea typeface="Noto Sans Hans"/>
                <a:cs typeface="Noto Sans Hans"/>
              </a:defRPr>
            </a:pPr>
            <a:r>
              <a:rPr sz="1020" b="1">
                <a:solidFill>
                  <a:srgbClr val="403A38"/>
                </a:solidFill>
                <a:latin typeface="Noto Sans Hans"/>
                <a:ea typeface="Noto Sans Hans"/>
                <a:cs typeface="Noto Sans Hans"/>
              </a:rPr>
              <a:t>国家正在把养老机构从“购买方”前移为共同研发和验证主体；场景资源、任务定义和持续运营数据，开始成为项目申报与产品成熟的关键要素。</a:t>
            </a:r>
            <a:endParaRPr sz="1020" b="1">
              <a:solidFill>
                <a:srgbClr val="403A38"/>
              </a:solidFill>
              <a:latin typeface="Noto Sans Hans"/>
              <a:ea typeface="Noto Sans Hans"/>
              <a:cs typeface="Noto Sans Hans"/>
            </a:endParaRPr>
          </a:p>
        </p:txBody>
      </p:sp>
      <p:sp>
        <p:nvSpPr>
          <p:cNvPr id="36" name="矩形 35"/>
          <p:cNvSpPr>
            <a:spLocks noGrp="1"/>
          </p:cNvSpPr>
          <p:nvPr/>
        </p:nvSpPr>
        <p:spPr>
          <a:xfrm>
            <a:off x="3981450" y="1219200"/>
            <a:ext cx="7753350" cy="361950"/>
          </a:xfrm>
          <a:prstGeom prst="rect">
            <a:avLst/>
          </a:prstGeom>
          <a:solidFill>
            <a:srgbClr val="8E1118"/>
          </a:solidFill>
          <a:ln w="0">
            <a:noFill/>
            <a:prstDash val="solid"/>
          </a:ln>
        </p:spPr>
      </p:sp>
      <p:sp>
        <p:nvSpPr>
          <p:cNvPr id="37" name="矩形 36"/>
          <p:cNvSpPr>
            <a:spLocks noGrp="1"/>
          </p:cNvSpPr>
          <p:nvPr/>
        </p:nvSpPr>
        <p:spPr>
          <a:xfrm>
            <a:off x="4029075" y="1257300"/>
            <a:ext cx="7658100" cy="2857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四类政策工具及其对养老机器人项目的直接传导</a:t>
            </a:r>
            <a:endParaRPr sz="1200" b="1">
              <a:solidFill>
                <a:srgbClr val="FFFFFF"/>
              </a:solidFill>
              <a:latin typeface="Noto Sans Hans"/>
              <a:ea typeface="Noto Sans Hans"/>
              <a:cs typeface="Noto Sans Hans"/>
            </a:endParaRPr>
          </a:p>
        </p:txBody>
      </p:sp>
      <p:sp>
        <p:nvSpPr>
          <p:cNvPr id="38" name="椭圆 37"/>
          <p:cNvSpPr>
            <a:spLocks noGrp="1"/>
          </p:cNvSpPr>
          <p:nvPr/>
        </p:nvSpPr>
        <p:spPr>
          <a:xfrm>
            <a:off x="4105275" y="1781175"/>
            <a:ext cx="323850" cy="323850"/>
          </a:xfrm>
          <a:prstGeom prst="ellipse">
            <a:avLst/>
          </a:prstGeom>
          <a:solidFill>
            <a:srgbClr val="D00914"/>
          </a:solidFill>
          <a:ln w="0">
            <a:noFill/>
            <a:prstDash val="solid"/>
          </a:ln>
        </p:spPr>
      </p:sp>
      <p:sp>
        <p:nvSpPr>
          <p:cNvPr id="39" name="矩形 38"/>
          <p:cNvSpPr>
            <a:spLocks noGrp="1"/>
          </p:cNvSpPr>
          <p:nvPr/>
        </p:nvSpPr>
        <p:spPr>
          <a:xfrm>
            <a:off x="4152900" y="1819275"/>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1</a:t>
            </a:r>
            <a:endParaRPr sz="1080" b="1">
              <a:solidFill>
                <a:srgbClr val="FFFFFF"/>
              </a:solidFill>
              <a:latin typeface="Noto Sans Hans"/>
              <a:ea typeface="Noto Sans Hans"/>
              <a:cs typeface="Noto Sans Hans"/>
            </a:endParaRPr>
          </a:p>
        </p:txBody>
      </p:sp>
      <p:sp>
        <p:nvSpPr>
          <p:cNvPr id="40" name="矩形 39"/>
          <p:cNvSpPr>
            <a:spLocks noGrp="1"/>
          </p:cNvSpPr>
          <p:nvPr/>
        </p:nvSpPr>
        <p:spPr>
          <a:xfrm>
            <a:off x="4505325" y="1724025"/>
            <a:ext cx="1123950" cy="40005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场景与试点</a:t>
            </a:r>
            <a:endParaRPr sz="1200" b="1">
              <a:solidFill>
                <a:srgbClr val="9E3038"/>
              </a:solidFill>
              <a:latin typeface="Noto Sans Hans"/>
              <a:ea typeface="Noto Sans Hans"/>
              <a:cs typeface="Noto Sans Hans"/>
            </a:endParaRPr>
          </a:p>
        </p:txBody>
      </p:sp>
      <p:sp>
        <p:nvSpPr>
          <p:cNvPr id="41" name="矩形 40"/>
          <p:cNvSpPr>
            <a:spLocks noGrp="1"/>
          </p:cNvSpPr>
          <p:nvPr/>
        </p:nvSpPr>
        <p:spPr>
          <a:xfrm>
            <a:off x="5695950" y="1685925"/>
            <a:ext cx="9525" cy="895350"/>
          </a:xfrm>
          <a:prstGeom prst="rect">
            <a:avLst/>
          </a:prstGeom>
          <a:solidFill>
            <a:srgbClr val="D8D1CD"/>
          </a:solidFill>
          <a:ln w="0">
            <a:noFill/>
            <a:prstDash val="solid"/>
          </a:ln>
        </p:spPr>
      </p:sp>
      <p:sp>
        <p:nvSpPr>
          <p:cNvPr id="42" name="矩形 41"/>
          <p:cNvSpPr>
            <a:spLocks noGrp="1"/>
          </p:cNvSpPr>
          <p:nvPr/>
        </p:nvSpPr>
        <p:spPr>
          <a:xfrm>
            <a:off x="5791200" y="1704975"/>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政策含义</a:t>
            </a:r>
            <a:endParaRPr sz="1100" b="1">
              <a:solidFill>
                <a:srgbClr val="D00914"/>
              </a:solidFill>
              <a:latin typeface="Noto Sans Hans"/>
              <a:ea typeface="Noto Sans Hans"/>
              <a:cs typeface="Noto Sans Hans"/>
            </a:endParaRPr>
          </a:p>
        </p:txBody>
      </p:sp>
      <p:sp>
        <p:nvSpPr>
          <p:cNvPr id="43" name="矩形 42"/>
          <p:cNvSpPr>
            <a:spLocks noGrp="1"/>
          </p:cNvSpPr>
          <p:nvPr/>
        </p:nvSpPr>
        <p:spPr>
          <a:xfrm>
            <a:off x="5791200" y="1914525"/>
            <a:ext cx="18097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从单机展示转向居家、社区、机构中的连续任务验证</a:t>
            </a:r>
            <a:endParaRPr sz="1000" b="0">
              <a:solidFill>
                <a:srgbClr val="403A38"/>
              </a:solidFill>
              <a:latin typeface="Noto Sans Hans"/>
              <a:ea typeface="Noto Sans Hans"/>
              <a:cs typeface="Noto Sans Hans"/>
            </a:endParaRPr>
          </a:p>
        </p:txBody>
      </p:sp>
      <p:sp>
        <p:nvSpPr>
          <p:cNvPr id="44" name="矩形 43"/>
          <p:cNvSpPr>
            <a:spLocks noGrp="1"/>
          </p:cNvSpPr>
          <p:nvPr/>
        </p:nvSpPr>
        <p:spPr>
          <a:xfrm>
            <a:off x="7677150" y="1685925"/>
            <a:ext cx="9525" cy="895350"/>
          </a:xfrm>
          <a:prstGeom prst="rect">
            <a:avLst/>
          </a:prstGeom>
          <a:solidFill>
            <a:srgbClr val="D8D1CD"/>
          </a:solidFill>
          <a:ln w="0">
            <a:noFill/>
            <a:prstDash val="solid"/>
          </a:ln>
        </p:spPr>
      </p:sp>
      <p:sp>
        <p:nvSpPr>
          <p:cNvPr id="45" name="矩形 44"/>
          <p:cNvSpPr>
            <a:spLocks noGrp="1"/>
          </p:cNvSpPr>
          <p:nvPr/>
        </p:nvSpPr>
        <p:spPr>
          <a:xfrm>
            <a:off x="7772400" y="1704975"/>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城投抓手</a:t>
            </a:r>
            <a:endParaRPr sz="1100" b="1">
              <a:solidFill>
                <a:srgbClr val="D00914"/>
              </a:solidFill>
              <a:latin typeface="Noto Sans Hans"/>
              <a:ea typeface="Noto Sans Hans"/>
              <a:cs typeface="Noto Sans Hans"/>
            </a:endParaRPr>
          </a:p>
        </p:txBody>
      </p:sp>
      <p:sp>
        <p:nvSpPr>
          <p:cNvPr id="46" name="矩形 45"/>
          <p:cNvSpPr>
            <a:spLocks noGrp="1"/>
          </p:cNvSpPr>
          <p:nvPr/>
        </p:nvSpPr>
        <p:spPr>
          <a:xfrm>
            <a:off x="7772400" y="1914525"/>
            <a:ext cx="19240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城投开放康养机构、社区物业和家庭用户，提供真实任务、人员培训与效果数据</a:t>
            </a:r>
            <a:endParaRPr sz="1000" b="1">
              <a:solidFill>
                <a:srgbClr val="403A38"/>
              </a:solidFill>
              <a:latin typeface="Noto Sans Hans"/>
              <a:ea typeface="Noto Sans Hans"/>
              <a:cs typeface="Noto Sans Hans"/>
            </a:endParaRPr>
          </a:p>
        </p:txBody>
      </p:sp>
      <p:sp>
        <p:nvSpPr>
          <p:cNvPr id="47" name="矩形 46"/>
          <p:cNvSpPr>
            <a:spLocks noGrp="1"/>
          </p:cNvSpPr>
          <p:nvPr/>
        </p:nvSpPr>
        <p:spPr>
          <a:xfrm>
            <a:off x="9772650" y="1685925"/>
            <a:ext cx="9525" cy="895350"/>
          </a:xfrm>
          <a:prstGeom prst="rect">
            <a:avLst/>
          </a:prstGeom>
          <a:solidFill>
            <a:srgbClr val="D8D1CD"/>
          </a:solidFill>
          <a:ln w="0">
            <a:noFill/>
            <a:prstDash val="solid"/>
          </a:ln>
        </p:spPr>
      </p:sp>
      <p:sp>
        <p:nvSpPr>
          <p:cNvPr id="48" name="矩形 47"/>
          <p:cNvSpPr>
            <a:spLocks noGrp="1"/>
          </p:cNvSpPr>
          <p:nvPr/>
        </p:nvSpPr>
        <p:spPr>
          <a:xfrm>
            <a:off x="9867900" y="1704975"/>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重点边界</a:t>
            </a:r>
            <a:endParaRPr sz="1100" b="1">
              <a:solidFill>
                <a:srgbClr val="D00914"/>
              </a:solidFill>
              <a:latin typeface="Noto Sans Hans"/>
              <a:ea typeface="Noto Sans Hans"/>
              <a:cs typeface="Noto Sans Hans"/>
            </a:endParaRPr>
          </a:p>
        </p:txBody>
      </p:sp>
      <p:sp>
        <p:nvSpPr>
          <p:cNvPr id="49" name="矩形 48"/>
          <p:cNvSpPr>
            <a:spLocks noGrp="1"/>
          </p:cNvSpPr>
          <p:nvPr/>
        </p:nvSpPr>
        <p:spPr>
          <a:xfrm>
            <a:off x="9867900" y="1914525"/>
            <a:ext cx="176212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90"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不能只做短期展示；需设置使用频次、替代工时、事故率和老人接受度指标</a:t>
            </a:r>
            <a:endParaRPr sz="1000" b="0">
              <a:solidFill>
                <a:srgbClr val="403A38"/>
              </a:solidFill>
              <a:latin typeface="Noto Sans Hans"/>
              <a:ea typeface="Noto Sans Hans"/>
              <a:cs typeface="Noto Sans Hans"/>
            </a:endParaRPr>
          </a:p>
        </p:txBody>
      </p:sp>
      <p:sp>
        <p:nvSpPr>
          <p:cNvPr id="50" name="矩形 49"/>
          <p:cNvSpPr>
            <a:spLocks noGrp="1"/>
          </p:cNvSpPr>
          <p:nvPr/>
        </p:nvSpPr>
        <p:spPr>
          <a:xfrm>
            <a:off x="3981450" y="2619375"/>
            <a:ext cx="7753350" cy="9525"/>
          </a:xfrm>
          <a:prstGeom prst="rect">
            <a:avLst/>
          </a:prstGeom>
          <a:solidFill>
            <a:srgbClr val="D8D1CD"/>
          </a:solidFill>
          <a:ln w="0">
            <a:noFill/>
            <a:prstDash val="solid"/>
          </a:ln>
        </p:spPr>
      </p:sp>
      <p:sp>
        <p:nvSpPr>
          <p:cNvPr id="51" name="椭圆 50"/>
          <p:cNvSpPr>
            <a:spLocks noGrp="1"/>
          </p:cNvSpPr>
          <p:nvPr/>
        </p:nvSpPr>
        <p:spPr>
          <a:xfrm>
            <a:off x="4105275" y="2781300"/>
            <a:ext cx="323850" cy="323850"/>
          </a:xfrm>
          <a:prstGeom prst="ellipse">
            <a:avLst/>
          </a:prstGeom>
          <a:solidFill>
            <a:srgbClr val="C94A27"/>
          </a:solidFill>
          <a:ln w="0">
            <a:noFill/>
            <a:prstDash val="solid"/>
          </a:ln>
        </p:spPr>
      </p:sp>
      <p:sp>
        <p:nvSpPr>
          <p:cNvPr id="52" name="矩形 51"/>
          <p:cNvSpPr>
            <a:spLocks noGrp="1"/>
          </p:cNvSpPr>
          <p:nvPr/>
        </p:nvSpPr>
        <p:spPr>
          <a:xfrm>
            <a:off x="4152900" y="2819400"/>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2</a:t>
            </a:r>
            <a:endParaRPr sz="1080" b="1">
              <a:solidFill>
                <a:srgbClr val="FFFFFF"/>
              </a:solidFill>
              <a:latin typeface="Noto Sans Hans"/>
              <a:ea typeface="Noto Sans Hans"/>
              <a:cs typeface="Noto Sans Hans"/>
            </a:endParaRPr>
          </a:p>
        </p:txBody>
      </p:sp>
      <p:sp>
        <p:nvSpPr>
          <p:cNvPr id="53" name="矩形 52"/>
          <p:cNvSpPr>
            <a:spLocks noGrp="1"/>
          </p:cNvSpPr>
          <p:nvPr/>
        </p:nvSpPr>
        <p:spPr>
          <a:xfrm>
            <a:off x="4505325" y="2724150"/>
            <a:ext cx="1123950" cy="40005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产品与目录</a:t>
            </a:r>
            <a:endParaRPr sz="1200" b="1">
              <a:solidFill>
                <a:srgbClr val="9E3038"/>
              </a:solidFill>
              <a:latin typeface="Noto Sans Hans"/>
              <a:ea typeface="Noto Sans Hans"/>
              <a:cs typeface="Noto Sans Hans"/>
            </a:endParaRPr>
          </a:p>
        </p:txBody>
      </p:sp>
      <p:sp>
        <p:nvSpPr>
          <p:cNvPr id="54" name="矩形 53"/>
          <p:cNvSpPr>
            <a:spLocks noGrp="1"/>
          </p:cNvSpPr>
          <p:nvPr/>
        </p:nvSpPr>
        <p:spPr>
          <a:xfrm>
            <a:off x="5695950" y="2686050"/>
            <a:ext cx="9525" cy="895350"/>
          </a:xfrm>
          <a:prstGeom prst="rect">
            <a:avLst/>
          </a:prstGeom>
          <a:solidFill>
            <a:srgbClr val="D8D1CD"/>
          </a:solidFill>
          <a:ln w="0">
            <a:noFill/>
            <a:prstDash val="solid"/>
          </a:ln>
        </p:spPr>
      </p:sp>
      <p:sp>
        <p:nvSpPr>
          <p:cNvPr id="55" name="矩形 54"/>
          <p:cNvSpPr>
            <a:spLocks noGrp="1"/>
          </p:cNvSpPr>
          <p:nvPr/>
        </p:nvSpPr>
        <p:spPr>
          <a:xfrm>
            <a:off x="5791200" y="2705100"/>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政策含义</a:t>
            </a:r>
            <a:endParaRPr sz="1100" b="1">
              <a:solidFill>
                <a:srgbClr val="D00914"/>
              </a:solidFill>
              <a:latin typeface="Noto Sans Hans"/>
              <a:ea typeface="Noto Sans Hans"/>
              <a:cs typeface="Noto Sans Hans"/>
            </a:endParaRPr>
          </a:p>
        </p:txBody>
      </p:sp>
      <p:sp>
        <p:nvSpPr>
          <p:cNvPr id="56" name="矩形 55"/>
          <p:cNvSpPr>
            <a:spLocks noGrp="1"/>
          </p:cNvSpPr>
          <p:nvPr/>
        </p:nvSpPr>
        <p:spPr>
          <a:xfrm>
            <a:off x="5791200" y="2914650"/>
            <a:ext cx="18097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智慧健康养老目录、老年用品目录成为产品推广和项目筛选入口</a:t>
            </a:r>
            <a:endParaRPr sz="1000" b="0">
              <a:solidFill>
                <a:srgbClr val="403A38"/>
              </a:solidFill>
              <a:latin typeface="Noto Sans Hans"/>
              <a:ea typeface="Noto Sans Hans"/>
              <a:cs typeface="Noto Sans Hans"/>
            </a:endParaRPr>
          </a:p>
        </p:txBody>
      </p:sp>
      <p:sp>
        <p:nvSpPr>
          <p:cNvPr id="57" name="矩形 56"/>
          <p:cNvSpPr>
            <a:spLocks noGrp="1"/>
          </p:cNvSpPr>
          <p:nvPr/>
        </p:nvSpPr>
        <p:spPr>
          <a:xfrm>
            <a:off x="7677150" y="2686050"/>
            <a:ext cx="9525" cy="895350"/>
          </a:xfrm>
          <a:prstGeom prst="rect">
            <a:avLst/>
          </a:prstGeom>
          <a:solidFill>
            <a:srgbClr val="D8D1CD"/>
          </a:solidFill>
          <a:ln w="0">
            <a:noFill/>
            <a:prstDash val="solid"/>
          </a:ln>
        </p:spPr>
      </p:sp>
      <p:sp>
        <p:nvSpPr>
          <p:cNvPr id="58" name="矩形 57"/>
          <p:cNvSpPr>
            <a:spLocks noGrp="1"/>
          </p:cNvSpPr>
          <p:nvPr/>
        </p:nvSpPr>
        <p:spPr>
          <a:xfrm>
            <a:off x="7772400" y="2705100"/>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城投抓手</a:t>
            </a:r>
            <a:endParaRPr sz="1100" b="1">
              <a:solidFill>
                <a:srgbClr val="D00914"/>
              </a:solidFill>
              <a:latin typeface="Noto Sans Hans"/>
              <a:ea typeface="Noto Sans Hans"/>
              <a:cs typeface="Noto Sans Hans"/>
            </a:endParaRPr>
          </a:p>
        </p:txBody>
      </p:sp>
      <p:sp>
        <p:nvSpPr>
          <p:cNvPr id="59" name="矩形 58"/>
          <p:cNvSpPr>
            <a:spLocks noGrp="1"/>
          </p:cNvSpPr>
          <p:nvPr/>
        </p:nvSpPr>
        <p:spPr>
          <a:xfrm>
            <a:off x="7772400" y="2914650"/>
            <a:ext cx="19240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建立“目录产品 + 国家试点 + 医疗器械注册”分层产品池，缩短初筛时间</a:t>
            </a:r>
            <a:endParaRPr sz="1000" b="1">
              <a:solidFill>
                <a:srgbClr val="403A38"/>
              </a:solidFill>
              <a:latin typeface="Noto Sans Hans"/>
              <a:ea typeface="Noto Sans Hans"/>
              <a:cs typeface="Noto Sans Hans"/>
            </a:endParaRPr>
          </a:p>
        </p:txBody>
      </p:sp>
      <p:sp>
        <p:nvSpPr>
          <p:cNvPr id="60" name="矩形 59"/>
          <p:cNvSpPr>
            <a:spLocks noGrp="1"/>
          </p:cNvSpPr>
          <p:nvPr/>
        </p:nvSpPr>
        <p:spPr>
          <a:xfrm>
            <a:off x="9772650" y="2686050"/>
            <a:ext cx="9525" cy="895350"/>
          </a:xfrm>
          <a:prstGeom prst="rect">
            <a:avLst/>
          </a:prstGeom>
          <a:solidFill>
            <a:srgbClr val="D8D1CD"/>
          </a:solidFill>
          <a:ln w="0">
            <a:noFill/>
            <a:prstDash val="solid"/>
          </a:ln>
        </p:spPr>
      </p:sp>
      <p:sp>
        <p:nvSpPr>
          <p:cNvPr id="61" name="矩形 60"/>
          <p:cNvSpPr>
            <a:spLocks noGrp="1"/>
          </p:cNvSpPr>
          <p:nvPr/>
        </p:nvSpPr>
        <p:spPr>
          <a:xfrm>
            <a:off x="9867900" y="2705100"/>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重点边界</a:t>
            </a:r>
            <a:endParaRPr sz="1100" b="1">
              <a:solidFill>
                <a:srgbClr val="D00914"/>
              </a:solidFill>
              <a:latin typeface="Noto Sans Hans"/>
              <a:ea typeface="Noto Sans Hans"/>
              <a:cs typeface="Noto Sans Hans"/>
            </a:endParaRPr>
          </a:p>
        </p:txBody>
      </p:sp>
      <p:sp>
        <p:nvSpPr>
          <p:cNvPr id="62" name="矩形 61"/>
          <p:cNvSpPr>
            <a:spLocks noGrp="1"/>
          </p:cNvSpPr>
          <p:nvPr/>
        </p:nvSpPr>
        <p:spPr>
          <a:xfrm>
            <a:off x="9867900" y="2914650"/>
            <a:ext cx="176212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90"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入选目录不等于订单与收入，仍需核查注册证、交付能力、售后和价格</a:t>
            </a:r>
            <a:endParaRPr sz="1000" b="0">
              <a:solidFill>
                <a:srgbClr val="403A38"/>
              </a:solidFill>
              <a:latin typeface="Noto Sans Hans"/>
              <a:ea typeface="Noto Sans Hans"/>
              <a:cs typeface="Noto Sans Hans"/>
            </a:endParaRPr>
          </a:p>
        </p:txBody>
      </p:sp>
      <p:sp>
        <p:nvSpPr>
          <p:cNvPr id="63" name="矩形 62"/>
          <p:cNvSpPr>
            <a:spLocks noGrp="1"/>
          </p:cNvSpPr>
          <p:nvPr/>
        </p:nvSpPr>
        <p:spPr>
          <a:xfrm>
            <a:off x="3981450" y="3619500"/>
            <a:ext cx="7753350" cy="9525"/>
          </a:xfrm>
          <a:prstGeom prst="rect">
            <a:avLst/>
          </a:prstGeom>
          <a:solidFill>
            <a:srgbClr val="D8D1CD"/>
          </a:solidFill>
          <a:ln w="0">
            <a:noFill/>
            <a:prstDash val="solid"/>
          </a:ln>
        </p:spPr>
      </p:sp>
      <p:sp>
        <p:nvSpPr>
          <p:cNvPr id="64" name="椭圆 63"/>
          <p:cNvSpPr>
            <a:spLocks noGrp="1"/>
          </p:cNvSpPr>
          <p:nvPr/>
        </p:nvSpPr>
        <p:spPr>
          <a:xfrm>
            <a:off x="4105275" y="3781425"/>
            <a:ext cx="323850" cy="323850"/>
          </a:xfrm>
          <a:prstGeom prst="ellipse">
            <a:avLst/>
          </a:prstGeom>
          <a:solidFill>
            <a:srgbClr val="9E3038"/>
          </a:solidFill>
          <a:ln w="0">
            <a:noFill/>
            <a:prstDash val="solid"/>
          </a:ln>
        </p:spPr>
      </p:sp>
      <p:sp>
        <p:nvSpPr>
          <p:cNvPr id="65" name="矩形 64"/>
          <p:cNvSpPr>
            <a:spLocks noGrp="1"/>
          </p:cNvSpPr>
          <p:nvPr/>
        </p:nvSpPr>
        <p:spPr>
          <a:xfrm>
            <a:off x="4152900" y="3819525"/>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3</a:t>
            </a:r>
            <a:endParaRPr sz="1080" b="1">
              <a:solidFill>
                <a:srgbClr val="FFFFFF"/>
              </a:solidFill>
              <a:latin typeface="Noto Sans Hans"/>
              <a:ea typeface="Noto Sans Hans"/>
              <a:cs typeface="Noto Sans Hans"/>
            </a:endParaRPr>
          </a:p>
        </p:txBody>
      </p:sp>
      <p:sp>
        <p:nvSpPr>
          <p:cNvPr id="66" name="矩形 65"/>
          <p:cNvSpPr>
            <a:spLocks noGrp="1"/>
          </p:cNvSpPr>
          <p:nvPr/>
        </p:nvSpPr>
        <p:spPr>
          <a:xfrm>
            <a:off x="4505325" y="3724275"/>
            <a:ext cx="1123950" cy="40005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产业与资金</a:t>
            </a:r>
            <a:endParaRPr sz="1200" b="1">
              <a:solidFill>
                <a:srgbClr val="9E3038"/>
              </a:solidFill>
              <a:latin typeface="Noto Sans Hans"/>
              <a:ea typeface="Noto Sans Hans"/>
              <a:cs typeface="Noto Sans Hans"/>
            </a:endParaRPr>
          </a:p>
        </p:txBody>
      </p:sp>
      <p:sp>
        <p:nvSpPr>
          <p:cNvPr id="67" name="矩形 66"/>
          <p:cNvSpPr>
            <a:spLocks noGrp="1"/>
          </p:cNvSpPr>
          <p:nvPr/>
        </p:nvSpPr>
        <p:spPr>
          <a:xfrm>
            <a:off x="5695950" y="3686175"/>
            <a:ext cx="9525" cy="895350"/>
          </a:xfrm>
          <a:prstGeom prst="rect">
            <a:avLst/>
          </a:prstGeom>
          <a:solidFill>
            <a:srgbClr val="D8D1CD"/>
          </a:solidFill>
          <a:ln w="0">
            <a:noFill/>
            <a:prstDash val="solid"/>
          </a:ln>
        </p:spPr>
      </p:sp>
      <p:sp>
        <p:nvSpPr>
          <p:cNvPr id="68" name="矩形 67"/>
          <p:cNvSpPr>
            <a:spLocks noGrp="1"/>
          </p:cNvSpPr>
          <p:nvPr/>
        </p:nvSpPr>
        <p:spPr>
          <a:xfrm>
            <a:off x="5791200" y="3705225"/>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政策含义</a:t>
            </a:r>
            <a:endParaRPr sz="1100" b="1">
              <a:solidFill>
                <a:srgbClr val="D00914"/>
              </a:solidFill>
              <a:latin typeface="Noto Sans Hans"/>
              <a:ea typeface="Noto Sans Hans"/>
              <a:cs typeface="Noto Sans Hans"/>
            </a:endParaRPr>
          </a:p>
        </p:txBody>
      </p:sp>
      <p:sp>
        <p:nvSpPr>
          <p:cNvPr id="69" name="矩形 68"/>
          <p:cNvSpPr>
            <a:spLocks noGrp="1"/>
          </p:cNvSpPr>
          <p:nvPr/>
        </p:nvSpPr>
        <p:spPr>
          <a:xfrm>
            <a:off x="5791200" y="3914775"/>
            <a:ext cx="18097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人形机器人政策支持平台、联合实验室、部件、场景和企业招引</a:t>
            </a:r>
            <a:endParaRPr sz="1000" b="0">
              <a:solidFill>
                <a:srgbClr val="403A38"/>
              </a:solidFill>
              <a:latin typeface="Noto Sans Hans"/>
              <a:ea typeface="Noto Sans Hans"/>
              <a:cs typeface="Noto Sans Hans"/>
            </a:endParaRPr>
          </a:p>
        </p:txBody>
      </p:sp>
      <p:sp>
        <p:nvSpPr>
          <p:cNvPr id="70" name="矩形 69"/>
          <p:cNvSpPr>
            <a:spLocks noGrp="1"/>
          </p:cNvSpPr>
          <p:nvPr/>
        </p:nvSpPr>
        <p:spPr>
          <a:xfrm>
            <a:off x="7677150" y="3686175"/>
            <a:ext cx="9525" cy="895350"/>
          </a:xfrm>
          <a:prstGeom prst="rect">
            <a:avLst/>
          </a:prstGeom>
          <a:solidFill>
            <a:srgbClr val="D8D1CD"/>
          </a:solidFill>
          <a:ln w="0">
            <a:noFill/>
            <a:prstDash val="solid"/>
          </a:ln>
        </p:spPr>
      </p:sp>
      <p:sp>
        <p:nvSpPr>
          <p:cNvPr id="71" name="矩形 70"/>
          <p:cNvSpPr>
            <a:spLocks noGrp="1"/>
          </p:cNvSpPr>
          <p:nvPr/>
        </p:nvSpPr>
        <p:spPr>
          <a:xfrm>
            <a:off x="7772400" y="3705225"/>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城投抓手</a:t>
            </a:r>
            <a:endParaRPr sz="1100" b="1">
              <a:solidFill>
                <a:srgbClr val="D00914"/>
              </a:solidFill>
              <a:latin typeface="Noto Sans Hans"/>
              <a:ea typeface="Noto Sans Hans"/>
              <a:cs typeface="Noto Sans Hans"/>
            </a:endParaRPr>
          </a:p>
        </p:txBody>
      </p:sp>
      <p:sp>
        <p:nvSpPr>
          <p:cNvPr id="72" name="矩形 71"/>
          <p:cNvSpPr>
            <a:spLocks noGrp="1"/>
          </p:cNvSpPr>
          <p:nvPr/>
        </p:nvSpPr>
        <p:spPr>
          <a:xfrm>
            <a:off x="7772400" y="3914775"/>
            <a:ext cx="19240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采用基金投资、联合研发、中试基地、区域总部和首批订单组合推进落地</a:t>
            </a:r>
            <a:endParaRPr sz="1000" b="1">
              <a:solidFill>
                <a:srgbClr val="403A38"/>
              </a:solidFill>
              <a:latin typeface="Noto Sans Hans"/>
              <a:ea typeface="Noto Sans Hans"/>
              <a:cs typeface="Noto Sans Hans"/>
            </a:endParaRPr>
          </a:p>
        </p:txBody>
      </p:sp>
      <p:sp>
        <p:nvSpPr>
          <p:cNvPr id="73" name="矩形 72"/>
          <p:cNvSpPr>
            <a:spLocks noGrp="1"/>
          </p:cNvSpPr>
          <p:nvPr/>
        </p:nvSpPr>
        <p:spPr>
          <a:xfrm>
            <a:off x="9772650" y="3686175"/>
            <a:ext cx="9525" cy="895350"/>
          </a:xfrm>
          <a:prstGeom prst="rect">
            <a:avLst/>
          </a:prstGeom>
          <a:solidFill>
            <a:srgbClr val="D8D1CD"/>
          </a:solidFill>
          <a:ln w="0">
            <a:noFill/>
            <a:prstDash val="solid"/>
          </a:ln>
        </p:spPr>
      </p:sp>
      <p:sp>
        <p:nvSpPr>
          <p:cNvPr id="74" name="矩形 73"/>
          <p:cNvSpPr>
            <a:spLocks noGrp="1"/>
          </p:cNvSpPr>
          <p:nvPr/>
        </p:nvSpPr>
        <p:spPr>
          <a:xfrm>
            <a:off x="9867900" y="3705225"/>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重点边界</a:t>
            </a:r>
            <a:endParaRPr sz="1100" b="1">
              <a:solidFill>
                <a:srgbClr val="D00914"/>
              </a:solidFill>
              <a:latin typeface="Noto Sans Hans"/>
              <a:ea typeface="Noto Sans Hans"/>
              <a:cs typeface="Noto Sans Hans"/>
            </a:endParaRPr>
          </a:p>
        </p:txBody>
      </p:sp>
      <p:sp>
        <p:nvSpPr>
          <p:cNvPr id="75" name="矩形 74"/>
          <p:cNvSpPr>
            <a:spLocks noGrp="1"/>
          </p:cNvSpPr>
          <p:nvPr/>
        </p:nvSpPr>
        <p:spPr>
          <a:xfrm>
            <a:off x="9867900" y="3914775"/>
            <a:ext cx="176212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90"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奖补需按项目逐项测算；不能把最高支持额度直接计入投资收益</a:t>
            </a:r>
            <a:endParaRPr sz="1000" b="0">
              <a:solidFill>
                <a:srgbClr val="403A38"/>
              </a:solidFill>
              <a:latin typeface="Noto Sans Hans"/>
              <a:ea typeface="Noto Sans Hans"/>
              <a:cs typeface="Noto Sans Hans"/>
            </a:endParaRPr>
          </a:p>
        </p:txBody>
      </p:sp>
      <p:sp>
        <p:nvSpPr>
          <p:cNvPr id="76" name="矩形 75"/>
          <p:cNvSpPr>
            <a:spLocks noGrp="1"/>
          </p:cNvSpPr>
          <p:nvPr/>
        </p:nvSpPr>
        <p:spPr>
          <a:xfrm>
            <a:off x="3981450" y="4619625"/>
            <a:ext cx="7753350" cy="9525"/>
          </a:xfrm>
          <a:prstGeom prst="rect">
            <a:avLst/>
          </a:prstGeom>
          <a:solidFill>
            <a:srgbClr val="D8D1CD"/>
          </a:solidFill>
          <a:ln w="0">
            <a:noFill/>
            <a:prstDash val="solid"/>
          </a:ln>
        </p:spPr>
      </p:sp>
      <p:sp>
        <p:nvSpPr>
          <p:cNvPr id="77" name="椭圆 76"/>
          <p:cNvSpPr>
            <a:spLocks noGrp="1"/>
          </p:cNvSpPr>
          <p:nvPr/>
        </p:nvSpPr>
        <p:spPr>
          <a:xfrm>
            <a:off x="4105275" y="4781550"/>
            <a:ext cx="323850" cy="323850"/>
          </a:xfrm>
          <a:prstGeom prst="ellipse">
            <a:avLst/>
          </a:prstGeom>
          <a:solidFill>
            <a:srgbClr val="B76D73"/>
          </a:solidFill>
          <a:ln w="0">
            <a:noFill/>
            <a:prstDash val="solid"/>
          </a:ln>
        </p:spPr>
      </p:sp>
      <p:sp>
        <p:nvSpPr>
          <p:cNvPr id="78" name="矩形 77"/>
          <p:cNvSpPr>
            <a:spLocks noGrp="1"/>
          </p:cNvSpPr>
          <p:nvPr/>
        </p:nvSpPr>
        <p:spPr>
          <a:xfrm>
            <a:off x="4152900" y="4819650"/>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4</a:t>
            </a:r>
            <a:endParaRPr sz="1080" b="1">
              <a:solidFill>
                <a:srgbClr val="FFFFFF"/>
              </a:solidFill>
              <a:latin typeface="Noto Sans Hans"/>
              <a:ea typeface="Noto Sans Hans"/>
              <a:cs typeface="Noto Sans Hans"/>
            </a:endParaRPr>
          </a:p>
        </p:txBody>
      </p:sp>
      <p:sp>
        <p:nvSpPr>
          <p:cNvPr id="79" name="矩形 78"/>
          <p:cNvSpPr>
            <a:spLocks noGrp="1"/>
          </p:cNvSpPr>
          <p:nvPr/>
        </p:nvSpPr>
        <p:spPr>
          <a:xfrm>
            <a:off x="4505325" y="4724400"/>
            <a:ext cx="1123950" cy="40005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支付与采购</a:t>
            </a:r>
            <a:endParaRPr sz="1200" b="1">
              <a:solidFill>
                <a:srgbClr val="9E3038"/>
              </a:solidFill>
              <a:latin typeface="Noto Sans Hans"/>
              <a:ea typeface="Noto Sans Hans"/>
              <a:cs typeface="Noto Sans Hans"/>
            </a:endParaRPr>
          </a:p>
        </p:txBody>
      </p:sp>
      <p:sp>
        <p:nvSpPr>
          <p:cNvPr id="80" name="矩形 79"/>
          <p:cNvSpPr>
            <a:spLocks noGrp="1"/>
          </p:cNvSpPr>
          <p:nvPr/>
        </p:nvSpPr>
        <p:spPr>
          <a:xfrm>
            <a:off x="5695950" y="4686300"/>
            <a:ext cx="9525" cy="895350"/>
          </a:xfrm>
          <a:prstGeom prst="rect">
            <a:avLst/>
          </a:prstGeom>
          <a:solidFill>
            <a:srgbClr val="D8D1CD"/>
          </a:solidFill>
          <a:ln w="0">
            <a:noFill/>
            <a:prstDash val="solid"/>
          </a:ln>
        </p:spPr>
      </p:sp>
      <p:sp>
        <p:nvSpPr>
          <p:cNvPr id="81" name="矩形 80"/>
          <p:cNvSpPr>
            <a:spLocks noGrp="1"/>
          </p:cNvSpPr>
          <p:nvPr/>
        </p:nvSpPr>
        <p:spPr>
          <a:xfrm>
            <a:off x="5791200" y="4705350"/>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政策含义</a:t>
            </a:r>
            <a:endParaRPr sz="1100" b="1">
              <a:solidFill>
                <a:srgbClr val="D00914"/>
              </a:solidFill>
              <a:latin typeface="Noto Sans Hans"/>
              <a:ea typeface="Noto Sans Hans"/>
              <a:cs typeface="Noto Sans Hans"/>
            </a:endParaRPr>
          </a:p>
        </p:txBody>
      </p:sp>
      <p:sp>
        <p:nvSpPr>
          <p:cNvPr id="82" name="矩形 81"/>
          <p:cNvSpPr>
            <a:spLocks noGrp="1"/>
          </p:cNvSpPr>
          <p:nvPr/>
        </p:nvSpPr>
        <p:spPr>
          <a:xfrm>
            <a:off x="5791200" y="4914900"/>
            <a:ext cx="18097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普惠养老、长期护理保险和设施更新扩大服务供给与项目基础</a:t>
            </a:r>
            <a:endParaRPr sz="1000" b="0">
              <a:solidFill>
                <a:srgbClr val="403A38"/>
              </a:solidFill>
              <a:latin typeface="Noto Sans Hans"/>
              <a:ea typeface="Noto Sans Hans"/>
              <a:cs typeface="Noto Sans Hans"/>
            </a:endParaRPr>
          </a:p>
        </p:txBody>
      </p:sp>
      <p:sp>
        <p:nvSpPr>
          <p:cNvPr id="83" name="矩形 82"/>
          <p:cNvSpPr>
            <a:spLocks noGrp="1"/>
          </p:cNvSpPr>
          <p:nvPr/>
        </p:nvSpPr>
        <p:spPr>
          <a:xfrm>
            <a:off x="7677150" y="4686300"/>
            <a:ext cx="9525" cy="895350"/>
          </a:xfrm>
          <a:prstGeom prst="rect">
            <a:avLst/>
          </a:prstGeom>
          <a:solidFill>
            <a:srgbClr val="D8D1CD"/>
          </a:solidFill>
          <a:ln w="0">
            <a:noFill/>
            <a:prstDash val="solid"/>
          </a:ln>
        </p:spPr>
      </p:sp>
      <p:sp>
        <p:nvSpPr>
          <p:cNvPr id="84" name="矩形 83"/>
          <p:cNvSpPr>
            <a:spLocks noGrp="1"/>
          </p:cNvSpPr>
          <p:nvPr/>
        </p:nvSpPr>
        <p:spPr>
          <a:xfrm>
            <a:off x="7772400" y="4705350"/>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城投抓手</a:t>
            </a:r>
            <a:endParaRPr sz="1100" b="1">
              <a:solidFill>
                <a:srgbClr val="D00914"/>
              </a:solidFill>
              <a:latin typeface="Noto Sans Hans"/>
              <a:ea typeface="Noto Sans Hans"/>
              <a:cs typeface="Noto Sans Hans"/>
            </a:endParaRPr>
          </a:p>
        </p:txBody>
      </p:sp>
      <p:sp>
        <p:nvSpPr>
          <p:cNvPr id="85" name="矩形 84"/>
          <p:cNvSpPr>
            <a:spLocks noGrp="1"/>
          </p:cNvSpPr>
          <p:nvPr/>
        </p:nvSpPr>
        <p:spPr>
          <a:xfrm>
            <a:off x="7772400" y="4914900"/>
            <a:ext cx="1924050"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0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优先把机器人嵌入服务包、设施建设和运营采购，再探索租赁或按服务付费</a:t>
            </a:r>
            <a:endParaRPr sz="1000" b="1">
              <a:solidFill>
                <a:srgbClr val="403A38"/>
              </a:solidFill>
              <a:latin typeface="Noto Sans Hans"/>
              <a:ea typeface="Noto Sans Hans"/>
              <a:cs typeface="Noto Sans Hans"/>
            </a:endParaRPr>
          </a:p>
        </p:txBody>
      </p:sp>
      <p:sp>
        <p:nvSpPr>
          <p:cNvPr id="86" name="矩形 85"/>
          <p:cNvSpPr>
            <a:spLocks noGrp="1"/>
          </p:cNvSpPr>
          <p:nvPr/>
        </p:nvSpPr>
        <p:spPr>
          <a:xfrm>
            <a:off x="9772650" y="4686300"/>
            <a:ext cx="9525" cy="895350"/>
          </a:xfrm>
          <a:prstGeom prst="rect">
            <a:avLst/>
          </a:prstGeom>
          <a:solidFill>
            <a:srgbClr val="D8D1CD"/>
          </a:solidFill>
          <a:ln w="0">
            <a:noFill/>
            <a:prstDash val="solid"/>
          </a:ln>
        </p:spPr>
      </p:sp>
      <p:sp>
        <p:nvSpPr>
          <p:cNvPr id="87" name="矩形 86"/>
          <p:cNvSpPr>
            <a:spLocks noGrp="1"/>
          </p:cNvSpPr>
          <p:nvPr/>
        </p:nvSpPr>
        <p:spPr>
          <a:xfrm>
            <a:off x="9867900" y="4705350"/>
            <a:ext cx="704850" cy="209550"/>
          </a:xfrm>
          <a:prstGeom prst="rect">
            <a:avLst/>
          </a:prstGeom>
          <a:noFill/>
          <a:ln w="0">
            <a:noFill/>
            <a:prstDash val="solid"/>
          </a:ln>
        </p:spPr>
        <p:txBody>
          <a:bodyPr wrap="square" lIns="47625" tIns="19050" rIns="47625" bIns="19050" anchor="ctr">
            <a:normAutofit/>
          </a:bodyPr>
          <a:lstStyle/>
          <a:p>
            <a:pPr algn="l">
              <a:defRPr sz="790" b="1">
                <a:solidFill>
                  <a:srgbClr val="D00914"/>
                </a:solidFill>
                <a:latin typeface="Noto Sans Hans"/>
                <a:ea typeface="Noto Sans Hans"/>
                <a:cs typeface="Noto Sans Hans"/>
              </a:defRPr>
            </a:pPr>
            <a:r>
              <a:rPr sz="1100" b="1">
                <a:solidFill>
                  <a:srgbClr val="D00914"/>
                </a:solidFill>
                <a:latin typeface="Noto Sans Hans"/>
                <a:ea typeface="Noto Sans Hans"/>
                <a:cs typeface="Noto Sans Hans"/>
              </a:rPr>
              <a:t>重点边界</a:t>
            </a:r>
            <a:endParaRPr sz="1100" b="1">
              <a:solidFill>
                <a:srgbClr val="D00914"/>
              </a:solidFill>
              <a:latin typeface="Noto Sans Hans"/>
              <a:ea typeface="Noto Sans Hans"/>
              <a:cs typeface="Noto Sans Hans"/>
            </a:endParaRPr>
          </a:p>
        </p:txBody>
      </p:sp>
      <p:sp>
        <p:nvSpPr>
          <p:cNvPr id="88" name="矩形 87"/>
          <p:cNvSpPr>
            <a:spLocks noGrp="1"/>
          </p:cNvSpPr>
          <p:nvPr/>
        </p:nvSpPr>
        <p:spPr>
          <a:xfrm>
            <a:off x="9867900" y="4914900"/>
            <a:ext cx="1762125" cy="6191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90" b="0">
                <a:solidFill>
                  <a:srgbClr val="403A38"/>
                </a:solidFill>
                <a:latin typeface="Noto Sans Hans"/>
                <a:ea typeface="Noto Sans Hans"/>
                <a:cs typeface="Noto Sans Hans"/>
              </a:defRPr>
            </a:pPr>
            <a:r>
              <a:rPr sz="1000" b="0">
                <a:solidFill>
                  <a:srgbClr val="403A38"/>
                </a:solidFill>
                <a:latin typeface="Noto Sans Hans"/>
                <a:ea typeface="Noto Sans Hans"/>
                <a:cs typeface="Noto Sans Hans"/>
              </a:rPr>
              <a:t>长期护理保险主要支付护理服务，不能假设设备能够直接报销</a:t>
            </a:r>
            <a:endParaRPr sz="1000" b="0">
              <a:solidFill>
                <a:srgbClr val="403A38"/>
              </a:solidFill>
              <a:latin typeface="Noto Sans Hans"/>
              <a:ea typeface="Noto Sans Hans"/>
              <a:cs typeface="Noto Sans Hans"/>
            </a:endParaRPr>
          </a:p>
        </p:txBody>
      </p:sp>
      <p:sp>
        <p:nvSpPr>
          <p:cNvPr id="89" name="矩形 88"/>
          <p:cNvSpPr>
            <a:spLocks noGrp="1"/>
          </p:cNvSpPr>
          <p:nvPr/>
        </p:nvSpPr>
        <p:spPr>
          <a:xfrm>
            <a:off x="3981450" y="5619750"/>
            <a:ext cx="7753350" cy="9525"/>
          </a:xfrm>
          <a:prstGeom prst="rect">
            <a:avLst/>
          </a:prstGeom>
          <a:solidFill>
            <a:srgbClr val="D8D1CD"/>
          </a:solidFill>
          <a:ln w="0">
            <a:noFill/>
            <a:prstDash val="solid"/>
          </a:ln>
        </p:spPr>
      </p:sp>
      <p:sp>
        <p:nvSpPr>
          <p:cNvPr id="90" name="圆角矩形 89"/>
          <p:cNvSpPr>
            <a:spLocks noGrp="1"/>
          </p:cNvSpPr>
          <p:nvPr/>
        </p:nvSpPr>
        <p:spPr>
          <a:xfrm>
            <a:off x="3981450" y="5762625"/>
            <a:ext cx="7753350" cy="447675"/>
          </a:xfrm>
          <a:prstGeom prst="roundRect">
            <a:avLst>
              <a:gd name="adj" fmla="val 4255"/>
            </a:avLst>
          </a:prstGeom>
          <a:solidFill>
            <a:srgbClr val="8E1118"/>
          </a:solidFill>
          <a:ln w="0">
            <a:noFill/>
            <a:prstDash val="solid"/>
          </a:ln>
        </p:spPr>
      </p:sp>
      <p:sp>
        <p:nvSpPr>
          <p:cNvPr id="91" name="矩形 90"/>
          <p:cNvSpPr>
            <a:spLocks noGrp="1"/>
          </p:cNvSpPr>
          <p:nvPr/>
        </p:nvSpPr>
        <p:spPr>
          <a:xfrm>
            <a:off x="4124325" y="5810250"/>
            <a:ext cx="7467600" cy="342900"/>
          </a:xfrm>
          <a:prstGeom prst="rect">
            <a:avLst/>
          </a:prstGeom>
          <a:noFill/>
          <a:ln w="0">
            <a:noFill/>
            <a:prstDash val="solid"/>
          </a:ln>
        </p:spPr>
        <p:txBody>
          <a:bodyPr wrap="square" lIns="47625" tIns="19050" rIns="47625" bIns="19050" anchor="ctr">
            <a:noAutofit/>
          </a:bodyPr>
          <a:lstStyle/>
          <a:p>
            <a:pPr algn="ctr">
              <a:defRPr sz="930" b="1">
                <a:solidFill>
                  <a:srgbClr val="FFFFFF"/>
                </a:solidFill>
                <a:latin typeface="Noto Sans Hans"/>
                <a:ea typeface="Noto Sans Hans"/>
                <a:cs typeface="Noto Sans Hans"/>
              </a:defRPr>
            </a:pPr>
            <a:r>
              <a:rPr sz="1030" b="1">
                <a:solidFill>
                  <a:srgbClr val="FFFFFF"/>
                </a:solidFill>
                <a:latin typeface="Noto Sans Hans"/>
                <a:ea typeface="Noto Sans Hans"/>
                <a:cs typeface="Noto Sans Hans"/>
              </a:rPr>
              <a:t>建议形成“1套场景清单 + 1个产品池 + 1组试点联合体 + 1套采购与效果评价标准”，</a:t>
            </a:r>
            <a:endParaRPr sz="1030" b="1">
              <a:solidFill>
                <a:srgbClr val="FFFFFF"/>
              </a:solidFill>
              <a:latin typeface="Noto Sans Hans"/>
              <a:ea typeface="Noto Sans Hans"/>
              <a:cs typeface="Noto Sans Hans"/>
            </a:endParaRPr>
          </a:p>
          <a:p>
            <a:pPr algn="ctr">
              <a:defRPr sz="930" b="1">
                <a:solidFill>
                  <a:srgbClr val="FFFFFF"/>
                </a:solidFill>
                <a:latin typeface="Noto Sans Hans"/>
                <a:ea typeface="Noto Sans Hans"/>
                <a:cs typeface="Noto Sans Hans"/>
              </a:defRPr>
            </a:pPr>
            <a:r>
              <a:rPr sz="1030" b="1">
                <a:solidFill>
                  <a:srgbClr val="FFFFFF"/>
                </a:solidFill>
                <a:latin typeface="Noto Sans Hans"/>
                <a:ea typeface="Noto Sans Hans"/>
                <a:cs typeface="Noto Sans Hans"/>
              </a:rPr>
              <a:t>以政策申报带动项目验证，以验证结果支撑投资决策。</a:t>
            </a:r>
            <a:endParaRPr sz="1030" b="1">
              <a:solidFill>
                <a:srgbClr val="FFFFFF"/>
              </a:solidFill>
              <a:latin typeface="Noto Sans Hans"/>
              <a:ea typeface="Noto Sans Hans"/>
              <a:cs typeface="Noto Sans Hans"/>
            </a:endParaRPr>
          </a:p>
        </p:txBody>
      </p:sp>
      <p:sp>
        <p:nvSpPr>
          <p:cNvPr id="92" name="矩形 91"/>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资料来源：养老机器人产业增强基础数据库；工业和信息化部、民政部、国家医疗保障局、湖北省及武汉市公开政策。</a:t>
            </a:r>
            <a:endParaRPr sz="715" b="0">
              <a:solidFill>
                <a:srgbClr val="716B68"/>
              </a:solidFill>
              <a:latin typeface="Noto Sans Hans"/>
              <a:ea typeface="Noto Sans Hans"/>
              <a:cs typeface="Noto Sans Hans"/>
            </a:endParaRPr>
          </a:p>
        </p:txBody>
      </p:sp>
      <p:sp>
        <p:nvSpPr>
          <p:cNvPr id="93" name="矩形 92"/>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14</a:t>
            </a:r>
            <a:endParaRPr lang="en-US" sz="900" b="1">
              <a:solidFill>
                <a:srgbClr val="D00914"/>
              </a:solidFill>
              <a:latin typeface="Noto Sans Hans"/>
              <a:ea typeface="Noto Sans Hans"/>
              <a:cs typeface="Noto Sans H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fontScale="81146"/>
          </a:bodyPr>
          <a:lstStyle/>
          <a:p>
            <a:r>
              <a:rPr lang="en-US" sz="2225" b="1">
                <a:solidFill>
                  <a:srgbClr val="D00914"/>
                </a:solidFill>
                <a:latin typeface="Noto Sans Hans"/>
                <a:ea typeface="Noto Sans Hans"/>
                <a:cs typeface="Noto Sans Hans"/>
              </a:rPr>
              <a:t>2.3</a:t>
            </a:r>
            <a:r>
              <a:rPr sz="2225" b="1">
                <a:solidFill>
                  <a:srgbClr val="D00914"/>
                </a:solidFill>
                <a:latin typeface="Noto Sans Hans"/>
                <a:ea typeface="Noto Sans Hans"/>
                <a:cs typeface="Noto Sans Hans"/>
              </a:rPr>
              <a:t>【重点企业清单】</a:t>
            </a:r>
            <a:r>
              <a:rPr sz="2025" b="1">
                <a:solidFill>
                  <a:srgbClr val="403A38"/>
                </a:solidFill>
                <a:latin typeface="Noto Sans Hans"/>
                <a:ea typeface="Noto Sans Hans"/>
                <a:cs typeface="Noto Sans Hans"/>
              </a:rPr>
              <a:t>养老机器人企业呈现“康复较成熟、护理重验证、陪伴重运营、具身智能重储备”的梯度格局</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基础数据库共收录66家企业及机构，重点关注养老专用整机、成熟康复平台、武汉本地整机与关键部件企业</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181100"/>
            <a:ext cx="2506980" cy="361950"/>
          </a:xfrm>
          <a:prstGeom prst="rect">
            <a:avLst/>
          </a:prstGeom>
          <a:solidFill>
            <a:srgbClr val="B76D73"/>
          </a:solidFill>
          <a:ln w="0">
            <a:noFill/>
            <a:prstDash val="solid"/>
          </a:ln>
        </p:spPr>
      </p:sp>
      <p:sp>
        <p:nvSpPr>
          <p:cNvPr id="7" name="矩形 6"/>
          <p:cNvSpPr>
            <a:spLocks noGrp="1"/>
          </p:cNvSpPr>
          <p:nvPr/>
        </p:nvSpPr>
        <p:spPr>
          <a:xfrm>
            <a:off x="504825" y="1219200"/>
            <a:ext cx="2411095" cy="2857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上游核心部件</a:t>
            </a:r>
            <a:endParaRPr sz="1125" b="1">
              <a:solidFill>
                <a:srgbClr val="FFFFFF"/>
              </a:solidFill>
              <a:latin typeface="Noto Sans Hans"/>
              <a:ea typeface="Noto Sans Hans"/>
              <a:cs typeface="Noto Sans Hans"/>
            </a:endParaRPr>
          </a:p>
        </p:txBody>
      </p:sp>
      <p:sp>
        <p:nvSpPr>
          <p:cNvPr id="8" name="矩形 7"/>
          <p:cNvSpPr>
            <a:spLocks noGrp="1"/>
          </p:cNvSpPr>
          <p:nvPr/>
        </p:nvSpPr>
        <p:spPr>
          <a:xfrm>
            <a:off x="3082290" y="1181100"/>
            <a:ext cx="5737860" cy="361950"/>
          </a:xfrm>
          <a:prstGeom prst="rect">
            <a:avLst/>
          </a:prstGeom>
          <a:solidFill>
            <a:srgbClr val="C94A27"/>
          </a:solidFill>
          <a:ln w="0">
            <a:noFill/>
            <a:prstDash val="solid"/>
          </a:ln>
        </p:spPr>
      </p:sp>
      <p:sp>
        <p:nvSpPr>
          <p:cNvPr id="9" name="矩形 8"/>
          <p:cNvSpPr>
            <a:spLocks noGrp="1"/>
          </p:cNvSpPr>
          <p:nvPr/>
        </p:nvSpPr>
        <p:spPr>
          <a:xfrm>
            <a:off x="3057525" y="1219200"/>
            <a:ext cx="5715000" cy="2857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中游整机与解决方案</a:t>
            </a:r>
            <a:endParaRPr sz="1125" b="1">
              <a:solidFill>
                <a:srgbClr val="FFFFFF"/>
              </a:solidFill>
              <a:latin typeface="Noto Sans Hans"/>
              <a:ea typeface="Noto Sans Hans"/>
              <a:cs typeface="Noto Sans Hans"/>
            </a:endParaRPr>
          </a:p>
        </p:txBody>
      </p:sp>
      <p:sp>
        <p:nvSpPr>
          <p:cNvPr id="10" name="矩形 9"/>
          <p:cNvSpPr>
            <a:spLocks noGrp="1"/>
          </p:cNvSpPr>
          <p:nvPr/>
        </p:nvSpPr>
        <p:spPr>
          <a:xfrm>
            <a:off x="8896350" y="1181100"/>
            <a:ext cx="2838450" cy="361950"/>
          </a:xfrm>
          <a:prstGeom prst="rect">
            <a:avLst/>
          </a:prstGeom>
          <a:solidFill>
            <a:srgbClr val="8F6900"/>
          </a:solidFill>
          <a:ln w="0">
            <a:noFill/>
            <a:prstDash val="solid"/>
          </a:ln>
        </p:spPr>
      </p:sp>
      <p:sp>
        <p:nvSpPr>
          <p:cNvPr id="11" name="矩形 10"/>
          <p:cNvSpPr>
            <a:spLocks noGrp="1"/>
          </p:cNvSpPr>
          <p:nvPr/>
        </p:nvSpPr>
        <p:spPr>
          <a:xfrm>
            <a:off x="8943975" y="1219200"/>
            <a:ext cx="2743200" cy="28575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125" b="1">
                <a:solidFill>
                  <a:srgbClr val="FFFFFF"/>
                </a:solidFill>
                <a:latin typeface="Noto Sans Hans"/>
                <a:ea typeface="Noto Sans Hans"/>
                <a:cs typeface="Noto Sans Hans"/>
              </a:rPr>
              <a:t>下游应用与运营协同</a:t>
            </a:r>
            <a:endParaRPr sz="1125" b="1">
              <a:solidFill>
                <a:srgbClr val="FFFFFF"/>
              </a:solidFill>
              <a:latin typeface="Noto Sans Hans"/>
              <a:ea typeface="Noto Sans Hans"/>
              <a:cs typeface="Noto Sans Hans"/>
            </a:endParaRPr>
          </a:p>
        </p:txBody>
      </p:sp>
      <p:sp>
        <p:nvSpPr>
          <p:cNvPr id="12" name="矩形 11"/>
          <p:cNvSpPr>
            <a:spLocks noGrp="1"/>
          </p:cNvSpPr>
          <p:nvPr/>
        </p:nvSpPr>
        <p:spPr>
          <a:xfrm>
            <a:off x="457200" y="1628775"/>
            <a:ext cx="1200150" cy="1466850"/>
          </a:xfrm>
          <a:prstGeom prst="rect">
            <a:avLst/>
          </a:prstGeom>
          <a:solidFill>
            <a:srgbClr val="F7F3F1"/>
          </a:solidFill>
          <a:ln w="9525">
            <a:solidFill>
              <a:srgbClr val="B76D73"/>
            </a:solidFill>
            <a:prstDash val="solid"/>
          </a:ln>
        </p:spPr>
      </p:sp>
      <p:sp>
        <p:nvSpPr>
          <p:cNvPr id="13" name="矩形 12"/>
          <p:cNvSpPr>
            <a:spLocks noGrp="1"/>
          </p:cNvSpPr>
          <p:nvPr/>
        </p:nvSpPr>
        <p:spPr>
          <a:xfrm>
            <a:off x="514350" y="1666875"/>
            <a:ext cx="1085850" cy="247650"/>
          </a:xfrm>
          <a:prstGeom prst="rect">
            <a:avLst/>
          </a:prstGeom>
          <a:noFill/>
          <a:ln w="0">
            <a:noFill/>
            <a:prstDash val="solid"/>
          </a:ln>
        </p:spPr>
        <p:txBody>
          <a:bodyPr wrap="square" lIns="47625" tIns="19050" rIns="47625" bIns="19050" anchor="ctr">
            <a:normAutofit/>
          </a:bodyPr>
          <a:lstStyle/>
          <a:p>
            <a:pPr algn="ctr">
              <a:defRPr sz="975" b="1">
                <a:solidFill>
                  <a:srgbClr val="B76D73"/>
                </a:solidFill>
                <a:latin typeface="Noto Sans Hans"/>
                <a:ea typeface="Noto Sans Hans"/>
                <a:cs typeface="Noto Sans Hans"/>
              </a:defRPr>
            </a:pPr>
            <a:r>
              <a:rPr sz="975" b="1">
                <a:solidFill>
                  <a:srgbClr val="B76D73"/>
                </a:solidFill>
                <a:latin typeface="Noto Sans Hans"/>
                <a:ea typeface="Noto Sans Hans"/>
                <a:cs typeface="Noto Sans Hans"/>
              </a:rPr>
              <a:t>感知与计算</a:t>
            </a:r>
            <a:endParaRPr sz="975" b="1">
              <a:solidFill>
                <a:srgbClr val="B76D73"/>
              </a:solidFill>
              <a:latin typeface="Noto Sans Hans"/>
              <a:ea typeface="Noto Sans Hans"/>
              <a:cs typeface="Noto Sans Hans"/>
            </a:endParaRPr>
          </a:p>
        </p:txBody>
      </p:sp>
      <p:sp>
        <p:nvSpPr>
          <p:cNvPr id="14" name="矩形 13"/>
          <p:cNvSpPr>
            <a:spLocks noGrp="1"/>
          </p:cNvSpPr>
          <p:nvPr/>
        </p:nvSpPr>
        <p:spPr>
          <a:xfrm>
            <a:off x="533400" y="1924050"/>
            <a:ext cx="1047750" cy="9525"/>
          </a:xfrm>
          <a:prstGeom prst="rect">
            <a:avLst/>
          </a:prstGeom>
          <a:solidFill>
            <a:srgbClr val="B76D73"/>
          </a:solidFill>
          <a:ln w="0">
            <a:noFill/>
            <a:prstDash val="solid"/>
          </a:ln>
        </p:spPr>
      </p:sp>
      <p:sp>
        <p:nvSpPr>
          <p:cNvPr id="15" name="矩形 14"/>
          <p:cNvSpPr>
            <a:spLocks noGrp="1"/>
          </p:cNvSpPr>
          <p:nvPr/>
        </p:nvSpPr>
        <p:spPr>
          <a:xfrm>
            <a:off x="542925" y="1990725"/>
            <a:ext cx="1028700" cy="1047750"/>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奥比中光｜华威科</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黑芝麻智能｜灏存科技</a:t>
            </a:r>
            <a:endParaRPr sz="1010" b="0">
              <a:solidFill>
                <a:srgbClr val="403A38"/>
              </a:solidFill>
              <a:latin typeface="Noto Sans Hans"/>
              <a:ea typeface="Noto Sans Hans"/>
              <a:cs typeface="Noto Sans Hans"/>
            </a:endParaRPr>
          </a:p>
        </p:txBody>
      </p:sp>
      <p:sp>
        <p:nvSpPr>
          <p:cNvPr id="16" name="矩形 15"/>
          <p:cNvSpPr>
            <a:spLocks noGrp="1"/>
          </p:cNvSpPr>
          <p:nvPr/>
        </p:nvSpPr>
        <p:spPr>
          <a:xfrm>
            <a:off x="1733550" y="1628775"/>
            <a:ext cx="1200150" cy="1466850"/>
          </a:xfrm>
          <a:prstGeom prst="rect">
            <a:avLst/>
          </a:prstGeom>
          <a:solidFill>
            <a:srgbClr val="F8E5E4"/>
          </a:solidFill>
          <a:ln w="9525">
            <a:solidFill>
              <a:srgbClr val="B76D73"/>
            </a:solidFill>
            <a:prstDash val="solid"/>
          </a:ln>
        </p:spPr>
      </p:sp>
      <p:sp>
        <p:nvSpPr>
          <p:cNvPr id="17" name="矩形 16"/>
          <p:cNvSpPr>
            <a:spLocks noGrp="1"/>
          </p:cNvSpPr>
          <p:nvPr/>
        </p:nvSpPr>
        <p:spPr>
          <a:xfrm>
            <a:off x="1790700" y="1666875"/>
            <a:ext cx="1085850" cy="247650"/>
          </a:xfrm>
          <a:prstGeom prst="rect">
            <a:avLst/>
          </a:prstGeom>
          <a:noFill/>
          <a:ln w="0">
            <a:noFill/>
            <a:prstDash val="solid"/>
          </a:ln>
        </p:spPr>
        <p:txBody>
          <a:bodyPr wrap="square" lIns="47625" tIns="19050" rIns="47625" bIns="19050" anchor="ctr">
            <a:normAutofit/>
          </a:bodyPr>
          <a:lstStyle/>
          <a:p>
            <a:pPr algn="ctr">
              <a:defRPr sz="975" b="1">
                <a:solidFill>
                  <a:srgbClr val="B76D73"/>
                </a:solidFill>
                <a:latin typeface="Noto Sans Hans"/>
                <a:ea typeface="Noto Sans Hans"/>
                <a:cs typeface="Noto Sans Hans"/>
              </a:defRPr>
            </a:pPr>
            <a:r>
              <a:rPr sz="975" b="1">
                <a:solidFill>
                  <a:srgbClr val="B76D73"/>
                </a:solidFill>
                <a:latin typeface="Noto Sans Hans"/>
                <a:ea typeface="Noto Sans Hans"/>
                <a:cs typeface="Noto Sans Hans"/>
              </a:rPr>
              <a:t>驱动与传动</a:t>
            </a:r>
            <a:endParaRPr sz="975" b="1">
              <a:solidFill>
                <a:srgbClr val="B76D73"/>
              </a:solidFill>
              <a:latin typeface="Noto Sans Hans"/>
              <a:ea typeface="Noto Sans Hans"/>
              <a:cs typeface="Noto Sans Hans"/>
            </a:endParaRPr>
          </a:p>
        </p:txBody>
      </p:sp>
      <p:sp>
        <p:nvSpPr>
          <p:cNvPr id="18" name="矩形 17"/>
          <p:cNvSpPr>
            <a:spLocks noGrp="1"/>
          </p:cNvSpPr>
          <p:nvPr/>
        </p:nvSpPr>
        <p:spPr>
          <a:xfrm>
            <a:off x="1809750" y="1924050"/>
            <a:ext cx="1047750" cy="9525"/>
          </a:xfrm>
          <a:prstGeom prst="rect">
            <a:avLst/>
          </a:prstGeom>
          <a:solidFill>
            <a:srgbClr val="B76D73"/>
          </a:solidFill>
          <a:ln w="0">
            <a:noFill/>
            <a:prstDash val="solid"/>
          </a:ln>
        </p:spPr>
      </p:sp>
      <p:sp>
        <p:nvSpPr>
          <p:cNvPr id="19" name="矩形 18"/>
          <p:cNvSpPr>
            <a:spLocks noGrp="1"/>
          </p:cNvSpPr>
          <p:nvPr/>
        </p:nvSpPr>
        <p:spPr>
          <a:xfrm>
            <a:off x="1819275" y="1990725"/>
            <a:ext cx="1038225" cy="1047750"/>
          </a:xfrm>
          <a:prstGeom prst="rect">
            <a:avLst/>
          </a:prstGeom>
          <a:noFill/>
          <a:ln w="0">
            <a:noFill/>
            <a:prstDash val="solid"/>
          </a:ln>
        </p:spPr>
        <p:txBody>
          <a:bodyPr wrap="square" lIns="47625" tIns="19050" rIns="47625" bIns="19050" anchor="t">
            <a:normAutofit lnSpcReduction="20000"/>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科峰传动｜斯微特传动</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万至达电机｜武汉智动力</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元生创新｜汇川技术</a:t>
            </a:r>
            <a:endParaRPr sz="1010" b="0">
              <a:solidFill>
                <a:srgbClr val="403A38"/>
              </a:solidFill>
              <a:latin typeface="Noto Sans Hans"/>
              <a:ea typeface="Noto Sans Hans"/>
              <a:cs typeface="Noto Sans Hans"/>
            </a:endParaRPr>
          </a:p>
        </p:txBody>
      </p:sp>
      <p:sp>
        <p:nvSpPr>
          <p:cNvPr id="20" name="矩形 19"/>
          <p:cNvSpPr>
            <a:spLocks noGrp="1"/>
          </p:cNvSpPr>
          <p:nvPr/>
        </p:nvSpPr>
        <p:spPr>
          <a:xfrm>
            <a:off x="457200" y="3171825"/>
            <a:ext cx="2476500" cy="1352550"/>
          </a:xfrm>
          <a:prstGeom prst="rect">
            <a:avLst/>
          </a:prstGeom>
          <a:solidFill>
            <a:srgbClr val="F5EDDA"/>
          </a:solidFill>
          <a:ln w="9525">
            <a:solidFill>
              <a:srgbClr val="9E3038"/>
            </a:solidFill>
            <a:prstDash val="solid"/>
          </a:ln>
        </p:spPr>
      </p:sp>
      <p:sp>
        <p:nvSpPr>
          <p:cNvPr id="21" name="矩形 20"/>
          <p:cNvSpPr>
            <a:spLocks noGrp="1"/>
          </p:cNvSpPr>
          <p:nvPr/>
        </p:nvSpPr>
        <p:spPr>
          <a:xfrm>
            <a:off x="514350" y="3209925"/>
            <a:ext cx="2362200" cy="247650"/>
          </a:xfrm>
          <a:prstGeom prst="rect">
            <a:avLst/>
          </a:prstGeom>
          <a:noFill/>
          <a:ln w="0">
            <a:noFill/>
            <a:prstDash val="solid"/>
          </a:ln>
        </p:spPr>
        <p:txBody>
          <a:bodyPr wrap="square" lIns="47625" tIns="19050" rIns="47625" bIns="19050" anchor="ctr">
            <a:normAutofit/>
          </a:bodyPr>
          <a:lstStyle/>
          <a:p>
            <a:pPr algn="ctr">
              <a:defRPr sz="975" b="1">
                <a:solidFill>
                  <a:srgbClr val="9E3038"/>
                </a:solidFill>
                <a:latin typeface="Noto Sans Hans"/>
                <a:ea typeface="Noto Sans Hans"/>
                <a:cs typeface="Noto Sans Hans"/>
              </a:defRPr>
            </a:pPr>
            <a:r>
              <a:rPr sz="975" b="1">
                <a:solidFill>
                  <a:srgbClr val="9E3038"/>
                </a:solidFill>
                <a:latin typeface="Noto Sans Hans"/>
                <a:ea typeface="Noto Sans Hans"/>
                <a:cs typeface="Noto Sans Hans"/>
              </a:rPr>
              <a:t>本地补链重点</a:t>
            </a:r>
            <a:endParaRPr sz="975" b="1">
              <a:solidFill>
                <a:srgbClr val="9E3038"/>
              </a:solidFill>
              <a:latin typeface="Noto Sans Hans"/>
              <a:ea typeface="Noto Sans Hans"/>
              <a:cs typeface="Noto Sans Hans"/>
            </a:endParaRPr>
          </a:p>
        </p:txBody>
      </p:sp>
      <p:sp>
        <p:nvSpPr>
          <p:cNvPr id="22" name="矩形 21"/>
          <p:cNvSpPr>
            <a:spLocks noGrp="1"/>
          </p:cNvSpPr>
          <p:nvPr/>
        </p:nvSpPr>
        <p:spPr>
          <a:xfrm>
            <a:off x="533400" y="3467100"/>
            <a:ext cx="2324100" cy="9525"/>
          </a:xfrm>
          <a:prstGeom prst="rect">
            <a:avLst/>
          </a:prstGeom>
          <a:solidFill>
            <a:srgbClr val="9E3038"/>
          </a:solidFill>
          <a:ln w="0">
            <a:noFill/>
            <a:prstDash val="solid"/>
          </a:ln>
        </p:spPr>
      </p:sp>
      <p:sp>
        <p:nvSpPr>
          <p:cNvPr id="23" name="矩形 22"/>
          <p:cNvSpPr>
            <a:spLocks noGrp="1"/>
          </p:cNvSpPr>
          <p:nvPr/>
        </p:nvSpPr>
        <p:spPr>
          <a:xfrm>
            <a:off x="542925" y="3533775"/>
            <a:ext cx="2305050" cy="933450"/>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电子皮肤、空心杯电机、</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一体化关节、运动控制</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适合“投资+扩产+联合验证”</a:t>
            </a:r>
            <a:endParaRPr sz="1010" b="0">
              <a:solidFill>
                <a:srgbClr val="403A38"/>
              </a:solidFill>
              <a:latin typeface="Noto Sans Hans"/>
              <a:ea typeface="Noto Sans Hans"/>
              <a:cs typeface="Noto Sans Hans"/>
            </a:endParaRPr>
          </a:p>
        </p:txBody>
      </p:sp>
      <p:sp>
        <p:nvSpPr>
          <p:cNvPr id="24" name="矩形 23"/>
          <p:cNvSpPr>
            <a:spLocks noGrp="1"/>
          </p:cNvSpPr>
          <p:nvPr/>
        </p:nvSpPr>
        <p:spPr>
          <a:xfrm>
            <a:off x="457200" y="4600575"/>
            <a:ext cx="2476500" cy="1314450"/>
          </a:xfrm>
          <a:prstGeom prst="rect">
            <a:avLst/>
          </a:prstGeom>
          <a:solidFill>
            <a:srgbClr val="F7F3F1"/>
          </a:solidFill>
          <a:ln w="9525">
            <a:solidFill>
              <a:srgbClr val="B76D73"/>
            </a:solidFill>
            <a:prstDash val="solid"/>
          </a:ln>
        </p:spPr>
      </p:sp>
      <p:sp>
        <p:nvSpPr>
          <p:cNvPr id="25" name="矩形 24"/>
          <p:cNvSpPr>
            <a:spLocks noGrp="1"/>
          </p:cNvSpPr>
          <p:nvPr/>
        </p:nvSpPr>
        <p:spPr>
          <a:xfrm>
            <a:off x="514350" y="4638675"/>
            <a:ext cx="2362200" cy="247650"/>
          </a:xfrm>
          <a:prstGeom prst="rect">
            <a:avLst/>
          </a:prstGeom>
          <a:noFill/>
          <a:ln w="0">
            <a:noFill/>
            <a:prstDash val="solid"/>
          </a:ln>
        </p:spPr>
        <p:txBody>
          <a:bodyPr wrap="square" lIns="47625" tIns="19050" rIns="47625" bIns="19050" anchor="ctr">
            <a:normAutofit/>
          </a:bodyPr>
          <a:lstStyle/>
          <a:p>
            <a:pPr algn="ctr">
              <a:defRPr sz="975" b="1">
                <a:solidFill>
                  <a:srgbClr val="B76D73"/>
                </a:solidFill>
                <a:latin typeface="Noto Sans Hans"/>
                <a:ea typeface="Noto Sans Hans"/>
                <a:cs typeface="Noto Sans Hans"/>
              </a:defRPr>
            </a:pPr>
            <a:r>
              <a:rPr sz="975" b="1">
                <a:solidFill>
                  <a:srgbClr val="B76D73"/>
                </a:solidFill>
                <a:latin typeface="Noto Sans Hans"/>
                <a:ea typeface="Noto Sans Hans"/>
                <a:cs typeface="Noto Sans Hans"/>
              </a:rPr>
              <a:t>外部成熟供应商</a:t>
            </a:r>
            <a:endParaRPr sz="975" b="1">
              <a:solidFill>
                <a:srgbClr val="B76D73"/>
              </a:solidFill>
              <a:latin typeface="Noto Sans Hans"/>
              <a:ea typeface="Noto Sans Hans"/>
              <a:cs typeface="Noto Sans Hans"/>
            </a:endParaRPr>
          </a:p>
        </p:txBody>
      </p:sp>
      <p:sp>
        <p:nvSpPr>
          <p:cNvPr id="26" name="矩形 25"/>
          <p:cNvSpPr>
            <a:spLocks noGrp="1"/>
          </p:cNvSpPr>
          <p:nvPr/>
        </p:nvSpPr>
        <p:spPr>
          <a:xfrm>
            <a:off x="533400" y="4895850"/>
            <a:ext cx="2324100" cy="9525"/>
          </a:xfrm>
          <a:prstGeom prst="rect">
            <a:avLst/>
          </a:prstGeom>
          <a:solidFill>
            <a:srgbClr val="B76D73"/>
          </a:solidFill>
          <a:ln w="0">
            <a:noFill/>
            <a:prstDash val="solid"/>
          </a:ln>
        </p:spPr>
      </p:sp>
      <p:sp>
        <p:nvSpPr>
          <p:cNvPr id="27" name="矩形 26"/>
          <p:cNvSpPr>
            <a:spLocks noGrp="1"/>
          </p:cNvSpPr>
          <p:nvPr/>
        </p:nvSpPr>
        <p:spPr>
          <a:xfrm>
            <a:off x="542925" y="4962525"/>
            <a:ext cx="2305050" cy="895350"/>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奥比中光：3D视觉</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汇川技术：伺服与控制</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埃斯顿：运动控制与集成</a:t>
            </a:r>
            <a:endParaRPr sz="1010" b="0">
              <a:solidFill>
                <a:srgbClr val="403A38"/>
              </a:solidFill>
              <a:latin typeface="Noto Sans Hans"/>
              <a:ea typeface="Noto Sans Hans"/>
              <a:cs typeface="Noto Sans Hans"/>
            </a:endParaRPr>
          </a:p>
        </p:txBody>
      </p:sp>
      <p:sp>
        <p:nvSpPr>
          <p:cNvPr id="28" name="矩形 27"/>
          <p:cNvSpPr>
            <a:spLocks noGrp="1"/>
          </p:cNvSpPr>
          <p:nvPr/>
        </p:nvSpPr>
        <p:spPr>
          <a:xfrm>
            <a:off x="3081655" y="1628775"/>
            <a:ext cx="2828925" cy="1409700"/>
          </a:xfrm>
          <a:prstGeom prst="rect">
            <a:avLst/>
          </a:prstGeom>
          <a:solidFill>
            <a:srgbClr val="F8E5E4"/>
          </a:solidFill>
          <a:ln w="9525">
            <a:solidFill>
              <a:srgbClr val="9E3038"/>
            </a:solidFill>
            <a:prstDash val="solid"/>
          </a:ln>
        </p:spPr>
      </p:sp>
      <p:sp>
        <p:nvSpPr>
          <p:cNvPr id="29" name="矩形 28"/>
          <p:cNvSpPr>
            <a:spLocks noGrp="1"/>
          </p:cNvSpPr>
          <p:nvPr/>
        </p:nvSpPr>
        <p:spPr>
          <a:xfrm>
            <a:off x="3138805" y="1666875"/>
            <a:ext cx="2714625" cy="247650"/>
          </a:xfrm>
          <a:prstGeom prst="rect">
            <a:avLst/>
          </a:prstGeom>
          <a:noFill/>
          <a:ln w="0">
            <a:noFill/>
            <a:prstDash val="solid"/>
          </a:ln>
        </p:spPr>
        <p:txBody>
          <a:bodyPr wrap="square" lIns="47625" tIns="19050" rIns="47625" bIns="19050" anchor="ctr">
            <a:normAutofit/>
          </a:bodyPr>
          <a:lstStyle/>
          <a:p>
            <a:pPr algn="ctr">
              <a:defRPr sz="975" b="1">
                <a:solidFill>
                  <a:srgbClr val="9E3038"/>
                </a:solidFill>
                <a:latin typeface="Noto Sans Hans"/>
                <a:ea typeface="Noto Sans Hans"/>
                <a:cs typeface="Noto Sans Hans"/>
              </a:defRPr>
            </a:pPr>
            <a:r>
              <a:rPr sz="975" b="1">
                <a:solidFill>
                  <a:srgbClr val="9E3038"/>
                </a:solidFill>
                <a:latin typeface="Noto Sans Hans"/>
                <a:ea typeface="Noto Sans Hans"/>
                <a:cs typeface="Noto Sans Hans"/>
              </a:rPr>
              <a:t>康复机器人</a:t>
            </a:r>
            <a:endParaRPr sz="975" b="1">
              <a:solidFill>
                <a:srgbClr val="9E3038"/>
              </a:solidFill>
              <a:latin typeface="Noto Sans Hans"/>
              <a:ea typeface="Noto Sans Hans"/>
              <a:cs typeface="Noto Sans Hans"/>
            </a:endParaRPr>
          </a:p>
        </p:txBody>
      </p:sp>
      <p:sp>
        <p:nvSpPr>
          <p:cNvPr id="30" name="矩形 29"/>
          <p:cNvSpPr>
            <a:spLocks noGrp="1"/>
          </p:cNvSpPr>
          <p:nvPr/>
        </p:nvSpPr>
        <p:spPr>
          <a:xfrm>
            <a:off x="3157855" y="1924050"/>
            <a:ext cx="2676525" cy="9525"/>
          </a:xfrm>
          <a:prstGeom prst="rect">
            <a:avLst/>
          </a:prstGeom>
          <a:solidFill>
            <a:srgbClr val="9E3038"/>
          </a:solidFill>
          <a:ln w="0">
            <a:noFill/>
            <a:prstDash val="solid"/>
          </a:ln>
        </p:spPr>
      </p:sp>
      <p:sp>
        <p:nvSpPr>
          <p:cNvPr id="31" name="矩形 30"/>
          <p:cNvSpPr>
            <a:spLocks noGrp="1"/>
          </p:cNvSpPr>
          <p:nvPr/>
        </p:nvSpPr>
        <p:spPr>
          <a:xfrm>
            <a:off x="3167380" y="1990725"/>
            <a:ext cx="2657475" cy="923925"/>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傅利叶智能｜程天科技｜翔宇医疗</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伟思医疗｜司羿智能｜大艾机器人</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迈步机器人｜武汉海沁医疗</a:t>
            </a:r>
            <a:endParaRPr sz="1010" b="0">
              <a:solidFill>
                <a:srgbClr val="403A38"/>
              </a:solidFill>
              <a:latin typeface="Noto Sans Hans"/>
              <a:ea typeface="Noto Sans Hans"/>
              <a:cs typeface="Noto Sans Hans"/>
            </a:endParaRPr>
          </a:p>
        </p:txBody>
      </p:sp>
      <p:sp>
        <p:nvSpPr>
          <p:cNvPr id="32" name="矩形 31"/>
          <p:cNvSpPr>
            <a:spLocks noGrp="1"/>
          </p:cNvSpPr>
          <p:nvPr/>
        </p:nvSpPr>
        <p:spPr>
          <a:xfrm>
            <a:off x="5986780" y="1628775"/>
            <a:ext cx="2828925" cy="1410335"/>
          </a:xfrm>
          <a:prstGeom prst="rect">
            <a:avLst/>
          </a:prstGeom>
          <a:solidFill>
            <a:srgbClr val="F7F3F1"/>
          </a:solidFill>
          <a:ln w="9525">
            <a:solidFill>
              <a:srgbClr val="C94A27"/>
            </a:solidFill>
            <a:prstDash val="solid"/>
          </a:ln>
        </p:spPr>
      </p:sp>
      <p:sp>
        <p:nvSpPr>
          <p:cNvPr id="33" name="矩形 32"/>
          <p:cNvSpPr>
            <a:spLocks noGrp="1"/>
          </p:cNvSpPr>
          <p:nvPr/>
        </p:nvSpPr>
        <p:spPr>
          <a:xfrm>
            <a:off x="6043930" y="1666875"/>
            <a:ext cx="2714625" cy="247650"/>
          </a:xfrm>
          <a:prstGeom prst="rect">
            <a:avLst/>
          </a:prstGeom>
          <a:noFill/>
          <a:ln w="0">
            <a:noFill/>
            <a:prstDash val="solid"/>
          </a:ln>
        </p:spPr>
        <p:txBody>
          <a:bodyPr wrap="square" lIns="47625" tIns="19050" rIns="47625" bIns="19050" anchor="ctr">
            <a:normAutofit/>
          </a:bodyPr>
          <a:lstStyle/>
          <a:p>
            <a:pPr algn="ctr">
              <a:defRPr sz="975" b="1">
                <a:solidFill>
                  <a:srgbClr val="C94A27"/>
                </a:solidFill>
                <a:latin typeface="Noto Sans Hans"/>
                <a:ea typeface="Noto Sans Hans"/>
                <a:cs typeface="Noto Sans Hans"/>
              </a:defRPr>
            </a:pPr>
            <a:r>
              <a:rPr sz="975" b="1">
                <a:solidFill>
                  <a:srgbClr val="C94A27"/>
                </a:solidFill>
                <a:latin typeface="Noto Sans Hans"/>
                <a:ea typeface="Noto Sans Hans"/>
                <a:cs typeface="Noto Sans Hans"/>
              </a:rPr>
              <a:t>失能护理</a:t>
            </a:r>
            <a:endParaRPr sz="975" b="1">
              <a:solidFill>
                <a:srgbClr val="C94A27"/>
              </a:solidFill>
              <a:latin typeface="Noto Sans Hans"/>
              <a:ea typeface="Noto Sans Hans"/>
              <a:cs typeface="Noto Sans Hans"/>
            </a:endParaRPr>
          </a:p>
        </p:txBody>
      </p:sp>
      <p:sp>
        <p:nvSpPr>
          <p:cNvPr id="34" name="矩形 33"/>
          <p:cNvSpPr>
            <a:spLocks noGrp="1"/>
          </p:cNvSpPr>
          <p:nvPr/>
        </p:nvSpPr>
        <p:spPr>
          <a:xfrm>
            <a:off x="6062980" y="1924050"/>
            <a:ext cx="2676525" cy="9525"/>
          </a:xfrm>
          <a:prstGeom prst="rect">
            <a:avLst/>
          </a:prstGeom>
          <a:solidFill>
            <a:srgbClr val="C94A27"/>
          </a:solidFill>
          <a:ln w="0">
            <a:noFill/>
            <a:prstDash val="solid"/>
          </a:ln>
        </p:spPr>
      </p:sp>
      <p:sp>
        <p:nvSpPr>
          <p:cNvPr id="35" name="矩形 34"/>
          <p:cNvSpPr>
            <a:spLocks noGrp="1"/>
          </p:cNvSpPr>
          <p:nvPr/>
        </p:nvSpPr>
        <p:spPr>
          <a:xfrm>
            <a:off x="6072505" y="1990725"/>
            <a:ext cx="2657475" cy="923925"/>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作为科技｜得印科技｜呵康科技</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苏州伊利诺｜广州柔机人｜山东科亿宏</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迪发尔（武汉）｜湖北铠瑞博</a:t>
            </a:r>
            <a:endParaRPr sz="1010" b="0">
              <a:solidFill>
                <a:srgbClr val="403A38"/>
              </a:solidFill>
              <a:latin typeface="Noto Sans Hans"/>
              <a:ea typeface="Noto Sans Hans"/>
              <a:cs typeface="Noto Sans Hans"/>
            </a:endParaRPr>
          </a:p>
        </p:txBody>
      </p:sp>
      <p:sp>
        <p:nvSpPr>
          <p:cNvPr id="36" name="矩形 35"/>
          <p:cNvSpPr>
            <a:spLocks noGrp="1"/>
          </p:cNvSpPr>
          <p:nvPr/>
        </p:nvSpPr>
        <p:spPr>
          <a:xfrm>
            <a:off x="3081655" y="3129280"/>
            <a:ext cx="2828925" cy="1343025"/>
          </a:xfrm>
          <a:prstGeom prst="rect">
            <a:avLst/>
          </a:prstGeom>
          <a:solidFill>
            <a:srgbClr val="F8E5E4"/>
          </a:solidFill>
          <a:ln w="9525">
            <a:solidFill>
              <a:srgbClr val="B76D73"/>
            </a:solidFill>
            <a:prstDash val="solid"/>
          </a:ln>
        </p:spPr>
      </p:sp>
      <p:sp>
        <p:nvSpPr>
          <p:cNvPr id="37" name="矩形 36"/>
          <p:cNvSpPr>
            <a:spLocks noGrp="1"/>
          </p:cNvSpPr>
          <p:nvPr/>
        </p:nvSpPr>
        <p:spPr>
          <a:xfrm>
            <a:off x="3138805" y="3167380"/>
            <a:ext cx="2714625" cy="247650"/>
          </a:xfrm>
          <a:prstGeom prst="rect">
            <a:avLst/>
          </a:prstGeom>
          <a:noFill/>
          <a:ln w="0">
            <a:noFill/>
            <a:prstDash val="solid"/>
          </a:ln>
        </p:spPr>
        <p:txBody>
          <a:bodyPr wrap="square" lIns="47625" tIns="19050" rIns="47625" bIns="19050" anchor="ctr">
            <a:normAutofit/>
          </a:bodyPr>
          <a:lstStyle/>
          <a:p>
            <a:pPr algn="ctr">
              <a:defRPr sz="975" b="1">
                <a:solidFill>
                  <a:srgbClr val="B76D73"/>
                </a:solidFill>
                <a:latin typeface="Noto Sans Hans"/>
                <a:ea typeface="Noto Sans Hans"/>
                <a:cs typeface="Noto Sans Hans"/>
              </a:defRPr>
            </a:pPr>
            <a:r>
              <a:rPr sz="975" b="1">
                <a:solidFill>
                  <a:srgbClr val="B76D73"/>
                </a:solidFill>
                <a:latin typeface="Noto Sans Hans"/>
                <a:ea typeface="Noto Sans Hans"/>
                <a:cs typeface="Noto Sans Hans"/>
              </a:rPr>
              <a:t>陪伴与监测</a:t>
            </a:r>
            <a:endParaRPr sz="975" b="1">
              <a:solidFill>
                <a:srgbClr val="B76D73"/>
              </a:solidFill>
              <a:latin typeface="Noto Sans Hans"/>
              <a:ea typeface="Noto Sans Hans"/>
              <a:cs typeface="Noto Sans Hans"/>
            </a:endParaRPr>
          </a:p>
        </p:txBody>
      </p:sp>
      <p:sp>
        <p:nvSpPr>
          <p:cNvPr id="38" name="矩形 37"/>
          <p:cNvSpPr>
            <a:spLocks noGrp="1"/>
          </p:cNvSpPr>
          <p:nvPr/>
        </p:nvSpPr>
        <p:spPr>
          <a:xfrm>
            <a:off x="3157855" y="3424555"/>
            <a:ext cx="2676525" cy="9525"/>
          </a:xfrm>
          <a:prstGeom prst="rect">
            <a:avLst/>
          </a:prstGeom>
          <a:solidFill>
            <a:srgbClr val="B76D73"/>
          </a:solidFill>
          <a:ln w="0">
            <a:noFill/>
            <a:prstDash val="solid"/>
          </a:ln>
        </p:spPr>
      </p:sp>
      <p:sp>
        <p:nvSpPr>
          <p:cNvPr id="39" name="矩形 38"/>
          <p:cNvSpPr>
            <a:spLocks noGrp="1"/>
          </p:cNvSpPr>
          <p:nvPr/>
        </p:nvSpPr>
        <p:spPr>
          <a:xfrm>
            <a:off x="3167380" y="3491230"/>
            <a:ext cx="2657475" cy="923925"/>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森丽康科技｜艾雨文承｜康伴科技</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萌特博智能｜顶智智造｜杭州创无际</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上海归墟机器人</a:t>
            </a:r>
            <a:endParaRPr sz="1010" b="0">
              <a:solidFill>
                <a:srgbClr val="403A38"/>
              </a:solidFill>
              <a:latin typeface="Noto Sans Hans"/>
              <a:ea typeface="Noto Sans Hans"/>
              <a:cs typeface="Noto Sans Hans"/>
            </a:endParaRPr>
          </a:p>
        </p:txBody>
      </p:sp>
      <p:sp>
        <p:nvSpPr>
          <p:cNvPr id="40" name="矩形 39"/>
          <p:cNvSpPr>
            <a:spLocks noGrp="1"/>
          </p:cNvSpPr>
          <p:nvPr/>
        </p:nvSpPr>
        <p:spPr>
          <a:xfrm>
            <a:off x="5986780" y="3129280"/>
            <a:ext cx="2828925" cy="1343025"/>
          </a:xfrm>
          <a:prstGeom prst="rect">
            <a:avLst/>
          </a:prstGeom>
          <a:solidFill>
            <a:srgbClr val="F7F3F1"/>
          </a:solidFill>
          <a:ln w="9525">
            <a:solidFill>
              <a:srgbClr val="9E3038"/>
            </a:solidFill>
            <a:prstDash val="solid"/>
          </a:ln>
        </p:spPr>
      </p:sp>
      <p:sp>
        <p:nvSpPr>
          <p:cNvPr id="41" name="矩形 40"/>
          <p:cNvSpPr>
            <a:spLocks noGrp="1"/>
          </p:cNvSpPr>
          <p:nvPr/>
        </p:nvSpPr>
        <p:spPr>
          <a:xfrm>
            <a:off x="6043930" y="3167380"/>
            <a:ext cx="2714625" cy="247650"/>
          </a:xfrm>
          <a:prstGeom prst="rect">
            <a:avLst/>
          </a:prstGeom>
          <a:noFill/>
          <a:ln w="0">
            <a:noFill/>
            <a:prstDash val="solid"/>
          </a:ln>
        </p:spPr>
        <p:txBody>
          <a:bodyPr wrap="square" lIns="47625" tIns="19050" rIns="47625" bIns="19050" anchor="ctr">
            <a:normAutofit/>
          </a:bodyPr>
          <a:lstStyle/>
          <a:p>
            <a:pPr algn="ctr">
              <a:defRPr sz="975" b="1">
                <a:solidFill>
                  <a:srgbClr val="9E3038"/>
                </a:solidFill>
                <a:latin typeface="Noto Sans Hans"/>
                <a:ea typeface="Noto Sans Hans"/>
                <a:cs typeface="Noto Sans Hans"/>
              </a:defRPr>
            </a:pPr>
            <a:r>
              <a:rPr sz="975" b="1">
                <a:solidFill>
                  <a:srgbClr val="9E3038"/>
                </a:solidFill>
                <a:latin typeface="Noto Sans Hans"/>
                <a:ea typeface="Noto Sans Hans"/>
                <a:cs typeface="Noto Sans Hans"/>
              </a:rPr>
              <a:t>具身智能/人形</a:t>
            </a:r>
            <a:endParaRPr sz="975" b="1">
              <a:solidFill>
                <a:srgbClr val="9E3038"/>
              </a:solidFill>
              <a:latin typeface="Noto Sans Hans"/>
              <a:ea typeface="Noto Sans Hans"/>
              <a:cs typeface="Noto Sans Hans"/>
            </a:endParaRPr>
          </a:p>
        </p:txBody>
      </p:sp>
      <p:sp>
        <p:nvSpPr>
          <p:cNvPr id="42" name="矩形 41"/>
          <p:cNvSpPr>
            <a:spLocks noGrp="1"/>
          </p:cNvSpPr>
          <p:nvPr/>
        </p:nvSpPr>
        <p:spPr>
          <a:xfrm>
            <a:off x="6062980" y="3424555"/>
            <a:ext cx="2676525" cy="9525"/>
          </a:xfrm>
          <a:prstGeom prst="rect">
            <a:avLst/>
          </a:prstGeom>
          <a:solidFill>
            <a:srgbClr val="9E3038"/>
          </a:solidFill>
          <a:ln w="0">
            <a:noFill/>
            <a:prstDash val="solid"/>
          </a:ln>
        </p:spPr>
      </p:sp>
      <p:sp>
        <p:nvSpPr>
          <p:cNvPr id="43" name="矩形 42"/>
          <p:cNvSpPr>
            <a:spLocks noGrp="1"/>
          </p:cNvSpPr>
          <p:nvPr/>
        </p:nvSpPr>
        <p:spPr>
          <a:xfrm>
            <a:off x="6072505" y="3491230"/>
            <a:ext cx="2657475" cy="923925"/>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优必选｜自变量机器人｜润泽科技</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格蓝若｜荆楚机器人｜湖北启灵</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手智创新｜光谷华汇</a:t>
            </a:r>
            <a:endParaRPr sz="1010" b="0">
              <a:solidFill>
                <a:srgbClr val="403A38"/>
              </a:solidFill>
              <a:latin typeface="Noto Sans Hans"/>
              <a:ea typeface="Noto Sans Hans"/>
              <a:cs typeface="Noto Sans Hans"/>
            </a:endParaRPr>
          </a:p>
        </p:txBody>
      </p:sp>
      <p:sp>
        <p:nvSpPr>
          <p:cNvPr id="44" name="矩形 43"/>
          <p:cNvSpPr>
            <a:spLocks noGrp="1"/>
          </p:cNvSpPr>
          <p:nvPr/>
        </p:nvSpPr>
        <p:spPr>
          <a:xfrm>
            <a:off x="3081655" y="4558030"/>
            <a:ext cx="2828925" cy="1343025"/>
          </a:xfrm>
          <a:prstGeom prst="rect">
            <a:avLst/>
          </a:prstGeom>
          <a:solidFill>
            <a:srgbClr val="F8E5E4"/>
          </a:solidFill>
          <a:ln w="9525">
            <a:solidFill>
              <a:srgbClr val="C94A27"/>
            </a:solidFill>
            <a:prstDash val="solid"/>
          </a:ln>
        </p:spPr>
      </p:sp>
      <p:sp>
        <p:nvSpPr>
          <p:cNvPr id="45" name="矩形 44"/>
          <p:cNvSpPr>
            <a:spLocks noGrp="1"/>
          </p:cNvSpPr>
          <p:nvPr/>
        </p:nvSpPr>
        <p:spPr>
          <a:xfrm>
            <a:off x="3138805" y="4596130"/>
            <a:ext cx="2714625" cy="247650"/>
          </a:xfrm>
          <a:prstGeom prst="rect">
            <a:avLst/>
          </a:prstGeom>
          <a:noFill/>
          <a:ln w="0">
            <a:noFill/>
            <a:prstDash val="solid"/>
          </a:ln>
        </p:spPr>
        <p:txBody>
          <a:bodyPr wrap="square" lIns="47625" tIns="19050" rIns="47625" bIns="19050" anchor="ctr">
            <a:normAutofit/>
          </a:bodyPr>
          <a:lstStyle/>
          <a:p>
            <a:pPr algn="ctr">
              <a:defRPr sz="975" b="1">
                <a:solidFill>
                  <a:srgbClr val="C94A27"/>
                </a:solidFill>
                <a:latin typeface="Noto Sans Hans"/>
                <a:ea typeface="Noto Sans Hans"/>
                <a:cs typeface="Noto Sans Hans"/>
              </a:defRPr>
            </a:pPr>
            <a:r>
              <a:rPr sz="975" b="1">
                <a:solidFill>
                  <a:srgbClr val="C94A27"/>
                </a:solidFill>
                <a:latin typeface="Noto Sans Hans"/>
                <a:ea typeface="Noto Sans Hans"/>
                <a:cs typeface="Noto Sans Hans"/>
              </a:rPr>
              <a:t>通用服务机器人</a:t>
            </a:r>
            <a:endParaRPr sz="975" b="1">
              <a:solidFill>
                <a:srgbClr val="C94A27"/>
              </a:solidFill>
              <a:latin typeface="Noto Sans Hans"/>
              <a:ea typeface="Noto Sans Hans"/>
              <a:cs typeface="Noto Sans Hans"/>
            </a:endParaRPr>
          </a:p>
        </p:txBody>
      </p:sp>
      <p:sp>
        <p:nvSpPr>
          <p:cNvPr id="46" name="矩形 45"/>
          <p:cNvSpPr>
            <a:spLocks noGrp="1"/>
          </p:cNvSpPr>
          <p:nvPr/>
        </p:nvSpPr>
        <p:spPr>
          <a:xfrm>
            <a:off x="3157855" y="4853305"/>
            <a:ext cx="2676525" cy="9525"/>
          </a:xfrm>
          <a:prstGeom prst="rect">
            <a:avLst/>
          </a:prstGeom>
          <a:solidFill>
            <a:srgbClr val="C94A27"/>
          </a:solidFill>
          <a:ln w="0">
            <a:noFill/>
            <a:prstDash val="solid"/>
          </a:ln>
        </p:spPr>
      </p:sp>
      <p:sp>
        <p:nvSpPr>
          <p:cNvPr id="47" name="矩形 46"/>
          <p:cNvSpPr>
            <a:spLocks noGrp="1"/>
          </p:cNvSpPr>
          <p:nvPr/>
        </p:nvSpPr>
        <p:spPr>
          <a:xfrm>
            <a:off x="3167380" y="4919980"/>
            <a:ext cx="2657475" cy="923925"/>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擎朗智能｜普渡机器人｜新松机器人</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珞石机器人｜海尔机器人科技</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福建汉特云</a:t>
            </a:r>
            <a:endParaRPr sz="1010" b="0">
              <a:solidFill>
                <a:srgbClr val="403A38"/>
              </a:solidFill>
              <a:latin typeface="Noto Sans Hans"/>
              <a:ea typeface="Noto Sans Hans"/>
              <a:cs typeface="Noto Sans Hans"/>
            </a:endParaRPr>
          </a:p>
        </p:txBody>
      </p:sp>
      <p:sp>
        <p:nvSpPr>
          <p:cNvPr id="48" name="矩形 47"/>
          <p:cNvSpPr>
            <a:spLocks noGrp="1"/>
          </p:cNvSpPr>
          <p:nvPr/>
        </p:nvSpPr>
        <p:spPr>
          <a:xfrm>
            <a:off x="5986780" y="4558030"/>
            <a:ext cx="2828925" cy="1343025"/>
          </a:xfrm>
          <a:prstGeom prst="rect">
            <a:avLst/>
          </a:prstGeom>
          <a:solidFill>
            <a:srgbClr val="F7F3F1"/>
          </a:solidFill>
          <a:ln w="9525">
            <a:solidFill>
              <a:srgbClr val="B76D73"/>
            </a:solidFill>
            <a:prstDash val="solid"/>
          </a:ln>
        </p:spPr>
      </p:sp>
      <p:sp>
        <p:nvSpPr>
          <p:cNvPr id="49" name="矩形 48"/>
          <p:cNvSpPr>
            <a:spLocks noGrp="1"/>
          </p:cNvSpPr>
          <p:nvPr/>
        </p:nvSpPr>
        <p:spPr>
          <a:xfrm>
            <a:off x="6043930" y="4596130"/>
            <a:ext cx="2714625" cy="247650"/>
          </a:xfrm>
          <a:prstGeom prst="rect">
            <a:avLst/>
          </a:prstGeom>
          <a:noFill/>
          <a:ln w="0">
            <a:noFill/>
            <a:prstDash val="solid"/>
          </a:ln>
        </p:spPr>
        <p:txBody>
          <a:bodyPr wrap="square" lIns="47625" tIns="19050" rIns="47625" bIns="19050" anchor="ctr">
            <a:normAutofit/>
          </a:bodyPr>
          <a:lstStyle/>
          <a:p>
            <a:pPr algn="ctr">
              <a:defRPr sz="975" b="1">
                <a:solidFill>
                  <a:srgbClr val="B76D73"/>
                </a:solidFill>
                <a:latin typeface="Noto Sans Hans"/>
                <a:ea typeface="Noto Sans Hans"/>
                <a:cs typeface="Noto Sans Hans"/>
              </a:defRPr>
            </a:pPr>
            <a:r>
              <a:rPr sz="975" b="1">
                <a:solidFill>
                  <a:srgbClr val="B76D73"/>
                </a:solidFill>
                <a:latin typeface="Noto Sans Hans"/>
                <a:ea typeface="Noto Sans Hans"/>
                <a:cs typeface="Noto Sans Hans"/>
              </a:rPr>
              <a:t>本地康养方案</a:t>
            </a:r>
            <a:endParaRPr sz="975" b="1">
              <a:solidFill>
                <a:srgbClr val="B76D73"/>
              </a:solidFill>
              <a:latin typeface="Noto Sans Hans"/>
              <a:ea typeface="Noto Sans Hans"/>
              <a:cs typeface="Noto Sans Hans"/>
            </a:endParaRPr>
          </a:p>
        </p:txBody>
      </p:sp>
      <p:sp>
        <p:nvSpPr>
          <p:cNvPr id="50" name="矩形 49"/>
          <p:cNvSpPr>
            <a:spLocks noGrp="1"/>
          </p:cNvSpPr>
          <p:nvPr/>
        </p:nvSpPr>
        <p:spPr>
          <a:xfrm>
            <a:off x="6062980" y="4853305"/>
            <a:ext cx="2676525" cy="9525"/>
          </a:xfrm>
          <a:prstGeom prst="rect">
            <a:avLst/>
          </a:prstGeom>
          <a:solidFill>
            <a:srgbClr val="B76D73"/>
          </a:solidFill>
          <a:ln w="0">
            <a:noFill/>
            <a:prstDash val="solid"/>
          </a:ln>
        </p:spPr>
      </p:sp>
      <p:sp>
        <p:nvSpPr>
          <p:cNvPr id="51" name="矩形 50"/>
          <p:cNvSpPr>
            <a:spLocks noGrp="1"/>
          </p:cNvSpPr>
          <p:nvPr/>
        </p:nvSpPr>
        <p:spPr>
          <a:xfrm>
            <a:off x="6072505" y="4919980"/>
            <a:ext cx="2657475" cy="923925"/>
          </a:xfrm>
          <a:prstGeom prst="rect">
            <a:avLst/>
          </a:prstGeom>
          <a:noFill/>
          <a:ln w="0">
            <a:noFill/>
            <a:prstDash val="solid"/>
          </a:ln>
        </p:spPr>
        <p:txBody>
          <a:bodyPr wrap="square" lIns="47625" tIns="19050" rIns="47625" bIns="19050" anchor="t">
            <a:normAutofit/>
          </a:bodyPr>
          <a:lstStyle/>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光谷东智：多机协同康养方案</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武汉沃森拓客：助行外骨骼</a:t>
            </a:r>
            <a:endParaRPr sz="1010" b="0">
              <a:solidFill>
                <a:srgbClr val="403A38"/>
              </a:solidFill>
              <a:latin typeface="Noto Sans Hans"/>
              <a:ea typeface="Noto Sans Hans"/>
              <a:cs typeface="Noto Sans Hans"/>
            </a:endParaRPr>
          </a:p>
          <a:p>
            <a:pPr algn="ctr" eaLnBrk="1" fontAlgn="auto" latinLnBrk="0" hangingPunct="1">
              <a:lnSpc>
                <a:spcPct val="120000"/>
              </a:lnSpc>
              <a:defRPr sz="805" b="0">
                <a:solidFill>
                  <a:srgbClr val="403A38"/>
                </a:solidFill>
                <a:latin typeface="Noto Sans Hans"/>
                <a:ea typeface="Noto Sans Hans"/>
                <a:cs typeface="Noto Sans Hans"/>
              </a:defRPr>
            </a:pPr>
            <a:r>
              <a:rPr sz="1010" b="0">
                <a:solidFill>
                  <a:srgbClr val="403A38"/>
                </a:solidFill>
                <a:latin typeface="Noto Sans Hans"/>
                <a:ea typeface="Noto Sans Hans"/>
                <a:cs typeface="Noto Sans Hans"/>
              </a:rPr>
              <a:t>武汉蒙凯特：医疗机器人</a:t>
            </a:r>
            <a:endParaRPr sz="1010" b="0">
              <a:solidFill>
                <a:srgbClr val="403A38"/>
              </a:solidFill>
              <a:latin typeface="Noto Sans Hans"/>
              <a:ea typeface="Noto Sans Hans"/>
              <a:cs typeface="Noto Sans Hans"/>
            </a:endParaRPr>
          </a:p>
        </p:txBody>
      </p:sp>
      <p:sp>
        <p:nvSpPr>
          <p:cNvPr id="52" name="矩形 51"/>
          <p:cNvSpPr>
            <a:spLocks noGrp="1"/>
          </p:cNvSpPr>
          <p:nvPr/>
        </p:nvSpPr>
        <p:spPr>
          <a:xfrm>
            <a:off x="8896350" y="1628775"/>
            <a:ext cx="2838450" cy="1162050"/>
          </a:xfrm>
          <a:prstGeom prst="rect">
            <a:avLst/>
          </a:prstGeom>
          <a:solidFill>
            <a:srgbClr val="F5EDDA"/>
          </a:solidFill>
          <a:ln w="9525">
            <a:solidFill>
              <a:srgbClr val="8F6900"/>
            </a:solidFill>
            <a:prstDash val="solid"/>
          </a:ln>
        </p:spPr>
      </p:sp>
      <p:sp>
        <p:nvSpPr>
          <p:cNvPr id="53" name="矩形 52"/>
          <p:cNvSpPr>
            <a:spLocks noGrp="1"/>
          </p:cNvSpPr>
          <p:nvPr/>
        </p:nvSpPr>
        <p:spPr>
          <a:xfrm>
            <a:off x="8953500" y="1666875"/>
            <a:ext cx="2724150" cy="247650"/>
          </a:xfrm>
          <a:prstGeom prst="rect">
            <a:avLst/>
          </a:prstGeom>
          <a:noFill/>
          <a:ln w="0">
            <a:noFill/>
            <a:prstDash val="solid"/>
          </a:ln>
        </p:spPr>
        <p:txBody>
          <a:bodyPr wrap="square" lIns="47625" tIns="19050" rIns="47625" bIns="19050" anchor="ctr">
            <a:normAutofit/>
          </a:bodyPr>
          <a:lstStyle/>
          <a:p>
            <a:pPr algn="ctr">
              <a:defRPr sz="975" b="1">
                <a:solidFill>
                  <a:srgbClr val="8F6900"/>
                </a:solidFill>
                <a:latin typeface="Noto Sans Hans"/>
                <a:ea typeface="Noto Sans Hans"/>
                <a:cs typeface="Noto Sans Hans"/>
              </a:defRPr>
            </a:pPr>
            <a:r>
              <a:rPr sz="975" b="1">
                <a:solidFill>
                  <a:srgbClr val="8F6900"/>
                </a:solidFill>
                <a:latin typeface="Noto Sans Hans"/>
                <a:ea typeface="Noto Sans Hans"/>
                <a:cs typeface="Noto Sans Hans"/>
              </a:rPr>
              <a:t>机构与社区场景</a:t>
            </a:r>
            <a:endParaRPr sz="975" b="1">
              <a:solidFill>
                <a:srgbClr val="8F6900"/>
              </a:solidFill>
              <a:latin typeface="Noto Sans Hans"/>
              <a:ea typeface="Noto Sans Hans"/>
              <a:cs typeface="Noto Sans Hans"/>
            </a:endParaRPr>
          </a:p>
        </p:txBody>
      </p:sp>
      <p:sp>
        <p:nvSpPr>
          <p:cNvPr id="54" name="矩形 53"/>
          <p:cNvSpPr>
            <a:spLocks noGrp="1"/>
          </p:cNvSpPr>
          <p:nvPr/>
        </p:nvSpPr>
        <p:spPr>
          <a:xfrm>
            <a:off x="8972550" y="1924050"/>
            <a:ext cx="2686050" cy="9525"/>
          </a:xfrm>
          <a:prstGeom prst="rect">
            <a:avLst/>
          </a:prstGeom>
          <a:solidFill>
            <a:srgbClr val="8F6900"/>
          </a:solidFill>
          <a:ln w="0">
            <a:noFill/>
            <a:prstDash val="solid"/>
          </a:ln>
        </p:spPr>
      </p:sp>
      <p:sp>
        <p:nvSpPr>
          <p:cNvPr id="55" name="矩形 54"/>
          <p:cNvSpPr>
            <a:spLocks noGrp="1"/>
          </p:cNvSpPr>
          <p:nvPr/>
        </p:nvSpPr>
        <p:spPr>
          <a:xfrm>
            <a:off x="8982075" y="1990725"/>
            <a:ext cx="2667000" cy="742950"/>
          </a:xfrm>
          <a:prstGeom prst="rect">
            <a:avLst/>
          </a:prstGeom>
          <a:noFill/>
          <a:ln w="0">
            <a:noFill/>
            <a:prstDash val="solid"/>
          </a:ln>
        </p:spPr>
        <p:txBody>
          <a:bodyPr wrap="square" lIns="47625" tIns="19050" rIns="47625" bIns="19050" anchor="t">
            <a:normAutofit/>
          </a:bodyPr>
          <a:lstStyle/>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武汉城投康养集团</a:t>
            </a:r>
            <a:endParaRPr sz="91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养老机构、社区养老设施</a:t>
            </a:r>
            <a:endParaRPr sz="91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物业与家庭用户入口</a:t>
            </a:r>
            <a:endParaRPr sz="910" b="0">
              <a:solidFill>
                <a:srgbClr val="403A38"/>
              </a:solidFill>
              <a:latin typeface="Noto Sans Hans"/>
              <a:ea typeface="Noto Sans Hans"/>
              <a:cs typeface="Noto Sans Hans"/>
            </a:endParaRPr>
          </a:p>
        </p:txBody>
      </p:sp>
      <p:sp>
        <p:nvSpPr>
          <p:cNvPr id="56" name="矩形 55"/>
          <p:cNvSpPr>
            <a:spLocks noGrp="1"/>
          </p:cNvSpPr>
          <p:nvPr/>
        </p:nvSpPr>
        <p:spPr>
          <a:xfrm>
            <a:off x="8896350" y="2867025"/>
            <a:ext cx="2838450" cy="1009650"/>
          </a:xfrm>
          <a:prstGeom prst="rect">
            <a:avLst/>
          </a:prstGeom>
          <a:solidFill>
            <a:srgbClr val="F7F3F1"/>
          </a:solidFill>
          <a:ln w="9525">
            <a:solidFill>
              <a:srgbClr val="8F6900"/>
            </a:solidFill>
            <a:prstDash val="solid"/>
          </a:ln>
        </p:spPr>
      </p:sp>
      <p:sp>
        <p:nvSpPr>
          <p:cNvPr id="57" name="矩形 56"/>
          <p:cNvSpPr>
            <a:spLocks noGrp="1"/>
          </p:cNvSpPr>
          <p:nvPr/>
        </p:nvSpPr>
        <p:spPr>
          <a:xfrm>
            <a:off x="8953500" y="2905125"/>
            <a:ext cx="2724150" cy="247650"/>
          </a:xfrm>
          <a:prstGeom prst="rect">
            <a:avLst/>
          </a:prstGeom>
          <a:noFill/>
          <a:ln w="0">
            <a:noFill/>
            <a:prstDash val="solid"/>
          </a:ln>
        </p:spPr>
        <p:txBody>
          <a:bodyPr wrap="square" lIns="47625" tIns="19050" rIns="47625" bIns="19050" anchor="ctr">
            <a:normAutofit/>
          </a:bodyPr>
          <a:lstStyle/>
          <a:p>
            <a:pPr algn="ctr">
              <a:defRPr sz="975" b="1">
                <a:solidFill>
                  <a:srgbClr val="8F6900"/>
                </a:solidFill>
                <a:latin typeface="Noto Sans Hans"/>
                <a:ea typeface="Noto Sans Hans"/>
                <a:cs typeface="Noto Sans Hans"/>
              </a:defRPr>
            </a:pPr>
            <a:r>
              <a:rPr sz="975" b="1">
                <a:solidFill>
                  <a:srgbClr val="8F6900"/>
                </a:solidFill>
                <a:latin typeface="Noto Sans Hans"/>
                <a:ea typeface="Noto Sans Hans"/>
                <a:cs typeface="Noto Sans Hans"/>
              </a:rPr>
              <a:t>医疗康复渠道</a:t>
            </a:r>
            <a:endParaRPr sz="975" b="1">
              <a:solidFill>
                <a:srgbClr val="8F6900"/>
              </a:solidFill>
              <a:latin typeface="Noto Sans Hans"/>
              <a:ea typeface="Noto Sans Hans"/>
              <a:cs typeface="Noto Sans Hans"/>
            </a:endParaRPr>
          </a:p>
        </p:txBody>
      </p:sp>
      <p:sp>
        <p:nvSpPr>
          <p:cNvPr id="58" name="矩形 57"/>
          <p:cNvSpPr>
            <a:spLocks noGrp="1"/>
          </p:cNvSpPr>
          <p:nvPr/>
        </p:nvSpPr>
        <p:spPr>
          <a:xfrm>
            <a:off x="8972550" y="3162300"/>
            <a:ext cx="2686050" cy="9525"/>
          </a:xfrm>
          <a:prstGeom prst="rect">
            <a:avLst/>
          </a:prstGeom>
          <a:solidFill>
            <a:srgbClr val="8F6900"/>
          </a:solidFill>
          <a:ln w="0">
            <a:noFill/>
            <a:prstDash val="solid"/>
          </a:ln>
        </p:spPr>
      </p:sp>
      <p:sp>
        <p:nvSpPr>
          <p:cNvPr id="59" name="矩形 58"/>
          <p:cNvSpPr>
            <a:spLocks noGrp="1"/>
          </p:cNvSpPr>
          <p:nvPr/>
        </p:nvSpPr>
        <p:spPr>
          <a:xfrm>
            <a:off x="8982075" y="3228975"/>
            <a:ext cx="2667000" cy="590550"/>
          </a:xfrm>
          <a:prstGeom prst="rect">
            <a:avLst/>
          </a:prstGeom>
          <a:noFill/>
          <a:ln w="0">
            <a:noFill/>
            <a:prstDash val="solid"/>
          </a:ln>
        </p:spPr>
        <p:txBody>
          <a:bodyPr wrap="square" lIns="47625" tIns="19050" rIns="47625" bIns="19050" anchor="t">
            <a:normAutofit/>
          </a:bodyPr>
          <a:lstStyle/>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医院、康复中心、社区卫生</a:t>
            </a:r>
            <a:endParaRPr sz="91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临床验证、注册协同、院端采购</a:t>
            </a:r>
            <a:endParaRPr sz="910" b="0">
              <a:solidFill>
                <a:srgbClr val="403A38"/>
              </a:solidFill>
              <a:latin typeface="Noto Sans Hans"/>
              <a:ea typeface="Noto Sans Hans"/>
              <a:cs typeface="Noto Sans Hans"/>
            </a:endParaRPr>
          </a:p>
        </p:txBody>
      </p:sp>
      <p:sp>
        <p:nvSpPr>
          <p:cNvPr id="60" name="矩形 59"/>
          <p:cNvSpPr>
            <a:spLocks noGrp="1"/>
          </p:cNvSpPr>
          <p:nvPr/>
        </p:nvSpPr>
        <p:spPr>
          <a:xfrm>
            <a:off x="8896350" y="3952875"/>
            <a:ext cx="2838450" cy="1009650"/>
          </a:xfrm>
          <a:prstGeom prst="rect">
            <a:avLst/>
          </a:prstGeom>
          <a:solidFill>
            <a:srgbClr val="F8E5E4"/>
          </a:solidFill>
          <a:ln w="9525">
            <a:solidFill>
              <a:srgbClr val="8F6900"/>
            </a:solidFill>
            <a:prstDash val="solid"/>
          </a:ln>
        </p:spPr>
      </p:sp>
      <p:sp>
        <p:nvSpPr>
          <p:cNvPr id="61" name="矩形 60"/>
          <p:cNvSpPr>
            <a:spLocks noGrp="1"/>
          </p:cNvSpPr>
          <p:nvPr/>
        </p:nvSpPr>
        <p:spPr>
          <a:xfrm>
            <a:off x="8953500" y="3990975"/>
            <a:ext cx="2724150" cy="247650"/>
          </a:xfrm>
          <a:prstGeom prst="rect">
            <a:avLst/>
          </a:prstGeom>
          <a:noFill/>
          <a:ln w="0">
            <a:noFill/>
            <a:prstDash val="solid"/>
          </a:ln>
        </p:spPr>
        <p:txBody>
          <a:bodyPr wrap="square" lIns="47625" tIns="19050" rIns="47625" bIns="19050" anchor="ctr">
            <a:normAutofit/>
          </a:bodyPr>
          <a:lstStyle/>
          <a:p>
            <a:pPr algn="ctr">
              <a:defRPr sz="975" b="1">
                <a:solidFill>
                  <a:srgbClr val="8F6900"/>
                </a:solidFill>
                <a:latin typeface="Noto Sans Hans"/>
                <a:ea typeface="Noto Sans Hans"/>
                <a:cs typeface="Noto Sans Hans"/>
              </a:defRPr>
            </a:pPr>
            <a:r>
              <a:rPr sz="975" b="1">
                <a:solidFill>
                  <a:srgbClr val="8F6900"/>
                </a:solidFill>
                <a:latin typeface="Noto Sans Hans"/>
                <a:ea typeface="Noto Sans Hans"/>
                <a:cs typeface="Noto Sans Hans"/>
              </a:rPr>
              <a:t>平台与运营入口</a:t>
            </a:r>
            <a:endParaRPr sz="975" b="1">
              <a:solidFill>
                <a:srgbClr val="8F6900"/>
              </a:solidFill>
              <a:latin typeface="Noto Sans Hans"/>
              <a:ea typeface="Noto Sans Hans"/>
              <a:cs typeface="Noto Sans Hans"/>
            </a:endParaRPr>
          </a:p>
        </p:txBody>
      </p:sp>
      <p:sp>
        <p:nvSpPr>
          <p:cNvPr id="62" name="矩形 61"/>
          <p:cNvSpPr>
            <a:spLocks noGrp="1"/>
          </p:cNvSpPr>
          <p:nvPr/>
        </p:nvSpPr>
        <p:spPr>
          <a:xfrm>
            <a:off x="8972550" y="4248150"/>
            <a:ext cx="2686050" cy="9525"/>
          </a:xfrm>
          <a:prstGeom prst="rect">
            <a:avLst/>
          </a:prstGeom>
          <a:solidFill>
            <a:srgbClr val="8F6900"/>
          </a:solidFill>
          <a:ln w="0">
            <a:noFill/>
            <a:prstDash val="solid"/>
          </a:ln>
        </p:spPr>
      </p:sp>
      <p:sp>
        <p:nvSpPr>
          <p:cNvPr id="63" name="矩形 62"/>
          <p:cNvSpPr>
            <a:spLocks noGrp="1"/>
          </p:cNvSpPr>
          <p:nvPr/>
        </p:nvSpPr>
        <p:spPr>
          <a:xfrm>
            <a:off x="8982075" y="4314825"/>
            <a:ext cx="2667000" cy="590550"/>
          </a:xfrm>
          <a:prstGeom prst="rect">
            <a:avLst/>
          </a:prstGeom>
          <a:noFill/>
          <a:ln w="0">
            <a:noFill/>
            <a:prstDash val="solid"/>
          </a:ln>
        </p:spPr>
        <p:txBody>
          <a:bodyPr wrap="square" lIns="47625" tIns="19050" rIns="47625" bIns="19050" anchor="t">
            <a:normAutofit/>
          </a:bodyPr>
          <a:lstStyle/>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安养链｜康养运营平台</a:t>
            </a:r>
            <a:endParaRPr sz="91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910" b="0">
                <a:solidFill>
                  <a:srgbClr val="403A38"/>
                </a:solidFill>
                <a:latin typeface="Noto Sans Hans"/>
                <a:ea typeface="Noto Sans Hans"/>
                <a:cs typeface="Noto Sans Hans"/>
              </a:rPr>
              <a:t>设备租赁、按服务付费、用户运营</a:t>
            </a:r>
            <a:endParaRPr sz="910" b="0">
              <a:solidFill>
                <a:srgbClr val="403A38"/>
              </a:solidFill>
              <a:latin typeface="Noto Sans Hans"/>
              <a:ea typeface="Noto Sans Hans"/>
              <a:cs typeface="Noto Sans Hans"/>
            </a:endParaRPr>
          </a:p>
        </p:txBody>
      </p:sp>
      <p:sp>
        <p:nvSpPr>
          <p:cNvPr id="64" name="矩形 63"/>
          <p:cNvSpPr>
            <a:spLocks noGrp="1"/>
          </p:cNvSpPr>
          <p:nvPr/>
        </p:nvSpPr>
        <p:spPr>
          <a:xfrm>
            <a:off x="8896350" y="5038725"/>
            <a:ext cx="2838450" cy="876300"/>
          </a:xfrm>
          <a:prstGeom prst="rect">
            <a:avLst/>
          </a:prstGeom>
          <a:solidFill>
            <a:srgbClr val="F5EDDA"/>
          </a:solidFill>
          <a:ln w="9525">
            <a:solidFill>
              <a:srgbClr val="8E1118"/>
            </a:solidFill>
            <a:prstDash val="solid"/>
          </a:ln>
        </p:spPr>
      </p:sp>
      <p:sp>
        <p:nvSpPr>
          <p:cNvPr id="65" name="矩形 64"/>
          <p:cNvSpPr>
            <a:spLocks noGrp="1"/>
          </p:cNvSpPr>
          <p:nvPr/>
        </p:nvSpPr>
        <p:spPr>
          <a:xfrm>
            <a:off x="8953500" y="5076825"/>
            <a:ext cx="2724150" cy="247650"/>
          </a:xfrm>
          <a:prstGeom prst="rect">
            <a:avLst/>
          </a:prstGeom>
          <a:noFill/>
          <a:ln w="0">
            <a:noFill/>
            <a:prstDash val="solid"/>
          </a:ln>
        </p:spPr>
        <p:txBody>
          <a:bodyPr wrap="square" lIns="47625" tIns="19050" rIns="47625" bIns="19050" anchor="ctr">
            <a:normAutofit/>
          </a:bodyPr>
          <a:lstStyle/>
          <a:p>
            <a:pPr algn="ctr">
              <a:defRPr sz="975" b="1">
                <a:solidFill>
                  <a:srgbClr val="8E1118"/>
                </a:solidFill>
                <a:latin typeface="Noto Sans Hans"/>
                <a:ea typeface="Noto Sans Hans"/>
                <a:cs typeface="Noto Sans Hans"/>
              </a:defRPr>
            </a:pPr>
            <a:r>
              <a:rPr sz="975" b="1">
                <a:solidFill>
                  <a:srgbClr val="8E1118"/>
                </a:solidFill>
                <a:latin typeface="Noto Sans Hans"/>
                <a:ea typeface="Noto Sans Hans"/>
                <a:cs typeface="Noto Sans Hans"/>
              </a:rPr>
              <a:t>优先合作方向</a:t>
            </a:r>
            <a:endParaRPr sz="975" b="1">
              <a:solidFill>
                <a:srgbClr val="8E1118"/>
              </a:solidFill>
              <a:latin typeface="Noto Sans Hans"/>
              <a:ea typeface="Noto Sans Hans"/>
              <a:cs typeface="Noto Sans Hans"/>
            </a:endParaRPr>
          </a:p>
        </p:txBody>
      </p:sp>
      <p:sp>
        <p:nvSpPr>
          <p:cNvPr id="66" name="矩形 65"/>
          <p:cNvSpPr>
            <a:spLocks noGrp="1"/>
          </p:cNvSpPr>
          <p:nvPr/>
        </p:nvSpPr>
        <p:spPr>
          <a:xfrm>
            <a:off x="8972550" y="5334000"/>
            <a:ext cx="2686050" cy="9525"/>
          </a:xfrm>
          <a:prstGeom prst="rect">
            <a:avLst/>
          </a:prstGeom>
          <a:solidFill>
            <a:srgbClr val="8E1118"/>
          </a:solidFill>
          <a:ln w="0">
            <a:noFill/>
            <a:prstDash val="solid"/>
          </a:ln>
        </p:spPr>
      </p:sp>
      <p:sp>
        <p:nvSpPr>
          <p:cNvPr id="67" name="矩形 66"/>
          <p:cNvSpPr>
            <a:spLocks noGrp="1"/>
          </p:cNvSpPr>
          <p:nvPr/>
        </p:nvSpPr>
        <p:spPr>
          <a:xfrm>
            <a:off x="8982075" y="5400675"/>
            <a:ext cx="2667000" cy="457200"/>
          </a:xfrm>
          <a:prstGeom prst="rect">
            <a:avLst/>
          </a:prstGeom>
          <a:noFill/>
          <a:ln w="0">
            <a:noFill/>
            <a:prstDash val="solid"/>
          </a:ln>
        </p:spPr>
        <p:txBody>
          <a:bodyPr wrap="square" lIns="47625" tIns="19050" rIns="47625" bIns="19050" anchor="t"/>
          <a:lstStyle/>
          <a:p>
            <a:pPr algn="ctr">
              <a:defRPr sz="805"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成熟康复：采购+联合中心</a:t>
            </a:r>
            <a:endParaRPr sz="80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护理产品：试点后投资</a:t>
            </a:r>
            <a:endParaRPr sz="80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本地部件：扩产+供应链导入</a:t>
            </a:r>
            <a:endParaRPr sz="800" b="0">
              <a:solidFill>
                <a:srgbClr val="403A38"/>
              </a:solidFill>
              <a:latin typeface="Noto Sans Hans"/>
              <a:ea typeface="Noto Sans Hans"/>
              <a:cs typeface="Noto Sans Hans"/>
            </a:endParaRPr>
          </a:p>
          <a:p>
            <a:pPr algn="ctr">
              <a:defRPr sz="805"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具身智能：低风险任务储备</a:t>
            </a:r>
            <a:endParaRPr sz="800" b="0">
              <a:solidFill>
                <a:srgbClr val="403A38"/>
              </a:solidFill>
              <a:latin typeface="Noto Sans Hans"/>
              <a:ea typeface="Noto Sans Hans"/>
              <a:cs typeface="Noto Sans Hans"/>
            </a:endParaRPr>
          </a:p>
        </p:txBody>
      </p:sp>
      <p:sp>
        <p:nvSpPr>
          <p:cNvPr id="68" name="圆角矩形 67"/>
          <p:cNvSpPr>
            <a:spLocks noGrp="1"/>
          </p:cNvSpPr>
          <p:nvPr/>
        </p:nvSpPr>
        <p:spPr>
          <a:xfrm>
            <a:off x="457200" y="6096000"/>
            <a:ext cx="11277600" cy="323850"/>
          </a:xfrm>
          <a:prstGeom prst="roundRect">
            <a:avLst>
              <a:gd name="adj" fmla="val 5882"/>
            </a:avLst>
          </a:prstGeom>
          <a:solidFill>
            <a:srgbClr val="8E1118"/>
          </a:solidFill>
          <a:ln w="0">
            <a:noFill/>
            <a:prstDash val="solid"/>
          </a:ln>
        </p:spPr>
      </p:sp>
      <p:sp>
        <p:nvSpPr>
          <p:cNvPr id="69" name="矩形 68"/>
          <p:cNvSpPr>
            <a:spLocks noGrp="1"/>
          </p:cNvSpPr>
          <p:nvPr/>
        </p:nvSpPr>
        <p:spPr>
          <a:xfrm>
            <a:off x="552450" y="6134100"/>
            <a:ext cx="11087100" cy="247650"/>
          </a:xfrm>
          <a:prstGeom prst="rect">
            <a:avLst/>
          </a:prstGeom>
          <a:noFill/>
          <a:ln w="0">
            <a:noFill/>
            <a:prstDash val="solid"/>
          </a:ln>
        </p:spPr>
        <p:txBody>
          <a:bodyPr wrap="square" lIns="47625" tIns="19050" rIns="47625" bIns="19050" anchor="ctr">
            <a:normAutofit/>
          </a:bodyPr>
          <a:lstStyle/>
          <a:p>
            <a:pPr algn="ctr">
              <a:defRPr sz="915" b="1">
                <a:solidFill>
                  <a:srgbClr val="FFFFFF"/>
                </a:solidFill>
                <a:latin typeface="Noto Sans Hans"/>
                <a:ea typeface="Noto Sans Hans"/>
                <a:cs typeface="Noto Sans Hans"/>
              </a:defRPr>
            </a:pPr>
            <a:r>
              <a:rPr sz="915" b="1">
                <a:solidFill>
                  <a:srgbClr val="FFFFFF"/>
                </a:solidFill>
                <a:latin typeface="Noto Sans Hans"/>
                <a:ea typeface="Noto Sans Hans"/>
                <a:cs typeface="Noto Sans Hans"/>
              </a:rPr>
              <a:t>企业筛选主线：养老任务适配度 × 产品成熟度 × 资质与安全 × 商业化证据 × 武汉落地协同；国家试点或目录入选不等于形成收入。</a:t>
            </a:r>
            <a:endParaRPr sz="915" b="1">
              <a:solidFill>
                <a:srgbClr val="FFFFFF"/>
              </a:solidFill>
              <a:latin typeface="Noto Sans Hans"/>
              <a:ea typeface="Noto Sans Hans"/>
              <a:cs typeface="Noto Sans Hans"/>
            </a:endParaRPr>
          </a:p>
        </p:txBody>
      </p:sp>
      <p:sp>
        <p:nvSpPr>
          <p:cNvPr id="70" name="矩形 69"/>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资料来源：养老机器人产业增强基础数据库“重点企业”；企业官网、上市公司年报、国家养老机器人试点名单等公开资料。</a:t>
            </a:r>
            <a:endParaRPr sz="715" b="0">
              <a:solidFill>
                <a:srgbClr val="716B68"/>
              </a:solidFill>
              <a:latin typeface="Noto Sans Hans"/>
              <a:ea typeface="Noto Sans Hans"/>
              <a:cs typeface="Noto Sans Hans"/>
            </a:endParaRPr>
          </a:p>
        </p:txBody>
      </p:sp>
      <p:sp>
        <p:nvSpPr>
          <p:cNvPr id="71" name="矩形 70"/>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15</a:t>
            </a:r>
            <a:endParaRPr sz="900" b="1">
              <a:solidFill>
                <a:srgbClr val="D00914"/>
              </a:solidFill>
              <a:latin typeface="Noto Sans Hans"/>
              <a:ea typeface="Noto Sans Hans"/>
              <a:cs typeface="Noto Sans H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【企业筛选】</a:t>
            </a:r>
            <a:r>
              <a:rPr sz="2025" b="1">
                <a:solidFill>
                  <a:srgbClr val="403A38"/>
                </a:solidFill>
                <a:latin typeface="Noto Sans Hans"/>
                <a:ea typeface="Noto Sans Hans"/>
                <a:cs typeface="Noto Sans Hans"/>
              </a:rPr>
              <a:t>优先形成“成熟平台合作、本地企业培育、护理产品试点、核心部件补链”四类项目池</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首轮建议聚焦12家代表企业，采用不同合作路径，避免用同一套财务标准评价早期技术企业和成熟上市公司</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181100"/>
            <a:ext cx="11277600" cy="400050"/>
          </a:xfrm>
          <a:prstGeom prst="rect">
            <a:avLst/>
          </a:prstGeom>
          <a:solidFill>
            <a:srgbClr val="8E1118"/>
          </a:solidFill>
          <a:ln w="0">
            <a:noFill/>
            <a:prstDash val="solid"/>
          </a:ln>
        </p:spPr>
      </p:sp>
      <p:sp>
        <p:nvSpPr>
          <p:cNvPr id="7" name="矩形 6"/>
          <p:cNvSpPr>
            <a:spLocks noGrp="1"/>
          </p:cNvSpPr>
          <p:nvPr/>
        </p:nvSpPr>
        <p:spPr>
          <a:xfrm>
            <a:off x="552450" y="1219200"/>
            <a:ext cx="1714500" cy="32385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66家基础企业库</a:t>
            </a:r>
            <a:endParaRPr sz="1200" b="1">
              <a:solidFill>
                <a:srgbClr val="FFFFFF"/>
              </a:solidFill>
              <a:latin typeface="Noto Sans Hans"/>
              <a:ea typeface="Noto Sans Hans"/>
              <a:cs typeface="Noto Sans Hans"/>
            </a:endParaRPr>
          </a:p>
        </p:txBody>
      </p:sp>
      <p:sp>
        <p:nvSpPr>
          <p:cNvPr id="8" name="矩形 7"/>
          <p:cNvSpPr>
            <a:spLocks noGrp="1"/>
          </p:cNvSpPr>
          <p:nvPr/>
        </p:nvSpPr>
        <p:spPr>
          <a:xfrm>
            <a:off x="2286000" y="1219200"/>
            <a:ext cx="428625" cy="32385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9" name="矩形 8"/>
          <p:cNvSpPr>
            <a:spLocks noGrp="1"/>
          </p:cNvSpPr>
          <p:nvPr/>
        </p:nvSpPr>
        <p:spPr>
          <a:xfrm>
            <a:off x="2724150" y="1219200"/>
            <a:ext cx="4762500" cy="32385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32项国家试点线索 + 武汉本地产业链 + 上市公司年报</a:t>
            </a:r>
            <a:endParaRPr sz="1080" b="1">
              <a:solidFill>
                <a:srgbClr val="FFFFFF"/>
              </a:solidFill>
              <a:latin typeface="Noto Sans Hans"/>
              <a:ea typeface="Noto Sans Hans"/>
              <a:cs typeface="Noto Sans Hans"/>
            </a:endParaRPr>
          </a:p>
        </p:txBody>
      </p:sp>
      <p:sp>
        <p:nvSpPr>
          <p:cNvPr id="10" name="矩形 9"/>
          <p:cNvSpPr>
            <a:spLocks noGrp="1"/>
          </p:cNvSpPr>
          <p:nvPr/>
        </p:nvSpPr>
        <p:spPr>
          <a:xfrm>
            <a:off x="7524750" y="1219200"/>
            <a:ext cx="428625" cy="32385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11" name="矩形 10"/>
          <p:cNvSpPr>
            <a:spLocks noGrp="1"/>
          </p:cNvSpPr>
          <p:nvPr/>
        </p:nvSpPr>
        <p:spPr>
          <a:xfrm>
            <a:off x="7962900" y="1219200"/>
            <a:ext cx="3676650" cy="32385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首轮12家优先研判企业</a:t>
            </a:r>
            <a:endParaRPr sz="1200" b="1">
              <a:solidFill>
                <a:srgbClr val="FFFFFF"/>
              </a:solidFill>
              <a:latin typeface="Noto Sans Hans"/>
              <a:ea typeface="Noto Sans Hans"/>
              <a:cs typeface="Noto Sans Hans"/>
            </a:endParaRPr>
          </a:p>
        </p:txBody>
      </p:sp>
      <p:sp>
        <p:nvSpPr>
          <p:cNvPr id="12" name="矩形 11"/>
          <p:cNvSpPr>
            <a:spLocks noGrp="1"/>
          </p:cNvSpPr>
          <p:nvPr/>
        </p:nvSpPr>
        <p:spPr>
          <a:xfrm>
            <a:off x="457200" y="1676400"/>
            <a:ext cx="1095375" cy="323850"/>
          </a:xfrm>
          <a:prstGeom prst="rect">
            <a:avLst/>
          </a:prstGeom>
          <a:solidFill>
            <a:srgbClr val="C94A27"/>
          </a:solidFill>
          <a:ln w="9525">
            <a:solidFill>
              <a:srgbClr val="FFFFFF"/>
            </a:solidFill>
            <a:prstDash val="solid"/>
          </a:ln>
        </p:spPr>
      </p:sp>
      <p:sp>
        <p:nvSpPr>
          <p:cNvPr id="13" name="矩形 12"/>
          <p:cNvSpPr>
            <a:spLocks noGrp="1"/>
          </p:cNvSpPr>
          <p:nvPr/>
        </p:nvSpPr>
        <p:spPr>
          <a:xfrm>
            <a:off x="476250" y="1685925"/>
            <a:ext cx="1057275"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企业</a:t>
            </a:r>
            <a:endParaRPr sz="940" b="1">
              <a:solidFill>
                <a:srgbClr val="FFFFFF"/>
              </a:solidFill>
              <a:latin typeface="Noto Sans Hans"/>
              <a:ea typeface="Noto Sans Hans"/>
              <a:cs typeface="Noto Sans Hans"/>
            </a:endParaRPr>
          </a:p>
        </p:txBody>
      </p:sp>
      <p:sp>
        <p:nvSpPr>
          <p:cNvPr id="14" name="矩形 13"/>
          <p:cNvSpPr>
            <a:spLocks noGrp="1"/>
          </p:cNvSpPr>
          <p:nvPr/>
        </p:nvSpPr>
        <p:spPr>
          <a:xfrm>
            <a:off x="1552575" y="1676400"/>
            <a:ext cx="952500" cy="323850"/>
          </a:xfrm>
          <a:prstGeom prst="rect">
            <a:avLst/>
          </a:prstGeom>
          <a:solidFill>
            <a:srgbClr val="C94A27"/>
          </a:solidFill>
          <a:ln w="9525">
            <a:solidFill>
              <a:srgbClr val="FFFFFF"/>
            </a:solidFill>
            <a:prstDash val="solid"/>
          </a:ln>
        </p:spPr>
      </p:sp>
      <p:sp>
        <p:nvSpPr>
          <p:cNvPr id="15" name="矩形 14"/>
          <p:cNvSpPr>
            <a:spLocks noGrp="1"/>
          </p:cNvSpPr>
          <p:nvPr/>
        </p:nvSpPr>
        <p:spPr>
          <a:xfrm>
            <a:off x="1571625" y="1685925"/>
            <a:ext cx="914400"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类型</a:t>
            </a:r>
            <a:endParaRPr sz="940" b="1">
              <a:solidFill>
                <a:srgbClr val="FFFFFF"/>
              </a:solidFill>
              <a:latin typeface="Noto Sans Hans"/>
              <a:ea typeface="Noto Sans Hans"/>
              <a:cs typeface="Noto Sans Hans"/>
            </a:endParaRPr>
          </a:p>
        </p:txBody>
      </p:sp>
      <p:sp>
        <p:nvSpPr>
          <p:cNvPr id="16" name="矩形 15"/>
          <p:cNvSpPr>
            <a:spLocks noGrp="1"/>
          </p:cNvSpPr>
          <p:nvPr/>
        </p:nvSpPr>
        <p:spPr>
          <a:xfrm>
            <a:off x="2505075" y="1676400"/>
            <a:ext cx="1400175" cy="323850"/>
          </a:xfrm>
          <a:prstGeom prst="rect">
            <a:avLst/>
          </a:prstGeom>
          <a:solidFill>
            <a:srgbClr val="C94A27"/>
          </a:solidFill>
          <a:ln w="9525">
            <a:solidFill>
              <a:srgbClr val="FFFFFF"/>
            </a:solidFill>
            <a:prstDash val="solid"/>
          </a:ln>
        </p:spPr>
      </p:sp>
      <p:sp>
        <p:nvSpPr>
          <p:cNvPr id="17" name="矩形 16"/>
          <p:cNvSpPr>
            <a:spLocks noGrp="1"/>
          </p:cNvSpPr>
          <p:nvPr/>
        </p:nvSpPr>
        <p:spPr>
          <a:xfrm>
            <a:off x="2524125" y="1685925"/>
            <a:ext cx="1362075"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代表产品/能力</a:t>
            </a:r>
            <a:endParaRPr sz="940" b="1">
              <a:solidFill>
                <a:srgbClr val="FFFFFF"/>
              </a:solidFill>
              <a:latin typeface="Noto Sans Hans"/>
              <a:ea typeface="Noto Sans Hans"/>
              <a:cs typeface="Noto Sans Hans"/>
            </a:endParaRPr>
          </a:p>
        </p:txBody>
      </p:sp>
      <p:sp>
        <p:nvSpPr>
          <p:cNvPr id="18" name="矩形 17"/>
          <p:cNvSpPr>
            <a:spLocks noGrp="1"/>
          </p:cNvSpPr>
          <p:nvPr/>
        </p:nvSpPr>
        <p:spPr>
          <a:xfrm>
            <a:off x="3905250" y="1676400"/>
            <a:ext cx="1714500" cy="323850"/>
          </a:xfrm>
          <a:prstGeom prst="rect">
            <a:avLst/>
          </a:prstGeom>
          <a:solidFill>
            <a:srgbClr val="C94A27"/>
          </a:solidFill>
          <a:ln w="9525">
            <a:solidFill>
              <a:srgbClr val="FFFFFF"/>
            </a:solidFill>
            <a:prstDash val="solid"/>
          </a:ln>
        </p:spPr>
      </p:sp>
      <p:sp>
        <p:nvSpPr>
          <p:cNvPr id="19" name="矩形 18"/>
          <p:cNvSpPr>
            <a:spLocks noGrp="1"/>
          </p:cNvSpPr>
          <p:nvPr/>
        </p:nvSpPr>
        <p:spPr>
          <a:xfrm>
            <a:off x="3924300" y="1685925"/>
            <a:ext cx="1676400"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公开商业化证据</a:t>
            </a:r>
            <a:endParaRPr sz="940" b="1">
              <a:solidFill>
                <a:srgbClr val="FFFFFF"/>
              </a:solidFill>
              <a:latin typeface="Noto Sans Hans"/>
              <a:ea typeface="Noto Sans Hans"/>
              <a:cs typeface="Noto Sans Hans"/>
            </a:endParaRPr>
          </a:p>
        </p:txBody>
      </p:sp>
      <p:sp>
        <p:nvSpPr>
          <p:cNvPr id="20" name="矩形 19"/>
          <p:cNvSpPr>
            <a:spLocks noGrp="1"/>
          </p:cNvSpPr>
          <p:nvPr/>
        </p:nvSpPr>
        <p:spPr>
          <a:xfrm>
            <a:off x="5619750" y="1676400"/>
            <a:ext cx="1666875" cy="323850"/>
          </a:xfrm>
          <a:prstGeom prst="rect">
            <a:avLst/>
          </a:prstGeom>
          <a:solidFill>
            <a:srgbClr val="C94A27"/>
          </a:solidFill>
          <a:ln w="9525">
            <a:solidFill>
              <a:srgbClr val="FFFFFF"/>
            </a:solidFill>
            <a:prstDash val="solid"/>
          </a:ln>
        </p:spPr>
      </p:sp>
      <p:sp>
        <p:nvSpPr>
          <p:cNvPr id="21" name="矩形 20"/>
          <p:cNvSpPr>
            <a:spLocks noGrp="1"/>
          </p:cNvSpPr>
          <p:nvPr/>
        </p:nvSpPr>
        <p:spPr>
          <a:xfrm>
            <a:off x="5638800" y="1685925"/>
            <a:ext cx="1628775"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武汉协同方式</a:t>
            </a:r>
            <a:endParaRPr sz="940" b="1">
              <a:solidFill>
                <a:srgbClr val="FFFFFF"/>
              </a:solidFill>
              <a:latin typeface="Noto Sans Hans"/>
              <a:ea typeface="Noto Sans Hans"/>
              <a:cs typeface="Noto Sans Hans"/>
            </a:endParaRPr>
          </a:p>
        </p:txBody>
      </p:sp>
      <p:sp>
        <p:nvSpPr>
          <p:cNvPr id="22" name="矩形 21"/>
          <p:cNvSpPr>
            <a:spLocks noGrp="1"/>
          </p:cNvSpPr>
          <p:nvPr/>
        </p:nvSpPr>
        <p:spPr>
          <a:xfrm>
            <a:off x="7286625" y="1676400"/>
            <a:ext cx="1952625" cy="323850"/>
          </a:xfrm>
          <a:prstGeom prst="rect">
            <a:avLst/>
          </a:prstGeom>
          <a:solidFill>
            <a:srgbClr val="C94A27"/>
          </a:solidFill>
          <a:ln w="9525">
            <a:solidFill>
              <a:srgbClr val="FFFFFF"/>
            </a:solidFill>
            <a:prstDash val="solid"/>
          </a:ln>
        </p:spPr>
      </p:sp>
      <p:sp>
        <p:nvSpPr>
          <p:cNvPr id="23" name="矩形 22"/>
          <p:cNvSpPr>
            <a:spLocks noGrp="1"/>
          </p:cNvSpPr>
          <p:nvPr/>
        </p:nvSpPr>
        <p:spPr>
          <a:xfrm>
            <a:off x="7305675" y="1685925"/>
            <a:ext cx="1914525"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主要尽调事项</a:t>
            </a:r>
            <a:endParaRPr sz="940" b="1">
              <a:solidFill>
                <a:srgbClr val="FFFFFF"/>
              </a:solidFill>
              <a:latin typeface="Noto Sans Hans"/>
              <a:ea typeface="Noto Sans Hans"/>
              <a:cs typeface="Noto Sans Hans"/>
            </a:endParaRPr>
          </a:p>
        </p:txBody>
      </p:sp>
      <p:sp>
        <p:nvSpPr>
          <p:cNvPr id="24" name="矩形 23"/>
          <p:cNvSpPr>
            <a:spLocks noGrp="1"/>
          </p:cNvSpPr>
          <p:nvPr/>
        </p:nvSpPr>
        <p:spPr>
          <a:xfrm>
            <a:off x="9239250" y="1676400"/>
            <a:ext cx="2381250" cy="323850"/>
          </a:xfrm>
          <a:prstGeom prst="rect">
            <a:avLst/>
          </a:prstGeom>
          <a:solidFill>
            <a:srgbClr val="C94A27"/>
          </a:solidFill>
          <a:ln w="9525">
            <a:solidFill>
              <a:srgbClr val="FFFFFF"/>
            </a:solidFill>
            <a:prstDash val="solid"/>
          </a:ln>
        </p:spPr>
      </p:sp>
      <p:sp>
        <p:nvSpPr>
          <p:cNvPr id="25" name="矩形 24"/>
          <p:cNvSpPr>
            <a:spLocks noGrp="1"/>
          </p:cNvSpPr>
          <p:nvPr/>
        </p:nvSpPr>
        <p:spPr>
          <a:xfrm>
            <a:off x="9258300" y="1685925"/>
            <a:ext cx="2343150" cy="304800"/>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建议分级 / 当前判断</a:t>
            </a:r>
            <a:endParaRPr sz="940" b="1">
              <a:solidFill>
                <a:srgbClr val="FFFFFF"/>
              </a:solidFill>
              <a:latin typeface="Noto Sans Hans"/>
              <a:ea typeface="Noto Sans Hans"/>
              <a:cs typeface="Noto Sans Hans"/>
            </a:endParaRPr>
          </a:p>
        </p:txBody>
      </p:sp>
      <p:sp>
        <p:nvSpPr>
          <p:cNvPr id="26" name="矩形 25"/>
          <p:cNvSpPr>
            <a:spLocks noGrp="1"/>
          </p:cNvSpPr>
          <p:nvPr/>
        </p:nvSpPr>
        <p:spPr>
          <a:xfrm>
            <a:off x="457200" y="2000250"/>
            <a:ext cx="1095375" cy="340995"/>
          </a:xfrm>
          <a:prstGeom prst="rect">
            <a:avLst/>
          </a:prstGeom>
          <a:solidFill>
            <a:srgbClr val="F8E5E4"/>
          </a:solidFill>
          <a:ln w="9525">
            <a:solidFill>
              <a:srgbClr val="FFFFFF"/>
            </a:solidFill>
            <a:prstDash val="solid"/>
          </a:ln>
        </p:spPr>
      </p:sp>
      <p:sp>
        <p:nvSpPr>
          <p:cNvPr id="27" name="矩形 26"/>
          <p:cNvSpPr>
            <a:spLocks noGrp="1"/>
          </p:cNvSpPr>
          <p:nvPr/>
        </p:nvSpPr>
        <p:spPr>
          <a:xfrm>
            <a:off x="476250" y="2009775"/>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傅利叶智能</a:t>
            </a:r>
            <a:endParaRPr sz="780" b="1">
              <a:solidFill>
                <a:srgbClr val="9E3038"/>
              </a:solidFill>
              <a:latin typeface="Noto Sans Hans"/>
              <a:ea typeface="Noto Sans Hans"/>
              <a:cs typeface="Noto Sans Hans"/>
            </a:endParaRPr>
          </a:p>
        </p:txBody>
      </p:sp>
      <p:sp>
        <p:nvSpPr>
          <p:cNvPr id="28" name="矩形 27"/>
          <p:cNvSpPr>
            <a:spLocks noGrp="1"/>
          </p:cNvSpPr>
          <p:nvPr/>
        </p:nvSpPr>
        <p:spPr>
          <a:xfrm>
            <a:off x="1552575" y="2000250"/>
            <a:ext cx="952500" cy="340995"/>
          </a:xfrm>
          <a:prstGeom prst="rect">
            <a:avLst/>
          </a:prstGeom>
          <a:solidFill>
            <a:srgbClr val="F8E5E4"/>
          </a:solidFill>
          <a:ln w="9525">
            <a:solidFill>
              <a:srgbClr val="FFFFFF"/>
            </a:solidFill>
            <a:prstDash val="solid"/>
          </a:ln>
        </p:spPr>
      </p:sp>
      <p:sp>
        <p:nvSpPr>
          <p:cNvPr id="29" name="矩形 28"/>
          <p:cNvSpPr>
            <a:spLocks noGrp="1"/>
          </p:cNvSpPr>
          <p:nvPr/>
        </p:nvSpPr>
        <p:spPr>
          <a:xfrm>
            <a:off x="1571625" y="2009775"/>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成熟康复平台</a:t>
            </a:r>
            <a:endParaRPr sz="810" b="0">
              <a:solidFill>
                <a:srgbClr val="403A38"/>
              </a:solidFill>
              <a:latin typeface="Noto Sans Hans"/>
              <a:ea typeface="Noto Sans Hans"/>
              <a:cs typeface="Noto Sans Hans"/>
            </a:endParaRPr>
          </a:p>
        </p:txBody>
      </p:sp>
      <p:sp>
        <p:nvSpPr>
          <p:cNvPr id="30" name="矩形 29"/>
          <p:cNvSpPr>
            <a:spLocks noGrp="1"/>
          </p:cNvSpPr>
          <p:nvPr/>
        </p:nvSpPr>
        <p:spPr>
          <a:xfrm>
            <a:off x="2505075" y="2000250"/>
            <a:ext cx="1400175" cy="340995"/>
          </a:xfrm>
          <a:prstGeom prst="rect">
            <a:avLst/>
          </a:prstGeom>
          <a:solidFill>
            <a:srgbClr val="F8E5E4"/>
          </a:solidFill>
          <a:ln w="9525">
            <a:solidFill>
              <a:srgbClr val="FFFFFF"/>
            </a:solidFill>
            <a:prstDash val="solid"/>
          </a:ln>
        </p:spPr>
      </p:sp>
      <p:sp>
        <p:nvSpPr>
          <p:cNvPr id="31" name="矩形 30"/>
          <p:cNvSpPr>
            <a:spLocks noGrp="1"/>
          </p:cNvSpPr>
          <p:nvPr/>
        </p:nvSpPr>
        <p:spPr>
          <a:xfrm>
            <a:off x="2524125" y="2009775"/>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智能康复港、康复机器人</a:t>
            </a:r>
            <a:endParaRPr sz="780" b="0">
              <a:solidFill>
                <a:srgbClr val="403A38"/>
              </a:solidFill>
              <a:latin typeface="Noto Sans Hans"/>
              <a:ea typeface="Noto Sans Hans"/>
              <a:cs typeface="Noto Sans Hans"/>
            </a:endParaRPr>
          </a:p>
        </p:txBody>
      </p:sp>
      <p:sp>
        <p:nvSpPr>
          <p:cNvPr id="32" name="矩形 31"/>
          <p:cNvSpPr>
            <a:spLocks noGrp="1"/>
          </p:cNvSpPr>
          <p:nvPr/>
        </p:nvSpPr>
        <p:spPr>
          <a:xfrm>
            <a:off x="3905250" y="2000250"/>
            <a:ext cx="1714500" cy="340995"/>
          </a:xfrm>
          <a:prstGeom prst="rect">
            <a:avLst/>
          </a:prstGeom>
          <a:solidFill>
            <a:srgbClr val="F8E5E4"/>
          </a:solidFill>
          <a:ln w="9525">
            <a:solidFill>
              <a:srgbClr val="FFFFFF"/>
            </a:solidFill>
            <a:prstDash val="solid"/>
          </a:ln>
        </p:spPr>
      </p:sp>
      <p:sp>
        <p:nvSpPr>
          <p:cNvPr id="33" name="矩形 32"/>
          <p:cNvSpPr>
            <a:spLocks noGrp="1"/>
          </p:cNvSpPr>
          <p:nvPr/>
        </p:nvSpPr>
        <p:spPr>
          <a:xfrm>
            <a:off x="3924300" y="2009775"/>
            <a:ext cx="1676400"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约2000家机构与医院；覆盖40多个国家和地区</a:t>
            </a:r>
            <a:endParaRPr sz="780" b="0">
              <a:solidFill>
                <a:srgbClr val="403A38"/>
              </a:solidFill>
              <a:latin typeface="Noto Sans Hans"/>
              <a:ea typeface="Noto Sans Hans"/>
              <a:cs typeface="Noto Sans Hans"/>
            </a:endParaRPr>
          </a:p>
        </p:txBody>
      </p:sp>
      <p:sp>
        <p:nvSpPr>
          <p:cNvPr id="34" name="矩形 33"/>
          <p:cNvSpPr>
            <a:spLocks noGrp="1"/>
          </p:cNvSpPr>
          <p:nvPr/>
        </p:nvSpPr>
        <p:spPr>
          <a:xfrm>
            <a:off x="5619750" y="2000250"/>
            <a:ext cx="1666875" cy="340995"/>
          </a:xfrm>
          <a:prstGeom prst="rect">
            <a:avLst/>
          </a:prstGeom>
          <a:solidFill>
            <a:srgbClr val="F8E5E4"/>
          </a:solidFill>
          <a:ln w="9525">
            <a:solidFill>
              <a:srgbClr val="FFFFFF"/>
            </a:solidFill>
            <a:prstDash val="solid"/>
          </a:ln>
        </p:spPr>
      </p:sp>
      <p:sp>
        <p:nvSpPr>
          <p:cNvPr id="35" name="矩形 34"/>
          <p:cNvSpPr>
            <a:spLocks noGrp="1"/>
          </p:cNvSpPr>
          <p:nvPr/>
        </p:nvSpPr>
        <p:spPr>
          <a:xfrm>
            <a:off x="5638800" y="2009775"/>
            <a:ext cx="1628775"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区域康复示范中心、股权投资、合资运营</a:t>
            </a:r>
            <a:endParaRPr sz="780" b="0">
              <a:solidFill>
                <a:srgbClr val="403A38"/>
              </a:solidFill>
              <a:latin typeface="Noto Sans Hans"/>
              <a:ea typeface="Noto Sans Hans"/>
              <a:cs typeface="Noto Sans Hans"/>
            </a:endParaRPr>
          </a:p>
        </p:txBody>
      </p:sp>
      <p:sp>
        <p:nvSpPr>
          <p:cNvPr id="36" name="矩形 35"/>
          <p:cNvSpPr>
            <a:spLocks noGrp="1"/>
          </p:cNvSpPr>
          <p:nvPr/>
        </p:nvSpPr>
        <p:spPr>
          <a:xfrm>
            <a:off x="7286625" y="2000250"/>
            <a:ext cx="1952625" cy="340995"/>
          </a:xfrm>
          <a:prstGeom prst="rect">
            <a:avLst/>
          </a:prstGeom>
          <a:solidFill>
            <a:srgbClr val="F8E5E4"/>
          </a:solidFill>
          <a:ln w="9525">
            <a:solidFill>
              <a:srgbClr val="FFFFFF"/>
            </a:solidFill>
            <a:prstDash val="solid"/>
          </a:ln>
        </p:spPr>
      </p:sp>
      <p:sp>
        <p:nvSpPr>
          <p:cNvPr id="37" name="矩形 36"/>
          <p:cNvSpPr>
            <a:spLocks noGrp="1"/>
          </p:cNvSpPr>
          <p:nvPr/>
        </p:nvSpPr>
        <p:spPr>
          <a:xfrm>
            <a:off x="7305675" y="2009775"/>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注册证、收入结构、估值、退出安排</a:t>
            </a:r>
            <a:endParaRPr sz="780" b="0">
              <a:solidFill>
                <a:srgbClr val="403A38"/>
              </a:solidFill>
              <a:latin typeface="Noto Sans Hans"/>
              <a:ea typeface="Noto Sans Hans"/>
              <a:cs typeface="Noto Sans Hans"/>
            </a:endParaRPr>
          </a:p>
        </p:txBody>
      </p:sp>
      <p:sp>
        <p:nvSpPr>
          <p:cNvPr id="38" name="矩形 37"/>
          <p:cNvSpPr>
            <a:spLocks noGrp="1"/>
          </p:cNvSpPr>
          <p:nvPr/>
        </p:nvSpPr>
        <p:spPr>
          <a:xfrm>
            <a:off x="9239250" y="2000250"/>
            <a:ext cx="2381250" cy="340995"/>
          </a:xfrm>
          <a:prstGeom prst="rect">
            <a:avLst/>
          </a:prstGeom>
          <a:solidFill>
            <a:srgbClr val="F5EDDA"/>
          </a:solidFill>
          <a:ln w="9525">
            <a:solidFill>
              <a:srgbClr val="FFFFFF"/>
            </a:solidFill>
            <a:prstDash val="solid"/>
          </a:ln>
        </p:spPr>
      </p:sp>
      <p:sp>
        <p:nvSpPr>
          <p:cNvPr id="39" name="矩形 38"/>
          <p:cNvSpPr>
            <a:spLocks noGrp="1"/>
          </p:cNvSpPr>
          <p:nvPr/>
        </p:nvSpPr>
        <p:spPr>
          <a:xfrm>
            <a:off x="9258300" y="2009775"/>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优先投资/合作</a:t>
            </a:r>
            <a:endParaRPr sz="780" b="1">
              <a:solidFill>
                <a:srgbClr val="9E3038"/>
              </a:solidFill>
              <a:latin typeface="Noto Sans Hans"/>
              <a:ea typeface="Noto Sans Hans"/>
              <a:cs typeface="Noto Sans Hans"/>
            </a:endParaRPr>
          </a:p>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商业基础较强</a:t>
            </a:r>
            <a:endParaRPr sz="780" b="1">
              <a:solidFill>
                <a:srgbClr val="9E3038"/>
              </a:solidFill>
              <a:latin typeface="Noto Sans Hans"/>
              <a:ea typeface="Noto Sans Hans"/>
              <a:cs typeface="Noto Sans Hans"/>
            </a:endParaRPr>
          </a:p>
        </p:txBody>
      </p:sp>
      <p:sp>
        <p:nvSpPr>
          <p:cNvPr id="40" name="矩形 39"/>
          <p:cNvSpPr>
            <a:spLocks noGrp="1"/>
          </p:cNvSpPr>
          <p:nvPr/>
        </p:nvSpPr>
        <p:spPr>
          <a:xfrm>
            <a:off x="457200" y="2341245"/>
            <a:ext cx="1095375" cy="340995"/>
          </a:xfrm>
          <a:prstGeom prst="rect">
            <a:avLst/>
          </a:prstGeom>
          <a:solidFill>
            <a:srgbClr val="F7F3F1"/>
          </a:solidFill>
          <a:ln w="9525">
            <a:solidFill>
              <a:srgbClr val="FFFFFF"/>
            </a:solidFill>
            <a:prstDash val="solid"/>
          </a:ln>
        </p:spPr>
      </p:sp>
      <p:sp>
        <p:nvSpPr>
          <p:cNvPr id="41" name="矩形 40"/>
          <p:cNvSpPr>
            <a:spLocks noGrp="1"/>
          </p:cNvSpPr>
          <p:nvPr/>
        </p:nvSpPr>
        <p:spPr>
          <a:xfrm>
            <a:off x="476250" y="2350770"/>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程天科技</a:t>
            </a:r>
            <a:endParaRPr sz="780" b="1">
              <a:solidFill>
                <a:srgbClr val="9E3038"/>
              </a:solidFill>
              <a:latin typeface="Noto Sans Hans"/>
              <a:ea typeface="Noto Sans Hans"/>
              <a:cs typeface="Noto Sans Hans"/>
            </a:endParaRPr>
          </a:p>
        </p:txBody>
      </p:sp>
      <p:sp>
        <p:nvSpPr>
          <p:cNvPr id="42" name="矩形 41"/>
          <p:cNvSpPr>
            <a:spLocks noGrp="1"/>
          </p:cNvSpPr>
          <p:nvPr/>
        </p:nvSpPr>
        <p:spPr>
          <a:xfrm>
            <a:off x="1552575" y="2341245"/>
            <a:ext cx="952500" cy="340995"/>
          </a:xfrm>
          <a:prstGeom prst="rect">
            <a:avLst/>
          </a:prstGeom>
          <a:solidFill>
            <a:srgbClr val="F7F3F1"/>
          </a:solidFill>
          <a:ln w="9525">
            <a:solidFill>
              <a:srgbClr val="FFFFFF"/>
            </a:solidFill>
            <a:prstDash val="solid"/>
          </a:ln>
        </p:spPr>
      </p:sp>
      <p:sp>
        <p:nvSpPr>
          <p:cNvPr id="43" name="矩形 42"/>
          <p:cNvSpPr>
            <a:spLocks noGrp="1"/>
          </p:cNvSpPr>
          <p:nvPr/>
        </p:nvSpPr>
        <p:spPr>
          <a:xfrm>
            <a:off x="1571625" y="2350770"/>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外骨骼成长企业</a:t>
            </a:r>
            <a:endParaRPr sz="810" b="0">
              <a:solidFill>
                <a:srgbClr val="403A38"/>
              </a:solidFill>
              <a:latin typeface="Noto Sans Hans"/>
              <a:ea typeface="Noto Sans Hans"/>
              <a:cs typeface="Noto Sans Hans"/>
            </a:endParaRPr>
          </a:p>
        </p:txBody>
      </p:sp>
      <p:sp>
        <p:nvSpPr>
          <p:cNvPr id="44" name="矩形 43"/>
          <p:cNvSpPr>
            <a:spLocks noGrp="1"/>
          </p:cNvSpPr>
          <p:nvPr/>
        </p:nvSpPr>
        <p:spPr>
          <a:xfrm>
            <a:off x="2505075" y="2341245"/>
            <a:ext cx="1400175" cy="340995"/>
          </a:xfrm>
          <a:prstGeom prst="rect">
            <a:avLst/>
          </a:prstGeom>
          <a:solidFill>
            <a:srgbClr val="F7F3F1"/>
          </a:solidFill>
          <a:ln w="9525">
            <a:solidFill>
              <a:srgbClr val="FFFFFF"/>
            </a:solidFill>
            <a:prstDash val="solid"/>
          </a:ln>
        </p:spPr>
      </p:sp>
      <p:sp>
        <p:nvSpPr>
          <p:cNvPr id="45" name="矩形 44"/>
          <p:cNvSpPr>
            <a:spLocks noGrp="1"/>
          </p:cNvSpPr>
          <p:nvPr/>
        </p:nvSpPr>
        <p:spPr>
          <a:xfrm>
            <a:off x="2524125" y="2350770"/>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UGO下肢外骨骼</a:t>
            </a:r>
            <a:endParaRPr sz="780" b="0">
              <a:solidFill>
                <a:srgbClr val="403A38"/>
              </a:solidFill>
              <a:latin typeface="Noto Sans Hans"/>
              <a:ea typeface="Noto Sans Hans"/>
              <a:cs typeface="Noto Sans Hans"/>
            </a:endParaRPr>
          </a:p>
        </p:txBody>
      </p:sp>
      <p:sp>
        <p:nvSpPr>
          <p:cNvPr id="46" name="矩形 45"/>
          <p:cNvSpPr>
            <a:spLocks noGrp="1"/>
          </p:cNvSpPr>
          <p:nvPr/>
        </p:nvSpPr>
        <p:spPr>
          <a:xfrm>
            <a:off x="3905250" y="2341245"/>
            <a:ext cx="1714500" cy="340995"/>
          </a:xfrm>
          <a:prstGeom prst="rect">
            <a:avLst/>
          </a:prstGeom>
          <a:solidFill>
            <a:srgbClr val="F7F3F1"/>
          </a:solidFill>
          <a:ln w="9525">
            <a:solidFill>
              <a:srgbClr val="FFFFFF"/>
            </a:solidFill>
            <a:prstDash val="solid"/>
          </a:ln>
        </p:spPr>
      </p:sp>
      <p:sp>
        <p:nvSpPr>
          <p:cNvPr id="47" name="矩形 46"/>
          <p:cNvSpPr>
            <a:spLocks noGrp="1"/>
          </p:cNvSpPr>
          <p:nvPr/>
        </p:nvSpPr>
        <p:spPr>
          <a:xfrm>
            <a:off x="3924300" y="2350770"/>
            <a:ext cx="1676400"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医疗康复与消费级产品线</a:t>
            </a:r>
            <a:endParaRPr sz="780" b="0">
              <a:solidFill>
                <a:srgbClr val="403A38"/>
              </a:solidFill>
              <a:latin typeface="Noto Sans Hans"/>
              <a:ea typeface="Noto Sans Hans"/>
              <a:cs typeface="Noto Sans Hans"/>
            </a:endParaRPr>
          </a:p>
        </p:txBody>
      </p:sp>
      <p:sp>
        <p:nvSpPr>
          <p:cNvPr id="48" name="矩形 47"/>
          <p:cNvSpPr>
            <a:spLocks noGrp="1"/>
          </p:cNvSpPr>
          <p:nvPr/>
        </p:nvSpPr>
        <p:spPr>
          <a:xfrm>
            <a:off x="5619750" y="2341245"/>
            <a:ext cx="1666875" cy="340995"/>
          </a:xfrm>
          <a:prstGeom prst="rect">
            <a:avLst/>
          </a:prstGeom>
          <a:solidFill>
            <a:srgbClr val="F7F3F1"/>
          </a:solidFill>
          <a:ln w="9525">
            <a:solidFill>
              <a:srgbClr val="FFFFFF"/>
            </a:solidFill>
            <a:prstDash val="solid"/>
          </a:ln>
        </p:spPr>
      </p:sp>
      <p:sp>
        <p:nvSpPr>
          <p:cNvPr id="49" name="矩形 48"/>
          <p:cNvSpPr>
            <a:spLocks noGrp="1"/>
          </p:cNvSpPr>
          <p:nvPr/>
        </p:nvSpPr>
        <p:spPr>
          <a:xfrm>
            <a:off x="5638800" y="2350770"/>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临床与养老验证、华中服务中心</a:t>
            </a:r>
            <a:endParaRPr sz="780" b="0">
              <a:solidFill>
                <a:srgbClr val="403A38"/>
              </a:solidFill>
              <a:latin typeface="Noto Sans Hans"/>
              <a:ea typeface="Noto Sans Hans"/>
              <a:cs typeface="Noto Sans Hans"/>
            </a:endParaRPr>
          </a:p>
        </p:txBody>
      </p:sp>
      <p:sp>
        <p:nvSpPr>
          <p:cNvPr id="50" name="矩形 49"/>
          <p:cNvSpPr>
            <a:spLocks noGrp="1"/>
          </p:cNvSpPr>
          <p:nvPr/>
        </p:nvSpPr>
        <p:spPr>
          <a:xfrm>
            <a:off x="7286625" y="2341245"/>
            <a:ext cx="1952625" cy="340995"/>
          </a:xfrm>
          <a:prstGeom prst="rect">
            <a:avLst/>
          </a:prstGeom>
          <a:solidFill>
            <a:srgbClr val="F7F3F1"/>
          </a:solidFill>
          <a:ln w="9525">
            <a:solidFill>
              <a:srgbClr val="FFFFFF"/>
            </a:solidFill>
            <a:prstDash val="solid"/>
          </a:ln>
        </p:spPr>
      </p:sp>
      <p:sp>
        <p:nvSpPr>
          <p:cNvPr id="51" name="矩形 50"/>
          <p:cNvSpPr>
            <a:spLocks noGrp="1"/>
          </p:cNvSpPr>
          <p:nvPr/>
        </p:nvSpPr>
        <p:spPr>
          <a:xfrm>
            <a:off x="7305675" y="2350770"/>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注册证、销量、成本、售后网络</a:t>
            </a:r>
            <a:endParaRPr sz="780" b="0">
              <a:solidFill>
                <a:srgbClr val="403A38"/>
              </a:solidFill>
              <a:latin typeface="Noto Sans Hans"/>
              <a:ea typeface="Noto Sans Hans"/>
              <a:cs typeface="Noto Sans Hans"/>
            </a:endParaRPr>
          </a:p>
        </p:txBody>
      </p:sp>
      <p:sp>
        <p:nvSpPr>
          <p:cNvPr id="52" name="矩形 51"/>
          <p:cNvSpPr>
            <a:spLocks noGrp="1"/>
          </p:cNvSpPr>
          <p:nvPr/>
        </p:nvSpPr>
        <p:spPr>
          <a:xfrm>
            <a:off x="9239250" y="2341245"/>
            <a:ext cx="2381250" cy="340995"/>
          </a:xfrm>
          <a:prstGeom prst="rect">
            <a:avLst/>
          </a:prstGeom>
          <a:solidFill>
            <a:srgbClr val="F5EDDA"/>
          </a:solidFill>
          <a:ln w="9525">
            <a:solidFill>
              <a:srgbClr val="FFFFFF"/>
            </a:solidFill>
            <a:prstDash val="solid"/>
          </a:ln>
        </p:spPr>
      </p:sp>
      <p:sp>
        <p:nvSpPr>
          <p:cNvPr id="53" name="矩形 52"/>
          <p:cNvSpPr>
            <a:spLocks noGrp="1"/>
          </p:cNvSpPr>
          <p:nvPr/>
        </p:nvSpPr>
        <p:spPr>
          <a:xfrm>
            <a:off x="9258300" y="2350770"/>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优先尽调</a:t>
            </a:r>
            <a:endParaRPr sz="780" b="1">
              <a:solidFill>
                <a:srgbClr val="9E3038"/>
              </a:solidFill>
              <a:latin typeface="Noto Sans Hans"/>
              <a:ea typeface="Noto Sans Hans"/>
              <a:cs typeface="Noto Sans Hans"/>
            </a:endParaRPr>
          </a:p>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适合场景验证</a:t>
            </a:r>
            <a:endParaRPr sz="780" b="1">
              <a:solidFill>
                <a:srgbClr val="9E3038"/>
              </a:solidFill>
              <a:latin typeface="Noto Sans Hans"/>
              <a:ea typeface="Noto Sans Hans"/>
              <a:cs typeface="Noto Sans Hans"/>
            </a:endParaRPr>
          </a:p>
        </p:txBody>
      </p:sp>
      <p:sp>
        <p:nvSpPr>
          <p:cNvPr id="54" name="矩形 53"/>
          <p:cNvSpPr>
            <a:spLocks noGrp="1"/>
          </p:cNvSpPr>
          <p:nvPr/>
        </p:nvSpPr>
        <p:spPr>
          <a:xfrm>
            <a:off x="457200" y="2682240"/>
            <a:ext cx="1095375" cy="340995"/>
          </a:xfrm>
          <a:prstGeom prst="rect">
            <a:avLst/>
          </a:prstGeom>
          <a:solidFill>
            <a:srgbClr val="F8E5E4"/>
          </a:solidFill>
          <a:ln w="9525">
            <a:solidFill>
              <a:srgbClr val="FFFFFF"/>
            </a:solidFill>
            <a:prstDash val="solid"/>
          </a:ln>
        </p:spPr>
      </p:sp>
      <p:sp>
        <p:nvSpPr>
          <p:cNvPr id="55" name="矩形 54"/>
          <p:cNvSpPr>
            <a:spLocks noGrp="1"/>
          </p:cNvSpPr>
          <p:nvPr/>
        </p:nvSpPr>
        <p:spPr>
          <a:xfrm>
            <a:off x="476250" y="2691765"/>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翔宇医疗</a:t>
            </a:r>
            <a:endParaRPr sz="780" b="1">
              <a:solidFill>
                <a:srgbClr val="9E3038"/>
              </a:solidFill>
              <a:latin typeface="Noto Sans Hans"/>
              <a:ea typeface="Noto Sans Hans"/>
              <a:cs typeface="Noto Sans Hans"/>
            </a:endParaRPr>
          </a:p>
        </p:txBody>
      </p:sp>
      <p:sp>
        <p:nvSpPr>
          <p:cNvPr id="56" name="矩形 55"/>
          <p:cNvSpPr>
            <a:spLocks noGrp="1"/>
          </p:cNvSpPr>
          <p:nvPr/>
        </p:nvSpPr>
        <p:spPr>
          <a:xfrm>
            <a:off x="1552575" y="2682240"/>
            <a:ext cx="952500" cy="340995"/>
          </a:xfrm>
          <a:prstGeom prst="rect">
            <a:avLst/>
          </a:prstGeom>
          <a:solidFill>
            <a:srgbClr val="F8E5E4"/>
          </a:solidFill>
          <a:ln w="9525">
            <a:solidFill>
              <a:srgbClr val="FFFFFF"/>
            </a:solidFill>
            <a:prstDash val="solid"/>
          </a:ln>
        </p:spPr>
      </p:sp>
      <p:sp>
        <p:nvSpPr>
          <p:cNvPr id="57" name="矩形 56"/>
          <p:cNvSpPr>
            <a:spLocks noGrp="1"/>
          </p:cNvSpPr>
          <p:nvPr/>
        </p:nvSpPr>
        <p:spPr>
          <a:xfrm>
            <a:off x="1571625" y="2691765"/>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上市康复平台</a:t>
            </a:r>
            <a:endParaRPr sz="810" b="0">
              <a:solidFill>
                <a:srgbClr val="403A38"/>
              </a:solidFill>
              <a:latin typeface="Noto Sans Hans"/>
              <a:ea typeface="Noto Sans Hans"/>
              <a:cs typeface="Noto Sans Hans"/>
            </a:endParaRPr>
          </a:p>
        </p:txBody>
      </p:sp>
      <p:sp>
        <p:nvSpPr>
          <p:cNvPr id="58" name="矩形 57"/>
          <p:cNvSpPr>
            <a:spLocks noGrp="1"/>
          </p:cNvSpPr>
          <p:nvPr/>
        </p:nvSpPr>
        <p:spPr>
          <a:xfrm>
            <a:off x="2505075" y="2682240"/>
            <a:ext cx="1400175" cy="340995"/>
          </a:xfrm>
          <a:prstGeom prst="rect">
            <a:avLst/>
          </a:prstGeom>
          <a:solidFill>
            <a:srgbClr val="F8E5E4"/>
          </a:solidFill>
          <a:ln w="9525">
            <a:solidFill>
              <a:srgbClr val="FFFFFF"/>
            </a:solidFill>
            <a:prstDash val="solid"/>
          </a:ln>
        </p:spPr>
      </p:sp>
      <p:sp>
        <p:nvSpPr>
          <p:cNvPr id="59" name="矩形 58"/>
          <p:cNvSpPr>
            <a:spLocks noGrp="1"/>
          </p:cNvSpPr>
          <p:nvPr/>
        </p:nvSpPr>
        <p:spPr>
          <a:xfrm>
            <a:off x="2524125" y="2691765"/>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上/下肢及外骨骼产品</a:t>
            </a:r>
            <a:endParaRPr sz="780" b="0">
              <a:solidFill>
                <a:srgbClr val="403A38"/>
              </a:solidFill>
              <a:latin typeface="Noto Sans Hans"/>
              <a:ea typeface="Noto Sans Hans"/>
              <a:cs typeface="Noto Sans Hans"/>
            </a:endParaRPr>
          </a:p>
        </p:txBody>
      </p:sp>
      <p:sp>
        <p:nvSpPr>
          <p:cNvPr id="60" name="矩形 59"/>
          <p:cNvSpPr>
            <a:spLocks noGrp="1"/>
          </p:cNvSpPr>
          <p:nvPr/>
        </p:nvSpPr>
        <p:spPr>
          <a:xfrm>
            <a:off x="3905250" y="2682240"/>
            <a:ext cx="1714500" cy="340995"/>
          </a:xfrm>
          <a:prstGeom prst="rect">
            <a:avLst/>
          </a:prstGeom>
          <a:solidFill>
            <a:srgbClr val="F8E5E4"/>
          </a:solidFill>
          <a:ln w="9525">
            <a:solidFill>
              <a:srgbClr val="FFFFFF"/>
            </a:solidFill>
            <a:prstDash val="solid"/>
          </a:ln>
        </p:spPr>
      </p:sp>
      <p:sp>
        <p:nvSpPr>
          <p:cNvPr id="61" name="矩形 60"/>
          <p:cNvSpPr>
            <a:spLocks noGrp="1"/>
          </p:cNvSpPr>
          <p:nvPr/>
        </p:nvSpPr>
        <p:spPr>
          <a:xfrm>
            <a:off x="3924300" y="2691765"/>
            <a:ext cx="1676400"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2025主营收入7.41亿元；主营毛利率67.9%</a:t>
            </a:r>
            <a:endParaRPr sz="780" b="0">
              <a:solidFill>
                <a:srgbClr val="403A38"/>
              </a:solidFill>
              <a:latin typeface="Noto Sans Hans"/>
              <a:ea typeface="Noto Sans Hans"/>
              <a:cs typeface="Noto Sans Hans"/>
            </a:endParaRPr>
          </a:p>
        </p:txBody>
      </p:sp>
      <p:sp>
        <p:nvSpPr>
          <p:cNvPr id="62" name="矩形 61"/>
          <p:cNvSpPr>
            <a:spLocks noGrp="1"/>
          </p:cNvSpPr>
          <p:nvPr/>
        </p:nvSpPr>
        <p:spPr>
          <a:xfrm>
            <a:off x="5619750" y="2682240"/>
            <a:ext cx="1666875" cy="340995"/>
          </a:xfrm>
          <a:prstGeom prst="rect">
            <a:avLst/>
          </a:prstGeom>
          <a:solidFill>
            <a:srgbClr val="F8E5E4"/>
          </a:solidFill>
          <a:ln w="9525">
            <a:solidFill>
              <a:srgbClr val="FFFFFF"/>
            </a:solidFill>
            <a:prstDash val="solid"/>
          </a:ln>
        </p:spPr>
      </p:sp>
      <p:sp>
        <p:nvSpPr>
          <p:cNvPr id="63" name="矩形 62"/>
          <p:cNvSpPr>
            <a:spLocks noGrp="1"/>
          </p:cNvSpPr>
          <p:nvPr/>
        </p:nvSpPr>
        <p:spPr>
          <a:xfrm>
            <a:off x="5638800" y="2691765"/>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联合康复中心、渠道与产品合作</a:t>
            </a:r>
            <a:endParaRPr sz="780" b="0">
              <a:solidFill>
                <a:srgbClr val="403A38"/>
              </a:solidFill>
              <a:latin typeface="Noto Sans Hans"/>
              <a:ea typeface="Noto Sans Hans"/>
              <a:cs typeface="Noto Sans Hans"/>
            </a:endParaRPr>
          </a:p>
        </p:txBody>
      </p:sp>
      <p:sp>
        <p:nvSpPr>
          <p:cNvPr id="64" name="矩形 63"/>
          <p:cNvSpPr>
            <a:spLocks noGrp="1"/>
          </p:cNvSpPr>
          <p:nvPr/>
        </p:nvSpPr>
        <p:spPr>
          <a:xfrm>
            <a:off x="7286625" y="2682240"/>
            <a:ext cx="1952625" cy="340995"/>
          </a:xfrm>
          <a:prstGeom prst="rect">
            <a:avLst/>
          </a:prstGeom>
          <a:solidFill>
            <a:srgbClr val="F8E5E4"/>
          </a:solidFill>
          <a:ln w="9525">
            <a:solidFill>
              <a:srgbClr val="FFFFFF"/>
            </a:solidFill>
            <a:prstDash val="solid"/>
          </a:ln>
        </p:spPr>
      </p:sp>
      <p:sp>
        <p:nvSpPr>
          <p:cNvPr id="65" name="矩形 64"/>
          <p:cNvSpPr>
            <a:spLocks noGrp="1"/>
          </p:cNvSpPr>
          <p:nvPr/>
        </p:nvSpPr>
        <p:spPr>
          <a:xfrm>
            <a:off x="7305675" y="2691765"/>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机器人业务占比、院端预算波动</a:t>
            </a:r>
            <a:endParaRPr sz="780" b="0">
              <a:solidFill>
                <a:srgbClr val="403A38"/>
              </a:solidFill>
              <a:latin typeface="Noto Sans Hans"/>
              <a:ea typeface="Noto Sans Hans"/>
              <a:cs typeface="Noto Sans Hans"/>
            </a:endParaRPr>
          </a:p>
        </p:txBody>
      </p:sp>
      <p:sp>
        <p:nvSpPr>
          <p:cNvPr id="66" name="矩形 65"/>
          <p:cNvSpPr>
            <a:spLocks noGrp="1"/>
          </p:cNvSpPr>
          <p:nvPr/>
        </p:nvSpPr>
        <p:spPr>
          <a:xfrm>
            <a:off x="9239250" y="2682240"/>
            <a:ext cx="2381250" cy="340995"/>
          </a:xfrm>
          <a:prstGeom prst="rect">
            <a:avLst/>
          </a:prstGeom>
          <a:solidFill>
            <a:srgbClr val="F5EDDA"/>
          </a:solidFill>
          <a:ln w="9525">
            <a:solidFill>
              <a:srgbClr val="FFFFFF"/>
            </a:solidFill>
            <a:prstDash val="solid"/>
          </a:ln>
        </p:spPr>
      </p:sp>
      <p:sp>
        <p:nvSpPr>
          <p:cNvPr id="67" name="矩形 66"/>
          <p:cNvSpPr>
            <a:spLocks noGrp="1"/>
          </p:cNvSpPr>
          <p:nvPr/>
        </p:nvSpPr>
        <p:spPr>
          <a:xfrm>
            <a:off x="9258300" y="2691765"/>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产业合作</a:t>
            </a:r>
            <a:endParaRPr sz="780" b="1">
              <a:solidFill>
                <a:srgbClr val="9E3038"/>
              </a:solidFill>
              <a:latin typeface="Noto Sans Hans"/>
              <a:ea typeface="Noto Sans Hans"/>
              <a:cs typeface="Noto Sans Hans"/>
            </a:endParaRPr>
          </a:p>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基金配置观察</a:t>
            </a:r>
            <a:endParaRPr sz="780" b="1">
              <a:solidFill>
                <a:srgbClr val="9E3038"/>
              </a:solidFill>
              <a:latin typeface="Noto Sans Hans"/>
              <a:ea typeface="Noto Sans Hans"/>
              <a:cs typeface="Noto Sans Hans"/>
            </a:endParaRPr>
          </a:p>
        </p:txBody>
      </p:sp>
      <p:sp>
        <p:nvSpPr>
          <p:cNvPr id="68" name="矩形 67"/>
          <p:cNvSpPr>
            <a:spLocks noGrp="1"/>
          </p:cNvSpPr>
          <p:nvPr/>
        </p:nvSpPr>
        <p:spPr>
          <a:xfrm>
            <a:off x="457200" y="3023235"/>
            <a:ext cx="1095375" cy="340995"/>
          </a:xfrm>
          <a:prstGeom prst="rect">
            <a:avLst/>
          </a:prstGeom>
          <a:solidFill>
            <a:srgbClr val="F7F3F1"/>
          </a:solidFill>
          <a:ln w="9525">
            <a:solidFill>
              <a:srgbClr val="FFFFFF"/>
            </a:solidFill>
            <a:prstDash val="solid"/>
          </a:ln>
        </p:spPr>
      </p:sp>
      <p:sp>
        <p:nvSpPr>
          <p:cNvPr id="69" name="矩形 68"/>
          <p:cNvSpPr>
            <a:spLocks noGrp="1"/>
          </p:cNvSpPr>
          <p:nvPr/>
        </p:nvSpPr>
        <p:spPr>
          <a:xfrm>
            <a:off x="476250" y="3032760"/>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司羿智能</a:t>
            </a:r>
            <a:endParaRPr sz="780" b="1">
              <a:solidFill>
                <a:srgbClr val="9E3038"/>
              </a:solidFill>
              <a:latin typeface="Noto Sans Hans"/>
              <a:ea typeface="Noto Sans Hans"/>
              <a:cs typeface="Noto Sans Hans"/>
            </a:endParaRPr>
          </a:p>
        </p:txBody>
      </p:sp>
      <p:sp>
        <p:nvSpPr>
          <p:cNvPr id="70" name="矩形 69"/>
          <p:cNvSpPr>
            <a:spLocks noGrp="1"/>
          </p:cNvSpPr>
          <p:nvPr/>
        </p:nvSpPr>
        <p:spPr>
          <a:xfrm>
            <a:off x="1552575" y="3023235"/>
            <a:ext cx="952500" cy="340995"/>
          </a:xfrm>
          <a:prstGeom prst="rect">
            <a:avLst/>
          </a:prstGeom>
          <a:solidFill>
            <a:srgbClr val="F7F3F1"/>
          </a:solidFill>
          <a:ln w="9525">
            <a:solidFill>
              <a:srgbClr val="FFFFFF"/>
            </a:solidFill>
            <a:prstDash val="solid"/>
          </a:ln>
        </p:spPr>
      </p:sp>
      <p:sp>
        <p:nvSpPr>
          <p:cNvPr id="71" name="矩形 70"/>
          <p:cNvSpPr>
            <a:spLocks noGrp="1"/>
          </p:cNvSpPr>
          <p:nvPr/>
        </p:nvSpPr>
        <p:spPr>
          <a:xfrm>
            <a:off x="1571625" y="3032760"/>
            <a:ext cx="91440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软体康复成长企业</a:t>
            </a:r>
            <a:endParaRPr sz="810" b="0">
              <a:solidFill>
                <a:srgbClr val="403A38"/>
              </a:solidFill>
              <a:latin typeface="Noto Sans Hans"/>
              <a:ea typeface="Noto Sans Hans"/>
              <a:cs typeface="Noto Sans Hans"/>
            </a:endParaRPr>
          </a:p>
        </p:txBody>
      </p:sp>
      <p:sp>
        <p:nvSpPr>
          <p:cNvPr id="72" name="矩形 71"/>
          <p:cNvSpPr>
            <a:spLocks noGrp="1"/>
          </p:cNvSpPr>
          <p:nvPr/>
        </p:nvSpPr>
        <p:spPr>
          <a:xfrm>
            <a:off x="2505075" y="3023235"/>
            <a:ext cx="1400175" cy="340995"/>
          </a:xfrm>
          <a:prstGeom prst="rect">
            <a:avLst/>
          </a:prstGeom>
          <a:solidFill>
            <a:srgbClr val="F7F3F1"/>
          </a:solidFill>
          <a:ln w="9525">
            <a:solidFill>
              <a:srgbClr val="FFFFFF"/>
            </a:solidFill>
            <a:prstDash val="solid"/>
          </a:ln>
        </p:spPr>
      </p:sp>
      <p:sp>
        <p:nvSpPr>
          <p:cNvPr id="73" name="矩形 72"/>
          <p:cNvSpPr>
            <a:spLocks noGrp="1"/>
          </p:cNvSpPr>
          <p:nvPr/>
        </p:nvSpPr>
        <p:spPr>
          <a:xfrm>
            <a:off x="2524125" y="3032760"/>
            <a:ext cx="1362075"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手功能、脑机接口、软体外骨骼</a:t>
            </a:r>
            <a:endParaRPr sz="780" b="0">
              <a:solidFill>
                <a:srgbClr val="403A38"/>
              </a:solidFill>
              <a:latin typeface="Noto Sans Hans"/>
              <a:ea typeface="Noto Sans Hans"/>
              <a:cs typeface="Noto Sans Hans"/>
            </a:endParaRPr>
          </a:p>
        </p:txBody>
      </p:sp>
      <p:sp>
        <p:nvSpPr>
          <p:cNvPr id="74" name="矩形 73"/>
          <p:cNvSpPr>
            <a:spLocks noGrp="1"/>
          </p:cNvSpPr>
          <p:nvPr/>
        </p:nvSpPr>
        <p:spPr>
          <a:xfrm>
            <a:off x="3905250" y="3023235"/>
            <a:ext cx="1714500" cy="340995"/>
          </a:xfrm>
          <a:prstGeom prst="rect">
            <a:avLst/>
          </a:prstGeom>
          <a:solidFill>
            <a:srgbClr val="F7F3F1"/>
          </a:solidFill>
          <a:ln w="9525">
            <a:solidFill>
              <a:srgbClr val="FFFFFF"/>
            </a:solidFill>
            <a:prstDash val="solid"/>
          </a:ln>
        </p:spPr>
      </p:sp>
      <p:sp>
        <p:nvSpPr>
          <p:cNvPr id="75" name="矩形 74"/>
          <p:cNvSpPr>
            <a:spLocks noGrp="1"/>
          </p:cNvSpPr>
          <p:nvPr/>
        </p:nvSpPr>
        <p:spPr>
          <a:xfrm>
            <a:off x="3924300" y="3032760"/>
            <a:ext cx="1676400"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企业披露覆盖4000余家医院、6万家庭；需审计</a:t>
            </a:r>
            <a:endParaRPr sz="780" b="0">
              <a:solidFill>
                <a:srgbClr val="403A38"/>
              </a:solidFill>
              <a:latin typeface="Noto Sans Hans"/>
              <a:ea typeface="Noto Sans Hans"/>
              <a:cs typeface="Noto Sans Hans"/>
            </a:endParaRPr>
          </a:p>
        </p:txBody>
      </p:sp>
      <p:sp>
        <p:nvSpPr>
          <p:cNvPr id="76" name="矩形 75"/>
          <p:cNvSpPr>
            <a:spLocks noGrp="1"/>
          </p:cNvSpPr>
          <p:nvPr/>
        </p:nvSpPr>
        <p:spPr>
          <a:xfrm>
            <a:off x="5619750" y="3023235"/>
            <a:ext cx="1666875" cy="340995"/>
          </a:xfrm>
          <a:prstGeom prst="rect">
            <a:avLst/>
          </a:prstGeom>
          <a:solidFill>
            <a:srgbClr val="F7F3F1"/>
          </a:solidFill>
          <a:ln w="9525">
            <a:solidFill>
              <a:srgbClr val="FFFFFF"/>
            </a:solidFill>
            <a:prstDash val="solid"/>
          </a:ln>
        </p:spPr>
      </p:sp>
      <p:sp>
        <p:nvSpPr>
          <p:cNvPr id="77" name="矩形 76"/>
          <p:cNvSpPr>
            <a:spLocks noGrp="1"/>
          </p:cNvSpPr>
          <p:nvPr/>
        </p:nvSpPr>
        <p:spPr>
          <a:xfrm>
            <a:off x="5638800" y="3032760"/>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家庭康复试点、华中销售服务</a:t>
            </a:r>
            <a:endParaRPr sz="780" b="0">
              <a:solidFill>
                <a:srgbClr val="403A38"/>
              </a:solidFill>
              <a:latin typeface="Noto Sans Hans"/>
              <a:ea typeface="Noto Sans Hans"/>
              <a:cs typeface="Noto Sans Hans"/>
            </a:endParaRPr>
          </a:p>
        </p:txBody>
      </p:sp>
      <p:sp>
        <p:nvSpPr>
          <p:cNvPr id="78" name="矩形 77"/>
          <p:cNvSpPr>
            <a:spLocks noGrp="1"/>
          </p:cNvSpPr>
          <p:nvPr/>
        </p:nvSpPr>
        <p:spPr>
          <a:xfrm>
            <a:off x="7286625" y="3023235"/>
            <a:ext cx="1952625" cy="340995"/>
          </a:xfrm>
          <a:prstGeom prst="rect">
            <a:avLst/>
          </a:prstGeom>
          <a:solidFill>
            <a:srgbClr val="F7F3F1"/>
          </a:solidFill>
          <a:ln w="9525">
            <a:solidFill>
              <a:srgbClr val="FFFFFF"/>
            </a:solidFill>
            <a:prstDash val="solid"/>
          </a:ln>
        </p:spPr>
      </p:sp>
      <p:sp>
        <p:nvSpPr>
          <p:cNvPr id="79" name="矩形 78"/>
          <p:cNvSpPr>
            <a:spLocks noGrp="1"/>
          </p:cNvSpPr>
          <p:nvPr/>
        </p:nvSpPr>
        <p:spPr>
          <a:xfrm>
            <a:off x="7305675" y="3032760"/>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动销、库存、收入、估值与证照</a:t>
            </a:r>
            <a:endParaRPr sz="780" b="0">
              <a:solidFill>
                <a:srgbClr val="403A38"/>
              </a:solidFill>
              <a:latin typeface="Noto Sans Hans"/>
              <a:ea typeface="Noto Sans Hans"/>
              <a:cs typeface="Noto Sans Hans"/>
            </a:endParaRPr>
          </a:p>
        </p:txBody>
      </p:sp>
      <p:sp>
        <p:nvSpPr>
          <p:cNvPr id="80" name="矩形 79"/>
          <p:cNvSpPr>
            <a:spLocks noGrp="1"/>
          </p:cNvSpPr>
          <p:nvPr/>
        </p:nvSpPr>
        <p:spPr>
          <a:xfrm>
            <a:off x="9239250" y="3023235"/>
            <a:ext cx="2381250" cy="340995"/>
          </a:xfrm>
          <a:prstGeom prst="rect">
            <a:avLst/>
          </a:prstGeom>
          <a:solidFill>
            <a:srgbClr val="F5EDDA"/>
          </a:solidFill>
          <a:ln w="9525">
            <a:solidFill>
              <a:srgbClr val="FFFFFF"/>
            </a:solidFill>
            <a:prstDash val="solid"/>
          </a:ln>
        </p:spPr>
      </p:sp>
      <p:sp>
        <p:nvSpPr>
          <p:cNvPr id="81" name="矩形 80"/>
          <p:cNvSpPr>
            <a:spLocks noGrp="1"/>
          </p:cNvSpPr>
          <p:nvPr/>
        </p:nvSpPr>
        <p:spPr>
          <a:xfrm>
            <a:off x="9258300" y="3032760"/>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优先尽调</a:t>
            </a:r>
            <a:endParaRPr sz="780" b="1">
              <a:solidFill>
                <a:srgbClr val="9E3038"/>
              </a:solidFill>
              <a:latin typeface="Noto Sans Hans"/>
              <a:ea typeface="Noto Sans Hans"/>
              <a:cs typeface="Noto Sans Hans"/>
            </a:endParaRPr>
          </a:p>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家庭康复潜力</a:t>
            </a:r>
            <a:endParaRPr sz="780" b="1">
              <a:solidFill>
                <a:srgbClr val="9E3038"/>
              </a:solidFill>
              <a:latin typeface="Noto Sans Hans"/>
              <a:ea typeface="Noto Sans Hans"/>
              <a:cs typeface="Noto Sans Hans"/>
            </a:endParaRPr>
          </a:p>
        </p:txBody>
      </p:sp>
      <p:sp>
        <p:nvSpPr>
          <p:cNvPr id="82" name="矩形 81"/>
          <p:cNvSpPr>
            <a:spLocks noGrp="1"/>
          </p:cNvSpPr>
          <p:nvPr/>
        </p:nvSpPr>
        <p:spPr>
          <a:xfrm>
            <a:off x="457200" y="3364230"/>
            <a:ext cx="1095375" cy="340995"/>
          </a:xfrm>
          <a:prstGeom prst="rect">
            <a:avLst/>
          </a:prstGeom>
          <a:solidFill>
            <a:srgbClr val="F8E5E4"/>
          </a:solidFill>
          <a:ln w="9525">
            <a:solidFill>
              <a:srgbClr val="FFFFFF"/>
            </a:solidFill>
            <a:prstDash val="solid"/>
          </a:ln>
        </p:spPr>
      </p:sp>
      <p:sp>
        <p:nvSpPr>
          <p:cNvPr id="83" name="矩形 82"/>
          <p:cNvSpPr>
            <a:spLocks noGrp="1"/>
          </p:cNvSpPr>
          <p:nvPr/>
        </p:nvSpPr>
        <p:spPr>
          <a:xfrm>
            <a:off x="476250" y="3373755"/>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作为科技</a:t>
            </a:r>
            <a:endParaRPr sz="780" b="1">
              <a:solidFill>
                <a:srgbClr val="9E3038"/>
              </a:solidFill>
              <a:latin typeface="Noto Sans Hans"/>
              <a:ea typeface="Noto Sans Hans"/>
              <a:cs typeface="Noto Sans Hans"/>
            </a:endParaRPr>
          </a:p>
        </p:txBody>
      </p:sp>
      <p:sp>
        <p:nvSpPr>
          <p:cNvPr id="84" name="矩形 83"/>
          <p:cNvSpPr>
            <a:spLocks noGrp="1"/>
          </p:cNvSpPr>
          <p:nvPr/>
        </p:nvSpPr>
        <p:spPr>
          <a:xfrm>
            <a:off x="1552575" y="3364230"/>
            <a:ext cx="952500" cy="340995"/>
          </a:xfrm>
          <a:prstGeom prst="rect">
            <a:avLst/>
          </a:prstGeom>
          <a:solidFill>
            <a:srgbClr val="F8E5E4"/>
          </a:solidFill>
          <a:ln w="9525">
            <a:solidFill>
              <a:srgbClr val="FFFFFF"/>
            </a:solidFill>
            <a:prstDash val="solid"/>
          </a:ln>
        </p:spPr>
      </p:sp>
      <p:sp>
        <p:nvSpPr>
          <p:cNvPr id="85" name="矩形 84"/>
          <p:cNvSpPr>
            <a:spLocks noGrp="1"/>
          </p:cNvSpPr>
          <p:nvPr/>
        </p:nvSpPr>
        <p:spPr>
          <a:xfrm>
            <a:off x="1571625" y="3373755"/>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失能护理企业</a:t>
            </a:r>
            <a:endParaRPr sz="810" b="0">
              <a:solidFill>
                <a:srgbClr val="403A38"/>
              </a:solidFill>
              <a:latin typeface="Noto Sans Hans"/>
              <a:ea typeface="Noto Sans Hans"/>
              <a:cs typeface="Noto Sans Hans"/>
            </a:endParaRPr>
          </a:p>
        </p:txBody>
      </p:sp>
      <p:sp>
        <p:nvSpPr>
          <p:cNvPr id="86" name="矩形 85"/>
          <p:cNvSpPr>
            <a:spLocks noGrp="1"/>
          </p:cNvSpPr>
          <p:nvPr/>
        </p:nvSpPr>
        <p:spPr>
          <a:xfrm>
            <a:off x="2505075" y="3364230"/>
            <a:ext cx="1400175" cy="340995"/>
          </a:xfrm>
          <a:prstGeom prst="rect">
            <a:avLst/>
          </a:prstGeom>
          <a:solidFill>
            <a:srgbClr val="F8E5E4"/>
          </a:solidFill>
          <a:ln w="9525">
            <a:solidFill>
              <a:srgbClr val="FFFFFF"/>
            </a:solidFill>
            <a:prstDash val="solid"/>
          </a:ln>
        </p:spPr>
      </p:sp>
      <p:sp>
        <p:nvSpPr>
          <p:cNvPr id="87" name="矩形 86"/>
          <p:cNvSpPr>
            <a:spLocks noGrp="1"/>
          </p:cNvSpPr>
          <p:nvPr/>
        </p:nvSpPr>
        <p:spPr>
          <a:xfrm>
            <a:off x="2524125" y="3373755"/>
            <a:ext cx="1362075"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二便、洗浴、移位、护理外骨骼</a:t>
            </a:r>
            <a:endParaRPr sz="780" b="0">
              <a:solidFill>
                <a:srgbClr val="403A38"/>
              </a:solidFill>
              <a:latin typeface="Noto Sans Hans"/>
              <a:ea typeface="Noto Sans Hans"/>
              <a:cs typeface="Noto Sans Hans"/>
            </a:endParaRPr>
          </a:p>
        </p:txBody>
      </p:sp>
      <p:sp>
        <p:nvSpPr>
          <p:cNvPr id="88" name="矩形 87"/>
          <p:cNvSpPr>
            <a:spLocks noGrp="1"/>
          </p:cNvSpPr>
          <p:nvPr/>
        </p:nvSpPr>
        <p:spPr>
          <a:xfrm>
            <a:off x="3905250" y="3364230"/>
            <a:ext cx="1714500" cy="340995"/>
          </a:xfrm>
          <a:prstGeom prst="rect">
            <a:avLst/>
          </a:prstGeom>
          <a:solidFill>
            <a:srgbClr val="F8E5E4"/>
          </a:solidFill>
          <a:ln w="9525">
            <a:solidFill>
              <a:srgbClr val="FFFFFF"/>
            </a:solidFill>
            <a:prstDash val="solid"/>
          </a:ln>
        </p:spPr>
      </p:sp>
      <p:sp>
        <p:nvSpPr>
          <p:cNvPr id="89" name="矩形 88"/>
          <p:cNvSpPr>
            <a:spLocks noGrp="1"/>
          </p:cNvSpPr>
          <p:nvPr/>
        </p:nvSpPr>
        <p:spPr>
          <a:xfrm>
            <a:off x="3924300" y="3373755"/>
            <a:ext cx="1676400"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国家养老机器人试点牵头单位</a:t>
            </a:r>
            <a:endParaRPr sz="780" b="0">
              <a:solidFill>
                <a:srgbClr val="403A38"/>
              </a:solidFill>
              <a:latin typeface="Noto Sans Hans"/>
              <a:ea typeface="Noto Sans Hans"/>
              <a:cs typeface="Noto Sans Hans"/>
            </a:endParaRPr>
          </a:p>
        </p:txBody>
      </p:sp>
      <p:sp>
        <p:nvSpPr>
          <p:cNvPr id="90" name="矩形 89"/>
          <p:cNvSpPr>
            <a:spLocks noGrp="1"/>
          </p:cNvSpPr>
          <p:nvPr/>
        </p:nvSpPr>
        <p:spPr>
          <a:xfrm>
            <a:off x="5619750" y="3364230"/>
            <a:ext cx="1666875" cy="340995"/>
          </a:xfrm>
          <a:prstGeom prst="rect">
            <a:avLst/>
          </a:prstGeom>
          <a:solidFill>
            <a:srgbClr val="F8E5E4"/>
          </a:solidFill>
          <a:ln w="9525">
            <a:solidFill>
              <a:srgbClr val="FFFFFF"/>
            </a:solidFill>
            <a:prstDash val="solid"/>
          </a:ln>
        </p:spPr>
      </p:sp>
      <p:sp>
        <p:nvSpPr>
          <p:cNvPr id="91" name="矩形 90"/>
          <p:cNvSpPr>
            <a:spLocks noGrp="1"/>
          </p:cNvSpPr>
          <p:nvPr/>
        </p:nvSpPr>
        <p:spPr>
          <a:xfrm>
            <a:off x="5638800" y="3373755"/>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失能护理示范、试点后投资</a:t>
            </a:r>
            <a:endParaRPr sz="780" b="0">
              <a:solidFill>
                <a:srgbClr val="403A38"/>
              </a:solidFill>
              <a:latin typeface="Noto Sans Hans"/>
              <a:ea typeface="Noto Sans Hans"/>
              <a:cs typeface="Noto Sans Hans"/>
            </a:endParaRPr>
          </a:p>
        </p:txBody>
      </p:sp>
      <p:sp>
        <p:nvSpPr>
          <p:cNvPr id="92" name="矩形 91"/>
          <p:cNvSpPr>
            <a:spLocks noGrp="1"/>
          </p:cNvSpPr>
          <p:nvPr/>
        </p:nvSpPr>
        <p:spPr>
          <a:xfrm>
            <a:off x="7286625" y="3364230"/>
            <a:ext cx="1952625" cy="340995"/>
          </a:xfrm>
          <a:prstGeom prst="rect">
            <a:avLst/>
          </a:prstGeom>
          <a:solidFill>
            <a:srgbClr val="F8E5E4"/>
          </a:solidFill>
          <a:ln w="9525">
            <a:solidFill>
              <a:srgbClr val="FFFFFF"/>
            </a:solidFill>
            <a:prstDash val="solid"/>
          </a:ln>
        </p:spPr>
      </p:sp>
      <p:sp>
        <p:nvSpPr>
          <p:cNvPr id="93" name="矩形 92"/>
          <p:cNvSpPr>
            <a:spLocks noGrp="1"/>
          </p:cNvSpPr>
          <p:nvPr/>
        </p:nvSpPr>
        <p:spPr>
          <a:xfrm>
            <a:off x="7305675" y="3373755"/>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销量、耗材、事故、毛利和售后</a:t>
            </a:r>
            <a:endParaRPr sz="780" b="0">
              <a:solidFill>
                <a:srgbClr val="403A38"/>
              </a:solidFill>
              <a:latin typeface="Noto Sans Hans"/>
              <a:ea typeface="Noto Sans Hans"/>
              <a:cs typeface="Noto Sans Hans"/>
            </a:endParaRPr>
          </a:p>
        </p:txBody>
      </p:sp>
      <p:sp>
        <p:nvSpPr>
          <p:cNvPr id="94" name="矩形 93"/>
          <p:cNvSpPr>
            <a:spLocks noGrp="1"/>
          </p:cNvSpPr>
          <p:nvPr/>
        </p:nvSpPr>
        <p:spPr>
          <a:xfrm>
            <a:off x="9239250" y="3364230"/>
            <a:ext cx="2381250" cy="340995"/>
          </a:xfrm>
          <a:prstGeom prst="rect">
            <a:avLst/>
          </a:prstGeom>
          <a:solidFill>
            <a:srgbClr val="F5EDDA"/>
          </a:solidFill>
          <a:ln w="9525">
            <a:solidFill>
              <a:srgbClr val="FFFFFF"/>
            </a:solidFill>
            <a:prstDash val="solid"/>
          </a:ln>
        </p:spPr>
      </p:sp>
      <p:sp>
        <p:nvSpPr>
          <p:cNvPr id="95" name="矩形 94"/>
          <p:cNvSpPr>
            <a:spLocks noGrp="1"/>
          </p:cNvSpPr>
          <p:nvPr/>
        </p:nvSpPr>
        <p:spPr>
          <a:xfrm>
            <a:off x="9258300" y="3373755"/>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优先试点/尽调</a:t>
            </a:r>
            <a:endParaRPr sz="780" b="1">
              <a:solidFill>
                <a:srgbClr val="D00914"/>
              </a:solidFill>
              <a:latin typeface="Noto Sans Hans"/>
              <a:ea typeface="Noto Sans Hans"/>
              <a:cs typeface="Noto Sans Hans"/>
            </a:endParaRPr>
          </a:p>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刚需但责任风险高</a:t>
            </a:r>
            <a:endParaRPr sz="780" b="1">
              <a:solidFill>
                <a:srgbClr val="D00914"/>
              </a:solidFill>
              <a:latin typeface="Noto Sans Hans"/>
              <a:ea typeface="Noto Sans Hans"/>
              <a:cs typeface="Noto Sans Hans"/>
            </a:endParaRPr>
          </a:p>
        </p:txBody>
      </p:sp>
      <p:sp>
        <p:nvSpPr>
          <p:cNvPr id="96" name="矩形 95"/>
          <p:cNvSpPr>
            <a:spLocks noGrp="1"/>
          </p:cNvSpPr>
          <p:nvPr/>
        </p:nvSpPr>
        <p:spPr>
          <a:xfrm>
            <a:off x="457200" y="3705225"/>
            <a:ext cx="1095375" cy="340995"/>
          </a:xfrm>
          <a:prstGeom prst="rect">
            <a:avLst/>
          </a:prstGeom>
          <a:solidFill>
            <a:srgbClr val="F7F3F1"/>
          </a:solidFill>
          <a:ln w="9525">
            <a:solidFill>
              <a:srgbClr val="FFFFFF"/>
            </a:solidFill>
            <a:prstDash val="solid"/>
          </a:ln>
        </p:spPr>
      </p:sp>
      <p:sp>
        <p:nvSpPr>
          <p:cNvPr id="97" name="矩形 96"/>
          <p:cNvSpPr>
            <a:spLocks noGrp="1"/>
          </p:cNvSpPr>
          <p:nvPr/>
        </p:nvSpPr>
        <p:spPr>
          <a:xfrm>
            <a:off x="476250" y="3714750"/>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迪发尔（武汉）</a:t>
            </a:r>
            <a:endParaRPr sz="780" b="1">
              <a:solidFill>
                <a:srgbClr val="D00914"/>
              </a:solidFill>
              <a:latin typeface="Noto Sans Hans"/>
              <a:ea typeface="Noto Sans Hans"/>
              <a:cs typeface="Noto Sans Hans"/>
            </a:endParaRPr>
          </a:p>
        </p:txBody>
      </p:sp>
      <p:sp>
        <p:nvSpPr>
          <p:cNvPr id="98" name="矩形 97"/>
          <p:cNvSpPr>
            <a:spLocks noGrp="1"/>
          </p:cNvSpPr>
          <p:nvPr/>
        </p:nvSpPr>
        <p:spPr>
          <a:xfrm>
            <a:off x="1552575" y="3705225"/>
            <a:ext cx="952500" cy="340995"/>
          </a:xfrm>
          <a:prstGeom prst="rect">
            <a:avLst/>
          </a:prstGeom>
          <a:solidFill>
            <a:srgbClr val="F7F3F1"/>
          </a:solidFill>
          <a:ln w="9525">
            <a:solidFill>
              <a:srgbClr val="FFFFFF"/>
            </a:solidFill>
            <a:prstDash val="solid"/>
          </a:ln>
        </p:spPr>
      </p:sp>
      <p:sp>
        <p:nvSpPr>
          <p:cNvPr id="99" name="矩形 98"/>
          <p:cNvSpPr>
            <a:spLocks noGrp="1"/>
          </p:cNvSpPr>
          <p:nvPr/>
        </p:nvSpPr>
        <p:spPr>
          <a:xfrm>
            <a:off x="1571625" y="3714750"/>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本地护理整机</a:t>
            </a:r>
            <a:endParaRPr sz="810" b="0">
              <a:solidFill>
                <a:srgbClr val="403A38"/>
              </a:solidFill>
              <a:latin typeface="Noto Sans Hans"/>
              <a:ea typeface="Noto Sans Hans"/>
              <a:cs typeface="Noto Sans Hans"/>
            </a:endParaRPr>
          </a:p>
        </p:txBody>
      </p:sp>
      <p:sp>
        <p:nvSpPr>
          <p:cNvPr id="100" name="矩形 99"/>
          <p:cNvSpPr>
            <a:spLocks noGrp="1"/>
          </p:cNvSpPr>
          <p:nvPr/>
        </p:nvSpPr>
        <p:spPr>
          <a:xfrm>
            <a:off x="2505075" y="3705225"/>
            <a:ext cx="1400175" cy="340995"/>
          </a:xfrm>
          <a:prstGeom prst="rect">
            <a:avLst/>
          </a:prstGeom>
          <a:solidFill>
            <a:srgbClr val="F7F3F1"/>
          </a:solidFill>
          <a:ln w="9525">
            <a:solidFill>
              <a:srgbClr val="FFFFFF"/>
            </a:solidFill>
            <a:prstDash val="solid"/>
          </a:ln>
        </p:spPr>
      </p:sp>
      <p:sp>
        <p:nvSpPr>
          <p:cNvPr id="101" name="矩形 100"/>
          <p:cNvSpPr>
            <a:spLocks noGrp="1"/>
          </p:cNvSpPr>
          <p:nvPr/>
        </p:nvSpPr>
        <p:spPr>
          <a:xfrm>
            <a:off x="2524125" y="3714750"/>
            <a:ext cx="1362075"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移乘转运及二便护理床式机器人</a:t>
            </a:r>
            <a:endParaRPr sz="780" b="0">
              <a:solidFill>
                <a:srgbClr val="403A38"/>
              </a:solidFill>
              <a:latin typeface="Noto Sans Hans"/>
              <a:ea typeface="Noto Sans Hans"/>
              <a:cs typeface="Noto Sans Hans"/>
            </a:endParaRPr>
          </a:p>
        </p:txBody>
      </p:sp>
      <p:sp>
        <p:nvSpPr>
          <p:cNvPr id="102" name="矩形 101"/>
          <p:cNvSpPr>
            <a:spLocks noGrp="1"/>
          </p:cNvSpPr>
          <p:nvPr/>
        </p:nvSpPr>
        <p:spPr>
          <a:xfrm>
            <a:off x="3905250" y="3705225"/>
            <a:ext cx="1714500" cy="340995"/>
          </a:xfrm>
          <a:prstGeom prst="rect">
            <a:avLst/>
          </a:prstGeom>
          <a:solidFill>
            <a:srgbClr val="F7F3F1"/>
          </a:solidFill>
          <a:ln w="9525">
            <a:solidFill>
              <a:srgbClr val="FFFFFF"/>
            </a:solidFill>
            <a:prstDash val="solid"/>
          </a:ln>
        </p:spPr>
      </p:sp>
      <p:sp>
        <p:nvSpPr>
          <p:cNvPr id="103" name="矩形 102"/>
          <p:cNvSpPr>
            <a:spLocks noGrp="1"/>
          </p:cNvSpPr>
          <p:nvPr/>
        </p:nvSpPr>
        <p:spPr>
          <a:xfrm>
            <a:off x="3924300" y="3714750"/>
            <a:ext cx="1676400"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湖北唯一国家养老机器人试点牵头企业</a:t>
            </a:r>
            <a:endParaRPr sz="780" b="0">
              <a:solidFill>
                <a:srgbClr val="403A38"/>
              </a:solidFill>
              <a:latin typeface="Noto Sans Hans"/>
              <a:ea typeface="Noto Sans Hans"/>
              <a:cs typeface="Noto Sans Hans"/>
            </a:endParaRPr>
          </a:p>
        </p:txBody>
      </p:sp>
      <p:sp>
        <p:nvSpPr>
          <p:cNvPr id="104" name="矩形 103"/>
          <p:cNvSpPr>
            <a:spLocks noGrp="1"/>
          </p:cNvSpPr>
          <p:nvPr/>
        </p:nvSpPr>
        <p:spPr>
          <a:xfrm>
            <a:off x="5619750" y="3705225"/>
            <a:ext cx="1666875" cy="340995"/>
          </a:xfrm>
          <a:prstGeom prst="rect">
            <a:avLst/>
          </a:prstGeom>
          <a:solidFill>
            <a:srgbClr val="F7F3F1"/>
          </a:solidFill>
          <a:ln w="9525">
            <a:solidFill>
              <a:srgbClr val="FFFFFF"/>
            </a:solidFill>
            <a:prstDash val="solid"/>
          </a:ln>
        </p:spPr>
      </p:sp>
      <p:sp>
        <p:nvSpPr>
          <p:cNvPr id="105" name="矩形 104"/>
          <p:cNvSpPr>
            <a:spLocks noGrp="1"/>
          </p:cNvSpPr>
          <p:nvPr/>
        </p:nvSpPr>
        <p:spPr>
          <a:xfrm>
            <a:off x="5638800" y="3714750"/>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城投康养场景验证、成果转化投资</a:t>
            </a:r>
            <a:endParaRPr sz="780" b="0">
              <a:solidFill>
                <a:srgbClr val="403A38"/>
              </a:solidFill>
              <a:latin typeface="Noto Sans Hans"/>
              <a:ea typeface="Noto Sans Hans"/>
              <a:cs typeface="Noto Sans Hans"/>
            </a:endParaRPr>
          </a:p>
        </p:txBody>
      </p:sp>
      <p:sp>
        <p:nvSpPr>
          <p:cNvPr id="106" name="矩形 105"/>
          <p:cNvSpPr>
            <a:spLocks noGrp="1"/>
          </p:cNvSpPr>
          <p:nvPr/>
        </p:nvSpPr>
        <p:spPr>
          <a:xfrm>
            <a:off x="7286625" y="3705225"/>
            <a:ext cx="1952625" cy="340995"/>
          </a:xfrm>
          <a:prstGeom prst="rect">
            <a:avLst/>
          </a:prstGeom>
          <a:solidFill>
            <a:srgbClr val="F7F3F1"/>
          </a:solidFill>
          <a:ln w="9525">
            <a:solidFill>
              <a:srgbClr val="FFFFFF"/>
            </a:solidFill>
            <a:prstDash val="solid"/>
          </a:ln>
        </p:spPr>
      </p:sp>
      <p:sp>
        <p:nvSpPr>
          <p:cNvPr id="107" name="矩形 106"/>
          <p:cNvSpPr>
            <a:spLocks noGrp="1"/>
          </p:cNvSpPr>
          <p:nvPr/>
        </p:nvSpPr>
        <p:spPr>
          <a:xfrm>
            <a:off x="7305675" y="3714750"/>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样机、订单、资质、融资、团队</a:t>
            </a:r>
            <a:endParaRPr sz="780" b="0">
              <a:solidFill>
                <a:srgbClr val="403A38"/>
              </a:solidFill>
              <a:latin typeface="Noto Sans Hans"/>
              <a:ea typeface="Noto Sans Hans"/>
              <a:cs typeface="Noto Sans Hans"/>
            </a:endParaRPr>
          </a:p>
        </p:txBody>
      </p:sp>
      <p:sp>
        <p:nvSpPr>
          <p:cNvPr id="108" name="矩形 107"/>
          <p:cNvSpPr>
            <a:spLocks noGrp="1"/>
          </p:cNvSpPr>
          <p:nvPr/>
        </p:nvSpPr>
        <p:spPr>
          <a:xfrm>
            <a:off x="9239250" y="3705225"/>
            <a:ext cx="2381250" cy="340995"/>
          </a:xfrm>
          <a:prstGeom prst="rect">
            <a:avLst/>
          </a:prstGeom>
          <a:solidFill>
            <a:srgbClr val="F5EDDA"/>
          </a:solidFill>
          <a:ln w="9525">
            <a:solidFill>
              <a:srgbClr val="FFFFFF"/>
            </a:solidFill>
            <a:prstDash val="solid"/>
          </a:ln>
        </p:spPr>
      </p:sp>
      <p:sp>
        <p:nvSpPr>
          <p:cNvPr id="109" name="矩形 108"/>
          <p:cNvSpPr>
            <a:spLocks noGrp="1"/>
          </p:cNvSpPr>
          <p:nvPr/>
        </p:nvSpPr>
        <p:spPr>
          <a:xfrm>
            <a:off x="9258300" y="3714750"/>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本地优先尽调</a:t>
            </a:r>
            <a:endParaRPr sz="780" b="1">
              <a:solidFill>
                <a:srgbClr val="D00914"/>
              </a:solidFill>
              <a:latin typeface="Noto Sans Hans"/>
              <a:ea typeface="Noto Sans Hans"/>
              <a:cs typeface="Noto Sans Hans"/>
            </a:endParaRPr>
          </a:p>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场景价值突出</a:t>
            </a:r>
            <a:endParaRPr sz="780" b="1">
              <a:solidFill>
                <a:srgbClr val="D00914"/>
              </a:solidFill>
              <a:latin typeface="Noto Sans Hans"/>
              <a:ea typeface="Noto Sans Hans"/>
              <a:cs typeface="Noto Sans Hans"/>
            </a:endParaRPr>
          </a:p>
        </p:txBody>
      </p:sp>
      <p:sp>
        <p:nvSpPr>
          <p:cNvPr id="110" name="矩形 109"/>
          <p:cNvSpPr>
            <a:spLocks noGrp="1"/>
          </p:cNvSpPr>
          <p:nvPr/>
        </p:nvSpPr>
        <p:spPr>
          <a:xfrm>
            <a:off x="457200" y="4046220"/>
            <a:ext cx="1095375" cy="340995"/>
          </a:xfrm>
          <a:prstGeom prst="rect">
            <a:avLst/>
          </a:prstGeom>
          <a:solidFill>
            <a:srgbClr val="F8E5E4"/>
          </a:solidFill>
          <a:ln w="9525">
            <a:solidFill>
              <a:srgbClr val="FFFFFF"/>
            </a:solidFill>
            <a:prstDash val="solid"/>
          </a:ln>
        </p:spPr>
      </p:sp>
      <p:sp>
        <p:nvSpPr>
          <p:cNvPr id="111" name="矩形 110"/>
          <p:cNvSpPr>
            <a:spLocks noGrp="1"/>
          </p:cNvSpPr>
          <p:nvPr/>
        </p:nvSpPr>
        <p:spPr>
          <a:xfrm>
            <a:off x="476250" y="4055745"/>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优必选</a:t>
            </a:r>
            <a:endParaRPr sz="780" b="1">
              <a:solidFill>
                <a:srgbClr val="D00914"/>
              </a:solidFill>
              <a:latin typeface="Noto Sans Hans"/>
              <a:ea typeface="Noto Sans Hans"/>
              <a:cs typeface="Noto Sans Hans"/>
            </a:endParaRPr>
          </a:p>
        </p:txBody>
      </p:sp>
      <p:sp>
        <p:nvSpPr>
          <p:cNvPr id="112" name="矩形 111"/>
          <p:cNvSpPr>
            <a:spLocks noGrp="1"/>
          </p:cNvSpPr>
          <p:nvPr/>
        </p:nvSpPr>
        <p:spPr>
          <a:xfrm>
            <a:off x="1552575" y="4046220"/>
            <a:ext cx="952500" cy="340995"/>
          </a:xfrm>
          <a:prstGeom prst="rect">
            <a:avLst/>
          </a:prstGeom>
          <a:solidFill>
            <a:srgbClr val="F8E5E4"/>
          </a:solidFill>
          <a:ln w="9525">
            <a:solidFill>
              <a:srgbClr val="FFFFFF"/>
            </a:solidFill>
            <a:prstDash val="solid"/>
          </a:ln>
        </p:spPr>
      </p:sp>
      <p:sp>
        <p:nvSpPr>
          <p:cNvPr id="113" name="矩形 112"/>
          <p:cNvSpPr>
            <a:spLocks noGrp="1"/>
          </p:cNvSpPr>
          <p:nvPr/>
        </p:nvSpPr>
        <p:spPr>
          <a:xfrm>
            <a:off x="1571625" y="4055745"/>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人形/智慧康养</a:t>
            </a:r>
            <a:endParaRPr sz="810" b="0">
              <a:solidFill>
                <a:srgbClr val="403A38"/>
              </a:solidFill>
              <a:latin typeface="Noto Sans Hans"/>
              <a:ea typeface="Noto Sans Hans"/>
              <a:cs typeface="Noto Sans Hans"/>
            </a:endParaRPr>
          </a:p>
        </p:txBody>
      </p:sp>
      <p:sp>
        <p:nvSpPr>
          <p:cNvPr id="114" name="矩形 113"/>
          <p:cNvSpPr>
            <a:spLocks noGrp="1"/>
          </p:cNvSpPr>
          <p:nvPr/>
        </p:nvSpPr>
        <p:spPr>
          <a:xfrm>
            <a:off x="2505075" y="4046220"/>
            <a:ext cx="1400175" cy="340995"/>
          </a:xfrm>
          <a:prstGeom prst="rect">
            <a:avLst/>
          </a:prstGeom>
          <a:solidFill>
            <a:srgbClr val="F8E5E4"/>
          </a:solidFill>
          <a:ln w="9525">
            <a:solidFill>
              <a:srgbClr val="FFFFFF"/>
            </a:solidFill>
            <a:prstDash val="solid"/>
          </a:ln>
        </p:spPr>
      </p:sp>
      <p:sp>
        <p:nvSpPr>
          <p:cNvPr id="115" name="矩形 114"/>
          <p:cNvSpPr>
            <a:spLocks noGrp="1"/>
          </p:cNvSpPr>
          <p:nvPr/>
        </p:nvSpPr>
        <p:spPr>
          <a:xfrm>
            <a:off x="2524125" y="4055745"/>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智慧康养全场景方案</a:t>
            </a:r>
            <a:endParaRPr sz="780" b="0">
              <a:solidFill>
                <a:srgbClr val="403A38"/>
              </a:solidFill>
              <a:latin typeface="Noto Sans Hans"/>
              <a:ea typeface="Noto Sans Hans"/>
              <a:cs typeface="Noto Sans Hans"/>
            </a:endParaRPr>
          </a:p>
        </p:txBody>
      </p:sp>
      <p:sp>
        <p:nvSpPr>
          <p:cNvPr id="116" name="矩形 115"/>
          <p:cNvSpPr>
            <a:spLocks noGrp="1"/>
          </p:cNvSpPr>
          <p:nvPr/>
        </p:nvSpPr>
        <p:spPr>
          <a:xfrm>
            <a:off x="3905250" y="4046220"/>
            <a:ext cx="1714500" cy="340995"/>
          </a:xfrm>
          <a:prstGeom prst="rect">
            <a:avLst/>
          </a:prstGeom>
          <a:solidFill>
            <a:srgbClr val="F8E5E4"/>
          </a:solidFill>
          <a:ln w="9525">
            <a:solidFill>
              <a:srgbClr val="FFFFFF"/>
            </a:solidFill>
            <a:prstDash val="solid"/>
          </a:ln>
        </p:spPr>
      </p:sp>
      <p:sp>
        <p:nvSpPr>
          <p:cNvPr id="117" name="矩形 116"/>
          <p:cNvSpPr>
            <a:spLocks noGrp="1"/>
          </p:cNvSpPr>
          <p:nvPr/>
        </p:nvSpPr>
        <p:spPr>
          <a:xfrm>
            <a:off x="3924300" y="4055745"/>
            <a:ext cx="1676400"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港股上市，全栈人形技术与康养方案</a:t>
            </a:r>
            <a:endParaRPr sz="780" b="0">
              <a:solidFill>
                <a:srgbClr val="403A38"/>
              </a:solidFill>
              <a:latin typeface="Noto Sans Hans"/>
              <a:ea typeface="Noto Sans Hans"/>
              <a:cs typeface="Noto Sans Hans"/>
            </a:endParaRPr>
          </a:p>
        </p:txBody>
      </p:sp>
      <p:sp>
        <p:nvSpPr>
          <p:cNvPr id="118" name="矩形 117"/>
          <p:cNvSpPr>
            <a:spLocks noGrp="1"/>
          </p:cNvSpPr>
          <p:nvPr/>
        </p:nvSpPr>
        <p:spPr>
          <a:xfrm>
            <a:off x="5619750" y="4046220"/>
            <a:ext cx="1666875" cy="340995"/>
          </a:xfrm>
          <a:prstGeom prst="rect">
            <a:avLst/>
          </a:prstGeom>
          <a:solidFill>
            <a:srgbClr val="F8E5E4"/>
          </a:solidFill>
          <a:ln w="9525">
            <a:solidFill>
              <a:srgbClr val="FFFFFF"/>
            </a:solidFill>
            <a:prstDash val="solid"/>
          </a:ln>
        </p:spPr>
      </p:sp>
      <p:sp>
        <p:nvSpPr>
          <p:cNvPr id="119" name="矩形 118"/>
          <p:cNvSpPr>
            <a:spLocks noGrp="1"/>
          </p:cNvSpPr>
          <p:nvPr/>
        </p:nvSpPr>
        <p:spPr>
          <a:xfrm>
            <a:off x="5638800" y="4055745"/>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场景合作、联合实验室、区域交付</a:t>
            </a:r>
            <a:endParaRPr sz="780" b="0">
              <a:solidFill>
                <a:srgbClr val="403A38"/>
              </a:solidFill>
              <a:latin typeface="Noto Sans Hans"/>
              <a:ea typeface="Noto Sans Hans"/>
              <a:cs typeface="Noto Sans Hans"/>
            </a:endParaRPr>
          </a:p>
        </p:txBody>
      </p:sp>
      <p:sp>
        <p:nvSpPr>
          <p:cNvPr id="120" name="矩形 119"/>
          <p:cNvSpPr>
            <a:spLocks noGrp="1"/>
          </p:cNvSpPr>
          <p:nvPr/>
        </p:nvSpPr>
        <p:spPr>
          <a:xfrm>
            <a:off x="7286625" y="4046220"/>
            <a:ext cx="1952625" cy="340995"/>
          </a:xfrm>
          <a:prstGeom prst="rect">
            <a:avLst/>
          </a:prstGeom>
          <a:solidFill>
            <a:srgbClr val="F8E5E4"/>
          </a:solidFill>
          <a:ln w="9525">
            <a:solidFill>
              <a:srgbClr val="FFFFFF"/>
            </a:solidFill>
            <a:prstDash val="solid"/>
          </a:ln>
        </p:spPr>
      </p:sp>
      <p:sp>
        <p:nvSpPr>
          <p:cNvPr id="121" name="矩形 120"/>
          <p:cNvSpPr>
            <a:spLocks noGrp="1"/>
          </p:cNvSpPr>
          <p:nvPr/>
        </p:nvSpPr>
        <p:spPr>
          <a:xfrm>
            <a:off x="7305675" y="4055745"/>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养老收入、现金消耗、产品安全和估值</a:t>
            </a:r>
            <a:endParaRPr sz="780" b="0">
              <a:solidFill>
                <a:srgbClr val="403A38"/>
              </a:solidFill>
              <a:latin typeface="Noto Sans Hans"/>
              <a:ea typeface="Noto Sans Hans"/>
              <a:cs typeface="Noto Sans Hans"/>
            </a:endParaRPr>
          </a:p>
        </p:txBody>
      </p:sp>
      <p:sp>
        <p:nvSpPr>
          <p:cNvPr id="122" name="矩形 121"/>
          <p:cNvSpPr>
            <a:spLocks noGrp="1"/>
          </p:cNvSpPr>
          <p:nvPr/>
        </p:nvSpPr>
        <p:spPr>
          <a:xfrm>
            <a:off x="9239250" y="4046220"/>
            <a:ext cx="2381250" cy="340995"/>
          </a:xfrm>
          <a:prstGeom prst="rect">
            <a:avLst/>
          </a:prstGeom>
          <a:solidFill>
            <a:srgbClr val="F5EDDA"/>
          </a:solidFill>
          <a:ln w="9525">
            <a:solidFill>
              <a:srgbClr val="FFFFFF"/>
            </a:solidFill>
            <a:prstDash val="solid"/>
          </a:ln>
        </p:spPr>
      </p:sp>
      <p:sp>
        <p:nvSpPr>
          <p:cNvPr id="123" name="矩形 122"/>
          <p:cNvSpPr>
            <a:spLocks noGrp="1"/>
          </p:cNvSpPr>
          <p:nvPr/>
        </p:nvSpPr>
        <p:spPr>
          <a:xfrm>
            <a:off x="9258300" y="4055745"/>
            <a:ext cx="234315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合作优先/投资择机</a:t>
            </a:r>
            <a:endParaRPr sz="780" b="1">
              <a:solidFill>
                <a:srgbClr val="9E3038"/>
              </a:solidFill>
              <a:latin typeface="Noto Sans Hans"/>
              <a:ea typeface="Noto Sans Hans"/>
              <a:cs typeface="Noto Sans Hans"/>
            </a:endParaRPr>
          </a:p>
        </p:txBody>
      </p:sp>
      <p:sp>
        <p:nvSpPr>
          <p:cNvPr id="124" name="矩形 123"/>
          <p:cNvSpPr>
            <a:spLocks noGrp="1"/>
          </p:cNvSpPr>
          <p:nvPr/>
        </p:nvSpPr>
        <p:spPr>
          <a:xfrm>
            <a:off x="457200" y="4387215"/>
            <a:ext cx="1095375" cy="340995"/>
          </a:xfrm>
          <a:prstGeom prst="rect">
            <a:avLst/>
          </a:prstGeom>
          <a:solidFill>
            <a:srgbClr val="F7F3F1"/>
          </a:solidFill>
          <a:ln w="9525">
            <a:solidFill>
              <a:srgbClr val="FFFFFF"/>
            </a:solidFill>
            <a:prstDash val="solid"/>
          </a:ln>
        </p:spPr>
      </p:sp>
      <p:sp>
        <p:nvSpPr>
          <p:cNvPr id="125" name="矩形 124"/>
          <p:cNvSpPr>
            <a:spLocks noGrp="1"/>
          </p:cNvSpPr>
          <p:nvPr/>
        </p:nvSpPr>
        <p:spPr>
          <a:xfrm>
            <a:off x="476250" y="4396740"/>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光谷东智</a:t>
            </a:r>
            <a:endParaRPr sz="780" b="1">
              <a:solidFill>
                <a:srgbClr val="D00914"/>
              </a:solidFill>
              <a:latin typeface="Noto Sans Hans"/>
              <a:ea typeface="Noto Sans Hans"/>
              <a:cs typeface="Noto Sans Hans"/>
            </a:endParaRPr>
          </a:p>
        </p:txBody>
      </p:sp>
      <p:sp>
        <p:nvSpPr>
          <p:cNvPr id="126" name="矩形 125"/>
          <p:cNvSpPr>
            <a:spLocks noGrp="1"/>
          </p:cNvSpPr>
          <p:nvPr/>
        </p:nvSpPr>
        <p:spPr>
          <a:xfrm>
            <a:off x="1552575" y="4387215"/>
            <a:ext cx="952500" cy="340995"/>
          </a:xfrm>
          <a:prstGeom prst="rect">
            <a:avLst/>
          </a:prstGeom>
          <a:solidFill>
            <a:srgbClr val="F7F3F1"/>
          </a:solidFill>
          <a:ln w="9525">
            <a:solidFill>
              <a:srgbClr val="FFFFFF"/>
            </a:solidFill>
            <a:prstDash val="solid"/>
          </a:ln>
        </p:spPr>
      </p:sp>
      <p:sp>
        <p:nvSpPr>
          <p:cNvPr id="127" name="矩形 126"/>
          <p:cNvSpPr>
            <a:spLocks noGrp="1"/>
          </p:cNvSpPr>
          <p:nvPr/>
        </p:nvSpPr>
        <p:spPr>
          <a:xfrm>
            <a:off x="1571625" y="4396740"/>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本地康养方案</a:t>
            </a:r>
            <a:endParaRPr sz="810" b="0">
              <a:solidFill>
                <a:srgbClr val="403A38"/>
              </a:solidFill>
              <a:latin typeface="Noto Sans Hans"/>
              <a:ea typeface="Noto Sans Hans"/>
              <a:cs typeface="Noto Sans Hans"/>
            </a:endParaRPr>
          </a:p>
        </p:txBody>
      </p:sp>
      <p:sp>
        <p:nvSpPr>
          <p:cNvPr id="128" name="矩形 127"/>
          <p:cNvSpPr>
            <a:spLocks noGrp="1"/>
          </p:cNvSpPr>
          <p:nvPr/>
        </p:nvSpPr>
        <p:spPr>
          <a:xfrm>
            <a:off x="2505075" y="4387215"/>
            <a:ext cx="1400175" cy="340995"/>
          </a:xfrm>
          <a:prstGeom prst="rect">
            <a:avLst/>
          </a:prstGeom>
          <a:solidFill>
            <a:srgbClr val="F7F3F1"/>
          </a:solidFill>
          <a:ln w="9525">
            <a:solidFill>
              <a:srgbClr val="FFFFFF"/>
            </a:solidFill>
            <a:prstDash val="solid"/>
          </a:ln>
        </p:spPr>
      </p:sp>
      <p:sp>
        <p:nvSpPr>
          <p:cNvPr id="129" name="矩形 128"/>
          <p:cNvSpPr>
            <a:spLocks noGrp="1"/>
          </p:cNvSpPr>
          <p:nvPr/>
        </p:nvSpPr>
        <p:spPr>
          <a:xfrm>
            <a:off x="2524125" y="4396740"/>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多机协同智慧康养方案</a:t>
            </a:r>
            <a:endParaRPr sz="780" b="0">
              <a:solidFill>
                <a:srgbClr val="403A38"/>
              </a:solidFill>
              <a:latin typeface="Noto Sans Hans"/>
              <a:ea typeface="Noto Sans Hans"/>
              <a:cs typeface="Noto Sans Hans"/>
            </a:endParaRPr>
          </a:p>
        </p:txBody>
      </p:sp>
      <p:sp>
        <p:nvSpPr>
          <p:cNvPr id="130" name="矩形 129"/>
          <p:cNvSpPr>
            <a:spLocks noGrp="1"/>
          </p:cNvSpPr>
          <p:nvPr/>
        </p:nvSpPr>
        <p:spPr>
          <a:xfrm>
            <a:off x="3905250" y="4387215"/>
            <a:ext cx="1714500" cy="340995"/>
          </a:xfrm>
          <a:prstGeom prst="rect">
            <a:avLst/>
          </a:prstGeom>
          <a:solidFill>
            <a:srgbClr val="F7F3F1"/>
          </a:solidFill>
          <a:ln w="9525">
            <a:solidFill>
              <a:srgbClr val="FFFFFF"/>
            </a:solidFill>
            <a:prstDash val="solid"/>
          </a:ln>
        </p:spPr>
      </p:sp>
      <p:sp>
        <p:nvSpPr>
          <p:cNvPr id="131" name="矩形 130"/>
          <p:cNvSpPr>
            <a:spLocks noGrp="1"/>
          </p:cNvSpPr>
          <p:nvPr/>
        </p:nvSpPr>
        <p:spPr>
          <a:xfrm>
            <a:off x="3924300" y="4396740"/>
            <a:ext cx="1676400"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公开披露多家医疗与养老机构试点</a:t>
            </a:r>
            <a:endParaRPr sz="780" b="0">
              <a:solidFill>
                <a:srgbClr val="403A38"/>
              </a:solidFill>
              <a:latin typeface="Noto Sans Hans"/>
              <a:ea typeface="Noto Sans Hans"/>
              <a:cs typeface="Noto Sans Hans"/>
            </a:endParaRPr>
          </a:p>
        </p:txBody>
      </p:sp>
      <p:sp>
        <p:nvSpPr>
          <p:cNvPr id="132" name="矩形 131"/>
          <p:cNvSpPr>
            <a:spLocks noGrp="1"/>
          </p:cNvSpPr>
          <p:nvPr/>
        </p:nvSpPr>
        <p:spPr>
          <a:xfrm>
            <a:off x="5619750" y="4387215"/>
            <a:ext cx="1666875" cy="340995"/>
          </a:xfrm>
          <a:prstGeom prst="rect">
            <a:avLst/>
          </a:prstGeom>
          <a:solidFill>
            <a:srgbClr val="F7F3F1"/>
          </a:solidFill>
          <a:ln w="9525">
            <a:solidFill>
              <a:srgbClr val="FFFFFF"/>
            </a:solidFill>
            <a:prstDash val="solid"/>
          </a:ln>
        </p:spPr>
      </p:sp>
      <p:sp>
        <p:nvSpPr>
          <p:cNvPr id="133" name="矩形 132"/>
          <p:cNvSpPr>
            <a:spLocks noGrp="1"/>
          </p:cNvSpPr>
          <p:nvPr/>
        </p:nvSpPr>
        <p:spPr>
          <a:xfrm>
            <a:off x="5638800" y="4396740"/>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联合示范、订单牵引、里程碑投资</a:t>
            </a:r>
            <a:endParaRPr sz="780" b="0">
              <a:solidFill>
                <a:srgbClr val="403A38"/>
              </a:solidFill>
              <a:latin typeface="Noto Sans Hans"/>
              <a:ea typeface="Noto Sans Hans"/>
              <a:cs typeface="Noto Sans Hans"/>
            </a:endParaRPr>
          </a:p>
        </p:txBody>
      </p:sp>
      <p:sp>
        <p:nvSpPr>
          <p:cNvPr id="134" name="矩形 133"/>
          <p:cNvSpPr>
            <a:spLocks noGrp="1"/>
          </p:cNvSpPr>
          <p:nvPr/>
        </p:nvSpPr>
        <p:spPr>
          <a:xfrm>
            <a:off x="7286625" y="4387215"/>
            <a:ext cx="1952625" cy="340995"/>
          </a:xfrm>
          <a:prstGeom prst="rect">
            <a:avLst/>
          </a:prstGeom>
          <a:solidFill>
            <a:srgbClr val="F7F3F1"/>
          </a:solidFill>
          <a:ln w="9525">
            <a:solidFill>
              <a:srgbClr val="FFFFFF"/>
            </a:solidFill>
            <a:prstDash val="solid"/>
          </a:ln>
        </p:spPr>
      </p:sp>
      <p:sp>
        <p:nvSpPr>
          <p:cNvPr id="135" name="矩形 134"/>
          <p:cNvSpPr>
            <a:spLocks noGrp="1"/>
          </p:cNvSpPr>
          <p:nvPr/>
        </p:nvSpPr>
        <p:spPr>
          <a:xfrm>
            <a:off x="7305675" y="4396740"/>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试点名单、收入、量产、股权与安全</a:t>
            </a:r>
            <a:endParaRPr sz="780" b="0">
              <a:solidFill>
                <a:srgbClr val="403A38"/>
              </a:solidFill>
              <a:latin typeface="Noto Sans Hans"/>
              <a:ea typeface="Noto Sans Hans"/>
              <a:cs typeface="Noto Sans Hans"/>
            </a:endParaRPr>
          </a:p>
        </p:txBody>
      </p:sp>
      <p:sp>
        <p:nvSpPr>
          <p:cNvPr id="136" name="矩形 135"/>
          <p:cNvSpPr>
            <a:spLocks noGrp="1"/>
          </p:cNvSpPr>
          <p:nvPr/>
        </p:nvSpPr>
        <p:spPr>
          <a:xfrm>
            <a:off x="9239250" y="4387215"/>
            <a:ext cx="2381250" cy="340995"/>
          </a:xfrm>
          <a:prstGeom prst="rect">
            <a:avLst/>
          </a:prstGeom>
          <a:solidFill>
            <a:srgbClr val="F5EDDA"/>
          </a:solidFill>
          <a:ln w="9525">
            <a:solidFill>
              <a:srgbClr val="FFFFFF"/>
            </a:solidFill>
            <a:prstDash val="solid"/>
          </a:ln>
        </p:spPr>
      </p:sp>
      <p:sp>
        <p:nvSpPr>
          <p:cNvPr id="137" name="矩形 136"/>
          <p:cNvSpPr>
            <a:spLocks noGrp="1"/>
          </p:cNvSpPr>
          <p:nvPr/>
        </p:nvSpPr>
        <p:spPr>
          <a:xfrm>
            <a:off x="9258300" y="4396740"/>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本地重点培育</a:t>
            </a:r>
            <a:endParaRPr sz="780" b="1">
              <a:solidFill>
                <a:srgbClr val="9E3038"/>
              </a:solidFill>
              <a:latin typeface="Noto Sans Hans"/>
              <a:ea typeface="Noto Sans Hans"/>
              <a:cs typeface="Noto Sans Hans"/>
            </a:endParaRPr>
          </a:p>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先订单后投资</a:t>
            </a:r>
            <a:endParaRPr sz="780" b="1">
              <a:solidFill>
                <a:srgbClr val="9E3038"/>
              </a:solidFill>
              <a:latin typeface="Noto Sans Hans"/>
              <a:ea typeface="Noto Sans Hans"/>
              <a:cs typeface="Noto Sans Hans"/>
            </a:endParaRPr>
          </a:p>
        </p:txBody>
      </p:sp>
      <p:sp>
        <p:nvSpPr>
          <p:cNvPr id="138" name="矩形 137"/>
          <p:cNvSpPr>
            <a:spLocks noGrp="1"/>
          </p:cNvSpPr>
          <p:nvPr/>
        </p:nvSpPr>
        <p:spPr>
          <a:xfrm>
            <a:off x="457200" y="4728210"/>
            <a:ext cx="1095375" cy="340995"/>
          </a:xfrm>
          <a:prstGeom prst="rect">
            <a:avLst/>
          </a:prstGeom>
          <a:solidFill>
            <a:srgbClr val="F8E5E4"/>
          </a:solidFill>
          <a:ln w="9525">
            <a:solidFill>
              <a:srgbClr val="FFFFFF"/>
            </a:solidFill>
            <a:prstDash val="solid"/>
          </a:ln>
        </p:spPr>
      </p:sp>
      <p:sp>
        <p:nvSpPr>
          <p:cNvPr id="139" name="矩形 138"/>
          <p:cNvSpPr>
            <a:spLocks noGrp="1"/>
          </p:cNvSpPr>
          <p:nvPr/>
        </p:nvSpPr>
        <p:spPr>
          <a:xfrm>
            <a:off x="476250" y="4737735"/>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D00914"/>
                </a:solidFill>
                <a:latin typeface="Noto Sans Hans"/>
                <a:ea typeface="Noto Sans Hans"/>
                <a:cs typeface="Noto Sans Hans"/>
              </a:defRPr>
            </a:pPr>
            <a:r>
              <a:rPr sz="780" b="1">
                <a:solidFill>
                  <a:srgbClr val="D00914"/>
                </a:solidFill>
                <a:latin typeface="Noto Sans Hans"/>
                <a:ea typeface="Noto Sans Hans"/>
                <a:cs typeface="Noto Sans Hans"/>
              </a:rPr>
              <a:t>武汉海沁医疗</a:t>
            </a:r>
            <a:endParaRPr sz="780" b="1">
              <a:solidFill>
                <a:srgbClr val="D00914"/>
              </a:solidFill>
              <a:latin typeface="Noto Sans Hans"/>
              <a:ea typeface="Noto Sans Hans"/>
              <a:cs typeface="Noto Sans Hans"/>
            </a:endParaRPr>
          </a:p>
        </p:txBody>
      </p:sp>
      <p:sp>
        <p:nvSpPr>
          <p:cNvPr id="140" name="矩形 139"/>
          <p:cNvSpPr>
            <a:spLocks noGrp="1"/>
          </p:cNvSpPr>
          <p:nvPr/>
        </p:nvSpPr>
        <p:spPr>
          <a:xfrm>
            <a:off x="1552575" y="4728210"/>
            <a:ext cx="952500" cy="340995"/>
          </a:xfrm>
          <a:prstGeom prst="rect">
            <a:avLst/>
          </a:prstGeom>
          <a:solidFill>
            <a:srgbClr val="F8E5E4"/>
          </a:solidFill>
          <a:ln w="9525">
            <a:solidFill>
              <a:srgbClr val="FFFFFF"/>
            </a:solidFill>
            <a:prstDash val="solid"/>
          </a:ln>
        </p:spPr>
      </p:sp>
      <p:sp>
        <p:nvSpPr>
          <p:cNvPr id="141" name="矩形 140"/>
          <p:cNvSpPr>
            <a:spLocks noGrp="1"/>
          </p:cNvSpPr>
          <p:nvPr/>
        </p:nvSpPr>
        <p:spPr>
          <a:xfrm>
            <a:off x="1571625" y="4737735"/>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本地康复医疗</a:t>
            </a:r>
            <a:endParaRPr sz="810" b="0">
              <a:solidFill>
                <a:srgbClr val="403A38"/>
              </a:solidFill>
              <a:latin typeface="Noto Sans Hans"/>
              <a:ea typeface="Noto Sans Hans"/>
              <a:cs typeface="Noto Sans Hans"/>
            </a:endParaRPr>
          </a:p>
        </p:txBody>
      </p:sp>
      <p:sp>
        <p:nvSpPr>
          <p:cNvPr id="142" name="矩形 141"/>
          <p:cNvSpPr>
            <a:spLocks noGrp="1"/>
          </p:cNvSpPr>
          <p:nvPr/>
        </p:nvSpPr>
        <p:spPr>
          <a:xfrm>
            <a:off x="2505075" y="4728210"/>
            <a:ext cx="1400175" cy="340995"/>
          </a:xfrm>
          <a:prstGeom prst="rect">
            <a:avLst/>
          </a:prstGeom>
          <a:solidFill>
            <a:srgbClr val="F8E5E4"/>
          </a:solidFill>
          <a:ln w="9525">
            <a:solidFill>
              <a:srgbClr val="FFFFFF"/>
            </a:solidFill>
            <a:prstDash val="solid"/>
          </a:ln>
        </p:spPr>
      </p:sp>
      <p:sp>
        <p:nvSpPr>
          <p:cNvPr id="143" name="矩形 142"/>
          <p:cNvSpPr>
            <a:spLocks noGrp="1"/>
          </p:cNvSpPr>
          <p:nvPr/>
        </p:nvSpPr>
        <p:spPr>
          <a:xfrm>
            <a:off x="2524125" y="4737735"/>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康复机器人</a:t>
            </a:r>
            <a:endParaRPr sz="780" b="0">
              <a:solidFill>
                <a:srgbClr val="403A38"/>
              </a:solidFill>
              <a:latin typeface="Noto Sans Hans"/>
              <a:ea typeface="Noto Sans Hans"/>
              <a:cs typeface="Noto Sans Hans"/>
            </a:endParaRPr>
          </a:p>
        </p:txBody>
      </p:sp>
      <p:sp>
        <p:nvSpPr>
          <p:cNvPr id="144" name="矩形 143"/>
          <p:cNvSpPr>
            <a:spLocks noGrp="1"/>
          </p:cNvSpPr>
          <p:nvPr/>
        </p:nvSpPr>
        <p:spPr>
          <a:xfrm>
            <a:off x="3905250" y="4728210"/>
            <a:ext cx="1714500" cy="340995"/>
          </a:xfrm>
          <a:prstGeom prst="rect">
            <a:avLst/>
          </a:prstGeom>
          <a:solidFill>
            <a:srgbClr val="F8E5E4"/>
          </a:solidFill>
          <a:ln w="9525">
            <a:solidFill>
              <a:srgbClr val="FFFFFF"/>
            </a:solidFill>
            <a:prstDash val="solid"/>
          </a:ln>
        </p:spPr>
      </p:sp>
      <p:sp>
        <p:nvSpPr>
          <p:cNvPr id="145" name="矩形 144"/>
          <p:cNvSpPr>
            <a:spLocks noGrp="1"/>
          </p:cNvSpPr>
          <p:nvPr/>
        </p:nvSpPr>
        <p:spPr>
          <a:xfrm>
            <a:off x="3924300" y="4737735"/>
            <a:ext cx="1676400"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官网称相关产品获二类注册证</a:t>
            </a:r>
            <a:endParaRPr sz="780" b="0">
              <a:solidFill>
                <a:srgbClr val="403A38"/>
              </a:solidFill>
              <a:latin typeface="Noto Sans Hans"/>
              <a:ea typeface="Noto Sans Hans"/>
              <a:cs typeface="Noto Sans Hans"/>
            </a:endParaRPr>
          </a:p>
        </p:txBody>
      </p:sp>
      <p:sp>
        <p:nvSpPr>
          <p:cNvPr id="146" name="矩形 145"/>
          <p:cNvSpPr>
            <a:spLocks noGrp="1"/>
          </p:cNvSpPr>
          <p:nvPr/>
        </p:nvSpPr>
        <p:spPr>
          <a:xfrm>
            <a:off x="5619750" y="4728210"/>
            <a:ext cx="1666875" cy="340995"/>
          </a:xfrm>
          <a:prstGeom prst="rect">
            <a:avLst/>
          </a:prstGeom>
          <a:solidFill>
            <a:srgbClr val="F8E5E4"/>
          </a:solidFill>
          <a:ln w="9525">
            <a:solidFill>
              <a:srgbClr val="FFFFFF"/>
            </a:solidFill>
            <a:prstDash val="solid"/>
          </a:ln>
        </p:spPr>
      </p:sp>
      <p:sp>
        <p:nvSpPr>
          <p:cNvPr id="147" name="矩形 146"/>
          <p:cNvSpPr>
            <a:spLocks noGrp="1"/>
          </p:cNvSpPr>
          <p:nvPr/>
        </p:nvSpPr>
        <p:spPr>
          <a:xfrm>
            <a:off x="5638800" y="4737735"/>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采购试点、合资康复中心</a:t>
            </a:r>
            <a:endParaRPr sz="780" b="0">
              <a:solidFill>
                <a:srgbClr val="403A38"/>
              </a:solidFill>
              <a:latin typeface="Noto Sans Hans"/>
              <a:ea typeface="Noto Sans Hans"/>
              <a:cs typeface="Noto Sans Hans"/>
            </a:endParaRPr>
          </a:p>
        </p:txBody>
      </p:sp>
      <p:sp>
        <p:nvSpPr>
          <p:cNvPr id="148" name="矩形 147"/>
          <p:cNvSpPr>
            <a:spLocks noGrp="1"/>
          </p:cNvSpPr>
          <p:nvPr/>
        </p:nvSpPr>
        <p:spPr>
          <a:xfrm>
            <a:off x="7286625" y="4728210"/>
            <a:ext cx="1952625" cy="340995"/>
          </a:xfrm>
          <a:prstGeom prst="rect">
            <a:avLst/>
          </a:prstGeom>
          <a:solidFill>
            <a:srgbClr val="F8E5E4"/>
          </a:solidFill>
          <a:ln w="9525">
            <a:solidFill>
              <a:srgbClr val="FFFFFF"/>
            </a:solidFill>
            <a:prstDash val="solid"/>
          </a:ln>
        </p:spPr>
      </p:sp>
      <p:sp>
        <p:nvSpPr>
          <p:cNvPr id="149" name="矩形 148"/>
          <p:cNvSpPr>
            <a:spLocks noGrp="1"/>
          </p:cNvSpPr>
          <p:nvPr/>
        </p:nvSpPr>
        <p:spPr>
          <a:xfrm>
            <a:off x="7305675" y="4737735"/>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证照范围、订单、收入、关联业务</a:t>
            </a:r>
            <a:endParaRPr sz="780" b="0">
              <a:solidFill>
                <a:srgbClr val="403A38"/>
              </a:solidFill>
              <a:latin typeface="Noto Sans Hans"/>
              <a:ea typeface="Noto Sans Hans"/>
              <a:cs typeface="Noto Sans Hans"/>
            </a:endParaRPr>
          </a:p>
        </p:txBody>
      </p:sp>
      <p:sp>
        <p:nvSpPr>
          <p:cNvPr id="150" name="矩形 149"/>
          <p:cNvSpPr>
            <a:spLocks noGrp="1"/>
          </p:cNvSpPr>
          <p:nvPr/>
        </p:nvSpPr>
        <p:spPr>
          <a:xfrm>
            <a:off x="9239250" y="4728210"/>
            <a:ext cx="2381250" cy="340995"/>
          </a:xfrm>
          <a:prstGeom prst="rect">
            <a:avLst/>
          </a:prstGeom>
          <a:solidFill>
            <a:srgbClr val="F5EDDA"/>
          </a:solidFill>
          <a:ln w="9525">
            <a:solidFill>
              <a:srgbClr val="FFFFFF"/>
            </a:solidFill>
            <a:prstDash val="solid"/>
          </a:ln>
        </p:spPr>
      </p:sp>
      <p:sp>
        <p:nvSpPr>
          <p:cNvPr id="151" name="矩形 150"/>
          <p:cNvSpPr>
            <a:spLocks noGrp="1"/>
          </p:cNvSpPr>
          <p:nvPr/>
        </p:nvSpPr>
        <p:spPr>
          <a:xfrm>
            <a:off x="9258300" y="4737735"/>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本地尽调</a:t>
            </a:r>
            <a:endParaRPr sz="780" b="1">
              <a:solidFill>
                <a:srgbClr val="9E3038"/>
              </a:solidFill>
              <a:latin typeface="Noto Sans Hans"/>
              <a:ea typeface="Noto Sans Hans"/>
              <a:cs typeface="Noto Sans Hans"/>
            </a:endParaRPr>
          </a:p>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产品证照先核</a:t>
            </a:r>
            <a:endParaRPr sz="780" b="1">
              <a:solidFill>
                <a:srgbClr val="9E3038"/>
              </a:solidFill>
              <a:latin typeface="Noto Sans Hans"/>
              <a:ea typeface="Noto Sans Hans"/>
              <a:cs typeface="Noto Sans Hans"/>
            </a:endParaRPr>
          </a:p>
        </p:txBody>
      </p:sp>
      <p:sp>
        <p:nvSpPr>
          <p:cNvPr id="152" name="矩形 151"/>
          <p:cNvSpPr>
            <a:spLocks noGrp="1"/>
          </p:cNvSpPr>
          <p:nvPr/>
        </p:nvSpPr>
        <p:spPr>
          <a:xfrm>
            <a:off x="457200" y="5069205"/>
            <a:ext cx="1095375" cy="340995"/>
          </a:xfrm>
          <a:prstGeom prst="rect">
            <a:avLst/>
          </a:prstGeom>
          <a:solidFill>
            <a:srgbClr val="F7F3F1"/>
          </a:solidFill>
          <a:ln w="9525">
            <a:solidFill>
              <a:srgbClr val="FFFFFF"/>
            </a:solidFill>
            <a:prstDash val="solid"/>
          </a:ln>
        </p:spPr>
      </p:sp>
      <p:sp>
        <p:nvSpPr>
          <p:cNvPr id="153" name="矩形 152"/>
          <p:cNvSpPr>
            <a:spLocks noGrp="1"/>
          </p:cNvSpPr>
          <p:nvPr/>
        </p:nvSpPr>
        <p:spPr>
          <a:xfrm>
            <a:off x="476250" y="5078730"/>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科峰传动</a:t>
            </a:r>
            <a:endParaRPr sz="780" b="1">
              <a:solidFill>
                <a:srgbClr val="9E3038"/>
              </a:solidFill>
              <a:latin typeface="Noto Sans Hans"/>
              <a:ea typeface="Noto Sans Hans"/>
              <a:cs typeface="Noto Sans Hans"/>
            </a:endParaRPr>
          </a:p>
        </p:txBody>
      </p:sp>
      <p:sp>
        <p:nvSpPr>
          <p:cNvPr id="154" name="矩形 153"/>
          <p:cNvSpPr>
            <a:spLocks noGrp="1"/>
          </p:cNvSpPr>
          <p:nvPr/>
        </p:nvSpPr>
        <p:spPr>
          <a:xfrm>
            <a:off x="1552575" y="5069205"/>
            <a:ext cx="952500" cy="340995"/>
          </a:xfrm>
          <a:prstGeom prst="rect">
            <a:avLst/>
          </a:prstGeom>
          <a:solidFill>
            <a:srgbClr val="F7F3F1"/>
          </a:solidFill>
          <a:ln w="9525">
            <a:solidFill>
              <a:srgbClr val="FFFFFF"/>
            </a:solidFill>
            <a:prstDash val="solid"/>
          </a:ln>
        </p:spPr>
      </p:sp>
      <p:sp>
        <p:nvSpPr>
          <p:cNvPr id="155" name="矩形 154"/>
          <p:cNvSpPr>
            <a:spLocks noGrp="1"/>
          </p:cNvSpPr>
          <p:nvPr/>
        </p:nvSpPr>
        <p:spPr>
          <a:xfrm>
            <a:off x="1571625" y="5078730"/>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湖北核心部件</a:t>
            </a:r>
            <a:endParaRPr sz="810" b="0">
              <a:solidFill>
                <a:srgbClr val="403A38"/>
              </a:solidFill>
              <a:latin typeface="Noto Sans Hans"/>
              <a:ea typeface="Noto Sans Hans"/>
              <a:cs typeface="Noto Sans Hans"/>
            </a:endParaRPr>
          </a:p>
        </p:txBody>
      </p:sp>
      <p:sp>
        <p:nvSpPr>
          <p:cNvPr id="156" name="矩形 155"/>
          <p:cNvSpPr>
            <a:spLocks noGrp="1"/>
          </p:cNvSpPr>
          <p:nvPr/>
        </p:nvSpPr>
        <p:spPr>
          <a:xfrm>
            <a:off x="2505075" y="5069205"/>
            <a:ext cx="1400175" cy="340995"/>
          </a:xfrm>
          <a:prstGeom prst="rect">
            <a:avLst/>
          </a:prstGeom>
          <a:solidFill>
            <a:srgbClr val="F7F3F1"/>
          </a:solidFill>
          <a:ln w="9525">
            <a:solidFill>
              <a:srgbClr val="FFFFFF"/>
            </a:solidFill>
            <a:prstDash val="solid"/>
          </a:ln>
        </p:spPr>
      </p:sp>
      <p:sp>
        <p:nvSpPr>
          <p:cNvPr id="157" name="矩形 156"/>
          <p:cNvSpPr>
            <a:spLocks noGrp="1"/>
          </p:cNvSpPr>
          <p:nvPr/>
        </p:nvSpPr>
        <p:spPr>
          <a:xfrm>
            <a:off x="2524125" y="5078730"/>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减速器、丝杠、关节模组</a:t>
            </a:r>
            <a:endParaRPr sz="780" b="0">
              <a:solidFill>
                <a:srgbClr val="403A38"/>
              </a:solidFill>
              <a:latin typeface="Noto Sans Hans"/>
              <a:ea typeface="Noto Sans Hans"/>
              <a:cs typeface="Noto Sans Hans"/>
            </a:endParaRPr>
          </a:p>
        </p:txBody>
      </p:sp>
      <p:sp>
        <p:nvSpPr>
          <p:cNvPr id="158" name="矩形 157"/>
          <p:cNvSpPr>
            <a:spLocks noGrp="1"/>
          </p:cNvSpPr>
          <p:nvPr/>
        </p:nvSpPr>
        <p:spPr>
          <a:xfrm>
            <a:off x="3905250" y="5069205"/>
            <a:ext cx="1714500" cy="340995"/>
          </a:xfrm>
          <a:prstGeom prst="rect">
            <a:avLst/>
          </a:prstGeom>
          <a:solidFill>
            <a:srgbClr val="F7F3F1"/>
          </a:solidFill>
          <a:ln w="9525">
            <a:solidFill>
              <a:srgbClr val="FFFFFF"/>
            </a:solidFill>
            <a:prstDash val="solid"/>
          </a:ln>
        </p:spPr>
      </p:sp>
      <p:sp>
        <p:nvSpPr>
          <p:cNvPr id="159" name="矩形 158"/>
          <p:cNvSpPr>
            <a:spLocks noGrp="1"/>
          </p:cNvSpPr>
          <p:nvPr/>
        </p:nvSpPr>
        <p:spPr>
          <a:xfrm>
            <a:off x="3924300" y="5078730"/>
            <a:ext cx="1676400"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国家级专精特新“小巨人”</a:t>
            </a:r>
            <a:endParaRPr sz="780" b="0">
              <a:solidFill>
                <a:srgbClr val="403A38"/>
              </a:solidFill>
              <a:latin typeface="Noto Sans Hans"/>
              <a:ea typeface="Noto Sans Hans"/>
              <a:cs typeface="Noto Sans Hans"/>
            </a:endParaRPr>
          </a:p>
        </p:txBody>
      </p:sp>
      <p:sp>
        <p:nvSpPr>
          <p:cNvPr id="160" name="矩形 159"/>
          <p:cNvSpPr>
            <a:spLocks noGrp="1"/>
          </p:cNvSpPr>
          <p:nvPr/>
        </p:nvSpPr>
        <p:spPr>
          <a:xfrm>
            <a:off x="5619750" y="5069205"/>
            <a:ext cx="1666875" cy="340995"/>
          </a:xfrm>
          <a:prstGeom prst="rect">
            <a:avLst/>
          </a:prstGeom>
          <a:solidFill>
            <a:srgbClr val="F7F3F1"/>
          </a:solidFill>
          <a:ln w="9525">
            <a:solidFill>
              <a:srgbClr val="FFFFFF"/>
            </a:solidFill>
            <a:prstDash val="solid"/>
          </a:ln>
        </p:spPr>
      </p:sp>
      <p:sp>
        <p:nvSpPr>
          <p:cNvPr id="161" name="矩形 160"/>
          <p:cNvSpPr>
            <a:spLocks noGrp="1"/>
          </p:cNvSpPr>
          <p:nvPr/>
        </p:nvSpPr>
        <p:spPr>
          <a:xfrm>
            <a:off x="5638800" y="5078730"/>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股权投资、扩产、联合验证</a:t>
            </a:r>
            <a:endParaRPr sz="780" b="0">
              <a:solidFill>
                <a:srgbClr val="403A38"/>
              </a:solidFill>
              <a:latin typeface="Noto Sans Hans"/>
              <a:ea typeface="Noto Sans Hans"/>
              <a:cs typeface="Noto Sans Hans"/>
            </a:endParaRPr>
          </a:p>
        </p:txBody>
      </p:sp>
      <p:sp>
        <p:nvSpPr>
          <p:cNvPr id="162" name="矩形 161"/>
          <p:cNvSpPr>
            <a:spLocks noGrp="1"/>
          </p:cNvSpPr>
          <p:nvPr/>
        </p:nvSpPr>
        <p:spPr>
          <a:xfrm>
            <a:off x="7286625" y="5069205"/>
            <a:ext cx="1952625" cy="340995"/>
          </a:xfrm>
          <a:prstGeom prst="rect">
            <a:avLst/>
          </a:prstGeom>
          <a:solidFill>
            <a:srgbClr val="F7F3F1"/>
          </a:solidFill>
          <a:ln w="9525">
            <a:solidFill>
              <a:srgbClr val="FFFFFF"/>
            </a:solidFill>
            <a:prstDash val="solid"/>
          </a:ln>
        </p:spPr>
      </p:sp>
      <p:sp>
        <p:nvSpPr>
          <p:cNvPr id="163" name="矩形 162"/>
          <p:cNvSpPr>
            <a:spLocks noGrp="1"/>
          </p:cNvSpPr>
          <p:nvPr/>
        </p:nvSpPr>
        <p:spPr>
          <a:xfrm>
            <a:off x="7305675" y="5078730"/>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客户集中、IPO进展、寿命与产能</a:t>
            </a:r>
            <a:endParaRPr sz="780" b="0">
              <a:solidFill>
                <a:srgbClr val="403A38"/>
              </a:solidFill>
              <a:latin typeface="Noto Sans Hans"/>
              <a:ea typeface="Noto Sans Hans"/>
              <a:cs typeface="Noto Sans Hans"/>
            </a:endParaRPr>
          </a:p>
        </p:txBody>
      </p:sp>
      <p:sp>
        <p:nvSpPr>
          <p:cNvPr id="164" name="矩形 163"/>
          <p:cNvSpPr>
            <a:spLocks noGrp="1"/>
          </p:cNvSpPr>
          <p:nvPr/>
        </p:nvSpPr>
        <p:spPr>
          <a:xfrm>
            <a:off x="9239250" y="5069205"/>
            <a:ext cx="2381250" cy="340995"/>
          </a:xfrm>
          <a:prstGeom prst="rect">
            <a:avLst/>
          </a:prstGeom>
          <a:solidFill>
            <a:srgbClr val="F5EDDA"/>
          </a:solidFill>
          <a:ln w="9525">
            <a:solidFill>
              <a:srgbClr val="FFFFFF"/>
            </a:solidFill>
            <a:prstDash val="solid"/>
          </a:ln>
        </p:spPr>
      </p:sp>
      <p:sp>
        <p:nvSpPr>
          <p:cNvPr id="165" name="矩形 164"/>
          <p:cNvSpPr>
            <a:spLocks noGrp="1"/>
          </p:cNvSpPr>
          <p:nvPr/>
        </p:nvSpPr>
        <p:spPr>
          <a:xfrm>
            <a:off x="9258300" y="5078730"/>
            <a:ext cx="234315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8F6900"/>
                </a:solidFill>
                <a:latin typeface="Noto Sans Hans"/>
                <a:ea typeface="Noto Sans Hans"/>
                <a:cs typeface="Noto Sans Hans"/>
              </a:defRPr>
            </a:pPr>
            <a:r>
              <a:rPr sz="780" b="1">
                <a:solidFill>
                  <a:srgbClr val="8F6900"/>
                </a:solidFill>
                <a:latin typeface="Noto Sans Hans"/>
                <a:ea typeface="Noto Sans Hans"/>
                <a:cs typeface="Noto Sans Hans"/>
              </a:rPr>
              <a:t>湖北补链首选</a:t>
            </a:r>
            <a:endParaRPr sz="780" b="1">
              <a:solidFill>
                <a:srgbClr val="8F6900"/>
              </a:solidFill>
              <a:latin typeface="Noto Sans Hans"/>
              <a:ea typeface="Noto Sans Hans"/>
              <a:cs typeface="Noto Sans Hans"/>
            </a:endParaRPr>
          </a:p>
        </p:txBody>
      </p:sp>
      <p:sp>
        <p:nvSpPr>
          <p:cNvPr id="166" name="矩形 165"/>
          <p:cNvSpPr>
            <a:spLocks noGrp="1"/>
          </p:cNvSpPr>
          <p:nvPr/>
        </p:nvSpPr>
        <p:spPr>
          <a:xfrm>
            <a:off x="457200" y="5410200"/>
            <a:ext cx="1095375" cy="340995"/>
          </a:xfrm>
          <a:prstGeom prst="rect">
            <a:avLst/>
          </a:prstGeom>
          <a:solidFill>
            <a:srgbClr val="F8E5E4"/>
          </a:solidFill>
          <a:ln w="9525">
            <a:solidFill>
              <a:srgbClr val="FFFFFF"/>
            </a:solidFill>
            <a:prstDash val="solid"/>
          </a:ln>
        </p:spPr>
      </p:sp>
      <p:sp>
        <p:nvSpPr>
          <p:cNvPr id="167" name="矩形 166"/>
          <p:cNvSpPr>
            <a:spLocks noGrp="1"/>
          </p:cNvSpPr>
          <p:nvPr/>
        </p:nvSpPr>
        <p:spPr>
          <a:xfrm>
            <a:off x="476250" y="5419725"/>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华威科</a:t>
            </a:r>
            <a:endParaRPr sz="780" b="1">
              <a:solidFill>
                <a:srgbClr val="9E3038"/>
              </a:solidFill>
              <a:latin typeface="Noto Sans Hans"/>
              <a:ea typeface="Noto Sans Hans"/>
              <a:cs typeface="Noto Sans Hans"/>
            </a:endParaRPr>
          </a:p>
        </p:txBody>
      </p:sp>
      <p:sp>
        <p:nvSpPr>
          <p:cNvPr id="168" name="矩形 167"/>
          <p:cNvSpPr>
            <a:spLocks noGrp="1"/>
          </p:cNvSpPr>
          <p:nvPr/>
        </p:nvSpPr>
        <p:spPr>
          <a:xfrm>
            <a:off x="1552575" y="5410200"/>
            <a:ext cx="952500" cy="340995"/>
          </a:xfrm>
          <a:prstGeom prst="rect">
            <a:avLst/>
          </a:prstGeom>
          <a:solidFill>
            <a:srgbClr val="F8E5E4"/>
          </a:solidFill>
          <a:ln w="9525">
            <a:solidFill>
              <a:srgbClr val="FFFFFF"/>
            </a:solidFill>
            <a:prstDash val="solid"/>
          </a:ln>
        </p:spPr>
      </p:sp>
      <p:sp>
        <p:nvSpPr>
          <p:cNvPr id="169" name="矩形 168"/>
          <p:cNvSpPr>
            <a:spLocks noGrp="1"/>
          </p:cNvSpPr>
          <p:nvPr/>
        </p:nvSpPr>
        <p:spPr>
          <a:xfrm>
            <a:off x="1571625" y="5419725"/>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本地触觉部件</a:t>
            </a:r>
            <a:endParaRPr sz="810" b="0">
              <a:solidFill>
                <a:srgbClr val="403A38"/>
              </a:solidFill>
              <a:latin typeface="Noto Sans Hans"/>
              <a:ea typeface="Noto Sans Hans"/>
              <a:cs typeface="Noto Sans Hans"/>
            </a:endParaRPr>
          </a:p>
        </p:txBody>
      </p:sp>
      <p:sp>
        <p:nvSpPr>
          <p:cNvPr id="170" name="矩形 169"/>
          <p:cNvSpPr>
            <a:spLocks noGrp="1"/>
          </p:cNvSpPr>
          <p:nvPr/>
        </p:nvSpPr>
        <p:spPr>
          <a:xfrm>
            <a:off x="2505075" y="5410200"/>
            <a:ext cx="1400175" cy="340995"/>
          </a:xfrm>
          <a:prstGeom prst="rect">
            <a:avLst/>
          </a:prstGeom>
          <a:solidFill>
            <a:srgbClr val="F8E5E4"/>
          </a:solidFill>
          <a:ln w="9525">
            <a:solidFill>
              <a:srgbClr val="FFFFFF"/>
            </a:solidFill>
            <a:prstDash val="solid"/>
          </a:ln>
        </p:spPr>
      </p:sp>
      <p:sp>
        <p:nvSpPr>
          <p:cNvPr id="171" name="矩形 170"/>
          <p:cNvSpPr>
            <a:spLocks noGrp="1"/>
          </p:cNvSpPr>
          <p:nvPr/>
        </p:nvSpPr>
        <p:spPr>
          <a:xfrm>
            <a:off x="2524125" y="5419725"/>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柔性电子皮肤</a:t>
            </a:r>
            <a:endParaRPr sz="780" b="0">
              <a:solidFill>
                <a:srgbClr val="403A38"/>
              </a:solidFill>
              <a:latin typeface="Noto Sans Hans"/>
              <a:ea typeface="Noto Sans Hans"/>
              <a:cs typeface="Noto Sans Hans"/>
            </a:endParaRPr>
          </a:p>
        </p:txBody>
      </p:sp>
      <p:sp>
        <p:nvSpPr>
          <p:cNvPr id="172" name="矩形 171"/>
          <p:cNvSpPr>
            <a:spLocks noGrp="1"/>
          </p:cNvSpPr>
          <p:nvPr/>
        </p:nvSpPr>
        <p:spPr>
          <a:xfrm>
            <a:off x="3905250" y="5410200"/>
            <a:ext cx="1714500" cy="340995"/>
          </a:xfrm>
          <a:prstGeom prst="rect">
            <a:avLst/>
          </a:prstGeom>
          <a:solidFill>
            <a:srgbClr val="F8E5E4"/>
          </a:solidFill>
          <a:ln w="9525">
            <a:solidFill>
              <a:srgbClr val="FFFFFF"/>
            </a:solidFill>
            <a:prstDash val="solid"/>
          </a:ln>
        </p:spPr>
      </p:sp>
      <p:sp>
        <p:nvSpPr>
          <p:cNvPr id="173" name="矩形 172"/>
          <p:cNvSpPr>
            <a:spLocks noGrp="1"/>
          </p:cNvSpPr>
          <p:nvPr/>
        </p:nvSpPr>
        <p:spPr>
          <a:xfrm>
            <a:off x="3924300" y="5419725"/>
            <a:ext cx="1676400"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公开披露批量交付</a:t>
            </a:r>
            <a:endParaRPr sz="780" b="0">
              <a:solidFill>
                <a:srgbClr val="403A38"/>
              </a:solidFill>
              <a:latin typeface="Noto Sans Hans"/>
              <a:ea typeface="Noto Sans Hans"/>
              <a:cs typeface="Noto Sans Hans"/>
            </a:endParaRPr>
          </a:p>
        </p:txBody>
      </p:sp>
      <p:sp>
        <p:nvSpPr>
          <p:cNvPr id="174" name="矩形 173"/>
          <p:cNvSpPr>
            <a:spLocks noGrp="1"/>
          </p:cNvSpPr>
          <p:nvPr/>
        </p:nvSpPr>
        <p:spPr>
          <a:xfrm>
            <a:off x="5619750" y="5410200"/>
            <a:ext cx="1666875" cy="340995"/>
          </a:xfrm>
          <a:prstGeom prst="rect">
            <a:avLst/>
          </a:prstGeom>
          <a:solidFill>
            <a:srgbClr val="F8E5E4"/>
          </a:solidFill>
          <a:ln w="9525">
            <a:solidFill>
              <a:srgbClr val="FFFFFF"/>
            </a:solidFill>
            <a:prstDash val="solid"/>
          </a:ln>
        </p:spPr>
      </p:sp>
      <p:sp>
        <p:nvSpPr>
          <p:cNvPr id="175" name="矩形 174"/>
          <p:cNvSpPr>
            <a:spLocks noGrp="1"/>
          </p:cNvSpPr>
          <p:nvPr/>
        </p:nvSpPr>
        <p:spPr>
          <a:xfrm>
            <a:off x="5638800" y="5419725"/>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供应链投资、与整机企业联合验证</a:t>
            </a:r>
            <a:endParaRPr sz="780" b="0">
              <a:solidFill>
                <a:srgbClr val="403A38"/>
              </a:solidFill>
              <a:latin typeface="Noto Sans Hans"/>
              <a:ea typeface="Noto Sans Hans"/>
              <a:cs typeface="Noto Sans Hans"/>
            </a:endParaRPr>
          </a:p>
        </p:txBody>
      </p:sp>
      <p:sp>
        <p:nvSpPr>
          <p:cNvPr id="176" name="矩形 175"/>
          <p:cNvSpPr>
            <a:spLocks noGrp="1"/>
          </p:cNvSpPr>
          <p:nvPr/>
        </p:nvSpPr>
        <p:spPr>
          <a:xfrm>
            <a:off x="7286625" y="5410200"/>
            <a:ext cx="1952625" cy="340995"/>
          </a:xfrm>
          <a:prstGeom prst="rect">
            <a:avLst/>
          </a:prstGeom>
          <a:solidFill>
            <a:srgbClr val="F8E5E4"/>
          </a:solidFill>
          <a:ln w="9525">
            <a:solidFill>
              <a:srgbClr val="FFFFFF"/>
            </a:solidFill>
            <a:prstDash val="solid"/>
          </a:ln>
        </p:spPr>
      </p:sp>
      <p:sp>
        <p:nvSpPr>
          <p:cNvPr id="177" name="矩形 176"/>
          <p:cNvSpPr>
            <a:spLocks noGrp="1"/>
          </p:cNvSpPr>
          <p:nvPr/>
        </p:nvSpPr>
        <p:spPr>
          <a:xfrm>
            <a:off x="7305675" y="5419725"/>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收入、客户集中、知识产权</a:t>
            </a:r>
            <a:endParaRPr sz="780" b="0">
              <a:solidFill>
                <a:srgbClr val="403A38"/>
              </a:solidFill>
              <a:latin typeface="Noto Sans Hans"/>
              <a:ea typeface="Noto Sans Hans"/>
              <a:cs typeface="Noto Sans Hans"/>
            </a:endParaRPr>
          </a:p>
        </p:txBody>
      </p:sp>
      <p:sp>
        <p:nvSpPr>
          <p:cNvPr id="178" name="矩形 177"/>
          <p:cNvSpPr>
            <a:spLocks noGrp="1"/>
          </p:cNvSpPr>
          <p:nvPr/>
        </p:nvSpPr>
        <p:spPr>
          <a:xfrm>
            <a:off x="9239250" y="5410200"/>
            <a:ext cx="2381250" cy="340995"/>
          </a:xfrm>
          <a:prstGeom prst="rect">
            <a:avLst/>
          </a:prstGeom>
          <a:solidFill>
            <a:srgbClr val="F5EDDA"/>
          </a:solidFill>
          <a:ln w="9525">
            <a:solidFill>
              <a:srgbClr val="FFFFFF"/>
            </a:solidFill>
            <a:prstDash val="solid"/>
          </a:ln>
        </p:spPr>
      </p:sp>
      <p:sp>
        <p:nvSpPr>
          <p:cNvPr id="179" name="矩形 178"/>
          <p:cNvSpPr>
            <a:spLocks noGrp="1"/>
          </p:cNvSpPr>
          <p:nvPr/>
        </p:nvSpPr>
        <p:spPr>
          <a:xfrm>
            <a:off x="9258300" y="5419725"/>
            <a:ext cx="234315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8F6900"/>
                </a:solidFill>
                <a:latin typeface="Noto Sans Hans"/>
                <a:ea typeface="Noto Sans Hans"/>
                <a:cs typeface="Noto Sans Hans"/>
              </a:defRPr>
            </a:pPr>
            <a:r>
              <a:rPr sz="780" b="1">
                <a:solidFill>
                  <a:srgbClr val="8F6900"/>
                </a:solidFill>
                <a:latin typeface="Noto Sans Hans"/>
                <a:ea typeface="Noto Sans Hans"/>
                <a:cs typeface="Noto Sans Hans"/>
              </a:rPr>
              <a:t>本地补链重点</a:t>
            </a:r>
            <a:endParaRPr sz="780" b="1">
              <a:solidFill>
                <a:srgbClr val="8F6900"/>
              </a:solidFill>
              <a:latin typeface="Noto Sans Hans"/>
              <a:ea typeface="Noto Sans Hans"/>
              <a:cs typeface="Noto Sans Hans"/>
            </a:endParaRPr>
          </a:p>
        </p:txBody>
      </p:sp>
      <p:sp>
        <p:nvSpPr>
          <p:cNvPr id="180" name="矩形 179"/>
          <p:cNvSpPr>
            <a:spLocks noGrp="1"/>
          </p:cNvSpPr>
          <p:nvPr/>
        </p:nvSpPr>
        <p:spPr>
          <a:xfrm>
            <a:off x="457200" y="5751195"/>
            <a:ext cx="1095375" cy="340995"/>
          </a:xfrm>
          <a:prstGeom prst="rect">
            <a:avLst/>
          </a:prstGeom>
          <a:solidFill>
            <a:srgbClr val="F7F3F1"/>
          </a:solidFill>
          <a:ln w="9525">
            <a:solidFill>
              <a:srgbClr val="FFFFFF"/>
            </a:solidFill>
            <a:prstDash val="solid"/>
          </a:ln>
        </p:spPr>
      </p:sp>
      <p:sp>
        <p:nvSpPr>
          <p:cNvPr id="181" name="矩形 180"/>
          <p:cNvSpPr>
            <a:spLocks noGrp="1"/>
          </p:cNvSpPr>
          <p:nvPr/>
        </p:nvSpPr>
        <p:spPr>
          <a:xfrm>
            <a:off x="476250" y="5760720"/>
            <a:ext cx="1057275"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680" b="1">
                <a:solidFill>
                  <a:srgbClr val="9E3038"/>
                </a:solidFill>
                <a:latin typeface="Noto Sans Hans"/>
                <a:ea typeface="Noto Sans Hans"/>
                <a:cs typeface="Noto Sans Hans"/>
              </a:defRPr>
            </a:pPr>
            <a:r>
              <a:rPr sz="780" b="1">
                <a:solidFill>
                  <a:srgbClr val="9E3038"/>
                </a:solidFill>
                <a:latin typeface="Noto Sans Hans"/>
                <a:ea typeface="Noto Sans Hans"/>
                <a:cs typeface="Noto Sans Hans"/>
              </a:rPr>
              <a:t>奥比中光</a:t>
            </a:r>
            <a:endParaRPr sz="780" b="1">
              <a:solidFill>
                <a:srgbClr val="9E3038"/>
              </a:solidFill>
              <a:latin typeface="Noto Sans Hans"/>
              <a:ea typeface="Noto Sans Hans"/>
              <a:cs typeface="Noto Sans Hans"/>
            </a:endParaRPr>
          </a:p>
        </p:txBody>
      </p:sp>
      <p:sp>
        <p:nvSpPr>
          <p:cNvPr id="182" name="矩形 181"/>
          <p:cNvSpPr>
            <a:spLocks noGrp="1"/>
          </p:cNvSpPr>
          <p:nvPr/>
        </p:nvSpPr>
        <p:spPr>
          <a:xfrm>
            <a:off x="1552575" y="5751195"/>
            <a:ext cx="952500" cy="340995"/>
          </a:xfrm>
          <a:prstGeom prst="rect">
            <a:avLst/>
          </a:prstGeom>
          <a:solidFill>
            <a:srgbClr val="F7F3F1"/>
          </a:solidFill>
          <a:ln w="9525">
            <a:solidFill>
              <a:srgbClr val="FFFFFF"/>
            </a:solidFill>
            <a:prstDash val="solid"/>
          </a:ln>
        </p:spPr>
      </p:sp>
      <p:sp>
        <p:nvSpPr>
          <p:cNvPr id="183" name="矩形 182"/>
          <p:cNvSpPr>
            <a:spLocks noGrp="1"/>
          </p:cNvSpPr>
          <p:nvPr/>
        </p:nvSpPr>
        <p:spPr>
          <a:xfrm>
            <a:off x="1571625" y="5760720"/>
            <a:ext cx="914400" cy="32194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705" b="0">
                <a:solidFill>
                  <a:srgbClr val="403A38"/>
                </a:solidFill>
                <a:latin typeface="Noto Sans Hans"/>
                <a:ea typeface="Noto Sans Hans"/>
                <a:cs typeface="Noto Sans Hans"/>
              </a:defRPr>
            </a:pPr>
            <a:r>
              <a:rPr sz="810" b="0">
                <a:solidFill>
                  <a:srgbClr val="403A38"/>
                </a:solidFill>
                <a:latin typeface="Noto Sans Hans"/>
                <a:ea typeface="Noto Sans Hans"/>
                <a:cs typeface="Noto Sans Hans"/>
              </a:rPr>
              <a:t>上市3D视觉平台</a:t>
            </a:r>
            <a:endParaRPr sz="810" b="0">
              <a:solidFill>
                <a:srgbClr val="403A38"/>
              </a:solidFill>
              <a:latin typeface="Noto Sans Hans"/>
              <a:ea typeface="Noto Sans Hans"/>
              <a:cs typeface="Noto Sans Hans"/>
            </a:endParaRPr>
          </a:p>
        </p:txBody>
      </p:sp>
      <p:sp>
        <p:nvSpPr>
          <p:cNvPr id="184" name="矩形 183"/>
          <p:cNvSpPr>
            <a:spLocks noGrp="1"/>
          </p:cNvSpPr>
          <p:nvPr/>
        </p:nvSpPr>
        <p:spPr>
          <a:xfrm>
            <a:off x="2505075" y="5751195"/>
            <a:ext cx="1400175" cy="340995"/>
          </a:xfrm>
          <a:prstGeom prst="rect">
            <a:avLst/>
          </a:prstGeom>
          <a:solidFill>
            <a:srgbClr val="F7F3F1"/>
          </a:solidFill>
          <a:ln w="9525">
            <a:solidFill>
              <a:srgbClr val="FFFFFF"/>
            </a:solidFill>
            <a:prstDash val="solid"/>
          </a:ln>
        </p:spPr>
      </p:sp>
      <p:sp>
        <p:nvSpPr>
          <p:cNvPr id="185" name="矩形 184"/>
          <p:cNvSpPr>
            <a:spLocks noGrp="1"/>
          </p:cNvSpPr>
          <p:nvPr/>
        </p:nvSpPr>
        <p:spPr>
          <a:xfrm>
            <a:off x="2524125" y="5760720"/>
            <a:ext cx="13620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3D视觉传感器</a:t>
            </a:r>
            <a:endParaRPr sz="780" b="0">
              <a:solidFill>
                <a:srgbClr val="403A38"/>
              </a:solidFill>
              <a:latin typeface="Noto Sans Hans"/>
              <a:ea typeface="Noto Sans Hans"/>
              <a:cs typeface="Noto Sans Hans"/>
            </a:endParaRPr>
          </a:p>
        </p:txBody>
      </p:sp>
      <p:sp>
        <p:nvSpPr>
          <p:cNvPr id="186" name="矩形 185"/>
          <p:cNvSpPr>
            <a:spLocks noGrp="1"/>
          </p:cNvSpPr>
          <p:nvPr/>
        </p:nvSpPr>
        <p:spPr>
          <a:xfrm>
            <a:off x="3905250" y="5751195"/>
            <a:ext cx="1714500" cy="340995"/>
          </a:xfrm>
          <a:prstGeom prst="rect">
            <a:avLst/>
          </a:prstGeom>
          <a:solidFill>
            <a:srgbClr val="F7F3F1"/>
          </a:solidFill>
          <a:ln w="9525">
            <a:solidFill>
              <a:srgbClr val="FFFFFF"/>
            </a:solidFill>
            <a:prstDash val="solid"/>
          </a:ln>
        </p:spPr>
      </p:sp>
      <p:sp>
        <p:nvSpPr>
          <p:cNvPr id="187" name="矩形 186"/>
          <p:cNvSpPr>
            <a:spLocks noGrp="1"/>
          </p:cNvSpPr>
          <p:nvPr/>
        </p:nvSpPr>
        <p:spPr>
          <a:xfrm>
            <a:off x="3924300" y="5760720"/>
            <a:ext cx="1676400" cy="321945"/>
          </a:xfrm>
          <a:prstGeom prst="rect">
            <a:avLst/>
          </a:prstGeom>
          <a:noFill/>
          <a:ln w="0">
            <a:noFill/>
            <a:prstDash val="solid"/>
          </a:ln>
        </p:spPr>
        <p:txBody>
          <a:bodyPr wrap="square" lIns="47625" tIns="19050" rIns="47625" bIns="19050" anchor="ctr">
            <a:normAutofit lnSpcReduction="10000"/>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2025收入9.41亿元、净利润1.28亿元</a:t>
            </a:r>
            <a:endParaRPr sz="780" b="0">
              <a:solidFill>
                <a:srgbClr val="403A38"/>
              </a:solidFill>
              <a:latin typeface="Noto Sans Hans"/>
              <a:ea typeface="Noto Sans Hans"/>
              <a:cs typeface="Noto Sans Hans"/>
            </a:endParaRPr>
          </a:p>
        </p:txBody>
      </p:sp>
      <p:sp>
        <p:nvSpPr>
          <p:cNvPr id="188" name="矩形 187"/>
          <p:cNvSpPr>
            <a:spLocks noGrp="1"/>
          </p:cNvSpPr>
          <p:nvPr/>
        </p:nvSpPr>
        <p:spPr>
          <a:xfrm>
            <a:off x="5619750" y="5751195"/>
            <a:ext cx="1666875" cy="340995"/>
          </a:xfrm>
          <a:prstGeom prst="rect">
            <a:avLst/>
          </a:prstGeom>
          <a:solidFill>
            <a:srgbClr val="F7F3F1"/>
          </a:solidFill>
          <a:ln w="9525">
            <a:solidFill>
              <a:srgbClr val="FFFFFF"/>
            </a:solidFill>
            <a:prstDash val="solid"/>
          </a:ln>
        </p:spPr>
      </p:sp>
      <p:sp>
        <p:nvSpPr>
          <p:cNvPr id="189" name="矩形 188"/>
          <p:cNvSpPr>
            <a:spLocks noGrp="1"/>
          </p:cNvSpPr>
          <p:nvPr/>
        </p:nvSpPr>
        <p:spPr>
          <a:xfrm>
            <a:off x="5638800" y="5760720"/>
            <a:ext cx="162877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基金配置、联合感知方案</a:t>
            </a:r>
            <a:endParaRPr sz="780" b="0">
              <a:solidFill>
                <a:srgbClr val="403A38"/>
              </a:solidFill>
              <a:latin typeface="Noto Sans Hans"/>
              <a:ea typeface="Noto Sans Hans"/>
              <a:cs typeface="Noto Sans Hans"/>
            </a:endParaRPr>
          </a:p>
        </p:txBody>
      </p:sp>
      <p:sp>
        <p:nvSpPr>
          <p:cNvPr id="190" name="矩形 189"/>
          <p:cNvSpPr>
            <a:spLocks noGrp="1"/>
          </p:cNvSpPr>
          <p:nvPr/>
        </p:nvSpPr>
        <p:spPr>
          <a:xfrm>
            <a:off x="7286625" y="5751195"/>
            <a:ext cx="1952625" cy="340995"/>
          </a:xfrm>
          <a:prstGeom prst="rect">
            <a:avLst/>
          </a:prstGeom>
          <a:solidFill>
            <a:srgbClr val="F7F3F1"/>
          </a:solidFill>
          <a:ln w="9525">
            <a:solidFill>
              <a:srgbClr val="FFFFFF"/>
            </a:solidFill>
            <a:prstDash val="solid"/>
          </a:ln>
        </p:spPr>
      </p:sp>
      <p:sp>
        <p:nvSpPr>
          <p:cNvPr id="191" name="矩形 190"/>
          <p:cNvSpPr>
            <a:spLocks noGrp="1"/>
          </p:cNvSpPr>
          <p:nvPr/>
        </p:nvSpPr>
        <p:spPr>
          <a:xfrm>
            <a:off x="7305675" y="5760720"/>
            <a:ext cx="1914525" cy="321945"/>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680" b="0">
                <a:solidFill>
                  <a:srgbClr val="403A38"/>
                </a:solidFill>
                <a:latin typeface="Noto Sans Hans"/>
                <a:ea typeface="Noto Sans Hans"/>
                <a:cs typeface="Noto Sans Hans"/>
              </a:defRPr>
            </a:pPr>
            <a:r>
              <a:rPr sz="780" b="0">
                <a:solidFill>
                  <a:srgbClr val="403A38"/>
                </a:solidFill>
                <a:latin typeface="Noto Sans Hans"/>
                <a:ea typeface="Noto Sans Hans"/>
                <a:cs typeface="Noto Sans Hans"/>
              </a:rPr>
              <a:t>机器人收入占比、下游价格竞争</a:t>
            </a:r>
            <a:endParaRPr sz="780" b="0">
              <a:solidFill>
                <a:srgbClr val="403A38"/>
              </a:solidFill>
              <a:latin typeface="Noto Sans Hans"/>
              <a:ea typeface="Noto Sans Hans"/>
              <a:cs typeface="Noto Sans Hans"/>
            </a:endParaRPr>
          </a:p>
        </p:txBody>
      </p:sp>
      <p:sp>
        <p:nvSpPr>
          <p:cNvPr id="192" name="矩形 191"/>
          <p:cNvSpPr>
            <a:spLocks noGrp="1"/>
          </p:cNvSpPr>
          <p:nvPr/>
        </p:nvSpPr>
        <p:spPr>
          <a:xfrm>
            <a:off x="9239250" y="5751195"/>
            <a:ext cx="2381250" cy="340995"/>
          </a:xfrm>
          <a:prstGeom prst="rect">
            <a:avLst/>
          </a:prstGeom>
          <a:solidFill>
            <a:srgbClr val="F5EDDA"/>
          </a:solidFill>
          <a:ln w="9525">
            <a:solidFill>
              <a:srgbClr val="FFFFFF"/>
            </a:solidFill>
            <a:prstDash val="solid"/>
          </a:ln>
        </p:spPr>
      </p:sp>
      <p:sp>
        <p:nvSpPr>
          <p:cNvPr id="193" name="矩形 192"/>
          <p:cNvSpPr>
            <a:spLocks noGrp="1"/>
          </p:cNvSpPr>
          <p:nvPr/>
        </p:nvSpPr>
        <p:spPr>
          <a:xfrm>
            <a:off x="9258300" y="5760720"/>
            <a:ext cx="2343150" cy="321945"/>
          </a:xfrm>
          <a:prstGeom prst="rect">
            <a:avLst/>
          </a:prstGeom>
          <a:noFill/>
          <a:ln w="0">
            <a:noFill/>
            <a:prstDash val="solid"/>
          </a:ln>
        </p:spPr>
        <p:txBody>
          <a:bodyPr wrap="square" lIns="47625" tIns="19050" rIns="47625" bIns="19050" anchor="ctr">
            <a:normAutofit lnSpcReduction="10000"/>
          </a:bodyPr>
          <a:lstStyle/>
          <a:p>
            <a:pPr algn="ctr" eaLnBrk="1" fontAlgn="auto" latinLnBrk="0" hangingPunct="1">
              <a:lnSpc>
                <a:spcPct val="120000"/>
              </a:lnSpc>
              <a:defRPr sz="680" b="1">
                <a:solidFill>
                  <a:srgbClr val="8F6900"/>
                </a:solidFill>
                <a:latin typeface="Noto Sans Hans"/>
                <a:ea typeface="Noto Sans Hans"/>
                <a:cs typeface="Noto Sans Hans"/>
              </a:defRPr>
            </a:pPr>
            <a:r>
              <a:rPr sz="780" b="1">
                <a:solidFill>
                  <a:srgbClr val="8F6900"/>
                </a:solidFill>
                <a:latin typeface="Noto Sans Hans"/>
                <a:ea typeface="Noto Sans Hans"/>
                <a:cs typeface="Noto Sans Hans"/>
              </a:rPr>
              <a:t>补链优先</a:t>
            </a:r>
            <a:endParaRPr sz="780" b="1">
              <a:solidFill>
                <a:srgbClr val="8F6900"/>
              </a:solidFill>
              <a:latin typeface="Noto Sans Hans"/>
              <a:ea typeface="Noto Sans Hans"/>
              <a:cs typeface="Noto Sans Hans"/>
            </a:endParaRPr>
          </a:p>
          <a:p>
            <a:pPr algn="ctr" eaLnBrk="1" fontAlgn="auto" latinLnBrk="0" hangingPunct="1">
              <a:lnSpc>
                <a:spcPct val="120000"/>
              </a:lnSpc>
              <a:defRPr sz="680" b="1">
                <a:solidFill>
                  <a:srgbClr val="8F6900"/>
                </a:solidFill>
                <a:latin typeface="Noto Sans Hans"/>
                <a:ea typeface="Noto Sans Hans"/>
                <a:cs typeface="Noto Sans Hans"/>
              </a:defRPr>
            </a:pPr>
            <a:r>
              <a:rPr sz="780" b="1">
                <a:solidFill>
                  <a:srgbClr val="8F6900"/>
                </a:solidFill>
                <a:latin typeface="Noto Sans Hans"/>
                <a:ea typeface="Noto Sans Hans"/>
                <a:cs typeface="Noto Sans Hans"/>
              </a:rPr>
              <a:t>成熟供应商</a:t>
            </a:r>
            <a:endParaRPr sz="780" b="1">
              <a:solidFill>
                <a:srgbClr val="8F6900"/>
              </a:solidFill>
              <a:latin typeface="Noto Sans Hans"/>
              <a:ea typeface="Noto Sans Hans"/>
              <a:cs typeface="Noto Sans Hans"/>
            </a:endParaRPr>
          </a:p>
        </p:txBody>
      </p:sp>
      <p:sp>
        <p:nvSpPr>
          <p:cNvPr id="194" name="圆角矩形 193"/>
          <p:cNvSpPr>
            <a:spLocks noGrp="1"/>
          </p:cNvSpPr>
          <p:nvPr/>
        </p:nvSpPr>
        <p:spPr>
          <a:xfrm>
            <a:off x="457200" y="6172200"/>
            <a:ext cx="11277600" cy="295275"/>
          </a:xfrm>
          <a:prstGeom prst="roundRect">
            <a:avLst>
              <a:gd name="adj" fmla="val 6452"/>
            </a:avLst>
          </a:prstGeom>
          <a:solidFill>
            <a:srgbClr val="8E1118"/>
          </a:solidFill>
          <a:ln w="0">
            <a:noFill/>
            <a:prstDash val="solid"/>
          </a:ln>
        </p:spPr>
      </p:sp>
      <p:sp>
        <p:nvSpPr>
          <p:cNvPr id="195" name="矩形 194"/>
          <p:cNvSpPr>
            <a:spLocks noGrp="1"/>
          </p:cNvSpPr>
          <p:nvPr/>
        </p:nvSpPr>
        <p:spPr>
          <a:xfrm>
            <a:off x="552450" y="6210300"/>
            <a:ext cx="11087100" cy="219075"/>
          </a:xfrm>
          <a:prstGeom prst="rect">
            <a:avLst/>
          </a:prstGeom>
          <a:noFill/>
          <a:ln w="0">
            <a:noFill/>
            <a:prstDash val="solid"/>
          </a:ln>
        </p:spPr>
        <p:txBody>
          <a:bodyPr wrap="square" lIns="47625" tIns="19050" rIns="47625" bIns="19050" anchor="ctr">
            <a:normAutofit/>
          </a:bodyPr>
          <a:lstStyle/>
          <a:p>
            <a:pPr algn="ctr" eaLnBrk="1" fontAlgn="auto" latinLnBrk="0" hangingPunct="1">
              <a:lnSpc>
                <a:spcPct val="120000"/>
              </a:lnSpc>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研判顺序：先核真实订单与证照 → 再做康养场景效果验证 → 根据里程碑决定采购、投资、合资或招引；对早期企业不以“试点入选”替代商业尽调。</a:t>
            </a:r>
            <a:endParaRPr sz="940" b="1">
              <a:solidFill>
                <a:srgbClr val="FFFFFF"/>
              </a:solidFill>
              <a:latin typeface="Noto Sans Hans"/>
              <a:ea typeface="Noto Sans Hans"/>
              <a:cs typeface="Noto Sans Hans"/>
            </a:endParaRPr>
          </a:p>
        </p:txBody>
      </p:sp>
      <p:sp>
        <p:nvSpPr>
          <p:cNvPr id="196" name="矩形 195"/>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资料来源：养老机器人产业增强基础数据库；相关企业官网、上市公司年报、工业和信息化部及民政部国家试点名单。</a:t>
            </a:r>
            <a:endParaRPr sz="715" b="0">
              <a:solidFill>
                <a:srgbClr val="716B68"/>
              </a:solidFill>
              <a:latin typeface="Noto Sans Hans"/>
              <a:ea typeface="Noto Sans Hans"/>
              <a:cs typeface="Noto Sans Hans"/>
            </a:endParaRPr>
          </a:p>
        </p:txBody>
      </p:sp>
      <p:sp>
        <p:nvSpPr>
          <p:cNvPr id="197" name="矩形 196"/>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16</a:t>
            </a:r>
            <a:endParaRPr sz="900" b="1">
              <a:solidFill>
                <a:srgbClr val="D00914"/>
              </a:solidFill>
              <a:latin typeface="Noto Sans Hans"/>
              <a:ea typeface="Noto Sans Hans"/>
              <a:cs typeface="Noto Sans H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lang="en-US" sz="2025" b="1">
                <a:solidFill>
                  <a:srgbClr val="D00914"/>
                </a:solidFill>
                <a:latin typeface="Noto Sans Hans"/>
                <a:ea typeface="Noto Sans Hans"/>
                <a:cs typeface="Noto Sans Hans"/>
              </a:rPr>
              <a:t>2.4</a:t>
            </a:r>
            <a:r>
              <a:rPr sz="2025" b="1">
                <a:solidFill>
                  <a:srgbClr val="D00914"/>
                </a:solidFill>
                <a:latin typeface="Noto Sans Hans"/>
                <a:ea typeface="Noto Sans Hans"/>
                <a:cs typeface="Noto Sans Hans"/>
              </a:rPr>
              <a:t>【重点项目清单】</a:t>
            </a:r>
            <a:r>
              <a:rPr sz="2025" b="1">
                <a:solidFill>
                  <a:srgbClr val="403A38"/>
                </a:solidFill>
                <a:latin typeface="Noto Sans Hans"/>
                <a:ea typeface="Noto Sans Hans"/>
                <a:cs typeface="Noto Sans Hans"/>
              </a:rPr>
              <a:t>54项项目线索构成“场景建设—国家试点—企业投资—产业补链”四类机会池</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项目库既包括可立即启动的城投场景项目，也包括需持续跟踪的国家试点和企业融资线索，资金需求中的研究建议均为情景值</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200150"/>
            <a:ext cx="11277600" cy="514350"/>
          </a:xfrm>
          <a:prstGeom prst="rect">
            <a:avLst/>
          </a:prstGeom>
          <a:solidFill>
            <a:srgbClr val="8E1118"/>
          </a:solidFill>
          <a:ln w="0">
            <a:noFill/>
            <a:prstDash val="solid"/>
          </a:ln>
        </p:spPr>
      </p:sp>
      <p:sp>
        <p:nvSpPr>
          <p:cNvPr id="7" name="矩形 6"/>
          <p:cNvSpPr>
            <a:spLocks noGrp="1"/>
          </p:cNvSpPr>
          <p:nvPr/>
        </p:nvSpPr>
        <p:spPr>
          <a:xfrm>
            <a:off x="552450" y="1276350"/>
            <a:ext cx="2333625" cy="34290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14项武汉本地项目建议</a:t>
            </a:r>
            <a:endParaRPr sz="1200" b="1">
              <a:solidFill>
                <a:srgbClr val="FFFFFF"/>
              </a:solidFill>
              <a:latin typeface="Noto Sans Hans"/>
              <a:ea typeface="Noto Sans Hans"/>
              <a:cs typeface="Noto Sans Hans"/>
            </a:endParaRPr>
          </a:p>
        </p:txBody>
      </p:sp>
      <p:sp>
        <p:nvSpPr>
          <p:cNvPr id="8" name="矩形 7"/>
          <p:cNvSpPr>
            <a:spLocks noGrp="1"/>
          </p:cNvSpPr>
          <p:nvPr/>
        </p:nvSpPr>
        <p:spPr>
          <a:xfrm>
            <a:off x="2914650" y="1276350"/>
            <a:ext cx="333375" cy="3429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9" name="矩形 8"/>
          <p:cNvSpPr>
            <a:spLocks noGrp="1"/>
          </p:cNvSpPr>
          <p:nvPr/>
        </p:nvSpPr>
        <p:spPr>
          <a:xfrm>
            <a:off x="3276600" y="1276350"/>
            <a:ext cx="2667000" cy="34290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32项国家养老机器人试点</a:t>
            </a:r>
            <a:endParaRPr sz="1200" b="1">
              <a:solidFill>
                <a:srgbClr val="FFFFFF"/>
              </a:solidFill>
              <a:latin typeface="Noto Sans Hans"/>
              <a:ea typeface="Noto Sans Hans"/>
              <a:cs typeface="Noto Sans Hans"/>
            </a:endParaRPr>
          </a:p>
        </p:txBody>
      </p:sp>
      <p:sp>
        <p:nvSpPr>
          <p:cNvPr id="10" name="矩形 9"/>
          <p:cNvSpPr>
            <a:spLocks noGrp="1"/>
          </p:cNvSpPr>
          <p:nvPr/>
        </p:nvSpPr>
        <p:spPr>
          <a:xfrm>
            <a:off x="5981700" y="1276350"/>
            <a:ext cx="333375" cy="3429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11" name="矩形 10"/>
          <p:cNvSpPr>
            <a:spLocks noGrp="1"/>
          </p:cNvSpPr>
          <p:nvPr/>
        </p:nvSpPr>
        <p:spPr>
          <a:xfrm>
            <a:off x="6343650" y="1276350"/>
            <a:ext cx="2714625" cy="34290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8项采购、落地与拟议项目</a:t>
            </a:r>
            <a:endParaRPr sz="1200" b="1">
              <a:solidFill>
                <a:srgbClr val="FFFFFF"/>
              </a:solidFill>
              <a:latin typeface="Noto Sans Hans"/>
              <a:ea typeface="Noto Sans Hans"/>
              <a:cs typeface="Noto Sans Hans"/>
            </a:endParaRPr>
          </a:p>
        </p:txBody>
      </p:sp>
      <p:sp>
        <p:nvSpPr>
          <p:cNvPr id="12" name="矩形 11"/>
          <p:cNvSpPr>
            <a:spLocks noGrp="1"/>
          </p:cNvSpPr>
          <p:nvPr/>
        </p:nvSpPr>
        <p:spPr>
          <a:xfrm>
            <a:off x="9096375" y="1276350"/>
            <a:ext cx="333375" cy="342900"/>
          </a:xfrm>
          <a:prstGeom prst="rect">
            <a:avLst/>
          </a:prstGeom>
          <a:noFill/>
          <a:ln w="0">
            <a:noFill/>
            <a:prstDash val="solid"/>
          </a:ln>
        </p:spPr>
        <p:txBody>
          <a:bodyPr wrap="square" lIns="47625" tIns="19050" rIns="47625" bIns="19050" anchor="ctr">
            <a:normAutofit/>
          </a:bodyPr>
          <a:lstStyle/>
          <a:p>
            <a:pPr algn="ctr">
              <a:defRPr sz="1350" b="1">
                <a:solidFill>
                  <a:srgbClr val="FFFFFF"/>
                </a:solidFill>
                <a:latin typeface="Noto Sans Hans"/>
                <a:ea typeface="Noto Sans Hans"/>
                <a:cs typeface="Noto Sans Hans"/>
              </a:defRPr>
            </a:pPr>
            <a:r>
              <a:rPr sz="1400" b="1">
                <a:solidFill>
                  <a:srgbClr val="FFFFFF"/>
                </a:solidFill>
                <a:latin typeface="Noto Sans Hans"/>
                <a:ea typeface="Noto Sans Hans"/>
                <a:cs typeface="Noto Sans Hans"/>
              </a:rPr>
              <a:t>＝</a:t>
            </a:r>
            <a:endParaRPr sz="1400" b="1">
              <a:solidFill>
                <a:srgbClr val="FFFFFF"/>
              </a:solidFill>
              <a:latin typeface="Noto Sans Hans"/>
              <a:ea typeface="Noto Sans Hans"/>
              <a:cs typeface="Noto Sans Hans"/>
            </a:endParaRPr>
          </a:p>
        </p:txBody>
      </p:sp>
      <p:sp>
        <p:nvSpPr>
          <p:cNvPr id="13" name="矩形 12"/>
          <p:cNvSpPr>
            <a:spLocks noGrp="1"/>
          </p:cNvSpPr>
          <p:nvPr/>
        </p:nvSpPr>
        <p:spPr>
          <a:xfrm>
            <a:off x="9458325" y="1276350"/>
            <a:ext cx="2143125" cy="34290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54项重点项目池</a:t>
            </a:r>
            <a:endParaRPr sz="1200" b="1">
              <a:solidFill>
                <a:srgbClr val="FFFFFF"/>
              </a:solidFill>
              <a:latin typeface="Noto Sans Hans"/>
              <a:ea typeface="Noto Sans Hans"/>
              <a:cs typeface="Noto Sans Hans"/>
            </a:endParaRPr>
          </a:p>
        </p:txBody>
      </p:sp>
      <p:sp>
        <p:nvSpPr>
          <p:cNvPr id="14" name="圆角矩形 13"/>
          <p:cNvSpPr>
            <a:spLocks noGrp="1"/>
          </p:cNvSpPr>
          <p:nvPr/>
        </p:nvSpPr>
        <p:spPr>
          <a:xfrm>
            <a:off x="457200" y="1866900"/>
            <a:ext cx="2647950" cy="1885950"/>
          </a:xfrm>
          <a:prstGeom prst="roundRect">
            <a:avLst>
              <a:gd name="adj" fmla="val 1010"/>
            </a:avLst>
          </a:prstGeom>
          <a:solidFill>
            <a:srgbClr val="FFFFFF"/>
          </a:solidFill>
          <a:ln w="9525">
            <a:solidFill>
              <a:srgbClr val="D00914"/>
            </a:solidFill>
            <a:prstDash val="solid"/>
          </a:ln>
        </p:spPr>
      </p:sp>
      <p:sp>
        <p:nvSpPr>
          <p:cNvPr id="15" name="椭圆 14"/>
          <p:cNvSpPr>
            <a:spLocks noGrp="1"/>
          </p:cNvSpPr>
          <p:nvPr/>
        </p:nvSpPr>
        <p:spPr>
          <a:xfrm>
            <a:off x="581025" y="1990725"/>
            <a:ext cx="323850" cy="323850"/>
          </a:xfrm>
          <a:prstGeom prst="ellipse">
            <a:avLst/>
          </a:prstGeom>
          <a:solidFill>
            <a:srgbClr val="D00914"/>
          </a:solidFill>
          <a:ln w="0">
            <a:noFill/>
            <a:prstDash val="solid"/>
          </a:ln>
        </p:spPr>
      </p:sp>
      <p:sp>
        <p:nvSpPr>
          <p:cNvPr id="16" name="矩形 15"/>
          <p:cNvSpPr>
            <a:spLocks noGrp="1"/>
          </p:cNvSpPr>
          <p:nvPr/>
        </p:nvSpPr>
        <p:spPr>
          <a:xfrm>
            <a:off x="628650" y="2028825"/>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1</a:t>
            </a:r>
            <a:endParaRPr sz="1080" b="1">
              <a:solidFill>
                <a:srgbClr val="FFFFFF"/>
              </a:solidFill>
              <a:latin typeface="Noto Sans Hans"/>
              <a:ea typeface="Noto Sans Hans"/>
              <a:cs typeface="Noto Sans Hans"/>
            </a:endParaRPr>
          </a:p>
        </p:txBody>
      </p:sp>
      <p:sp>
        <p:nvSpPr>
          <p:cNvPr id="17" name="矩形 16"/>
          <p:cNvSpPr>
            <a:spLocks noGrp="1"/>
          </p:cNvSpPr>
          <p:nvPr/>
        </p:nvSpPr>
        <p:spPr>
          <a:xfrm>
            <a:off x="981075" y="1943100"/>
            <a:ext cx="2028825" cy="361950"/>
          </a:xfrm>
          <a:prstGeom prst="rect">
            <a:avLst/>
          </a:prstGeom>
          <a:noFill/>
          <a:ln w="0">
            <a:noFill/>
            <a:prstDash val="solid"/>
          </a:ln>
        </p:spPr>
        <p:txBody>
          <a:bodyPr wrap="square" lIns="47625" tIns="19050" rIns="47625" bIns="19050" anchor="ctr">
            <a:normAutofit/>
          </a:bodyPr>
          <a:lstStyle/>
          <a:p>
            <a:pPr algn="l">
              <a:defRPr sz="1050" b="1">
                <a:solidFill>
                  <a:srgbClr val="D00914"/>
                </a:solidFill>
                <a:latin typeface="Noto Sans Hans"/>
                <a:ea typeface="Noto Sans Hans"/>
                <a:cs typeface="Noto Sans Hans"/>
              </a:defRPr>
            </a:pPr>
            <a:r>
              <a:rPr sz="1200" b="1">
                <a:solidFill>
                  <a:srgbClr val="D00914"/>
                </a:solidFill>
                <a:latin typeface="Noto Sans Hans"/>
                <a:ea typeface="Noto Sans Hans"/>
                <a:cs typeface="Noto Sans Hans"/>
              </a:rPr>
              <a:t>场景与运营项目</a:t>
            </a:r>
            <a:endParaRPr sz="1200" b="1">
              <a:solidFill>
                <a:srgbClr val="D00914"/>
              </a:solidFill>
              <a:latin typeface="Noto Sans Hans"/>
              <a:ea typeface="Noto Sans Hans"/>
              <a:cs typeface="Noto Sans Hans"/>
            </a:endParaRPr>
          </a:p>
        </p:txBody>
      </p:sp>
      <p:sp>
        <p:nvSpPr>
          <p:cNvPr id="18" name="矩形 17"/>
          <p:cNvSpPr>
            <a:spLocks noGrp="1"/>
          </p:cNvSpPr>
          <p:nvPr/>
        </p:nvSpPr>
        <p:spPr>
          <a:xfrm>
            <a:off x="571500" y="2352675"/>
            <a:ext cx="2419350" cy="9525"/>
          </a:xfrm>
          <a:prstGeom prst="rect">
            <a:avLst/>
          </a:prstGeom>
          <a:solidFill>
            <a:srgbClr val="D00914"/>
          </a:solidFill>
          <a:ln w="0">
            <a:noFill/>
            <a:prstDash val="solid"/>
          </a:ln>
        </p:spPr>
      </p:sp>
      <p:sp>
        <p:nvSpPr>
          <p:cNvPr id="19" name="矩形 18"/>
          <p:cNvSpPr>
            <a:spLocks noGrp="1"/>
          </p:cNvSpPr>
          <p:nvPr/>
        </p:nvSpPr>
        <p:spPr>
          <a:xfrm>
            <a:off x="600075" y="2419350"/>
            <a:ext cx="2475865" cy="12477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安养链接入平台｜康复机器人示范中心</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百床配送清洁试点｜失能护理安全验证</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陪伴机器人居家用户试验｜都市圈复制包</a:t>
            </a:r>
            <a:endParaRPr sz="1100" b="0">
              <a:solidFill>
                <a:srgbClr val="403A38"/>
              </a:solidFill>
              <a:latin typeface="Noto Sans Hans"/>
              <a:ea typeface="Noto Sans Hans"/>
              <a:cs typeface="Noto Sans Hans"/>
            </a:endParaRPr>
          </a:p>
        </p:txBody>
      </p:sp>
      <p:sp>
        <p:nvSpPr>
          <p:cNvPr id="20" name="圆角矩形 19"/>
          <p:cNvSpPr>
            <a:spLocks noGrp="1"/>
          </p:cNvSpPr>
          <p:nvPr/>
        </p:nvSpPr>
        <p:spPr>
          <a:xfrm>
            <a:off x="3219450" y="1866900"/>
            <a:ext cx="2647950" cy="1885950"/>
          </a:xfrm>
          <a:prstGeom prst="roundRect">
            <a:avLst>
              <a:gd name="adj" fmla="val 1010"/>
            </a:avLst>
          </a:prstGeom>
          <a:solidFill>
            <a:srgbClr val="FFFFFF"/>
          </a:solidFill>
          <a:ln w="9525">
            <a:solidFill>
              <a:srgbClr val="C94A27"/>
            </a:solidFill>
            <a:prstDash val="solid"/>
          </a:ln>
        </p:spPr>
      </p:sp>
      <p:sp>
        <p:nvSpPr>
          <p:cNvPr id="21" name="椭圆 20"/>
          <p:cNvSpPr>
            <a:spLocks noGrp="1"/>
          </p:cNvSpPr>
          <p:nvPr/>
        </p:nvSpPr>
        <p:spPr>
          <a:xfrm>
            <a:off x="3343275" y="1990725"/>
            <a:ext cx="323850" cy="323850"/>
          </a:xfrm>
          <a:prstGeom prst="ellipse">
            <a:avLst/>
          </a:prstGeom>
          <a:solidFill>
            <a:srgbClr val="C94A27"/>
          </a:solidFill>
          <a:ln w="0">
            <a:noFill/>
            <a:prstDash val="solid"/>
          </a:ln>
        </p:spPr>
      </p:sp>
      <p:sp>
        <p:nvSpPr>
          <p:cNvPr id="22" name="矩形 21"/>
          <p:cNvSpPr>
            <a:spLocks noGrp="1"/>
          </p:cNvSpPr>
          <p:nvPr/>
        </p:nvSpPr>
        <p:spPr>
          <a:xfrm>
            <a:off x="3390900" y="2028825"/>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2</a:t>
            </a:r>
            <a:endParaRPr sz="1080" b="1">
              <a:solidFill>
                <a:srgbClr val="FFFFFF"/>
              </a:solidFill>
              <a:latin typeface="Noto Sans Hans"/>
              <a:ea typeface="Noto Sans Hans"/>
              <a:cs typeface="Noto Sans Hans"/>
            </a:endParaRPr>
          </a:p>
        </p:txBody>
      </p:sp>
      <p:sp>
        <p:nvSpPr>
          <p:cNvPr id="23" name="矩形 22"/>
          <p:cNvSpPr>
            <a:spLocks noGrp="1"/>
          </p:cNvSpPr>
          <p:nvPr/>
        </p:nvSpPr>
        <p:spPr>
          <a:xfrm>
            <a:off x="3743325" y="1943100"/>
            <a:ext cx="2028825" cy="361950"/>
          </a:xfrm>
          <a:prstGeom prst="rect">
            <a:avLst/>
          </a:prstGeom>
          <a:noFill/>
          <a:ln w="0">
            <a:noFill/>
            <a:prstDash val="solid"/>
          </a:ln>
        </p:spPr>
        <p:txBody>
          <a:bodyPr wrap="square" lIns="47625" tIns="19050" rIns="47625" bIns="19050" anchor="ctr">
            <a:normAutofit/>
          </a:bodyPr>
          <a:lstStyle/>
          <a:p>
            <a:pPr algn="l">
              <a:defRPr sz="1050" b="1">
                <a:solidFill>
                  <a:srgbClr val="C94A27"/>
                </a:solidFill>
                <a:latin typeface="Noto Sans Hans"/>
                <a:ea typeface="Noto Sans Hans"/>
                <a:cs typeface="Noto Sans Hans"/>
              </a:defRPr>
            </a:pPr>
            <a:r>
              <a:rPr sz="1200" b="1">
                <a:solidFill>
                  <a:srgbClr val="C94A27"/>
                </a:solidFill>
                <a:latin typeface="Noto Sans Hans"/>
                <a:ea typeface="Noto Sans Hans"/>
                <a:cs typeface="Noto Sans Hans"/>
              </a:rPr>
              <a:t>产业投资与补链项目</a:t>
            </a:r>
            <a:endParaRPr sz="1200" b="1">
              <a:solidFill>
                <a:srgbClr val="C94A27"/>
              </a:solidFill>
              <a:latin typeface="Noto Sans Hans"/>
              <a:ea typeface="Noto Sans Hans"/>
              <a:cs typeface="Noto Sans Hans"/>
            </a:endParaRPr>
          </a:p>
        </p:txBody>
      </p:sp>
      <p:sp>
        <p:nvSpPr>
          <p:cNvPr id="24" name="矩形 23"/>
          <p:cNvSpPr>
            <a:spLocks noGrp="1"/>
          </p:cNvSpPr>
          <p:nvPr/>
        </p:nvSpPr>
        <p:spPr>
          <a:xfrm>
            <a:off x="3333750" y="2352675"/>
            <a:ext cx="2419350" cy="9525"/>
          </a:xfrm>
          <a:prstGeom prst="rect">
            <a:avLst/>
          </a:prstGeom>
          <a:solidFill>
            <a:srgbClr val="C94A27"/>
          </a:solidFill>
          <a:ln w="0">
            <a:noFill/>
            <a:prstDash val="solid"/>
          </a:ln>
        </p:spPr>
      </p:sp>
      <p:sp>
        <p:nvSpPr>
          <p:cNvPr id="25" name="矩形 24"/>
          <p:cNvSpPr>
            <a:spLocks noGrp="1"/>
          </p:cNvSpPr>
          <p:nvPr/>
        </p:nvSpPr>
        <p:spPr>
          <a:xfrm>
            <a:off x="3362325" y="2419350"/>
            <a:ext cx="2505075" cy="12477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科峰传动关节扩产｜光谷东智规模化</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沃森拓客成果转化｜海沁医疗股权合作</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外地企业华中总部招引</a:t>
            </a:r>
            <a:endParaRPr sz="1100" b="0">
              <a:solidFill>
                <a:srgbClr val="403A38"/>
              </a:solidFill>
              <a:latin typeface="Noto Sans Hans"/>
              <a:ea typeface="Noto Sans Hans"/>
              <a:cs typeface="Noto Sans Hans"/>
            </a:endParaRPr>
          </a:p>
        </p:txBody>
      </p:sp>
      <p:sp>
        <p:nvSpPr>
          <p:cNvPr id="26" name="圆角矩形 25"/>
          <p:cNvSpPr>
            <a:spLocks noGrp="1"/>
          </p:cNvSpPr>
          <p:nvPr/>
        </p:nvSpPr>
        <p:spPr>
          <a:xfrm>
            <a:off x="5981700" y="1866900"/>
            <a:ext cx="2647950" cy="1885950"/>
          </a:xfrm>
          <a:prstGeom prst="roundRect">
            <a:avLst>
              <a:gd name="adj" fmla="val 1010"/>
            </a:avLst>
          </a:prstGeom>
          <a:solidFill>
            <a:srgbClr val="FFFFFF"/>
          </a:solidFill>
          <a:ln w="9525">
            <a:solidFill>
              <a:srgbClr val="9E3038"/>
            </a:solidFill>
            <a:prstDash val="solid"/>
          </a:ln>
        </p:spPr>
      </p:sp>
      <p:sp>
        <p:nvSpPr>
          <p:cNvPr id="27" name="椭圆 26"/>
          <p:cNvSpPr>
            <a:spLocks noGrp="1"/>
          </p:cNvSpPr>
          <p:nvPr/>
        </p:nvSpPr>
        <p:spPr>
          <a:xfrm>
            <a:off x="6105525" y="1990725"/>
            <a:ext cx="323850" cy="323850"/>
          </a:xfrm>
          <a:prstGeom prst="ellipse">
            <a:avLst/>
          </a:prstGeom>
          <a:solidFill>
            <a:srgbClr val="9E3038"/>
          </a:solidFill>
          <a:ln w="0">
            <a:noFill/>
            <a:prstDash val="solid"/>
          </a:ln>
        </p:spPr>
      </p:sp>
      <p:sp>
        <p:nvSpPr>
          <p:cNvPr id="28" name="矩形 27"/>
          <p:cNvSpPr>
            <a:spLocks noGrp="1"/>
          </p:cNvSpPr>
          <p:nvPr/>
        </p:nvSpPr>
        <p:spPr>
          <a:xfrm>
            <a:off x="6153150" y="2028825"/>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3</a:t>
            </a:r>
            <a:endParaRPr sz="1080" b="1">
              <a:solidFill>
                <a:srgbClr val="FFFFFF"/>
              </a:solidFill>
              <a:latin typeface="Noto Sans Hans"/>
              <a:ea typeface="Noto Sans Hans"/>
              <a:cs typeface="Noto Sans Hans"/>
            </a:endParaRPr>
          </a:p>
        </p:txBody>
      </p:sp>
      <p:sp>
        <p:nvSpPr>
          <p:cNvPr id="29" name="矩形 28"/>
          <p:cNvSpPr>
            <a:spLocks noGrp="1"/>
          </p:cNvSpPr>
          <p:nvPr/>
        </p:nvSpPr>
        <p:spPr>
          <a:xfrm>
            <a:off x="6505575" y="1943100"/>
            <a:ext cx="2028825" cy="361950"/>
          </a:xfrm>
          <a:prstGeom prst="rect">
            <a:avLst/>
          </a:prstGeom>
          <a:noFill/>
          <a:ln w="0">
            <a:noFill/>
            <a:prstDash val="solid"/>
          </a:ln>
        </p:spPr>
        <p:txBody>
          <a:bodyPr wrap="square" lIns="47625" tIns="19050" rIns="47625" bIns="19050" anchor="ctr">
            <a:normAutofit/>
          </a:bodyPr>
          <a:lstStyle/>
          <a:p>
            <a:pPr algn="l">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国家试点与技术合作</a:t>
            </a:r>
            <a:endParaRPr sz="1200" b="1">
              <a:solidFill>
                <a:srgbClr val="9E3038"/>
              </a:solidFill>
              <a:latin typeface="Noto Sans Hans"/>
              <a:ea typeface="Noto Sans Hans"/>
              <a:cs typeface="Noto Sans Hans"/>
            </a:endParaRPr>
          </a:p>
        </p:txBody>
      </p:sp>
      <p:sp>
        <p:nvSpPr>
          <p:cNvPr id="30" name="矩形 29"/>
          <p:cNvSpPr>
            <a:spLocks noGrp="1"/>
          </p:cNvSpPr>
          <p:nvPr/>
        </p:nvSpPr>
        <p:spPr>
          <a:xfrm>
            <a:off x="6096000" y="2352675"/>
            <a:ext cx="2419350" cy="9525"/>
          </a:xfrm>
          <a:prstGeom prst="rect">
            <a:avLst/>
          </a:prstGeom>
          <a:solidFill>
            <a:srgbClr val="9E3038"/>
          </a:solidFill>
          <a:ln w="0">
            <a:noFill/>
            <a:prstDash val="solid"/>
          </a:ln>
        </p:spPr>
      </p:sp>
      <p:sp>
        <p:nvSpPr>
          <p:cNvPr id="31" name="矩形 30"/>
          <p:cNvSpPr>
            <a:spLocks noGrp="1"/>
          </p:cNvSpPr>
          <p:nvPr/>
        </p:nvSpPr>
        <p:spPr>
          <a:xfrm>
            <a:off x="6124575" y="2419350"/>
            <a:ext cx="2362200" cy="12477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情感陪护｜康复外骨骼｜生活照料</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移乘转运｜二便护理｜健康管理</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多场景护理协作，共32项国家试点</a:t>
            </a:r>
            <a:endParaRPr sz="1100" b="0">
              <a:solidFill>
                <a:srgbClr val="403A38"/>
              </a:solidFill>
              <a:latin typeface="Noto Sans Hans"/>
              <a:ea typeface="Noto Sans Hans"/>
              <a:cs typeface="Noto Sans Hans"/>
            </a:endParaRPr>
          </a:p>
        </p:txBody>
      </p:sp>
      <p:sp>
        <p:nvSpPr>
          <p:cNvPr id="32" name="圆角矩形 31"/>
          <p:cNvSpPr>
            <a:spLocks noGrp="1"/>
          </p:cNvSpPr>
          <p:nvPr/>
        </p:nvSpPr>
        <p:spPr>
          <a:xfrm>
            <a:off x="8743950" y="1866900"/>
            <a:ext cx="2990850" cy="1885950"/>
          </a:xfrm>
          <a:prstGeom prst="roundRect">
            <a:avLst>
              <a:gd name="adj" fmla="val 1010"/>
            </a:avLst>
          </a:prstGeom>
          <a:solidFill>
            <a:srgbClr val="FFFFFF"/>
          </a:solidFill>
          <a:ln w="9525">
            <a:solidFill>
              <a:srgbClr val="8F6900"/>
            </a:solidFill>
            <a:prstDash val="solid"/>
          </a:ln>
        </p:spPr>
      </p:sp>
      <p:sp>
        <p:nvSpPr>
          <p:cNvPr id="33" name="椭圆 32"/>
          <p:cNvSpPr>
            <a:spLocks noGrp="1"/>
          </p:cNvSpPr>
          <p:nvPr/>
        </p:nvSpPr>
        <p:spPr>
          <a:xfrm>
            <a:off x="8867775" y="1990725"/>
            <a:ext cx="323850" cy="323850"/>
          </a:xfrm>
          <a:prstGeom prst="ellipse">
            <a:avLst/>
          </a:prstGeom>
          <a:solidFill>
            <a:srgbClr val="8F6900"/>
          </a:solidFill>
          <a:ln w="0">
            <a:noFill/>
            <a:prstDash val="solid"/>
          </a:ln>
        </p:spPr>
      </p:sp>
      <p:sp>
        <p:nvSpPr>
          <p:cNvPr id="34" name="矩形 33"/>
          <p:cNvSpPr>
            <a:spLocks noGrp="1"/>
          </p:cNvSpPr>
          <p:nvPr/>
        </p:nvSpPr>
        <p:spPr>
          <a:xfrm>
            <a:off x="8915400" y="2028825"/>
            <a:ext cx="228600" cy="228600"/>
          </a:xfrm>
          <a:prstGeom prst="rect">
            <a:avLst/>
          </a:prstGeom>
          <a:noFill/>
          <a:ln w="0">
            <a:noFill/>
            <a:prstDash val="solid"/>
          </a:ln>
        </p:spPr>
        <p:txBody>
          <a:bodyPr wrap="square" lIns="47625" tIns="19050" rIns="47625" bIns="19050" anchor="ctr">
            <a:normAutofit/>
          </a:bodyPr>
          <a:lstStyle/>
          <a:p>
            <a:pPr algn="ctr">
              <a:defRPr sz="975" b="1">
                <a:solidFill>
                  <a:srgbClr val="FFFFFF"/>
                </a:solidFill>
                <a:latin typeface="Noto Sans Hans"/>
                <a:ea typeface="Noto Sans Hans"/>
                <a:cs typeface="Noto Sans Hans"/>
              </a:defRPr>
            </a:pPr>
            <a:r>
              <a:rPr sz="1080" b="1">
                <a:solidFill>
                  <a:srgbClr val="FFFFFF"/>
                </a:solidFill>
                <a:latin typeface="Noto Sans Hans"/>
                <a:ea typeface="Noto Sans Hans"/>
                <a:cs typeface="Noto Sans Hans"/>
              </a:rPr>
              <a:t>4</a:t>
            </a:r>
            <a:endParaRPr sz="1080" b="1">
              <a:solidFill>
                <a:srgbClr val="FFFFFF"/>
              </a:solidFill>
              <a:latin typeface="Noto Sans Hans"/>
              <a:ea typeface="Noto Sans Hans"/>
              <a:cs typeface="Noto Sans Hans"/>
            </a:endParaRPr>
          </a:p>
        </p:txBody>
      </p:sp>
      <p:sp>
        <p:nvSpPr>
          <p:cNvPr id="35" name="矩形 34"/>
          <p:cNvSpPr>
            <a:spLocks noGrp="1"/>
          </p:cNvSpPr>
          <p:nvPr/>
        </p:nvSpPr>
        <p:spPr>
          <a:xfrm>
            <a:off x="9267825" y="1943100"/>
            <a:ext cx="2371725" cy="361950"/>
          </a:xfrm>
          <a:prstGeom prst="rect">
            <a:avLst/>
          </a:prstGeom>
          <a:noFill/>
          <a:ln w="0">
            <a:noFill/>
            <a:prstDash val="solid"/>
          </a:ln>
        </p:spPr>
        <p:txBody>
          <a:bodyPr wrap="square" lIns="47625" tIns="19050" rIns="47625" bIns="19050" anchor="ctr">
            <a:normAutofit/>
          </a:bodyPr>
          <a:lstStyle/>
          <a:p>
            <a:pPr algn="l">
              <a:defRPr sz="1050" b="1">
                <a:solidFill>
                  <a:srgbClr val="8F6900"/>
                </a:solidFill>
                <a:latin typeface="Noto Sans Hans"/>
                <a:ea typeface="Noto Sans Hans"/>
                <a:cs typeface="Noto Sans Hans"/>
              </a:defRPr>
            </a:pPr>
            <a:r>
              <a:rPr sz="1200" b="1">
                <a:solidFill>
                  <a:srgbClr val="8F6900"/>
                </a:solidFill>
                <a:latin typeface="Noto Sans Hans"/>
                <a:ea typeface="Noto Sans Hans"/>
                <a:cs typeface="Noto Sans Hans"/>
              </a:rPr>
              <a:t>采购与平台建设项目</a:t>
            </a:r>
            <a:endParaRPr sz="1200" b="1">
              <a:solidFill>
                <a:srgbClr val="8F6900"/>
              </a:solidFill>
              <a:latin typeface="Noto Sans Hans"/>
              <a:ea typeface="Noto Sans Hans"/>
              <a:cs typeface="Noto Sans Hans"/>
            </a:endParaRPr>
          </a:p>
        </p:txBody>
      </p:sp>
      <p:sp>
        <p:nvSpPr>
          <p:cNvPr id="36" name="矩形 35"/>
          <p:cNvSpPr>
            <a:spLocks noGrp="1"/>
          </p:cNvSpPr>
          <p:nvPr/>
        </p:nvSpPr>
        <p:spPr>
          <a:xfrm>
            <a:off x="8858250" y="2352675"/>
            <a:ext cx="2762250" cy="9525"/>
          </a:xfrm>
          <a:prstGeom prst="rect">
            <a:avLst/>
          </a:prstGeom>
          <a:solidFill>
            <a:srgbClr val="8F6900"/>
          </a:solidFill>
          <a:ln w="0">
            <a:noFill/>
            <a:prstDash val="solid"/>
          </a:ln>
        </p:spPr>
      </p:sp>
      <p:sp>
        <p:nvSpPr>
          <p:cNvPr id="37" name="矩形 36"/>
          <p:cNvSpPr>
            <a:spLocks noGrp="1"/>
          </p:cNvSpPr>
          <p:nvPr/>
        </p:nvSpPr>
        <p:spPr>
          <a:xfrm>
            <a:off x="8886825" y="2419350"/>
            <a:ext cx="2372360" cy="124777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外骨骼与康复设备采购价格案例</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盐田具身机器人落地｜长沙训练场</a:t>
            </a:r>
            <a:endParaRPr sz="1100" b="0">
              <a:solidFill>
                <a:srgbClr val="403A38"/>
              </a:solidFill>
              <a:latin typeface="Noto Sans Hans"/>
              <a:ea typeface="Noto Sans Hans"/>
              <a:cs typeface="Noto Sans Hans"/>
            </a:endParaRPr>
          </a:p>
          <a:p>
            <a:pPr algn="l" eaLnBrk="1" fontAlgn="auto" latinLnBrk="0" hangingPunct="1">
              <a:lnSpc>
                <a:spcPct val="120000"/>
              </a:lnSpc>
              <a:defRPr sz="82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康养实训专区｜合作创新采购</a:t>
            </a:r>
            <a:endParaRPr sz="1100" b="0">
              <a:solidFill>
                <a:srgbClr val="403A38"/>
              </a:solidFill>
              <a:latin typeface="Noto Sans Hans"/>
              <a:ea typeface="Noto Sans Hans"/>
              <a:cs typeface="Noto Sans Hans"/>
            </a:endParaRPr>
          </a:p>
        </p:txBody>
      </p:sp>
      <p:sp>
        <p:nvSpPr>
          <p:cNvPr id="38" name="矩形 37"/>
          <p:cNvSpPr>
            <a:spLocks noGrp="1"/>
          </p:cNvSpPr>
          <p:nvPr/>
        </p:nvSpPr>
        <p:spPr>
          <a:xfrm>
            <a:off x="457200" y="3952875"/>
            <a:ext cx="11277600" cy="361950"/>
          </a:xfrm>
          <a:prstGeom prst="rect">
            <a:avLst/>
          </a:prstGeom>
          <a:solidFill>
            <a:srgbClr val="C94A27"/>
          </a:solidFill>
          <a:ln w="0">
            <a:noFill/>
            <a:prstDash val="solid"/>
          </a:ln>
        </p:spPr>
      </p:sp>
      <p:sp>
        <p:nvSpPr>
          <p:cNvPr id="39" name="矩形 38"/>
          <p:cNvSpPr>
            <a:spLocks noGrp="1"/>
          </p:cNvSpPr>
          <p:nvPr/>
        </p:nvSpPr>
        <p:spPr>
          <a:xfrm>
            <a:off x="523875" y="3990975"/>
            <a:ext cx="11144250" cy="2857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项目筛选原则：需求真实性 × 场景可控性 × 技术成熟度 × 投资空间 × 政策协同 × 可复制性</a:t>
            </a:r>
            <a:endParaRPr sz="1200" b="1">
              <a:solidFill>
                <a:srgbClr val="FFFFFF"/>
              </a:solidFill>
              <a:latin typeface="Noto Sans Hans"/>
              <a:ea typeface="Noto Sans Hans"/>
              <a:cs typeface="Noto Sans Hans"/>
            </a:endParaRPr>
          </a:p>
        </p:txBody>
      </p:sp>
      <p:sp>
        <p:nvSpPr>
          <p:cNvPr id="40" name="圆角矩形 39"/>
          <p:cNvSpPr>
            <a:spLocks noGrp="1"/>
          </p:cNvSpPr>
          <p:nvPr/>
        </p:nvSpPr>
        <p:spPr>
          <a:xfrm>
            <a:off x="457200" y="4429125"/>
            <a:ext cx="2705100" cy="1381125"/>
          </a:xfrm>
          <a:prstGeom prst="roundRect">
            <a:avLst>
              <a:gd name="adj" fmla="val 1379"/>
            </a:avLst>
          </a:prstGeom>
          <a:solidFill>
            <a:srgbClr val="F8E5E4"/>
          </a:solidFill>
          <a:ln w="9525">
            <a:solidFill>
              <a:srgbClr val="D8D1CD"/>
            </a:solidFill>
            <a:prstDash val="solid"/>
          </a:ln>
        </p:spPr>
      </p:sp>
      <p:sp>
        <p:nvSpPr>
          <p:cNvPr id="41" name="矩形 40"/>
          <p:cNvSpPr>
            <a:spLocks noGrp="1"/>
          </p:cNvSpPr>
          <p:nvPr/>
        </p:nvSpPr>
        <p:spPr>
          <a:xfrm>
            <a:off x="571500" y="4514850"/>
            <a:ext cx="2476500" cy="26670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需求主体</a:t>
            </a:r>
            <a:endParaRPr sz="1200" b="1">
              <a:solidFill>
                <a:srgbClr val="9E3038"/>
              </a:solidFill>
              <a:latin typeface="Noto Sans Hans"/>
              <a:ea typeface="Noto Sans Hans"/>
              <a:cs typeface="Noto Sans Hans"/>
            </a:endParaRPr>
          </a:p>
        </p:txBody>
      </p:sp>
      <p:sp>
        <p:nvSpPr>
          <p:cNvPr id="42" name="矩形 41"/>
          <p:cNvSpPr>
            <a:spLocks noGrp="1"/>
          </p:cNvSpPr>
          <p:nvPr/>
        </p:nvSpPr>
        <p:spPr>
          <a:xfrm>
            <a:off x="609600" y="4829175"/>
            <a:ext cx="2400300" cy="9525"/>
          </a:xfrm>
          <a:prstGeom prst="rect">
            <a:avLst/>
          </a:prstGeom>
          <a:solidFill>
            <a:srgbClr val="D8D1CD"/>
          </a:solidFill>
          <a:ln w="0">
            <a:noFill/>
            <a:prstDash val="solid"/>
          </a:ln>
        </p:spPr>
      </p:sp>
      <p:sp>
        <p:nvSpPr>
          <p:cNvPr id="43" name="矩形 42"/>
          <p:cNvSpPr>
            <a:spLocks noGrp="1"/>
          </p:cNvSpPr>
          <p:nvPr/>
        </p:nvSpPr>
        <p:spPr>
          <a:xfrm>
            <a:off x="628650" y="4905375"/>
            <a:ext cx="2362200" cy="78105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优先城投可控制或可协调的养老机构、社区物业、医院和家庭用户</a:t>
            </a:r>
            <a:endParaRPr sz="1100" b="0">
              <a:solidFill>
                <a:srgbClr val="403A38"/>
              </a:solidFill>
              <a:latin typeface="Noto Sans Hans"/>
              <a:ea typeface="Noto Sans Hans"/>
              <a:cs typeface="Noto Sans Hans"/>
            </a:endParaRPr>
          </a:p>
        </p:txBody>
      </p:sp>
      <p:sp>
        <p:nvSpPr>
          <p:cNvPr id="44" name="圆角矩形 43"/>
          <p:cNvSpPr>
            <a:spLocks noGrp="1"/>
          </p:cNvSpPr>
          <p:nvPr/>
        </p:nvSpPr>
        <p:spPr>
          <a:xfrm>
            <a:off x="3276600" y="4429125"/>
            <a:ext cx="2705100" cy="1381125"/>
          </a:xfrm>
          <a:prstGeom prst="roundRect">
            <a:avLst>
              <a:gd name="adj" fmla="val 1379"/>
            </a:avLst>
          </a:prstGeom>
          <a:solidFill>
            <a:srgbClr val="F7F3F1"/>
          </a:solidFill>
          <a:ln w="9525">
            <a:solidFill>
              <a:srgbClr val="D8D1CD"/>
            </a:solidFill>
            <a:prstDash val="solid"/>
          </a:ln>
        </p:spPr>
      </p:sp>
      <p:sp>
        <p:nvSpPr>
          <p:cNvPr id="45" name="矩形 44"/>
          <p:cNvSpPr>
            <a:spLocks noGrp="1"/>
          </p:cNvSpPr>
          <p:nvPr/>
        </p:nvSpPr>
        <p:spPr>
          <a:xfrm>
            <a:off x="3390900" y="4514850"/>
            <a:ext cx="2476500" cy="26670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项目类型</a:t>
            </a:r>
            <a:endParaRPr sz="1200" b="1">
              <a:solidFill>
                <a:srgbClr val="9E3038"/>
              </a:solidFill>
              <a:latin typeface="Noto Sans Hans"/>
              <a:ea typeface="Noto Sans Hans"/>
              <a:cs typeface="Noto Sans Hans"/>
            </a:endParaRPr>
          </a:p>
        </p:txBody>
      </p:sp>
      <p:sp>
        <p:nvSpPr>
          <p:cNvPr id="46" name="矩形 45"/>
          <p:cNvSpPr>
            <a:spLocks noGrp="1"/>
          </p:cNvSpPr>
          <p:nvPr/>
        </p:nvSpPr>
        <p:spPr>
          <a:xfrm>
            <a:off x="3429000" y="4829175"/>
            <a:ext cx="2400300" cy="9525"/>
          </a:xfrm>
          <a:prstGeom prst="rect">
            <a:avLst/>
          </a:prstGeom>
          <a:solidFill>
            <a:srgbClr val="D8D1CD"/>
          </a:solidFill>
          <a:ln w="0">
            <a:noFill/>
            <a:prstDash val="solid"/>
          </a:ln>
        </p:spPr>
      </p:sp>
      <p:sp>
        <p:nvSpPr>
          <p:cNvPr id="47" name="矩形 46"/>
          <p:cNvSpPr>
            <a:spLocks noGrp="1"/>
          </p:cNvSpPr>
          <p:nvPr/>
        </p:nvSpPr>
        <p:spPr>
          <a:xfrm>
            <a:off x="3448050" y="4905375"/>
            <a:ext cx="2362200" cy="78105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近期做成熟康复与通用服务；中期做护理验证与本地企业培育；长期储备具身智能</a:t>
            </a:r>
            <a:endParaRPr sz="1100" b="0">
              <a:solidFill>
                <a:srgbClr val="403A38"/>
              </a:solidFill>
              <a:latin typeface="Noto Sans Hans"/>
              <a:ea typeface="Noto Sans Hans"/>
              <a:cs typeface="Noto Sans Hans"/>
            </a:endParaRPr>
          </a:p>
        </p:txBody>
      </p:sp>
      <p:sp>
        <p:nvSpPr>
          <p:cNvPr id="48" name="圆角矩形 47"/>
          <p:cNvSpPr>
            <a:spLocks noGrp="1"/>
          </p:cNvSpPr>
          <p:nvPr/>
        </p:nvSpPr>
        <p:spPr>
          <a:xfrm>
            <a:off x="6096000" y="4429125"/>
            <a:ext cx="2705100" cy="1381125"/>
          </a:xfrm>
          <a:prstGeom prst="roundRect">
            <a:avLst>
              <a:gd name="adj" fmla="val 1379"/>
            </a:avLst>
          </a:prstGeom>
          <a:solidFill>
            <a:srgbClr val="F8E5E4"/>
          </a:solidFill>
          <a:ln w="9525">
            <a:solidFill>
              <a:srgbClr val="D8D1CD"/>
            </a:solidFill>
            <a:prstDash val="solid"/>
          </a:ln>
        </p:spPr>
      </p:sp>
      <p:sp>
        <p:nvSpPr>
          <p:cNvPr id="49" name="矩形 48"/>
          <p:cNvSpPr>
            <a:spLocks noGrp="1"/>
          </p:cNvSpPr>
          <p:nvPr/>
        </p:nvSpPr>
        <p:spPr>
          <a:xfrm>
            <a:off x="6210300" y="4514850"/>
            <a:ext cx="2476500" cy="266700"/>
          </a:xfrm>
          <a:prstGeom prst="rect">
            <a:avLst/>
          </a:prstGeom>
          <a:noFill/>
          <a:ln w="0">
            <a:noFill/>
            <a:prstDash val="solid"/>
          </a:ln>
        </p:spPr>
        <p:txBody>
          <a:bodyPr wrap="square" lIns="47625" tIns="19050" rIns="47625" bIns="19050" anchor="ctr">
            <a:normAutofit/>
          </a:bodyPr>
          <a:lstStyle/>
          <a:p>
            <a:pPr algn="ctr">
              <a:defRPr sz="1050" b="1">
                <a:solidFill>
                  <a:srgbClr val="9E3038"/>
                </a:solidFill>
                <a:latin typeface="Noto Sans Hans"/>
                <a:ea typeface="Noto Sans Hans"/>
                <a:cs typeface="Noto Sans Hans"/>
              </a:defRPr>
            </a:pPr>
            <a:r>
              <a:rPr sz="1200" b="1">
                <a:solidFill>
                  <a:srgbClr val="9E3038"/>
                </a:solidFill>
                <a:latin typeface="Noto Sans Hans"/>
                <a:ea typeface="Noto Sans Hans"/>
                <a:cs typeface="Noto Sans Hans"/>
              </a:rPr>
              <a:t>建设周期</a:t>
            </a:r>
            <a:endParaRPr sz="1200" b="1">
              <a:solidFill>
                <a:srgbClr val="9E3038"/>
              </a:solidFill>
              <a:latin typeface="Noto Sans Hans"/>
              <a:ea typeface="Noto Sans Hans"/>
              <a:cs typeface="Noto Sans Hans"/>
            </a:endParaRPr>
          </a:p>
        </p:txBody>
      </p:sp>
      <p:sp>
        <p:nvSpPr>
          <p:cNvPr id="50" name="矩形 49"/>
          <p:cNvSpPr>
            <a:spLocks noGrp="1"/>
          </p:cNvSpPr>
          <p:nvPr/>
        </p:nvSpPr>
        <p:spPr>
          <a:xfrm>
            <a:off x="6248400" y="4829175"/>
            <a:ext cx="2400300" cy="9525"/>
          </a:xfrm>
          <a:prstGeom prst="rect">
            <a:avLst/>
          </a:prstGeom>
          <a:solidFill>
            <a:srgbClr val="D8D1CD"/>
          </a:solidFill>
          <a:ln w="0">
            <a:noFill/>
            <a:prstDash val="solid"/>
          </a:ln>
        </p:spPr>
      </p:sp>
      <p:sp>
        <p:nvSpPr>
          <p:cNvPr id="51" name="矩形 50"/>
          <p:cNvSpPr>
            <a:spLocks noGrp="1"/>
          </p:cNvSpPr>
          <p:nvPr/>
        </p:nvSpPr>
        <p:spPr>
          <a:xfrm>
            <a:off x="6267450" y="4905375"/>
            <a:ext cx="2362200" cy="78105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1年内验证运营指标；2—3年形成标准化项目包；3—5年建设平台和区域复制</a:t>
            </a:r>
            <a:endParaRPr sz="1100" b="0">
              <a:solidFill>
                <a:srgbClr val="403A38"/>
              </a:solidFill>
              <a:latin typeface="Noto Sans Hans"/>
              <a:ea typeface="Noto Sans Hans"/>
              <a:cs typeface="Noto Sans Hans"/>
            </a:endParaRPr>
          </a:p>
        </p:txBody>
      </p:sp>
      <p:sp>
        <p:nvSpPr>
          <p:cNvPr id="52" name="圆角矩形 51"/>
          <p:cNvSpPr>
            <a:spLocks noGrp="1"/>
          </p:cNvSpPr>
          <p:nvPr/>
        </p:nvSpPr>
        <p:spPr>
          <a:xfrm>
            <a:off x="8915400" y="4429125"/>
            <a:ext cx="2705100" cy="1381125"/>
          </a:xfrm>
          <a:prstGeom prst="roundRect">
            <a:avLst>
              <a:gd name="adj" fmla="val 1379"/>
            </a:avLst>
          </a:prstGeom>
          <a:solidFill>
            <a:srgbClr val="F7F3F1"/>
          </a:solidFill>
          <a:ln w="9525">
            <a:solidFill>
              <a:srgbClr val="D8D1CD"/>
            </a:solidFill>
            <a:prstDash val="solid"/>
          </a:ln>
        </p:spPr>
      </p:sp>
      <p:sp>
        <p:nvSpPr>
          <p:cNvPr id="53" name="矩形 52"/>
          <p:cNvSpPr>
            <a:spLocks noGrp="1"/>
          </p:cNvSpPr>
          <p:nvPr/>
        </p:nvSpPr>
        <p:spPr>
          <a:xfrm>
            <a:off x="9029700" y="4514850"/>
            <a:ext cx="2476500" cy="266700"/>
          </a:xfrm>
          <a:prstGeom prst="rect">
            <a:avLst/>
          </a:prstGeom>
          <a:noFill/>
          <a:ln w="0">
            <a:noFill/>
            <a:prstDash val="solid"/>
          </a:ln>
        </p:spPr>
        <p:txBody>
          <a:bodyPr wrap="square" lIns="47625" tIns="19050" rIns="47625" bIns="19050" anchor="ctr">
            <a:normAutofit/>
          </a:bodyPr>
          <a:lstStyle/>
          <a:p>
            <a:pPr algn="ctr">
              <a:defRPr sz="1050" b="1">
                <a:solidFill>
                  <a:srgbClr val="8E1118"/>
                </a:solidFill>
                <a:latin typeface="Noto Sans Hans"/>
                <a:ea typeface="Noto Sans Hans"/>
                <a:cs typeface="Noto Sans Hans"/>
              </a:defRPr>
            </a:pPr>
            <a:r>
              <a:rPr sz="1200" b="1">
                <a:solidFill>
                  <a:srgbClr val="8E1118"/>
                </a:solidFill>
                <a:latin typeface="Noto Sans Hans"/>
                <a:ea typeface="Noto Sans Hans"/>
                <a:cs typeface="Noto Sans Hans"/>
              </a:rPr>
              <a:t>资金纪律</a:t>
            </a:r>
            <a:endParaRPr sz="1200" b="1">
              <a:solidFill>
                <a:srgbClr val="8E1118"/>
              </a:solidFill>
              <a:latin typeface="Noto Sans Hans"/>
              <a:ea typeface="Noto Sans Hans"/>
              <a:cs typeface="Noto Sans Hans"/>
            </a:endParaRPr>
          </a:p>
        </p:txBody>
      </p:sp>
      <p:sp>
        <p:nvSpPr>
          <p:cNvPr id="54" name="矩形 53"/>
          <p:cNvSpPr>
            <a:spLocks noGrp="1"/>
          </p:cNvSpPr>
          <p:nvPr/>
        </p:nvSpPr>
        <p:spPr>
          <a:xfrm>
            <a:off x="9067800" y="4829175"/>
            <a:ext cx="2400300" cy="9525"/>
          </a:xfrm>
          <a:prstGeom prst="rect">
            <a:avLst/>
          </a:prstGeom>
          <a:solidFill>
            <a:srgbClr val="D8D1CD"/>
          </a:solidFill>
          <a:ln w="0">
            <a:noFill/>
            <a:prstDash val="solid"/>
          </a:ln>
        </p:spPr>
      </p:sp>
      <p:sp>
        <p:nvSpPr>
          <p:cNvPr id="55" name="矩形 54"/>
          <p:cNvSpPr>
            <a:spLocks noGrp="1"/>
          </p:cNvSpPr>
          <p:nvPr/>
        </p:nvSpPr>
        <p:spPr>
          <a:xfrm>
            <a:off x="9086850" y="4905375"/>
            <a:ext cx="2362200" cy="781050"/>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850" b="1">
                <a:solidFill>
                  <a:srgbClr val="403A38"/>
                </a:solidFill>
                <a:latin typeface="Noto Sans Hans"/>
                <a:ea typeface="Noto Sans Hans"/>
                <a:cs typeface="Noto Sans Hans"/>
              </a:defRPr>
            </a:pPr>
            <a:r>
              <a:rPr sz="1100" b="1">
                <a:solidFill>
                  <a:srgbClr val="403A38"/>
                </a:solidFill>
                <a:latin typeface="Noto Sans Hans"/>
                <a:ea typeface="Noto Sans Hans"/>
                <a:cs typeface="Noto Sans Hans"/>
              </a:rPr>
              <a:t>研究建议金额仅作情景测算，必须经可研、估值、采购合规和投资决策程序</a:t>
            </a:r>
            <a:endParaRPr sz="1100" b="1">
              <a:solidFill>
                <a:srgbClr val="403A38"/>
              </a:solidFill>
              <a:latin typeface="Noto Sans Hans"/>
              <a:ea typeface="Noto Sans Hans"/>
              <a:cs typeface="Noto Sans Hans"/>
            </a:endParaRPr>
          </a:p>
        </p:txBody>
      </p:sp>
      <p:sp>
        <p:nvSpPr>
          <p:cNvPr id="56" name="圆角矩形 55"/>
          <p:cNvSpPr>
            <a:spLocks noGrp="1"/>
          </p:cNvSpPr>
          <p:nvPr/>
        </p:nvSpPr>
        <p:spPr>
          <a:xfrm>
            <a:off x="457200" y="5972175"/>
            <a:ext cx="11277600" cy="447675"/>
          </a:xfrm>
          <a:prstGeom prst="roundRect">
            <a:avLst>
              <a:gd name="adj" fmla="val 4255"/>
            </a:avLst>
          </a:prstGeom>
          <a:solidFill>
            <a:srgbClr val="8E1118"/>
          </a:solidFill>
          <a:ln w="0">
            <a:noFill/>
            <a:prstDash val="solid"/>
          </a:ln>
        </p:spPr>
      </p:sp>
      <p:sp>
        <p:nvSpPr>
          <p:cNvPr id="57" name="矩形 56"/>
          <p:cNvSpPr>
            <a:spLocks noGrp="1"/>
          </p:cNvSpPr>
          <p:nvPr/>
        </p:nvSpPr>
        <p:spPr>
          <a:xfrm>
            <a:off x="571500" y="6029325"/>
            <a:ext cx="11049000" cy="323850"/>
          </a:xfrm>
          <a:prstGeom prst="rect">
            <a:avLst/>
          </a:prstGeom>
          <a:noFill/>
          <a:ln w="0">
            <a:noFill/>
            <a:prstDash val="solid"/>
          </a:ln>
        </p:spPr>
        <p:txBody>
          <a:bodyPr wrap="square" lIns="47625" tIns="19050" rIns="47625" bIns="19050" anchor="ctr">
            <a:normAutofit/>
          </a:bodyPr>
          <a:lstStyle/>
          <a:p>
            <a:pPr algn="ctr">
              <a:defRPr sz="925" b="1">
                <a:solidFill>
                  <a:srgbClr val="FFFFFF"/>
                </a:solidFill>
                <a:latin typeface="Noto Sans Hans"/>
                <a:ea typeface="Noto Sans Hans"/>
                <a:cs typeface="Noto Sans Hans"/>
              </a:defRPr>
            </a:pPr>
            <a:r>
              <a:rPr sz="1030" b="1">
                <a:solidFill>
                  <a:srgbClr val="FFFFFF"/>
                </a:solidFill>
                <a:latin typeface="Noto Sans Hans"/>
                <a:ea typeface="Noto Sans Hans"/>
                <a:cs typeface="Noto Sans Hans"/>
              </a:rPr>
              <a:t>优先级判断：先做“可验证、可采购”的场景项目，再将效果数据转化为投资、合资、招引与规模复制依据；国家试点入围不等于项目收益。</a:t>
            </a:r>
            <a:endParaRPr sz="1030" b="1">
              <a:solidFill>
                <a:srgbClr val="FFFFFF"/>
              </a:solidFill>
              <a:latin typeface="Noto Sans Hans"/>
              <a:ea typeface="Noto Sans Hans"/>
              <a:cs typeface="Noto Sans Hans"/>
            </a:endParaRPr>
          </a:p>
        </p:txBody>
      </p:sp>
      <p:sp>
        <p:nvSpPr>
          <p:cNvPr id="58" name="矩形 57"/>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资料来源：养老机器人产业增强基础数据库“重点项目及融资事件”；工业和信息化部、民政部、政府采购及地方公开资料。</a:t>
            </a:r>
            <a:endParaRPr sz="715" b="0">
              <a:solidFill>
                <a:srgbClr val="716B68"/>
              </a:solidFill>
              <a:latin typeface="Noto Sans Hans"/>
              <a:ea typeface="Noto Sans Hans"/>
              <a:cs typeface="Noto Sans Hans"/>
            </a:endParaRPr>
          </a:p>
        </p:txBody>
      </p:sp>
      <p:sp>
        <p:nvSpPr>
          <p:cNvPr id="59" name="矩形 58"/>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17</a:t>
            </a:r>
            <a:endParaRPr lang="en-US" sz="900" b="1">
              <a:solidFill>
                <a:srgbClr val="D00914"/>
              </a:solidFill>
              <a:latin typeface="Noto Sans Hans"/>
              <a:ea typeface="Noto Sans Hans"/>
              <a:cs typeface="Noto Sans H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【项目筛选】</a:t>
            </a:r>
            <a:r>
              <a:rPr sz="1900" b="1">
                <a:solidFill>
                  <a:srgbClr val="403A38"/>
                </a:solidFill>
                <a:latin typeface="Noto Sans Hans"/>
                <a:ea typeface="Noto Sans Hans"/>
                <a:cs typeface="Noto Sans Hans"/>
              </a:rPr>
              <a:t>首轮建议聚焦12项项目，形成“近期场景验证—中期投资培育—长期平台建设”的推进梯队</a:t>
            </a:r>
            <a:endParaRPr sz="1900"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成熟设备以采购和运营验证为主，护理机器人坚持小样本强监督，本地技术项目采用里程碑投资，平台类项目须先完成可研</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181100"/>
            <a:ext cx="11277600" cy="419100"/>
          </a:xfrm>
          <a:prstGeom prst="rect">
            <a:avLst/>
          </a:prstGeom>
          <a:solidFill>
            <a:srgbClr val="8E1118"/>
          </a:solidFill>
          <a:ln w="0">
            <a:noFill/>
            <a:prstDash val="solid"/>
          </a:ln>
        </p:spPr>
      </p:sp>
      <p:sp>
        <p:nvSpPr>
          <p:cNvPr id="7" name="矩形 6"/>
          <p:cNvSpPr>
            <a:spLocks noGrp="1"/>
          </p:cNvSpPr>
          <p:nvPr/>
        </p:nvSpPr>
        <p:spPr>
          <a:xfrm>
            <a:off x="523875" y="1219200"/>
            <a:ext cx="3333750" cy="3238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近期启动：场景与申报</a:t>
            </a:r>
            <a:endParaRPr sz="1200" b="1">
              <a:solidFill>
                <a:srgbClr val="FFFFFF"/>
              </a:solidFill>
              <a:latin typeface="Noto Sans Hans"/>
              <a:ea typeface="Noto Sans Hans"/>
              <a:cs typeface="Noto Sans Hans"/>
            </a:endParaRPr>
          </a:p>
        </p:txBody>
      </p:sp>
      <p:sp>
        <p:nvSpPr>
          <p:cNvPr id="8" name="矩形 7"/>
          <p:cNvSpPr>
            <a:spLocks noGrp="1"/>
          </p:cNvSpPr>
          <p:nvPr/>
        </p:nvSpPr>
        <p:spPr>
          <a:xfrm>
            <a:off x="4286250" y="1219200"/>
            <a:ext cx="3333750" cy="3238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中期推进：投资与招引</a:t>
            </a:r>
            <a:endParaRPr sz="1200" b="1">
              <a:solidFill>
                <a:srgbClr val="FFFFFF"/>
              </a:solidFill>
              <a:latin typeface="Noto Sans Hans"/>
              <a:ea typeface="Noto Sans Hans"/>
              <a:cs typeface="Noto Sans Hans"/>
            </a:endParaRPr>
          </a:p>
        </p:txBody>
      </p:sp>
      <p:sp>
        <p:nvSpPr>
          <p:cNvPr id="9" name="矩形 8"/>
          <p:cNvSpPr>
            <a:spLocks noGrp="1"/>
          </p:cNvSpPr>
          <p:nvPr/>
        </p:nvSpPr>
        <p:spPr>
          <a:xfrm>
            <a:off x="7953375" y="1219200"/>
            <a:ext cx="3667125" cy="3238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长期建设：平台与复制</a:t>
            </a:r>
            <a:endParaRPr sz="1200" b="1">
              <a:solidFill>
                <a:srgbClr val="FFFFFF"/>
              </a:solidFill>
              <a:latin typeface="Noto Sans Hans"/>
              <a:ea typeface="Noto Sans Hans"/>
              <a:cs typeface="Noto Sans Hans"/>
            </a:endParaRPr>
          </a:p>
        </p:txBody>
      </p:sp>
      <p:sp>
        <p:nvSpPr>
          <p:cNvPr id="10" name="矩形 9"/>
          <p:cNvSpPr>
            <a:spLocks noGrp="1"/>
          </p:cNvSpPr>
          <p:nvPr/>
        </p:nvSpPr>
        <p:spPr>
          <a:xfrm>
            <a:off x="457200" y="1714500"/>
            <a:ext cx="1485900" cy="333375"/>
          </a:xfrm>
          <a:prstGeom prst="rect">
            <a:avLst/>
          </a:prstGeom>
          <a:solidFill>
            <a:srgbClr val="C94A27"/>
          </a:solidFill>
          <a:ln w="9525">
            <a:solidFill>
              <a:srgbClr val="FFFFFF"/>
            </a:solidFill>
            <a:prstDash val="solid"/>
          </a:ln>
        </p:spPr>
      </p:sp>
      <p:sp>
        <p:nvSpPr>
          <p:cNvPr id="11" name="矩形 10"/>
          <p:cNvSpPr>
            <a:spLocks noGrp="1"/>
          </p:cNvSpPr>
          <p:nvPr/>
        </p:nvSpPr>
        <p:spPr>
          <a:xfrm>
            <a:off x="476250" y="1724025"/>
            <a:ext cx="144780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项目</a:t>
            </a:r>
            <a:endParaRPr sz="940" b="1">
              <a:solidFill>
                <a:srgbClr val="FFFFFF"/>
              </a:solidFill>
              <a:latin typeface="Noto Sans Hans"/>
              <a:ea typeface="Noto Sans Hans"/>
              <a:cs typeface="Noto Sans Hans"/>
            </a:endParaRPr>
          </a:p>
        </p:txBody>
      </p:sp>
      <p:sp>
        <p:nvSpPr>
          <p:cNvPr id="12" name="矩形 11"/>
          <p:cNvSpPr>
            <a:spLocks noGrp="1"/>
          </p:cNvSpPr>
          <p:nvPr/>
        </p:nvSpPr>
        <p:spPr>
          <a:xfrm>
            <a:off x="1943100" y="1714500"/>
            <a:ext cx="857250" cy="333375"/>
          </a:xfrm>
          <a:prstGeom prst="rect">
            <a:avLst/>
          </a:prstGeom>
          <a:solidFill>
            <a:srgbClr val="C94A27"/>
          </a:solidFill>
          <a:ln w="9525">
            <a:solidFill>
              <a:srgbClr val="FFFFFF"/>
            </a:solidFill>
            <a:prstDash val="solid"/>
          </a:ln>
        </p:spPr>
      </p:sp>
      <p:sp>
        <p:nvSpPr>
          <p:cNvPr id="13" name="矩形 12"/>
          <p:cNvSpPr>
            <a:spLocks noGrp="1"/>
          </p:cNvSpPr>
          <p:nvPr/>
        </p:nvSpPr>
        <p:spPr>
          <a:xfrm>
            <a:off x="1962150" y="1724025"/>
            <a:ext cx="81915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类型/状态</a:t>
            </a:r>
            <a:endParaRPr sz="940" b="1">
              <a:solidFill>
                <a:srgbClr val="FFFFFF"/>
              </a:solidFill>
              <a:latin typeface="Noto Sans Hans"/>
              <a:ea typeface="Noto Sans Hans"/>
              <a:cs typeface="Noto Sans Hans"/>
            </a:endParaRPr>
          </a:p>
        </p:txBody>
      </p:sp>
      <p:sp>
        <p:nvSpPr>
          <p:cNvPr id="14" name="矩形 13"/>
          <p:cNvSpPr>
            <a:spLocks noGrp="1"/>
          </p:cNvSpPr>
          <p:nvPr/>
        </p:nvSpPr>
        <p:spPr>
          <a:xfrm>
            <a:off x="2800350" y="1714500"/>
            <a:ext cx="1638300" cy="333375"/>
          </a:xfrm>
          <a:prstGeom prst="rect">
            <a:avLst/>
          </a:prstGeom>
          <a:solidFill>
            <a:srgbClr val="C94A27"/>
          </a:solidFill>
          <a:ln w="9525">
            <a:solidFill>
              <a:srgbClr val="FFFFFF"/>
            </a:solidFill>
            <a:prstDash val="solid"/>
          </a:ln>
        </p:spPr>
      </p:sp>
      <p:sp>
        <p:nvSpPr>
          <p:cNvPr id="15" name="矩形 14"/>
          <p:cNvSpPr>
            <a:spLocks noGrp="1"/>
          </p:cNvSpPr>
          <p:nvPr/>
        </p:nvSpPr>
        <p:spPr>
          <a:xfrm>
            <a:off x="2819400" y="1724025"/>
            <a:ext cx="160020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核心内容</a:t>
            </a:r>
            <a:endParaRPr sz="940" b="1">
              <a:solidFill>
                <a:srgbClr val="FFFFFF"/>
              </a:solidFill>
              <a:latin typeface="Noto Sans Hans"/>
              <a:ea typeface="Noto Sans Hans"/>
              <a:cs typeface="Noto Sans Hans"/>
            </a:endParaRPr>
          </a:p>
        </p:txBody>
      </p:sp>
      <p:sp>
        <p:nvSpPr>
          <p:cNvPr id="16" name="矩形 15"/>
          <p:cNvSpPr>
            <a:spLocks noGrp="1"/>
          </p:cNvSpPr>
          <p:nvPr/>
        </p:nvSpPr>
        <p:spPr>
          <a:xfrm>
            <a:off x="4438650" y="1714500"/>
            <a:ext cx="2171700" cy="333375"/>
          </a:xfrm>
          <a:prstGeom prst="rect">
            <a:avLst/>
          </a:prstGeom>
          <a:solidFill>
            <a:srgbClr val="C94A27"/>
          </a:solidFill>
          <a:ln w="9525">
            <a:solidFill>
              <a:srgbClr val="FFFFFF"/>
            </a:solidFill>
            <a:prstDash val="solid"/>
          </a:ln>
        </p:spPr>
      </p:sp>
      <p:sp>
        <p:nvSpPr>
          <p:cNvPr id="17" name="矩形 16"/>
          <p:cNvSpPr>
            <a:spLocks noGrp="1"/>
          </p:cNvSpPr>
          <p:nvPr/>
        </p:nvSpPr>
        <p:spPr>
          <a:xfrm>
            <a:off x="4457700" y="1724025"/>
            <a:ext cx="213360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合作与资金方式</a:t>
            </a:r>
            <a:endParaRPr sz="940" b="1">
              <a:solidFill>
                <a:srgbClr val="FFFFFF"/>
              </a:solidFill>
              <a:latin typeface="Noto Sans Hans"/>
              <a:ea typeface="Noto Sans Hans"/>
              <a:cs typeface="Noto Sans Hans"/>
            </a:endParaRPr>
          </a:p>
        </p:txBody>
      </p:sp>
      <p:sp>
        <p:nvSpPr>
          <p:cNvPr id="18" name="矩形 17"/>
          <p:cNvSpPr>
            <a:spLocks noGrp="1"/>
          </p:cNvSpPr>
          <p:nvPr/>
        </p:nvSpPr>
        <p:spPr>
          <a:xfrm>
            <a:off x="6610350" y="1714500"/>
            <a:ext cx="1619250" cy="333375"/>
          </a:xfrm>
          <a:prstGeom prst="rect">
            <a:avLst/>
          </a:prstGeom>
          <a:solidFill>
            <a:srgbClr val="C94A27"/>
          </a:solidFill>
          <a:ln w="9525">
            <a:solidFill>
              <a:srgbClr val="FFFFFF"/>
            </a:solidFill>
            <a:prstDash val="solid"/>
          </a:ln>
        </p:spPr>
      </p:sp>
      <p:sp>
        <p:nvSpPr>
          <p:cNvPr id="19" name="矩形 18"/>
          <p:cNvSpPr>
            <a:spLocks noGrp="1"/>
          </p:cNvSpPr>
          <p:nvPr/>
        </p:nvSpPr>
        <p:spPr>
          <a:xfrm>
            <a:off x="6629400" y="1724025"/>
            <a:ext cx="158115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建设周期/收益</a:t>
            </a:r>
            <a:endParaRPr sz="940" b="1">
              <a:solidFill>
                <a:srgbClr val="FFFFFF"/>
              </a:solidFill>
              <a:latin typeface="Noto Sans Hans"/>
              <a:ea typeface="Noto Sans Hans"/>
              <a:cs typeface="Noto Sans Hans"/>
            </a:endParaRPr>
          </a:p>
        </p:txBody>
      </p:sp>
      <p:sp>
        <p:nvSpPr>
          <p:cNvPr id="20" name="矩形 19"/>
          <p:cNvSpPr>
            <a:spLocks noGrp="1"/>
          </p:cNvSpPr>
          <p:nvPr/>
        </p:nvSpPr>
        <p:spPr>
          <a:xfrm>
            <a:off x="8229600" y="1714500"/>
            <a:ext cx="1714500" cy="333375"/>
          </a:xfrm>
          <a:prstGeom prst="rect">
            <a:avLst/>
          </a:prstGeom>
          <a:solidFill>
            <a:srgbClr val="C94A27"/>
          </a:solidFill>
          <a:ln w="9525">
            <a:solidFill>
              <a:srgbClr val="FFFFFF"/>
            </a:solidFill>
            <a:prstDash val="solid"/>
          </a:ln>
        </p:spPr>
      </p:sp>
      <p:sp>
        <p:nvSpPr>
          <p:cNvPr id="21" name="矩形 20"/>
          <p:cNvSpPr>
            <a:spLocks noGrp="1"/>
          </p:cNvSpPr>
          <p:nvPr/>
        </p:nvSpPr>
        <p:spPr>
          <a:xfrm>
            <a:off x="8248650" y="1724025"/>
            <a:ext cx="167640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主要风险</a:t>
            </a:r>
            <a:endParaRPr sz="940" b="1">
              <a:solidFill>
                <a:srgbClr val="FFFFFF"/>
              </a:solidFill>
              <a:latin typeface="Noto Sans Hans"/>
              <a:ea typeface="Noto Sans Hans"/>
              <a:cs typeface="Noto Sans Hans"/>
            </a:endParaRPr>
          </a:p>
        </p:txBody>
      </p:sp>
      <p:sp>
        <p:nvSpPr>
          <p:cNvPr id="22" name="矩形 21"/>
          <p:cNvSpPr>
            <a:spLocks noGrp="1"/>
          </p:cNvSpPr>
          <p:nvPr/>
        </p:nvSpPr>
        <p:spPr>
          <a:xfrm>
            <a:off x="9944100" y="1714500"/>
            <a:ext cx="1790700" cy="333375"/>
          </a:xfrm>
          <a:prstGeom prst="rect">
            <a:avLst/>
          </a:prstGeom>
          <a:solidFill>
            <a:srgbClr val="C94A27"/>
          </a:solidFill>
          <a:ln w="9525">
            <a:solidFill>
              <a:srgbClr val="FFFFFF"/>
            </a:solidFill>
            <a:prstDash val="solid"/>
          </a:ln>
        </p:spPr>
      </p:sp>
      <p:sp>
        <p:nvSpPr>
          <p:cNvPr id="23" name="矩形 22"/>
          <p:cNvSpPr>
            <a:spLocks noGrp="1"/>
          </p:cNvSpPr>
          <p:nvPr/>
        </p:nvSpPr>
        <p:spPr>
          <a:xfrm>
            <a:off x="9963150" y="1724025"/>
            <a:ext cx="1752600" cy="31432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当前建议</a:t>
            </a:r>
            <a:endParaRPr sz="940" b="1">
              <a:solidFill>
                <a:srgbClr val="FFFFFF"/>
              </a:solidFill>
              <a:latin typeface="Noto Sans Hans"/>
              <a:ea typeface="Noto Sans Hans"/>
              <a:cs typeface="Noto Sans Hans"/>
            </a:endParaRPr>
          </a:p>
        </p:txBody>
      </p:sp>
      <p:sp>
        <p:nvSpPr>
          <p:cNvPr id="24" name="矩形 23"/>
          <p:cNvSpPr>
            <a:spLocks noGrp="1"/>
          </p:cNvSpPr>
          <p:nvPr/>
        </p:nvSpPr>
        <p:spPr>
          <a:xfrm>
            <a:off x="457200" y="2047875"/>
            <a:ext cx="1485900" cy="340995"/>
          </a:xfrm>
          <a:prstGeom prst="rect">
            <a:avLst/>
          </a:prstGeom>
          <a:solidFill>
            <a:srgbClr val="F8E5E4"/>
          </a:solidFill>
          <a:ln w="9525">
            <a:solidFill>
              <a:srgbClr val="FFFFFF"/>
            </a:solidFill>
            <a:prstDash val="solid"/>
          </a:ln>
        </p:spPr>
      </p:sp>
      <p:sp>
        <p:nvSpPr>
          <p:cNvPr id="25" name="矩形 24"/>
          <p:cNvSpPr>
            <a:spLocks noGrp="1"/>
          </p:cNvSpPr>
          <p:nvPr/>
        </p:nvSpPr>
        <p:spPr>
          <a:xfrm>
            <a:off x="476250" y="2057400"/>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国家场景试点申报</a:t>
            </a:r>
            <a:endParaRPr sz="770" b="1">
              <a:solidFill>
                <a:srgbClr val="D00914"/>
              </a:solidFill>
              <a:latin typeface="Noto Sans Hans"/>
              <a:ea typeface="Noto Sans Hans"/>
              <a:cs typeface="Noto Sans Hans"/>
            </a:endParaRPr>
          </a:p>
        </p:txBody>
      </p:sp>
      <p:sp>
        <p:nvSpPr>
          <p:cNvPr id="26" name="矩形 25"/>
          <p:cNvSpPr>
            <a:spLocks noGrp="1"/>
          </p:cNvSpPr>
          <p:nvPr/>
        </p:nvSpPr>
        <p:spPr>
          <a:xfrm>
            <a:off x="1943100" y="2047875"/>
            <a:ext cx="857250" cy="340995"/>
          </a:xfrm>
          <a:prstGeom prst="rect">
            <a:avLst/>
          </a:prstGeom>
          <a:solidFill>
            <a:srgbClr val="F8E5E4"/>
          </a:solidFill>
          <a:ln w="9525">
            <a:solidFill>
              <a:srgbClr val="FFFFFF"/>
            </a:solidFill>
            <a:prstDash val="solid"/>
          </a:ln>
        </p:spPr>
      </p:sp>
      <p:sp>
        <p:nvSpPr>
          <p:cNvPr id="27" name="矩形 26"/>
          <p:cNvSpPr>
            <a:spLocks noGrp="1"/>
          </p:cNvSpPr>
          <p:nvPr/>
        </p:nvSpPr>
        <p:spPr>
          <a:xfrm>
            <a:off x="1962150" y="2057400"/>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政策项目/近期</a:t>
            </a:r>
            <a:endParaRPr sz="790" b="0">
              <a:solidFill>
                <a:srgbClr val="403A38"/>
              </a:solidFill>
              <a:latin typeface="Noto Sans Hans"/>
              <a:ea typeface="Noto Sans Hans"/>
              <a:cs typeface="Noto Sans Hans"/>
            </a:endParaRPr>
          </a:p>
        </p:txBody>
      </p:sp>
      <p:sp>
        <p:nvSpPr>
          <p:cNvPr id="28" name="矩形 27"/>
          <p:cNvSpPr>
            <a:spLocks noGrp="1"/>
          </p:cNvSpPr>
          <p:nvPr/>
        </p:nvSpPr>
        <p:spPr>
          <a:xfrm>
            <a:off x="2800350" y="2047875"/>
            <a:ext cx="1638300" cy="340995"/>
          </a:xfrm>
          <a:prstGeom prst="rect">
            <a:avLst/>
          </a:prstGeom>
          <a:solidFill>
            <a:srgbClr val="F8E5E4"/>
          </a:solidFill>
          <a:ln w="9525">
            <a:solidFill>
              <a:srgbClr val="FFFFFF"/>
            </a:solidFill>
            <a:prstDash val="solid"/>
          </a:ln>
        </p:spPr>
      </p:sp>
      <p:sp>
        <p:nvSpPr>
          <p:cNvPr id="29" name="矩形 28"/>
          <p:cNvSpPr>
            <a:spLocks noGrp="1"/>
          </p:cNvSpPr>
          <p:nvPr/>
        </p:nvSpPr>
        <p:spPr>
          <a:xfrm>
            <a:off x="2819400" y="2057400"/>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围绕失能照护、康复、陪伴组织联合体</a:t>
            </a:r>
            <a:endParaRPr sz="770" b="0">
              <a:solidFill>
                <a:srgbClr val="403A38"/>
              </a:solidFill>
              <a:latin typeface="Noto Sans Hans"/>
              <a:ea typeface="Noto Sans Hans"/>
              <a:cs typeface="Noto Sans Hans"/>
            </a:endParaRPr>
          </a:p>
        </p:txBody>
      </p:sp>
      <p:sp>
        <p:nvSpPr>
          <p:cNvPr id="30" name="矩形 29"/>
          <p:cNvSpPr>
            <a:spLocks noGrp="1"/>
          </p:cNvSpPr>
          <p:nvPr/>
        </p:nvSpPr>
        <p:spPr>
          <a:xfrm>
            <a:off x="4438650" y="2047875"/>
            <a:ext cx="2171700" cy="340995"/>
          </a:xfrm>
          <a:prstGeom prst="rect">
            <a:avLst/>
          </a:prstGeom>
          <a:solidFill>
            <a:srgbClr val="F8E5E4"/>
          </a:solidFill>
          <a:ln w="9525">
            <a:solidFill>
              <a:srgbClr val="FFFFFF"/>
            </a:solidFill>
            <a:prstDash val="solid"/>
          </a:ln>
        </p:spPr>
      </p:sp>
      <p:sp>
        <p:nvSpPr>
          <p:cNvPr id="31" name="矩形 30"/>
          <p:cNvSpPr>
            <a:spLocks noGrp="1"/>
          </p:cNvSpPr>
          <p:nvPr/>
        </p:nvSpPr>
        <p:spPr>
          <a:xfrm>
            <a:off x="4457700" y="2057400"/>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联合申报；财政资金与企业配套按指南</a:t>
            </a:r>
            <a:endParaRPr sz="770" b="0">
              <a:solidFill>
                <a:srgbClr val="403A38"/>
              </a:solidFill>
              <a:latin typeface="Noto Sans Hans"/>
              <a:ea typeface="Noto Sans Hans"/>
              <a:cs typeface="Noto Sans Hans"/>
            </a:endParaRPr>
          </a:p>
        </p:txBody>
      </p:sp>
      <p:sp>
        <p:nvSpPr>
          <p:cNvPr id="32" name="矩形 31"/>
          <p:cNvSpPr>
            <a:spLocks noGrp="1"/>
          </p:cNvSpPr>
          <p:nvPr/>
        </p:nvSpPr>
        <p:spPr>
          <a:xfrm>
            <a:off x="6610350" y="2047875"/>
            <a:ext cx="1619250" cy="340995"/>
          </a:xfrm>
          <a:prstGeom prst="rect">
            <a:avLst/>
          </a:prstGeom>
          <a:solidFill>
            <a:srgbClr val="F8E5E4"/>
          </a:solidFill>
          <a:ln w="9525">
            <a:solidFill>
              <a:srgbClr val="FFFFFF"/>
            </a:solidFill>
            <a:prstDash val="solid"/>
          </a:ln>
        </p:spPr>
      </p:sp>
      <p:sp>
        <p:nvSpPr>
          <p:cNvPr id="33" name="矩形 32"/>
          <p:cNvSpPr>
            <a:spLocks noGrp="1"/>
          </p:cNvSpPr>
          <p:nvPr/>
        </p:nvSpPr>
        <p:spPr>
          <a:xfrm>
            <a:off x="6629400" y="2057400"/>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2—3年；政策资金、标准与品牌</a:t>
            </a:r>
            <a:endParaRPr sz="770" b="0">
              <a:solidFill>
                <a:srgbClr val="403A38"/>
              </a:solidFill>
              <a:latin typeface="Noto Sans Hans"/>
              <a:ea typeface="Noto Sans Hans"/>
              <a:cs typeface="Noto Sans Hans"/>
            </a:endParaRPr>
          </a:p>
        </p:txBody>
      </p:sp>
      <p:sp>
        <p:nvSpPr>
          <p:cNvPr id="34" name="矩形 33"/>
          <p:cNvSpPr>
            <a:spLocks noGrp="1"/>
          </p:cNvSpPr>
          <p:nvPr/>
        </p:nvSpPr>
        <p:spPr>
          <a:xfrm>
            <a:off x="8229600" y="2047875"/>
            <a:ext cx="1714500" cy="340995"/>
          </a:xfrm>
          <a:prstGeom prst="rect">
            <a:avLst/>
          </a:prstGeom>
          <a:solidFill>
            <a:srgbClr val="F8E5E4"/>
          </a:solidFill>
          <a:ln w="9525">
            <a:solidFill>
              <a:srgbClr val="FFFFFF"/>
            </a:solidFill>
            <a:prstDash val="solid"/>
          </a:ln>
        </p:spPr>
      </p:sp>
      <p:sp>
        <p:nvSpPr>
          <p:cNvPr id="35" name="矩形 34"/>
          <p:cNvSpPr>
            <a:spLocks noGrp="1"/>
          </p:cNvSpPr>
          <p:nvPr/>
        </p:nvSpPr>
        <p:spPr>
          <a:xfrm>
            <a:off x="8248650" y="2057400"/>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协调与绩效考核</a:t>
            </a:r>
            <a:endParaRPr sz="770" b="0">
              <a:solidFill>
                <a:srgbClr val="403A38"/>
              </a:solidFill>
              <a:latin typeface="Noto Sans Hans"/>
              <a:ea typeface="Noto Sans Hans"/>
              <a:cs typeface="Noto Sans Hans"/>
            </a:endParaRPr>
          </a:p>
        </p:txBody>
      </p:sp>
      <p:sp>
        <p:nvSpPr>
          <p:cNvPr id="36" name="矩形 35"/>
          <p:cNvSpPr>
            <a:spLocks noGrp="1"/>
          </p:cNvSpPr>
          <p:nvPr/>
        </p:nvSpPr>
        <p:spPr>
          <a:xfrm>
            <a:off x="9944100" y="2047875"/>
            <a:ext cx="1790700" cy="340995"/>
          </a:xfrm>
          <a:prstGeom prst="rect">
            <a:avLst/>
          </a:prstGeom>
          <a:solidFill>
            <a:srgbClr val="F5EDDA"/>
          </a:solidFill>
          <a:ln w="9525">
            <a:solidFill>
              <a:srgbClr val="FFFFFF"/>
            </a:solidFill>
            <a:prstDash val="solid"/>
          </a:ln>
        </p:spPr>
      </p:sp>
      <p:sp>
        <p:nvSpPr>
          <p:cNvPr id="37" name="矩形 36"/>
          <p:cNvSpPr>
            <a:spLocks noGrp="1"/>
          </p:cNvSpPr>
          <p:nvPr/>
        </p:nvSpPr>
        <p:spPr>
          <a:xfrm>
            <a:off x="9963150" y="2057400"/>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近期优先</a:t>
            </a:r>
            <a:endParaRPr sz="770" b="1">
              <a:solidFill>
                <a:srgbClr val="D00914"/>
              </a:solidFill>
              <a:latin typeface="Noto Sans Hans"/>
              <a:ea typeface="Noto Sans Hans"/>
              <a:cs typeface="Noto Sans Hans"/>
            </a:endParaRPr>
          </a:p>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形成申报专班</a:t>
            </a:r>
            <a:endParaRPr sz="770" b="1">
              <a:solidFill>
                <a:srgbClr val="D00914"/>
              </a:solidFill>
              <a:latin typeface="Noto Sans Hans"/>
              <a:ea typeface="Noto Sans Hans"/>
              <a:cs typeface="Noto Sans Hans"/>
            </a:endParaRPr>
          </a:p>
        </p:txBody>
      </p:sp>
      <p:sp>
        <p:nvSpPr>
          <p:cNvPr id="38" name="矩形 37"/>
          <p:cNvSpPr>
            <a:spLocks noGrp="1"/>
          </p:cNvSpPr>
          <p:nvPr/>
        </p:nvSpPr>
        <p:spPr>
          <a:xfrm>
            <a:off x="457200" y="2388870"/>
            <a:ext cx="1485900" cy="340995"/>
          </a:xfrm>
          <a:prstGeom prst="rect">
            <a:avLst/>
          </a:prstGeom>
          <a:solidFill>
            <a:srgbClr val="F7F3F1"/>
          </a:solidFill>
          <a:ln w="9525">
            <a:solidFill>
              <a:srgbClr val="FFFFFF"/>
            </a:solidFill>
            <a:prstDash val="solid"/>
          </a:ln>
        </p:spPr>
      </p:sp>
      <p:sp>
        <p:nvSpPr>
          <p:cNvPr id="39" name="矩形 38"/>
          <p:cNvSpPr>
            <a:spLocks noGrp="1"/>
          </p:cNvSpPr>
          <p:nvPr/>
        </p:nvSpPr>
        <p:spPr>
          <a:xfrm>
            <a:off x="476250" y="2398395"/>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百床配送清洁巡检试点</a:t>
            </a:r>
            <a:endParaRPr sz="770" b="1">
              <a:solidFill>
                <a:srgbClr val="D00914"/>
              </a:solidFill>
              <a:latin typeface="Noto Sans Hans"/>
              <a:ea typeface="Noto Sans Hans"/>
              <a:cs typeface="Noto Sans Hans"/>
            </a:endParaRPr>
          </a:p>
        </p:txBody>
      </p:sp>
      <p:sp>
        <p:nvSpPr>
          <p:cNvPr id="40" name="矩形 39"/>
          <p:cNvSpPr>
            <a:spLocks noGrp="1"/>
          </p:cNvSpPr>
          <p:nvPr/>
        </p:nvSpPr>
        <p:spPr>
          <a:xfrm>
            <a:off x="1943100" y="2388870"/>
            <a:ext cx="857250" cy="340995"/>
          </a:xfrm>
          <a:prstGeom prst="rect">
            <a:avLst/>
          </a:prstGeom>
          <a:solidFill>
            <a:srgbClr val="F7F3F1"/>
          </a:solidFill>
          <a:ln w="9525">
            <a:solidFill>
              <a:srgbClr val="FFFFFF"/>
            </a:solidFill>
            <a:prstDash val="solid"/>
          </a:ln>
        </p:spPr>
      </p:sp>
      <p:sp>
        <p:nvSpPr>
          <p:cNvPr id="41" name="矩形 40"/>
          <p:cNvSpPr>
            <a:spLocks noGrp="1"/>
          </p:cNvSpPr>
          <p:nvPr/>
        </p:nvSpPr>
        <p:spPr>
          <a:xfrm>
            <a:off x="1962150" y="2398395"/>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场景项目/建议</a:t>
            </a:r>
            <a:endParaRPr sz="790" b="0">
              <a:solidFill>
                <a:srgbClr val="403A38"/>
              </a:solidFill>
              <a:latin typeface="Noto Sans Hans"/>
              <a:ea typeface="Noto Sans Hans"/>
              <a:cs typeface="Noto Sans Hans"/>
            </a:endParaRPr>
          </a:p>
        </p:txBody>
      </p:sp>
      <p:sp>
        <p:nvSpPr>
          <p:cNvPr id="42" name="矩形 41"/>
          <p:cNvSpPr>
            <a:spLocks noGrp="1"/>
          </p:cNvSpPr>
          <p:nvPr/>
        </p:nvSpPr>
        <p:spPr>
          <a:xfrm>
            <a:off x="2800350" y="2388870"/>
            <a:ext cx="1638300" cy="340995"/>
          </a:xfrm>
          <a:prstGeom prst="rect">
            <a:avLst/>
          </a:prstGeom>
          <a:solidFill>
            <a:srgbClr val="F7F3F1"/>
          </a:solidFill>
          <a:ln w="9525">
            <a:solidFill>
              <a:srgbClr val="FFFFFF"/>
            </a:solidFill>
            <a:prstDash val="solid"/>
          </a:ln>
        </p:spPr>
      </p:sp>
      <p:sp>
        <p:nvSpPr>
          <p:cNvPr id="43" name="矩形 42"/>
          <p:cNvSpPr>
            <a:spLocks noGrp="1"/>
          </p:cNvSpPr>
          <p:nvPr/>
        </p:nvSpPr>
        <p:spPr>
          <a:xfrm>
            <a:off x="2819400" y="2398395"/>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2—3家机构开展12个月对照试验</a:t>
            </a:r>
            <a:endParaRPr sz="770" b="0">
              <a:solidFill>
                <a:srgbClr val="403A38"/>
              </a:solidFill>
              <a:latin typeface="Noto Sans Hans"/>
              <a:ea typeface="Noto Sans Hans"/>
              <a:cs typeface="Noto Sans Hans"/>
            </a:endParaRPr>
          </a:p>
        </p:txBody>
      </p:sp>
      <p:sp>
        <p:nvSpPr>
          <p:cNvPr id="44" name="矩形 43"/>
          <p:cNvSpPr>
            <a:spLocks noGrp="1"/>
          </p:cNvSpPr>
          <p:nvPr/>
        </p:nvSpPr>
        <p:spPr>
          <a:xfrm>
            <a:off x="4438650" y="2388870"/>
            <a:ext cx="2171700" cy="340995"/>
          </a:xfrm>
          <a:prstGeom prst="rect">
            <a:avLst/>
          </a:prstGeom>
          <a:solidFill>
            <a:srgbClr val="F7F3F1"/>
          </a:solidFill>
          <a:ln w="9525">
            <a:solidFill>
              <a:srgbClr val="FFFFFF"/>
            </a:solidFill>
            <a:prstDash val="solid"/>
          </a:ln>
        </p:spPr>
      </p:sp>
      <p:sp>
        <p:nvSpPr>
          <p:cNvPr id="45" name="矩形 44"/>
          <p:cNvSpPr>
            <a:spLocks noGrp="1"/>
          </p:cNvSpPr>
          <p:nvPr/>
        </p:nvSpPr>
        <p:spPr>
          <a:xfrm>
            <a:off x="4457700" y="2398395"/>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采购+租赁+服务；单点20—60万元情景</a:t>
            </a:r>
            <a:endParaRPr sz="770" b="0">
              <a:solidFill>
                <a:srgbClr val="403A38"/>
              </a:solidFill>
              <a:latin typeface="Noto Sans Hans"/>
              <a:ea typeface="Noto Sans Hans"/>
              <a:cs typeface="Noto Sans Hans"/>
            </a:endParaRPr>
          </a:p>
        </p:txBody>
      </p:sp>
      <p:sp>
        <p:nvSpPr>
          <p:cNvPr id="46" name="矩形 45"/>
          <p:cNvSpPr>
            <a:spLocks noGrp="1"/>
          </p:cNvSpPr>
          <p:nvPr/>
        </p:nvSpPr>
        <p:spPr>
          <a:xfrm>
            <a:off x="6610350" y="2388870"/>
            <a:ext cx="1619250" cy="340995"/>
          </a:xfrm>
          <a:prstGeom prst="rect">
            <a:avLst/>
          </a:prstGeom>
          <a:solidFill>
            <a:srgbClr val="F7F3F1"/>
          </a:solidFill>
          <a:ln w="9525">
            <a:solidFill>
              <a:srgbClr val="FFFFFF"/>
            </a:solidFill>
            <a:prstDash val="solid"/>
          </a:ln>
        </p:spPr>
      </p:sp>
      <p:sp>
        <p:nvSpPr>
          <p:cNvPr id="47" name="矩形 46"/>
          <p:cNvSpPr>
            <a:spLocks noGrp="1"/>
          </p:cNvSpPr>
          <p:nvPr/>
        </p:nvSpPr>
        <p:spPr>
          <a:xfrm>
            <a:off x="6629400" y="2398395"/>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1—2年；节省工时并形成集采</a:t>
            </a:r>
            <a:endParaRPr sz="770" b="0">
              <a:solidFill>
                <a:srgbClr val="403A38"/>
              </a:solidFill>
              <a:latin typeface="Noto Sans Hans"/>
              <a:ea typeface="Noto Sans Hans"/>
              <a:cs typeface="Noto Sans Hans"/>
            </a:endParaRPr>
          </a:p>
        </p:txBody>
      </p:sp>
      <p:sp>
        <p:nvSpPr>
          <p:cNvPr id="48" name="矩形 47"/>
          <p:cNvSpPr>
            <a:spLocks noGrp="1"/>
          </p:cNvSpPr>
          <p:nvPr/>
        </p:nvSpPr>
        <p:spPr>
          <a:xfrm>
            <a:off x="8229600" y="2388870"/>
            <a:ext cx="1714500" cy="340995"/>
          </a:xfrm>
          <a:prstGeom prst="rect">
            <a:avLst/>
          </a:prstGeom>
          <a:solidFill>
            <a:srgbClr val="F7F3F1"/>
          </a:solidFill>
          <a:ln w="9525">
            <a:solidFill>
              <a:srgbClr val="FFFFFF"/>
            </a:solidFill>
            <a:prstDash val="solid"/>
          </a:ln>
        </p:spPr>
      </p:sp>
      <p:sp>
        <p:nvSpPr>
          <p:cNvPr id="49" name="矩形 48"/>
          <p:cNvSpPr>
            <a:spLocks noGrp="1"/>
          </p:cNvSpPr>
          <p:nvPr/>
        </p:nvSpPr>
        <p:spPr>
          <a:xfrm>
            <a:off x="8248650" y="2398395"/>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利用率、流程适配、安全</a:t>
            </a:r>
            <a:endParaRPr sz="770" b="0">
              <a:solidFill>
                <a:srgbClr val="403A38"/>
              </a:solidFill>
              <a:latin typeface="Noto Sans Hans"/>
              <a:ea typeface="Noto Sans Hans"/>
              <a:cs typeface="Noto Sans Hans"/>
            </a:endParaRPr>
          </a:p>
        </p:txBody>
      </p:sp>
      <p:sp>
        <p:nvSpPr>
          <p:cNvPr id="50" name="矩形 49"/>
          <p:cNvSpPr>
            <a:spLocks noGrp="1"/>
          </p:cNvSpPr>
          <p:nvPr/>
        </p:nvSpPr>
        <p:spPr>
          <a:xfrm>
            <a:off x="9944100" y="2388870"/>
            <a:ext cx="1790700" cy="340995"/>
          </a:xfrm>
          <a:prstGeom prst="rect">
            <a:avLst/>
          </a:prstGeom>
          <a:solidFill>
            <a:srgbClr val="F5EDDA"/>
          </a:solidFill>
          <a:ln w="9525">
            <a:solidFill>
              <a:srgbClr val="FFFFFF"/>
            </a:solidFill>
            <a:prstDash val="solid"/>
          </a:ln>
        </p:spPr>
      </p:sp>
      <p:sp>
        <p:nvSpPr>
          <p:cNvPr id="51" name="矩形 50"/>
          <p:cNvSpPr>
            <a:spLocks noGrp="1"/>
          </p:cNvSpPr>
          <p:nvPr/>
        </p:nvSpPr>
        <p:spPr>
          <a:xfrm>
            <a:off x="9963150" y="2398395"/>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立即开展</a:t>
            </a:r>
            <a:endParaRPr sz="770" b="1">
              <a:solidFill>
                <a:srgbClr val="D00914"/>
              </a:solidFill>
              <a:latin typeface="Noto Sans Hans"/>
              <a:ea typeface="Noto Sans Hans"/>
              <a:cs typeface="Noto Sans Hans"/>
            </a:endParaRPr>
          </a:p>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可快速验证</a:t>
            </a:r>
            <a:endParaRPr sz="770" b="1">
              <a:solidFill>
                <a:srgbClr val="D00914"/>
              </a:solidFill>
              <a:latin typeface="Noto Sans Hans"/>
              <a:ea typeface="Noto Sans Hans"/>
              <a:cs typeface="Noto Sans Hans"/>
            </a:endParaRPr>
          </a:p>
        </p:txBody>
      </p:sp>
      <p:sp>
        <p:nvSpPr>
          <p:cNvPr id="52" name="矩形 51"/>
          <p:cNvSpPr>
            <a:spLocks noGrp="1"/>
          </p:cNvSpPr>
          <p:nvPr/>
        </p:nvSpPr>
        <p:spPr>
          <a:xfrm>
            <a:off x="457200" y="2729865"/>
            <a:ext cx="1485900" cy="340995"/>
          </a:xfrm>
          <a:prstGeom prst="rect">
            <a:avLst/>
          </a:prstGeom>
          <a:solidFill>
            <a:srgbClr val="F8E5E4"/>
          </a:solidFill>
          <a:ln w="9525">
            <a:solidFill>
              <a:srgbClr val="FFFFFF"/>
            </a:solidFill>
            <a:prstDash val="solid"/>
          </a:ln>
        </p:spPr>
      </p:sp>
      <p:sp>
        <p:nvSpPr>
          <p:cNvPr id="53" name="矩形 52"/>
          <p:cNvSpPr>
            <a:spLocks noGrp="1"/>
          </p:cNvSpPr>
          <p:nvPr/>
        </p:nvSpPr>
        <p:spPr>
          <a:xfrm>
            <a:off x="476250" y="2739390"/>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武汉康复机器人示范中心</a:t>
            </a:r>
            <a:endParaRPr sz="770" b="1">
              <a:solidFill>
                <a:srgbClr val="D00914"/>
              </a:solidFill>
              <a:latin typeface="Noto Sans Hans"/>
              <a:ea typeface="Noto Sans Hans"/>
              <a:cs typeface="Noto Sans Hans"/>
            </a:endParaRPr>
          </a:p>
        </p:txBody>
      </p:sp>
      <p:sp>
        <p:nvSpPr>
          <p:cNvPr id="54" name="矩形 53"/>
          <p:cNvSpPr>
            <a:spLocks noGrp="1"/>
          </p:cNvSpPr>
          <p:nvPr/>
        </p:nvSpPr>
        <p:spPr>
          <a:xfrm>
            <a:off x="1943100" y="2729865"/>
            <a:ext cx="857250" cy="340995"/>
          </a:xfrm>
          <a:prstGeom prst="rect">
            <a:avLst/>
          </a:prstGeom>
          <a:solidFill>
            <a:srgbClr val="F8E5E4"/>
          </a:solidFill>
          <a:ln w="9525">
            <a:solidFill>
              <a:srgbClr val="FFFFFF"/>
            </a:solidFill>
            <a:prstDash val="solid"/>
          </a:ln>
        </p:spPr>
      </p:sp>
      <p:sp>
        <p:nvSpPr>
          <p:cNvPr id="55" name="矩形 54"/>
          <p:cNvSpPr>
            <a:spLocks noGrp="1"/>
          </p:cNvSpPr>
          <p:nvPr/>
        </p:nvSpPr>
        <p:spPr>
          <a:xfrm>
            <a:off x="1962150" y="2739390"/>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示范项目/建议</a:t>
            </a:r>
            <a:endParaRPr sz="790" b="0">
              <a:solidFill>
                <a:srgbClr val="403A38"/>
              </a:solidFill>
              <a:latin typeface="Noto Sans Hans"/>
              <a:ea typeface="Noto Sans Hans"/>
              <a:cs typeface="Noto Sans Hans"/>
            </a:endParaRPr>
          </a:p>
        </p:txBody>
      </p:sp>
      <p:sp>
        <p:nvSpPr>
          <p:cNvPr id="56" name="矩形 55"/>
          <p:cNvSpPr>
            <a:spLocks noGrp="1"/>
          </p:cNvSpPr>
          <p:nvPr/>
        </p:nvSpPr>
        <p:spPr>
          <a:xfrm>
            <a:off x="2800350" y="2729865"/>
            <a:ext cx="1638300" cy="340995"/>
          </a:xfrm>
          <a:prstGeom prst="rect">
            <a:avLst/>
          </a:prstGeom>
          <a:solidFill>
            <a:srgbClr val="F8E5E4"/>
          </a:solidFill>
          <a:ln w="9525">
            <a:solidFill>
              <a:srgbClr val="FFFFFF"/>
            </a:solidFill>
            <a:prstDash val="solid"/>
          </a:ln>
        </p:spPr>
      </p:sp>
      <p:sp>
        <p:nvSpPr>
          <p:cNvPr id="57" name="矩形 56"/>
          <p:cNvSpPr>
            <a:spLocks noGrp="1"/>
          </p:cNvSpPr>
          <p:nvPr/>
        </p:nvSpPr>
        <p:spPr>
          <a:xfrm>
            <a:off x="2819400" y="2739390"/>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评估—训练—随访闭环</a:t>
            </a:r>
            <a:endParaRPr sz="770" b="0">
              <a:solidFill>
                <a:srgbClr val="403A38"/>
              </a:solidFill>
              <a:latin typeface="Noto Sans Hans"/>
              <a:ea typeface="Noto Sans Hans"/>
              <a:cs typeface="Noto Sans Hans"/>
            </a:endParaRPr>
          </a:p>
        </p:txBody>
      </p:sp>
      <p:sp>
        <p:nvSpPr>
          <p:cNvPr id="58" name="矩形 57"/>
          <p:cNvSpPr>
            <a:spLocks noGrp="1"/>
          </p:cNvSpPr>
          <p:nvPr/>
        </p:nvSpPr>
        <p:spPr>
          <a:xfrm>
            <a:off x="4438650" y="2729865"/>
            <a:ext cx="2171700" cy="340995"/>
          </a:xfrm>
          <a:prstGeom prst="rect">
            <a:avLst/>
          </a:prstGeom>
          <a:solidFill>
            <a:srgbClr val="F8E5E4"/>
          </a:solidFill>
          <a:ln w="9525">
            <a:solidFill>
              <a:srgbClr val="FFFFFF"/>
            </a:solidFill>
            <a:prstDash val="solid"/>
          </a:ln>
        </p:spPr>
      </p:sp>
      <p:sp>
        <p:nvSpPr>
          <p:cNvPr id="59" name="矩形 58"/>
          <p:cNvSpPr>
            <a:spLocks noGrp="1"/>
          </p:cNvSpPr>
          <p:nvPr/>
        </p:nvSpPr>
        <p:spPr>
          <a:xfrm>
            <a:off x="4457700" y="2739390"/>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合资/采购租赁；分阶段500—1500万元情景</a:t>
            </a:r>
            <a:endParaRPr sz="770" b="0">
              <a:solidFill>
                <a:srgbClr val="403A38"/>
              </a:solidFill>
              <a:latin typeface="Noto Sans Hans"/>
              <a:ea typeface="Noto Sans Hans"/>
              <a:cs typeface="Noto Sans Hans"/>
            </a:endParaRPr>
          </a:p>
        </p:txBody>
      </p:sp>
      <p:sp>
        <p:nvSpPr>
          <p:cNvPr id="60" name="矩形 59"/>
          <p:cNvSpPr>
            <a:spLocks noGrp="1"/>
          </p:cNvSpPr>
          <p:nvPr/>
        </p:nvSpPr>
        <p:spPr>
          <a:xfrm>
            <a:off x="6610350" y="2729865"/>
            <a:ext cx="1619250" cy="340995"/>
          </a:xfrm>
          <a:prstGeom prst="rect">
            <a:avLst/>
          </a:prstGeom>
          <a:solidFill>
            <a:srgbClr val="F8E5E4"/>
          </a:solidFill>
          <a:ln w="9525">
            <a:solidFill>
              <a:srgbClr val="FFFFFF"/>
            </a:solidFill>
            <a:prstDash val="solid"/>
          </a:ln>
        </p:spPr>
      </p:sp>
      <p:sp>
        <p:nvSpPr>
          <p:cNvPr id="61" name="矩形 60"/>
          <p:cNvSpPr>
            <a:spLocks noGrp="1"/>
          </p:cNvSpPr>
          <p:nvPr/>
        </p:nvSpPr>
        <p:spPr>
          <a:xfrm>
            <a:off x="6629400" y="2739390"/>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3—5年；运营现金流+招商协同</a:t>
            </a:r>
            <a:endParaRPr sz="770" b="0">
              <a:solidFill>
                <a:srgbClr val="403A38"/>
              </a:solidFill>
              <a:latin typeface="Noto Sans Hans"/>
              <a:ea typeface="Noto Sans Hans"/>
              <a:cs typeface="Noto Sans Hans"/>
            </a:endParaRPr>
          </a:p>
        </p:txBody>
      </p:sp>
      <p:sp>
        <p:nvSpPr>
          <p:cNvPr id="62" name="矩形 61"/>
          <p:cNvSpPr>
            <a:spLocks noGrp="1"/>
          </p:cNvSpPr>
          <p:nvPr/>
        </p:nvSpPr>
        <p:spPr>
          <a:xfrm>
            <a:off x="8229600" y="2729865"/>
            <a:ext cx="1714500" cy="340995"/>
          </a:xfrm>
          <a:prstGeom prst="rect">
            <a:avLst/>
          </a:prstGeom>
          <a:solidFill>
            <a:srgbClr val="F8E5E4"/>
          </a:solidFill>
          <a:ln w="9525">
            <a:solidFill>
              <a:srgbClr val="FFFFFF"/>
            </a:solidFill>
            <a:prstDash val="solid"/>
          </a:ln>
        </p:spPr>
      </p:sp>
      <p:sp>
        <p:nvSpPr>
          <p:cNvPr id="63" name="矩形 62"/>
          <p:cNvSpPr>
            <a:spLocks noGrp="1"/>
          </p:cNvSpPr>
          <p:nvPr/>
        </p:nvSpPr>
        <p:spPr>
          <a:xfrm>
            <a:off x="8248650" y="2739390"/>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利用率、医疗资质、支付</a:t>
            </a:r>
            <a:endParaRPr sz="770" b="0">
              <a:solidFill>
                <a:srgbClr val="403A38"/>
              </a:solidFill>
              <a:latin typeface="Noto Sans Hans"/>
              <a:ea typeface="Noto Sans Hans"/>
              <a:cs typeface="Noto Sans Hans"/>
            </a:endParaRPr>
          </a:p>
        </p:txBody>
      </p:sp>
      <p:sp>
        <p:nvSpPr>
          <p:cNvPr id="64" name="矩形 63"/>
          <p:cNvSpPr>
            <a:spLocks noGrp="1"/>
          </p:cNvSpPr>
          <p:nvPr/>
        </p:nvSpPr>
        <p:spPr>
          <a:xfrm>
            <a:off x="9944100" y="2729865"/>
            <a:ext cx="1790700" cy="340995"/>
          </a:xfrm>
          <a:prstGeom prst="rect">
            <a:avLst/>
          </a:prstGeom>
          <a:solidFill>
            <a:srgbClr val="F5EDDA"/>
          </a:solidFill>
          <a:ln w="9525">
            <a:solidFill>
              <a:srgbClr val="FFFFFF"/>
            </a:solidFill>
            <a:prstDash val="solid"/>
          </a:ln>
        </p:spPr>
      </p:sp>
      <p:sp>
        <p:nvSpPr>
          <p:cNvPr id="65" name="矩形 64"/>
          <p:cNvSpPr>
            <a:spLocks noGrp="1"/>
          </p:cNvSpPr>
          <p:nvPr/>
        </p:nvSpPr>
        <p:spPr>
          <a:xfrm>
            <a:off x="9963150" y="2739390"/>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近期可研</a:t>
            </a:r>
            <a:endParaRPr sz="770" b="1">
              <a:solidFill>
                <a:srgbClr val="D00914"/>
              </a:solidFill>
              <a:latin typeface="Noto Sans Hans"/>
              <a:ea typeface="Noto Sans Hans"/>
              <a:cs typeface="Noto Sans Hans"/>
            </a:endParaRPr>
          </a:p>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成熟产品优先</a:t>
            </a:r>
            <a:endParaRPr sz="770" b="1">
              <a:solidFill>
                <a:srgbClr val="D00914"/>
              </a:solidFill>
              <a:latin typeface="Noto Sans Hans"/>
              <a:ea typeface="Noto Sans Hans"/>
              <a:cs typeface="Noto Sans Hans"/>
            </a:endParaRPr>
          </a:p>
        </p:txBody>
      </p:sp>
      <p:sp>
        <p:nvSpPr>
          <p:cNvPr id="66" name="矩形 65"/>
          <p:cNvSpPr>
            <a:spLocks noGrp="1"/>
          </p:cNvSpPr>
          <p:nvPr/>
        </p:nvSpPr>
        <p:spPr>
          <a:xfrm>
            <a:off x="457200" y="3070860"/>
            <a:ext cx="1485900" cy="340995"/>
          </a:xfrm>
          <a:prstGeom prst="rect">
            <a:avLst/>
          </a:prstGeom>
          <a:solidFill>
            <a:srgbClr val="F7F3F1"/>
          </a:solidFill>
          <a:ln w="9525">
            <a:solidFill>
              <a:srgbClr val="FFFFFF"/>
            </a:solidFill>
            <a:prstDash val="solid"/>
          </a:ln>
        </p:spPr>
      </p:sp>
      <p:sp>
        <p:nvSpPr>
          <p:cNvPr id="67" name="矩形 66"/>
          <p:cNvSpPr>
            <a:spLocks noGrp="1"/>
          </p:cNvSpPr>
          <p:nvPr/>
        </p:nvSpPr>
        <p:spPr>
          <a:xfrm>
            <a:off x="476250" y="3080385"/>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失能护理机器人安全验证</a:t>
            </a:r>
            <a:endParaRPr sz="770" b="1">
              <a:solidFill>
                <a:srgbClr val="D00914"/>
              </a:solidFill>
              <a:latin typeface="Noto Sans Hans"/>
              <a:ea typeface="Noto Sans Hans"/>
              <a:cs typeface="Noto Sans Hans"/>
            </a:endParaRPr>
          </a:p>
        </p:txBody>
      </p:sp>
      <p:sp>
        <p:nvSpPr>
          <p:cNvPr id="68" name="矩形 67"/>
          <p:cNvSpPr>
            <a:spLocks noGrp="1"/>
          </p:cNvSpPr>
          <p:nvPr/>
        </p:nvSpPr>
        <p:spPr>
          <a:xfrm>
            <a:off x="1943100" y="3070860"/>
            <a:ext cx="857250" cy="340995"/>
          </a:xfrm>
          <a:prstGeom prst="rect">
            <a:avLst/>
          </a:prstGeom>
          <a:solidFill>
            <a:srgbClr val="F7F3F1"/>
          </a:solidFill>
          <a:ln w="9525">
            <a:solidFill>
              <a:srgbClr val="FFFFFF"/>
            </a:solidFill>
            <a:prstDash val="solid"/>
          </a:ln>
        </p:spPr>
      </p:sp>
      <p:sp>
        <p:nvSpPr>
          <p:cNvPr id="69" name="矩形 68"/>
          <p:cNvSpPr>
            <a:spLocks noGrp="1"/>
          </p:cNvSpPr>
          <p:nvPr/>
        </p:nvSpPr>
        <p:spPr>
          <a:xfrm>
            <a:off x="1962150" y="3080385"/>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场景研发/建议</a:t>
            </a:r>
            <a:endParaRPr sz="790" b="0">
              <a:solidFill>
                <a:srgbClr val="403A38"/>
              </a:solidFill>
              <a:latin typeface="Noto Sans Hans"/>
              <a:ea typeface="Noto Sans Hans"/>
              <a:cs typeface="Noto Sans Hans"/>
            </a:endParaRPr>
          </a:p>
        </p:txBody>
      </p:sp>
      <p:sp>
        <p:nvSpPr>
          <p:cNvPr id="70" name="矩形 69"/>
          <p:cNvSpPr>
            <a:spLocks noGrp="1"/>
          </p:cNvSpPr>
          <p:nvPr/>
        </p:nvSpPr>
        <p:spPr>
          <a:xfrm>
            <a:off x="2800350" y="3070860"/>
            <a:ext cx="1638300" cy="340995"/>
          </a:xfrm>
          <a:prstGeom prst="rect">
            <a:avLst/>
          </a:prstGeom>
          <a:solidFill>
            <a:srgbClr val="F7F3F1"/>
          </a:solidFill>
          <a:ln w="9525">
            <a:solidFill>
              <a:srgbClr val="FFFFFF"/>
            </a:solidFill>
            <a:prstDash val="solid"/>
          </a:ln>
        </p:spPr>
      </p:sp>
      <p:sp>
        <p:nvSpPr>
          <p:cNvPr id="71" name="矩形 70"/>
          <p:cNvSpPr>
            <a:spLocks noGrp="1"/>
          </p:cNvSpPr>
          <p:nvPr/>
        </p:nvSpPr>
        <p:spPr>
          <a:xfrm>
            <a:off x="2819400" y="3080385"/>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排泄、移位等高刚需小样本强监督验证</a:t>
            </a:r>
            <a:endParaRPr sz="770" b="0">
              <a:solidFill>
                <a:srgbClr val="403A38"/>
              </a:solidFill>
              <a:latin typeface="Noto Sans Hans"/>
              <a:ea typeface="Noto Sans Hans"/>
              <a:cs typeface="Noto Sans Hans"/>
            </a:endParaRPr>
          </a:p>
        </p:txBody>
      </p:sp>
      <p:sp>
        <p:nvSpPr>
          <p:cNvPr id="72" name="矩形 71"/>
          <p:cNvSpPr>
            <a:spLocks noGrp="1"/>
          </p:cNvSpPr>
          <p:nvPr/>
        </p:nvSpPr>
        <p:spPr>
          <a:xfrm>
            <a:off x="4438650" y="3070860"/>
            <a:ext cx="2171700" cy="340995"/>
          </a:xfrm>
          <a:prstGeom prst="rect">
            <a:avLst/>
          </a:prstGeom>
          <a:solidFill>
            <a:srgbClr val="F7F3F1"/>
          </a:solidFill>
          <a:ln w="9525">
            <a:solidFill>
              <a:srgbClr val="FFFFFF"/>
            </a:solidFill>
            <a:prstDash val="solid"/>
          </a:ln>
        </p:spPr>
      </p:sp>
      <p:sp>
        <p:nvSpPr>
          <p:cNvPr id="73" name="矩形 72"/>
          <p:cNvSpPr>
            <a:spLocks noGrp="1"/>
          </p:cNvSpPr>
          <p:nvPr/>
        </p:nvSpPr>
        <p:spPr>
          <a:xfrm>
            <a:off x="4457700" y="3080385"/>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联合研发+场景开放；首期100—300万元情景</a:t>
            </a:r>
            <a:endParaRPr sz="770" b="0">
              <a:solidFill>
                <a:srgbClr val="403A38"/>
              </a:solidFill>
              <a:latin typeface="Noto Sans Hans"/>
              <a:ea typeface="Noto Sans Hans"/>
              <a:cs typeface="Noto Sans Hans"/>
            </a:endParaRPr>
          </a:p>
        </p:txBody>
      </p:sp>
      <p:sp>
        <p:nvSpPr>
          <p:cNvPr id="74" name="矩形 73"/>
          <p:cNvSpPr>
            <a:spLocks noGrp="1"/>
          </p:cNvSpPr>
          <p:nvPr/>
        </p:nvSpPr>
        <p:spPr>
          <a:xfrm>
            <a:off x="6610350" y="3070860"/>
            <a:ext cx="1619250" cy="340995"/>
          </a:xfrm>
          <a:prstGeom prst="rect">
            <a:avLst/>
          </a:prstGeom>
          <a:solidFill>
            <a:srgbClr val="F7F3F1"/>
          </a:solidFill>
          <a:ln w="9525">
            <a:solidFill>
              <a:srgbClr val="FFFFFF"/>
            </a:solidFill>
            <a:prstDash val="solid"/>
          </a:ln>
        </p:spPr>
      </p:sp>
      <p:sp>
        <p:nvSpPr>
          <p:cNvPr id="75" name="矩形 74"/>
          <p:cNvSpPr>
            <a:spLocks noGrp="1"/>
          </p:cNvSpPr>
          <p:nvPr/>
        </p:nvSpPr>
        <p:spPr>
          <a:xfrm>
            <a:off x="6629400" y="3080385"/>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2—4年；验证后投资和制造导入</a:t>
            </a:r>
            <a:endParaRPr sz="770" b="0">
              <a:solidFill>
                <a:srgbClr val="403A38"/>
              </a:solidFill>
              <a:latin typeface="Noto Sans Hans"/>
              <a:ea typeface="Noto Sans Hans"/>
              <a:cs typeface="Noto Sans Hans"/>
            </a:endParaRPr>
          </a:p>
        </p:txBody>
      </p:sp>
      <p:sp>
        <p:nvSpPr>
          <p:cNvPr id="76" name="矩形 75"/>
          <p:cNvSpPr>
            <a:spLocks noGrp="1"/>
          </p:cNvSpPr>
          <p:nvPr/>
        </p:nvSpPr>
        <p:spPr>
          <a:xfrm>
            <a:off x="8229600" y="3070860"/>
            <a:ext cx="1714500" cy="340995"/>
          </a:xfrm>
          <a:prstGeom prst="rect">
            <a:avLst/>
          </a:prstGeom>
          <a:solidFill>
            <a:srgbClr val="F7F3F1"/>
          </a:solidFill>
          <a:ln w="9525">
            <a:solidFill>
              <a:srgbClr val="FFFFFF"/>
            </a:solidFill>
            <a:prstDash val="solid"/>
          </a:ln>
        </p:spPr>
      </p:sp>
      <p:sp>
        <p:nvSpPr>
          <p:cNvPr id="77" name="矩形 76"/>
          <p:cNvSpPr>
            <a:spLocks noGrp="1"/>
          </p:cNvSpPr>
          <p:nvPr/>
        </p:nvSpPr>
        <p:spPr>
          <a:xfrm>
            <a:off x="8248650" y="3080385"/>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人身安全、责任、注册</a:t>
            </a:r>
            <a:endParaRPr sz="770" b="0">
              <a:solidFill>
                <a:srgbClr val="403A38"/>
              </a:solidFill>
              <a:latin typeface="Noto Sans Hans"/>
              <a:ea typeface="Noto Sans Hans"/>
              <a:cs typeface="Noto Sans Hans"/>
            </a:endParaRPr>
          </a:p>
        </p:txBody>
      </p:sp>
      <p:sp>
        <p:nvSpPr>
          <p:cNvPr id="78" name="矩形 77"/>
          <p:cNvSpPr>
            <a:spLocks noGrp="1"/>
          </p:cNvSpPr>
          <p:nvPr/>
        </p:nvSpPr>
        <p:spPr>
          <a:xfrm>
            <a:off x="9944100" y="3070860"/>
            <a:ext cx="1790700" cy="340995"/>
          </a:xfrm>
          <a:prstGeom prst="rect">
            <a:avLst/>
          </a:prstGeom>
          <a:solidFill>
            <a:srgbClr val="F5EDDA"/>
          </a:solidFill>
          <a:ln w="9525">
            <a:solidFill>
              <a:srgbClr val="FFFFFF"/>
            </a:solidFill>
            <a:prstDash val="solid"/>
          </a:ln>
        </p:spPr>
      </p:sp>
      <p:sp>
        <p:nvSpPr>
          <p:cNvPr id="79" name="矩形 78"/>
          <p:cNvSpPr>
            <a:spLocks noGrp="1"/>
          </p:cNvSpPr>
          <p:nvPr/>
        </p:nvSpPr>
        <p:spPr>
          <a:xfrm>
            <a:off x="9963150" y="3080385"/>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优先试点</a:t>
            </a:r>
            <a:endParaRPr sz="770" b="1">
              <a:solidFill>
                <a:srgbClr val="D00914"/>
              </a:solidFill>
              <a:latin typeface="Noto Sans Hans"/>
              <a:ea typeface="Noto Sans Hans"/>
              <a:cs typeface="Noto Sans Hans"/>
            </a:endParaRPr>
          </a:p>
          <a:p>
            <a:pPr algn="ctr">
              <a:defRPr sz="670" b="1">
                <a:solidFill>
                  <a:srgbClr val="D00914"/>
                </a:solidFill>
                <a:latin typeface="Noto Sans Hans"/>
                <a:ea typeface="Noto Sans Hans"/>
                <a:cs typeface="Noto Sans Hans"/>
              </a:defRPr>
            </a:pPr>
            <a:r>
              <a:rPr sz="770" b="1">
                <a:solidFill>
                  <a:srgbClr val="D00914"/>
                </a:solidFill>
                <a:latin typeface="Noto Sans Hans"/>
                <a:ea typeface="Noto Sans Hans"/>
                <a:cs typeface="Noto Sans Hans"/>
              </a:rPr>
              <a:t>先验证后投资</a:t>
            </a:r>
            <a:endParaRPr sz="770" b="1">
              <a:solidFill>
                <a:srgbClr val="D00914"/>
              </a:solidFill>
              <a:latin typeface="Noto Sans Hans"/>
              <a:ea typeface="Noto Sans Hans"/>
              <a:cs typeface="Noto Sans Hans"/>
            </a:endParaRPr>
          </a:p>
        </p:txBody>
      </p:sp>
      <p:sp>
        <p:nvSpPr>
          <p:cNvPr id="80" name="矩形 79"/>
          <p:cNvSpPr>
            <a:spLocks noGrp="1"/>
          </p:cNvSpPr>
          <p:nvPr/>
        </p:nvSpPr>
        <p:spPr>
          <a:xfrm>
            <a:off x="457200" y="3411855"/>
            <a:ext cx="1485900" cy="340995"/>
          </a:xfrm>
          <a:prstGeom prst="rect">
            <a:avLst/>
          </a:prstGeom>
          <a:solidFill>
            <a:srgbClr val="F8E5E4"/>
          </a:solidFill>
          <a:ln w="9525">
            <a:solidFill>
              <a:srgbClr val="FFFFFF"/>
            </a:solidFill>
            <a:prstDash val="solid"/>
          </a:ln>
        </p:spPr>
      </p:sp>
      <p:sp>
        <p:nvSpPr>
          <p:cNvPr id="81" name="矩形 80"/>
          <p:cNvSpPr>
            <a:spLocks noGrp="1"/>
          </p:cNvSpPr>
          <p:nvPr/>
        </p:nvSpPr>
        <p:spPr>
          <a:xfrm>
            <a:off x="476250" y="3421380"/>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迪发尔护理床式机器人</a:t>
            </a:r>
            <a:endParaRPr sz="770" b="1">
              <a:solidFill>
                <a:srgbClr val="9E3038"/>
              </a:solidFill>
              <a:latin typeface="Noto Sans Hans"/>
              <a:ea typeface="Noto Sans Hans"/>
              <a:cs typeface="Noto Sans Hans"/>
            </a:endParaRPr>
          </a:p>
        </p:txBody>
      </p:sp>
      <p:sp>
        <p:nvSpPr>
          <p:cNvPr id="82" name="矩形 81"/>
          <p:cNvSpPr>
            <a:spLocks noGrp="1"/>
          </p:cNvSpPr>
          <p:nvPr/>
        </p:nvSpPr>
        <p:spPr>
          <a:xfrm>
            <a:off x="1943100" y="3411855"/>
            <a:ext cx="857250" cy="340995"/>
          </a:xfrm>
          <a:prstGeom prst="rect">
            <a:avLst/>
          </a:prstGeom>
          <a:solidFill>
            <a:srgbClr val="F8E5E4"/>
          </a:solidFill>
          <a:ln w="9525">
            <a:solidFill>
              <a:srgbClr val="FFFFFF"/>
            </a:solidFill>
            <a:prstDash val="solid"/>
          </a:ln>
        </p:spPr>
      </p:sp>
      <p:sp>
        <p:nvSpPr>
          <p:cNvPr id="83" name="矩形 82"/>
          <p:cNvSpPr>
            <a:spLocks noGrp="1"/>
          </p:cNvSpPr>
          <p:nvPr/>
        </p:nvSpPr>
        <p:spPr>
          <a:xfrm>
            <a:off x="1962150" y="3421380"/>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国家试点/入围</a:t>
            </a:r>
            <a:endParaRPr sz="790" b="0">
              <a:solidFill>
                <a:srgbClr val="403A38"/>
              </a:solidFill>
              <a:latin typeface="Noto Sans Hans"/>
              <a:ea typeface="Noto Sans Hans"/>
              <a:cs typeface="Noto Sans Hans"/>
            </a:endParaRPr>
          </a:p>
        </p:txBody>
      </p:sp>
      <p:sp>
        <p:nvSpPr>
          <p:cNvPr id="84" name="矩形 83"/>
          <p:cNvSpPr>
            <a:spLocks noGrp="1"/>
          </p:cNvSpPr>
          <p:nvPr/>
        </p:nvSpPr>
        <p:spPr>
          <a:xfrm>
            <a:off x="2800350" y="3411855"/>
            <a:ext cx="1638300" cy="340995"/>
          </a:xfrm>
          <a:prstGeom prst="rect">
            <a:avLst/>
          </a:prstGeom>
          <a:solidFill>
            <a:srgbClr val="F8E5E4"/>
          </a:solidFill>
          <a:ln w="9525">
            <a:solidFill>
              <a:srgbClr val="FFFFFF"/>
            </a:solidFill>
            <a:prstDash val="solid"/>
          </a:ln>
        </p:spPr>
      </p:sp>
      <p:sp>
        <p:nvSpPr>
          <p:cNvPr id="85" name="矩形 84"/>
          <p:cNvSpPr>
            <a:spLocks noGrp="1"/>
          </p:cNvSpPr>
          <p:nvPr/>
        </p:nvSpPr>
        <p:spPr>
          <a:xfrm>
            <a:off x="2819400" y="3421380"/>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移乘转运与二便护理床式机器人</a:t>
            </a:r>
            <a:endParaRPr sz="770" b="0">
              <a:solidFill>
                <a:srgbClr val="403A38"/>
              </a:solidFill>
              <a:latin typeface="Noto Sans Hans"/>
              <a:ea typeface="Noto Sans Hans"/>
              <a:cs typeface="Noto Sans Hans"/>
            </a:endParaRPr>
          </a:p>
        </p:txBody>
      </p:sp>
      <p:sp>
        <p:nvSpPr>
          <p:cNvPr id="86" name="矩形 85"/>
          <p:cNvSpPr>
            <a:spLocks noGrp="1"/>
          </p:cNvSpPr>
          <p:nvPr/>
        </p:nvSpPr>
        <p:spPr>
          <a:xfrm>
            <a:off x="4438650" y="3411855"/>
            <a:ext cx="2171700" cy="340995"/>
          </a:xfrm>
          <a:prstGeom prst="rect">
            <a:avLst/>
          </a:prstGeom>
          <a:solidFill>
            <a:srgbClr val="F8E5E4"/>
          </a:solidFill>
          <a:ln w="9525">
            <a:solidFill>
              <a:srgbClr val="FFFFFF"/>
            </a:solidFill>
            <a:prstDash val="solid"/>
          </a:ln>
        </p:spPr>
      </p:sp>
      <p:sp>
        <p:nvSpPr>
          <p:cNvPr id="87" name="矩形 86"/>
          <p:cNvSpPr>
            <a:spLocks noGrp="1"/>
          </p:cNvSpPr>
          <p:nvPr/>
        </p:nvSpPr>
        <p:spPr>
          <a:xfrm>
            <a:off x="4457700" y="3421380"/>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城投场景验证+成果转化投资；金额待尽调</a:t>
            </a:r>
            <a:endParaRPr sz="770" b="0">
              <a:solidFill>
                <a:srgbClr val="403A38"/>
              </a:solidFill>
              <a:latin typeface="Noto Sans Hans"/>
              <a:ea typeface="Noto Sans Hans"/>
              <a:cs typeface="Noto Sans Hans"/>
            </a:endParaRPr>
          </a:p>
        </p:txBody>
      </p:sp>
      <p:sp>
        <p:nvSpPr>
          <p:cNvPr id="88" name="矩形 87"/>
          <p:cNvSpPr>
            <a:spLocks noGrp="1"/>
          </p:cNvSpPr>
          <p:nvPr/>
        </p:nvSpPr>
        <p:spPr>
          <a:xfrm>
            <a:off x="6610350" y="3411855"/>
            <a:ext cx="1619250" cy="340995"/>
          </a:xfrm>
          <a:prstGeom prst="rect">
            <a:avLst/>
          </a:prstGeom>
          <a:solidFill>
            <a:srgbClr val="F8E5E4"/>
          </a:solidFill>
          <a:ln w="9525">
            <a:solidFill>
              <a:srgbClr val="FFFFFF"/>
            </a:solidFill>
            <a:prstDash val="solid"/>
          </a:ln>
        </p:spPr>
      </p:sp>
      <p:sp>
        <p:nvSpPr>
          <p:cNvPr id="89" name="矩形 88"/>
          <p:cNvSpPr>
            <a:spLocks noGrp="1"/>
          </p:cNvSpPr>
          <p:nvPr/>
        </p:nvSpPr>
        <p:spPr>
          <a:xfrm>
            <a:off x="6629400" y="3421380"/>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按试点期；产品收入/股权增值</a:t>
            </a:r>
            <a:endParaRPr sz="770" b="0">
              <a:solidFill>
                <a:srgbClr val="403A38"/>
              </a:solidFill>
              <a:latin typeface="Noto Sans Hans"/>
              <a:ea typeface="Noto Sans Hans"/>
              <a:cs typeface="Noto Sans Hans"/>
            </a:endParaRPr>
          </a:p>
        </p:txBody>
      </p:sp>
      <p:sp>
        <p:nvSpPr>
          <p:cNvPr id="90" name="矩形 89"/>
          <p:cNvSpPr>
            <a:spLocks noGrp="1"/>
          </p:cNvSpPr>
          <p:nvPr/>
        </p:nvSpPr>
        <p:spPr>
          <a:xfrm>
            <a:off x="8229600" y="3411855"/>
            <a:ext cx="1714500" cy="340995"/>
          </a:xfrm>
          <a:prstGeom prst="rect">
            <a:avLst/>
          </a:prstGeom>
          <a:solidFill>
            <a:srgbClr val="F8E5E4"/>
          </a:solidFill>
          <a:ln w="9525">
            <a:solidFill>
              <a:srgbClr val="FFFFFF"/>
            </a:solidFill>
            <a:prstDash val="solid"/>
          </a:ln>
        </p:spPr>
      </p:sp>
      <p:sp>
        <p:nvSpPr>
          <p:cNvPr id="91" name="矩形 90"/>
          <p:cNvSpPr>
            <a:spLocks noGrp="1"/>
          </p:cNvSpPr>
          <p:nvPr/>
        </p:nvSpPr>
        <p:spPr>
          <a:xfrm>
            <a:off x="8248650" y="3421380"/>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样机、订单、资质、团队</a:t>
            </a:r>
            <a:endParaRPr sz="770" b="0">
              <a:solidFill>
                <a:srgbClr val="403A38"/>
              </a:solidFill>
              <a:latin typeface="Noto Sans Hans"/>
              <a:ea typeface="Noto Sans Hans"/>
              <a:cs typeface="Noto Sans Hans"/>
            </a:endParaRPr>
          </a:p>
        </p:txBody>
      </p:sp>
      <p:sp>
        <p:nvSpPr>
          <p:cNvPr id="92" name="矩形 91"/>
          <p:cNvSpPr>
            <a:spLocks noGrp="1"/>
          </p:cNvSpPr>
          <p:nvPr/>
        </p:nvSpPr>
        <p:spPr>
          <a:xfrm>
            <a:off x="9944100" y="3411855"/>
            <a:ext cx="1790700" cy="340995"/>
          </a:xfrm>
          <a:prstGeom prst="rect">
            <a:avLst/>
          </a:prstGeom>
          <a:solidFill>
            <a:srgbClr val="F5EDDA"/>
          </a:solidFill>
          <a:ln w="9525">
            <a:solidFill>
              <a:srgbClr val="FFFFFF"/>
            </a:solidFill>
            <a:prstDash val="solid"/>
          </a:ln>
        </p:spPr>
      </p:sp>
      <p:sp>
        <p:nvSpPr>
          <p:cNvPr id="93" name="矩形 92"/>
          <p:cNvSpPr>
            <a:spLocks noGrp="1"/>
          </p:cNvSpPr>
          <p:nvPr/>
        </p:nvSpPr>
        <p:spPr>
          <a:xfrm>
            <a:off x="9963150" y="3421380"/>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本地优先尽调</a:t>
            </a:r>
            <a:endParaRPr sz="770" b="1">
              <a:solidFill>
                <a:srgbClr val="9E3038"/>
              </a:solidFill>
              <a:latin typeface="Noto Sans Hans"/>
              <a:ea typeface="Noto Sans Hans"/>
              <a:cs typeface="Noto Sans Hans"/>
            </a:endParaRPr>
          </a:p>
        </p:txBody>
      </p:sp>
      <p:sp>
        <p:nvSpPr>
          <p:cNvPr id="94" name="矩形 93"/>
          <p:cNvSpPr>
            <a:spLocks noGrp="1"/>
          </p:cNvSpPr>
          <p:nvPr/>
        </p:nvSpPr>
        <p:spPr>
          <a:xfrm>
            <a:off x="457200" y="3752850"/>
            <a:ext cx="1485900" cy="340995"/>
          </a:xfrm>
          <a:prstGeom prst="rect">
            <a:avLst/>
          </a:prstGeom>
          <a:solidFill>
            <a:srgbClr val="F7F3F1"/>
          </a:solidFill>
          <a:ln w="9525">
            <a:solidFill>
              <a:srgbClr val="FFFFFF"/>
            </a:solidFill>
            <a:prstDash val="solid"/>
          </a:ln>
        </p:spPr>
      </p:sp>
      <p:sp>
        <p:nvSpPr>
          <p:cNvPr id="95" name="矩形 94"/>
          <p:cNvSpPr>
            <a:spLocks noGrp="1"/>
          </p:cNvSpPr>
          <p:nvPr/>
        </p:nvSpPr>
        <p:spPr>
          <a:xfrm>
            <a:off x="476250" y="3762375"/>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光谷东智康养方案规模化</a:t>
            </a:r>
            <a:endParaRPr sz="770" b="1">
              <a:solidFill>
                <a:srgbClr val="9E3038"/>
              </a:solidFill>
              <a:latin typeface="Noto Sans Hans"/>
              <a:ea typeface="Noto Sans Hans"/>
              <a:cs typeface="Noto Sans Hans"/>
            </a:endParaRPr>
          </a:p>
        </p:txBody>
      </p:sp>
      <p:sp>
        <p:nvSpPr>
          <p:cNvPr id="96" name="矩形 95"/>
          <p:cNvSpPr>
            <a:spLocks noGrp="1"/>
          </p:cNvSpPr>
          <p:nvPr/>
        </p:nvSpPr>
        <p:spPr>
          <a:xfrm>
            <a:off x="1943100" y="3752850"/>
            <a:ext cx="857250" cy="340995"/>
          </a:xfrm>
          <a:prstGeom prst="rect">
            <a:avLst/>
          </a:prstGeom>
          <a:solidFill>
            <a:srgbClr val="F7F3F1"/>
          </a:solidFill>
          <a:ln w="9525">
            <a:solidFill>
              <a:srgbClr val="FFFFFF"/>
            </a:solidFill>
            <a:prstDash val="solid"/>
          </a:ln>
        </p:spPr>
      </p:sp>
      <p:sp>
        <p:nvSpPr>
          <p:cNvPr id="97" name="矩形 96"/>
          <p:cNvSpPr>
            <a:spLocks noGrp="1"/>
          </p:cNvSpPr>
          <p:nvPr/>
        </p:nvSpPr>
        <p:spPr>
          <a:xfrm>
            <a:off x="1962150" y="3762375"/>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股权场景/储备</a:t>
            </a:r>
            <a:endParaRPr sz="790" b="0">
              <a:solidFill>
                <a:srgbClr val="403A38"/>
              </a:solidFill>
              <a:latin typeface="Noto Sans Hans"/>
              <a:ea typeface="Noto Sans Hans"/>
              <a:cs typeface="Noto Sans Hans"/>
            </a:endParaRPr>
          </a:p>
        </p:txBody>
      </p:sp>
      <p:sp>
        <p:nvSpPr>
          <p:cNvPr id="98" name="矩形 97"/>
          <p:cNvSpPr>
            <a:spLocks noGrp="1"/>
          </p:cNvSpPr>
          <p:nvPr/>
        </p:nvSpPr>
        <p:spPr>
          <a:xfrm>
            <a:off x="2800350" y="3752850"/>
            <a:ext cx="1638300" cy="340995"/>
          </a:xfrm>
          <a:prstGeom prst="rect">
            <a:avLst/>
          </a:prstGeom>
          <a:solidFill>
            <a:srgbClr val="F7F3F1"/>
          </a:solidFill>
          <a:ln w="9525">
            <a:solidFill>
              <a:srgbClr val="FFFFFF"/>
            </a:solidFill>
            <a:prstDash val="solid"/>
          </a:ln>
        </p:spPr>
      </p:sp>
      <p:sp>
        <p:nvSpPr>
          <p:cNvPr id="99" name="矩形 98"/>
          <p:cNvSpPr>
            <a:spLocks noGrp="1"/>
          </p:cNvSpPr>
          <p:nvPr/>
        </p:nvSpPr>
        <p:spPr>
          <a:xfrm>
            <a:off x="2819400" y="3762375"/>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核验机构试点后首批订单和标准化</a:t>
            </a:r>
            <a:endParaRPr sz="770" b="0">
              <a:solidFill>
                <a:srgbClr val="403A38"/>
              </a:solidFill>
              <a:latin typeface="Noto Sans Hans"/>
              <a:ea typeface="Noto Sans Hans"/>
              <a:cs typeface="Noto Sans Hans"/>
            </a:endParaRPr>
          </a:p>
        </p:txBody>
      </p:sp>
      <p:sp>
        <p:nvSpPr>
          <p:cNvPr id="100" name="矩形 99"/>
          <p:cNvSpPr>
            <a:spLocks noGrp="1"/>
          </p:cNvSpPr>
          <p:nvPr/>
        </p:nvSpPr>
        <p:spPr>
          <a:xfrm>
            <a:off x="4438650" y="3752850"/>
            <a:ext cx="2171700" cy="340995"/>
          </a:xfrm>
          <a:prstGeom prst="rect">
            <a:avLst/>
          </a:prstGeom>
          <a:solidFill>
            <a:srgbClr val="F7F3F1"/>
          </a:solidFill>
          <a:ln w="9525">
            <a:solidFill>
              <a:srgbClr val="FFFFFF"/>
            </a:solidFill>
            <a:prstDash val="solid"/>
          </a:ln>
        </p:spPr>
      </p:sp>
      <p:sp>
        <p:nvSpPr>
          <p:cNvPr id="101" name="矩形 100"/>
          <p:cNvSpPr>
            <a:spLocks noGrp="1"/>
          </p:cNvSpPr>
          <p:nvPr/>
        </p:nvSpPr>
        <p:spPr>
          <a:xfrm>
            <a:off x="4457700" y="3762375"/>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里程碑股权+采购+园区支持</a:t>
            </a:r>
            <a:endParaRPr sz="770" b="0">
              <a:solidFill>
                <a:srgbClr val="403A38"/>
              </a:solidFill>
              <a:latin typeface="Noto Sans Hans"/>
              <a:ea typeface="Noto Sans Hans"/>
              <a:cs typeface="Noto Sans Hans"/>
            </a:endParaRPr>
          </a:p>
        </p:txBody>
      </p:sp>
      <p:sp>
        <p:nvSpPr>
          <p:cNvPr id="102" name="矩形 101"/>
          <p:cNvSpPr>
            <a:spLocks noGrp="1"/>
          </p:cNvSpPr>
          <p:nvPr/>
        </p:nvSpPr>
        <p:spPr>
          <a:xfrm>
            <a:off x="6610350" y="3752850"/>
            <a:ext cx="1619250" cy="340995"/>
          </a:xfrm>
          <a:prstGeom prst="rect">
            <a:avLst/>
          </a:prstGeom>
          <a:solidFill>
            <a:srgbClr val="F7F3F1"/>
          </a:solidFill>
          <a:ln w="9525">
            <a:solidFill>
              <a:srgbClr val="FFFFFF"/>
            </a:solidFill>
            <a:prstDash val="solid"/>
          </a:ln>
        </p:spPr>
      </p:sp>
      <p:sp>
        <p:nvSpPr>
          <p:cNvPr id="103" name="矩形 102"/>
          <p:cNvSpPr>
            <a:spLocks noGrp="1"/>
          </p:cNvSpPr>
          <p:nvPr/>
        </p:nvSpPr>
        <p:spPr>
          <a:xfrm>
            <a:off x="6629400" y="3762375"/>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5—7年；本地企业成长</a:t>
            </a:r>
            <a:endParaRPr sz="770" b="0">
              <a:solidFill>
                <a:srgbClr val="403A38"/>
              </a:solidFill>
              <a:latin typeface="Noto Sans Hans"/>
              <a:ea typeface="Noto Sans Hans"/>
              <a:cs typeface="Noto Sans Hans"/>
            </a:endParaRPr>
          </a:p>
        </p:txBody>
      </p:sp>
      <p:sp>
        <p:nvSpPr>
          <p:cNvPr id="104" name="矩形 103"/>
          <p:cNvSpPr>
            <a:spLocks noGrp="1"/>
          </p:cNvSpPr>
          <p:nvPr/>
        </p:nvSpPr>
        <p:spPr>
          <a:xfrm>
            <a:off x="8229600" y="3752850"/>
            <a:ext cx="1714500" cy="340995"/>
          </a:xfrm>
          <a:prstGeom prst="rect">
            <a:avLst/>
          </a:prstGeom>
          <a:solidFill>
            <a:srgbClr val="F7F3F1"/>
          </a:solidFill>
          <a:ln w="9525">
            <a:solidFill>
              <a:srgbClr val="FFFFFF"/>
            </a:solidFill>
            <a:prstDash val="solid"/>
          </a:ln>
        </p:spPr>
      </p:sp>
      <p:sp>
        <p:nvSpPr>
          <p:cNvPr id="105" name="矩形 104"/>
          <p:cNvSpPr>
            <a:spLocks noGrp="1"/>
          </p:cNvSpPr>
          <p:nvPr/>
        </p:nvSpPr>
        <p:spPr>
          <a:xfrm>
            <a:off x="8248650" y="3762375"/>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收入、量产、安全、股权</a:t>
            </a:r>
            <a:endParaRPr sz="770" b="0">
              <a:solidFill>
                <a:srgbClr val="403A38"/>
              </a:solidFill>
              <a:latin typeface="Noto Sans Hans"/>
              <a:ea typeface="Noto Sans Hans"/>
              <a:cs typeface="Noto Sans Hans"/>
            </a:endParaRPr>
          </a:p>
        </p:txBody>
      </p:sp>
      <p:sp>
        <p:nvSpPr>
          <p:cNvPr id="106" name="矩形 105"/>
          <p:cNvSpPr>
            <a:spLocks noGrp="1"/>
          </p:cNvSpPr>
          <p:nvPr/>
        </p:nvSpPr>
        <p:spPr>
          <a:xfrm>
            <a:off x="9944100" y="3752850"/>
            <a:ext cx="1790700" cy="340995"/>
          </a:xfrm>
          <a:prstGeom prst="rect">
            <a:avLst/>
          </a:prstGeom>
          <a:solidFill>
            <a:srgbClr val="F5EDDA"/>
          </a:solidFill>
          <a:ln w="9525">
            <a:solidFill>
              <a:srgbClr val="FFFFFF"/>
            </a:solidFill>
            <a:prstDash val="solid"/>
          </a:ln>
        </p:spPr>
      </p:sp>
      <p:sp>
        <p:nvSpPr>
          <p:cNvPr id="107" name="矩形 106"/>
          <p:cNvSpPr>
            <a:spLocks noGrp="1"/>
          </p:cNvSpPr>
          <p:nvPr/>
        </p:nvSpPr>
        <p:spPr>
          <a:xfrm>
            <a:off x="9963150" y="3762375"/>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先订单后投资</a:t>
            </a:r>
            <a:endParaRPr sz="770" b="1">
              <a:solidFill>
                <a:srgbClr val="9E3038"/>
              </a:solidFill>
              <a:latin typeface="Noto Sans Hans"/>
              <a:ea typeface="Noto Sans Hans"/>
              <a:cs typeface="Noto Sans Hans"/>
            </a:endParaRPr>
          </a:p>
        </p:txBody>
      </p:sp>
      <p:sp>
        <p:nvSpPr>
          <p:cNvPr id="108" name="矩形 107"/>
          <p:cNvSpPr>
            <a:spLocks noGrp="1"/>
          </p:cNvSpPr>
          <p:nvPr/>
        </p:nvSpPr>
        <p:spPr>
          <a:xfrm>
            <a:off x="457200" y="4093845"/>
            <a:ext cx="1485900" cy="340995"/>
          </a:xfrm>
          <a:prstGeom prst="rect">
            <a:avLst/>
          </a:prstGeom>
          <a:solidFill>
            <a:srgbClr val="F8E5E4"/>
          </a:solidFill>
          <a:ln w="9525">
            <a:solidFill>
              <a:srgbClr val="FFFFFF"/>
            </a:solidFill>
            <a:prstDash val="solid"/>
          </a:ln>
        </p:spPr>
      </p:sp>
      <p:sp>
        <p:nvSpPr>
          <p:cNvPr id="109" name="矩形 108"/>
          <p:cNvSpPr>
            <a:spLocks noGrp="1"/>
          </p:cNvSpPr>
          <p:nvPr/>
        </p:nvSpPr>
        <p:spPr>
          <a:xfrm>
            <a:off x="476250" y="4103370"/>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科峰传动关节扩产验证</a:t>
            </a:r>
            <a:endParaRPr sz="770" b="1">
              <a:solidFill>
                <a:srgbClr val="9E3038"/>
              </a:solidFill>
              <a:latin typeface="Noto Sans Hans"/>
              <a:ea typeface="Noto Sans Hans"/>
              <a:cs typeface="Noto Sans Hans"/>
            </a:endParaRPr>
          </a:p>
        </p:txBody>
      </p:sp>
      <p:sp>
        <p:nvSpPr>
          <p:cNvPr id="110" name="矩形 109"/>
          <p:cNvSpPr>
            <a:spLocks noGrp="1"/>
          </p:cNvSpPr>
          <p:nvPr/>
        </p:nvSpPr>
        <p:spPr>
          <a:xfrm>
            <a:off x="1943100" y="4093845"/>
            <a:ext cx="857250" cy="340995"/>
          </a:xfrm>
          <a:prstGeom prst="rect">
            <a:avLst/>
          </a:prstGeom>
          <a:solidFill>
            <a:srgbClr val="F8E5E4"/>
          </a:solidFill>
          <a:ln w="9525">
            <a:solidFill>
              <a:srgbClr val="FFFFFF"/>
            </a:solidFill>
            <a:prstDash val="solid"/>
          </a:ln>
        </p:spPr>
      </p:sp>
      <p:sp>
        <p:nvSpPr>
          <p:cNvPr id="111" name="矩形 110"/>
          <p:cNvSpPr>
            <a:spLocks noGrp="1"/>
          </p:cNvSpPr>
          <p:nvPr/>
        </p:nvSpPr>
        <p:spPr>
          <a:xfrm>
            <a:off x="1962150" y="4103370"/>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补链扩产/储备</a:t>
            </a:r>
            <a:endParaRPr sz="790" b="0">
              <a:solidFill>
                <a:srgbClr val="403A38"/>
              </a:solidFill>
              <a:latin typeface="Noto Sans Hans"/>
              <a:ea typeface="Noto Sans Hans"/>
              <a:cs typeface="Noto Sans Hans"/>
            </a:endParaRPr>
          </a:p>
        </p:txBody>
      </p:sp>
      <p:sp>
        <p:nvSpPr>
          <p:cNvPr id="112" name="矩形 111"/>
          <p:cNvSpPr>
            <a:spLocks noGrp="1"/>
          </p:cNvSpPr>
          <p:nvPr/>
        </p:nvSpPr>
        <p:spPr>
          <a:xfrm>
            <a:off x="2800350" y="4093845"/>
            <a:ext cx="1638300" cy="340995"/>
          </a:xfrm>
          <a:prstGeom prst="rect">
            <a:avLst/>
          </a:prstGeom>
          <a:solidFill>
            <a:srgbClr val="F8E5E4"/>
          </a:solidFill>
          <a:ln w="9525">
            <a:solidFill>
              <a:srgbClr val="FFFFFF"/>
            </a:solidFill>
            <a:prstDash val="solid"/>
          </a:ln>
        </p:spPr>
      </p:sp>
      <p:sp>
        <p:nvSpPr>
          <p:cNvPr id="113" name="矩形 112"/>
          <p:cNvSpPr>
            <a:spLocks noGrp="1"/>
          </p:cNvSpPr>
          <p:nvPr/>
        </p:nvSpPr>
        <p:spPr>
          <a:xfrm>
            <a:off x="2819400" y="4103370"/>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以服务机器人负载谱验证关节模组</a:t>
            </a:r>
            <a:endParaRPr sz="770" b="0">
              <a:solidFill>
                <a:srgbClr val="403A38"/>
              </a:solidFill>
              <a:latin typeface="Noto Sans Hans"/>
              <a:ea typeface="Noto Sans Hans"/>
              <a:cs typeface="Noto Sans Hans"/>
            </a:endParaRPr>
          </a:p>
        </p:txBody>
      </p:sp>
      <p:sp>
        <p:nvSpPr>
          <p:cNvPr id="114" name="矩形 113"/>
          <p:cNvSpPr>
            <a:spLocks noGrp="1"/>
          </p:cNvSpPr>
          <p:nvPr/>
        </p:nvSpPr>
        <p:spPr>
          <a:xfrm>
            <a:off x="4438650" y="4093845"/>
            <a:ext cx="2171700" cy="340995"/>
          </a:xfrm>
          <a:prstGeom prst="rect">
            <a:avLst/>
          </a:prstGeom>
          <a:solidFill>
            <a:srgbClr val="F8E5E4"/>
          </a:solidFill>
          <a:ln w="9525">
            <a:solidFill>
              <a:srgbClr val="FFFFFF"/>
            </a:solidFill>
            <a:prstDash val="solid"/>
          </a:ln>
        </p:spPr>
      </p:sp>
      <p:sp>
        <p:nvSpPr>
          <p:cNvPr id="115" name="矩形 114"/>
          <p:cNvSpPr>
            <a:spLocks noGrp="1"/>
          </p:cNvSpPr>
          <p:nvPr/>
        </p:nvSpPr>
        <p:spPr>
          <a:xfrm>
            <a:off x="4457700" y="4103370"/>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股权投资+产业基金+订单协同</a:t>
            </a:r>
            <a:endParaRPr sz="770" b="0">
              <a:solidFill>
                <a:srgbClr val="403A38"/>
              </a:solidFill>
              <a:latin typeface="Noto Sans Hans"/>
              <a:ea typeface="Noto Sans Hans"/>
              <a:cs typeface="Noto Sans Hans"/>
            </a:endParaRPr>
          </a:p>
        </p:txBody>
      </p:sp>
      <p:sp>
        <p:nvSpPr>
          <p:cNvPr id="116" name="矩形 115"/>
          <p:cNvSpPr>
            <a:spLocks noGrp="1"/>
          </p:cNvSpPr>
          <p:nvPr/>
        </p:nvSpPr>
        <p:spPr>
          <a:xfrm>
            <a:off x="6610350" y="4093845"/>
            <a:ext cx="1619250" cy="340995"/>
          </a:xfrm>
          <a:prstGeom prst="rect">
            <a:avLst/>
          </a:prstGeom>
          <a:solidFill>
            <a:srgbClr val="F8E5E4"/>
          </a:solidFill>
          <a:ln w="9525">
            <a:solidFill>
              <a:srgbClr val="FFFFFF"/>
            </a:solidFill>
            <a:prstDash val="solid"/>
          </a:ln>
        </p:spPr>
      </p:sp>
      <p:sp>
        <p:nvSpPr>
          <p:cNvPr id="117" name="矩形 116"/>
          <p:cNvSpPr>
            <a:spLocks noGrp="1"/>
          </p:cNvSpPr>
          <p:nvPr/>
        </p:nvSpPr>
        <p:spPr>
          <a:xfrm>
            <a:off x="6629400" y="4103370"/>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4—7年；核心部件增值</a:t>
            </a:r>
            <a:endParaRPr sz="770" b="0">
              <a:solidFill>
                <a:srgbClr val="403A38"/>
              </a:solidFill>
              <a:latin typeface="Noto Sans Hans"/>
              <a:ea typeface="Noto Sans Hans"/>
              <a:cs typeface="Noto Sans Hans"/>
            </a:endParaRPr>
          </a:p>
        </p:txBody>
      </p:sp>
      <p:sp>
        <p:nvSpPr>
          <p:cNvPr id="118" name="矩形 117"/>
          <p:cNvSpPr>
            <a:spLocks noGrp="1"/>
          </p:cNvSpPr>
          <p:nvPr/>
        </p:nvSpPr>
        <p:spPr>
          <a:xfrm>
            <a:off x="8229600" y="4093845"/>
            <a:ext cx="1714500" cy="340995"/>
          </a:xfrm>
          <a:prstGeom prst="rect">
            <a:avLst/>
          </a:prstGeom>
          <a:solidFill>
            <a:srgbClr val="F8E5E4"/>
          </a:solidFill>
          <a:ln w="9525">
            <a:solidFill>
              <a:srgbClr val="FFFFFF"/>
            </a:solidFill>
            <a:prstDash val="solid"/>
          </a:ln>
        </p:spPr>
      </p:sp>
      <p:sp>
        <p:nvSpPr>
          <p:cNvPr id="119" name="矩形 118"/>
          <p:cNvSpPr>
            <a:spLocks noGrp="1"/>
          </p:cNvSpPr>
          <p:nvPr/>
        </p:nvSpPr>
        <p:spPr>
          <a:xfrm>
            <a:off x="8248650" y="4103370"/>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估值、产能、质量、客户集中</a:t>
            </a:r>
            <a:endParaRPr sz="770" b="0">
              <a:solidFill>
                <a:srgbClr val="403A38"/>
              </a:solidFill>
              <a:latin typeface="Noto Sans Hans"/>
              <a:ea typeface="Noto Sans Hans"/>
              <a:cs typeface="Noto Sans Hans"/>
            </a:endParaRPr>
          </a:p>
        </p:txBody>
      </p:sp>
      <p:sp>
        <p:nvSpPr>
          <p:cNvPr id="120" name="矩形 119"/>
          <p:cNvSpPr>
            <a:spLocks noGrp="1"/>
          </p:cNvSpPr>
          <p:nvPr/>
        </p:nvSpPr>
        <p:spPr>
          <a:xfrm>
            <a:off x="9944100" y="4093845"/>
            <a:ext cx="1790700" cy="340995"/>
          </a:xfrm>
          <a:prstGeom prst="rect">
            <a:avLst/>
          </a:prstGeom>
          <a:solidFill>
            <a:srgbClr val="F5EDDA"/>
          </a:solidFill>
          <a:ln w="9525">
            <a:solidFill>
              <a:srgbClr val="FFFFFF"/>
            </a:solidFill>
            <a:prstDash val="solid"/>
          </a:ln>
        </p:spPr>
      </p:sp>
      <p:sp>
        <p:nvSpPr>
          <p:cNvPr id="121" name="矩形 120"/>
          <p:cNvSpPr>
            <a:spLocks noGrp="1"/>
          </p:cNvSpPr>
          <p:nvPr/>
        </p:nvSpPr>
        <p:spPr>
          <a:xfrm>
            <a:off x="9963150" y="4103370"/>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湖北补链重点</a:t>
            </a:r>
            <a:endParaRPr sz="770" b="1">
              <a:solidFill>
                <a:srgbClr val="9E3038"/>
              </a:solidFill>
              <a:latin typeface="Noto Sans Hans"/>
              <a:ea typeface="Noto Sans Hans"/>
              <a:cs typeface="Noto Sans Hans"/>
            </a:endParaRPr>
          </a:p>
        </p:txBody>
      </p:sp>
      <p:sp>
        <p:nvSpPr>
          <p:cNvPr id="122" name="矩形 121"/>
          <p:cNvSpPr>
            <a:spLocks noGrp="1"/>
          </p:cNvSpPr>
          <p:nvPr/>
        </p:nvSpPr>
        <p:spPr>
          <a:xfrm>
            <a:off x="457200" y="4434840"/>
            <a:ext cx="1485900" cy="340995"/>
          </a:xfrm>
          <a:prstGeom prst="rect">
            <a:avLst/>
          </a:prstGeom>
          <a:solidFill>
            <a:srgbClr val="F7F3F1"/>
          </a:solidFill>
          <a:ln w="9525">
            <a:solidFill>
              <a:srgbClr val="FFFFFF"/>
            </a:solidFill>
            <a:prstDash val="solid"/>
          </a:ln>
        </p:spPr>
      </p:sp>
      <p:sp>
        <p:nvSpPr>
          <p:cNvPr id="123" name="矩形 122"/>
          <p:cNvSpPr>
            <a:spLocks noGrp="1"/>
          </p:cNvSpPr>
          <p:nvPr/>
        </p:nvSpPr>
        <p:spPr>
          <a:xfrm>
            <a:off x="476250" y="4444365"/>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沃森拓客外骨骼成果转化</a:t>
            </a:r>
            <a:endParaRPr sz="770" b="1">
              <a:solidFill>
                <a:srgbClr val="9E3038"/>
              </a:solidFill>
              <a:latin typeface="Noto Sans Hans"/>
              <a:ea typeface="Noto Sans Hans"/>
              <a:cs typeface="Noto Sans Hans"/>
            </a:endParaRPr>
          </a:p>
        </p:txBody>
      </p:sp>
      <p:sp>
        <p:nvSpPr>
          <p:cNvPr id="124" name="矩形 123"/>
          <p:cNvSpPr>
            <a:spLocks noGrp="1"/>
          </p:cNvSpPr>
          <p:nvPr/>
        </p:nvSpPr>
        <p:spPr>
          <a:xfrm>
            <a:off x="1943100" y="4434840"/>
            <a:ext cx="857250" cy="340995"/>
          </a:xfrm>
          <a:prstGeom prst="rect">
            <a:avLst/>
          </a:prstGeom>
          <a:solidFill>
            <a:srgbClr val="F7F3F1"/>
          </a:solidFill>
          <a:ln w="9525">
            <a:solidFill>
              <a:srgbClr val="FFFFFF"/>
            </a:solidFill>
            <a:prstDash val="solid"/>
          </a:ln>
        </p:spPr>
      </p:sp>
      <p:sp>
        <p:nvSpPr>
          <p:cNvPr id="125" name="矩形 124"/>
          <p:cNvSpPr>
            <a:spLocks noGrp="1"/>
          </p:cNvSpPr>
          <p:nvPr/>
        </p:nvSpPr>
        <p:spPr>
          <a:xfrm>
            <a:off x="1962150" y="4444365"/>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成果转化/储备</a:t>
            </a:r>
            <a:endParaRPr sz="790" b="0">
              <a:solidFill>
                <a:srgbClr val="403A38"/>
              </a:solidFill>
              <a:latin typeface="Noto Sans Hans"/>
              <a:ea typeface="Noto Sans Hans"/>
              <a:cs typeface="Noto Sans Hans"/>
            </a:endParaRPr>
          </a:p>
        </p:txBody>
      </p:sp>
      <p:sp>
        <p:nvSpPr>
          <p:cNvPr id="126" name="矩形 125"/>
          <p:cNvSpPr>
            <a:spLocks noGrp="1"/>
          </p:cNvSpPr>
          <p:nvPr/>
        </p:nvSpPr>
        <p:spPr>
          <a:xfrm>
            <a:off x="2800350" y="4434840"/>
            <a:ext cx="1638300" cy="340995"/>
          </a:xfrm>
          <a:prstGeom prst="rect">
            <a:avLst/>
          </a:prstGeom>
          <a:solidFill>
            <a:srgbClr val="F7F3F1"/>
          </a:solidFill>
          <a:ln w="9525">
            <a:solidFill>
              <a:srgbClr val="FFFFFF"/>
            </a:solidFill>
            <a:prstDash val="solid"/>
          </a:ln>
        </p:spPr>
      </p:sp>
      <p:sp>
        <p:nvSpPr>
          <p:cNvPr id="127" name="矩形 126"/>
          <p:cNvSpPr>
            <a:spLocks noGrp="1"/>
          </p:cNvSpPr>
          <p:nvPr/>
        </p:nvSpPr>
        <p:spPr>
          <a:xfrm>
            <a:off x="2819400" y="4444365"/>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完成知识产权、注册路径、样机及临床合作</a:t>
            </a:r>
            <a:endParaRPr sz="770" b="0">
              <a:solidFill>
                <a:srgbClr val="403A38"/>
              </a:solidFill>
              <a:latin typeface="Noto Sans Hans"/>
              <a:ea typeface="Noto Sans Hans"/>
              <a:cs typeface="Noto Sans Hans"/>
            </a:endParaRPr>
          </a:p>
        </p:txBody>
      </p:sp>
      <p:sp>
        <p:nvSpPr>
          <p:cNvPr id="128" name="矩形 127"/>
          <p:cNvSpPr>
            <a:spLocks noGrp="1"/>
          </p:cNvSpPr>
          <p:nvPr/>
        </p:nvSpPr>
        <p:spPr>
          <a:xfrm>
            <a:off x="4438650" y="4434840"/>
            <a:ext cx="2171700" cy="340995"/>
          </a:xfrm>
          <a:prstGeom prst="rect">
            <a:avLst/>
          </a:prstGeom>
          <a:solidFill>
            <a:srgbClr val="F7F3F1"/>
          </a:solidFill>
          <a:ln w="9525">
            <a:solidFill>
              <a:srgbClr val="FFFFFF"/>
            </a:solidFill>
            <a:prstDash val="solid"/>
          </a:ln>
        </p:spPr>
      </p:sp>
      <p:sp>
        <p:nvSpPr>
          <p:cNvPr id="129" name="矩形 128"/>
          <p:cNvSpPr>
            <a:spLocks noGrp="1"/>
          </p:cNvSpPr>
          <p:nvPr/>
        </p:nvSpPr>
        <p:spPr>
          <a:xfrm>
            <a:off x="4457700" y="4444365"/>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种子投资+联合研发；500—1500万元里程碑情景</a:t>
            </a:r>
            <a:endParaRPr sz="770" b="0">
              <a:solidFill>
                <a:srgbClr val="403A38"/>
              </a:solidFill>
              <a:latin typeface="Noto Sans Hans"/>
              <a:ea typeface="Noto Sans Hans"/>
              <a:cs typeface="Noto Sans Hans"/>
            </a:endParaRPr>
          </a:p>
        </p:txBody>
      </p:sp>
      <p:sp>
        <p:nvSpPr>
          <p:cNvPr id="130" name="矩形 129"/>
          <p:cNvSpPr>
            <a:spLocks noGrp="1"/>
          </p:cNvSpPr>
          <p:nvPr/>
        </p:nvSpPr>
        <p:spPr>
          <a:xfrm>
            <a:off x="6610350" y="4434840"/>
            <a:ext cx="1619250" cy="340995"/>
          </a:xfrm>
          <a:prstGeom prst="rect">
            <a:avLst/>
          </a:prstGeom>
          <a:solidFill>
            <a:srgbClr val="F7F3F1"/>
          </a:solidFill>
          <a:ln w="9525">
            <a:solidFill>
              <a:srgbClr val="FFFFFF"/>
            </a:solidFill>
            <a:prstDash val="solid"/>
          </a:ln>
        </p:spPr>
      </p:sp>
      <p:sp>
        <p:nvSpPr>
          <p:cNvPr id="131" name="矩形 130"/>
          <p:cNvSpPr>
            <a:spLocks noGrp="1"/>
          </p:cNvSpPr>
          <p:nvPr/>
        </p:nvSpPr>
        <p:spPr>
          <a:xfrm>
            <a:off x="6629400" y="4444365"/>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5—8年；技术增值/并购退出</a:t>
            </a:r>
            <a:endParaRPr sz="770" b="0">
              <a:solidFill>
                <a:srgbClr val="403A38"/>
              </a:solidFill>
              <a:latin typeface="Noto Sans Hans"/>
              <a:ea typeface="Noto Sans Hans"/>
              <a:cs typeface="Noto Sans Hans"/>
            </a:endParaRPr>
          </a:p>
        </p:txBody>
      </p:sp>
      <p:sp>
        <p:nvSpPr>
          <p:cNvPr id="132" name="矩形 131"/>
          <p:cNvSpPr>
            <a:spLocks noGrp="1"/>
          </p:cNvSpPr>
          <p:nvPr/>
        </p:nvSpPr>
        <p:spPr>
          <a:xfrm>
            <a:off x="8229600" y="4434840"/>
            <a:ext cx="1714500" cy="340995"/>
          </a:xfrm>
          <a:prstGeom prst="rect">
            <a:avLst/>
          </a:prstGeom>
          <a:solidFill>
            <a:srgbClr val="F7F3F1"/>
          </a:solidFill>
          <a:ln w="9525">
            <a:solidFill>
              <a:srgbClr val="FFFFFF"/>
            </a:solidFill>
            <a:prstDash val="solid"/>
          </a:ln>
        </p:spPr>
      </p:sp>
      <p:sp>
        <p:nvSpPr>
          <p:cNvPr id="133" name="矩形 132"/>
          <p:cNvSpPr>
            <a:spLocks noGrp="1"/>
          </p:cNvSpPr>
          <p:nvPr/>
        </p:nvSpPr>
        <p:spPr>
          <a:xfrm>
            <a:off x="8248650" y="4444365"/>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注册、团队、临床、现金消耗</a:t>
            </a:r>
            <a:endParaRPr sz="770" b="0">
              <a:solidFill>
                <a:srgbClr val="403A38"/>
              </a:solidFill>
              <a:latin typeface="Noto Sans Hans"/>
              <a:ea typeface="Noto Sans Hans"/>
              <a:cs typeface="Noto Sans Hans"/>
            </a:endParaRPr>
          </a:p>
        </p:txBody>
      </p:sp>
      <p:sp>
        <p:nvSpPr>
          <p:cNvPr id="134" name="矩形 133"/>
          <p:cNvSpPr>
            <a:spLocks noGrp="1"/>
          </p:cNvSpPr>
          <p:nvPr/>
        </p:nvSpPr>
        <p:spPr>
          <a:xfrm>
            <a:off x="9944100" y="4434840"/>
            <a:ext cx="1790700" cy="340995"/>
          </a:xfrm>
          <a:prstGeom prst="rect">
            <a:avLst/>
          </a:prstGeom>
          <a:solidFill>
            <a:srgbClr val="F5EDDA"/>
          </a:solidFill>
          <a:ln w="9525">
            <a:solidFill>
              <a:srgbClr val="FFFFFF"/>
            </a:solidFill>
            <a:prstDash val="solid"/>
          </a:ln>
        </p:spPr>
      </p:sp>
      <p:sp>
        <p:nvSpPr>
          <p:cNvPr id="135" name="矩形 134"/>
          <p:cNvSpPr>
            <a:spLocks noGrp="1"/>
          </p:cNvSpPr>
          <p:nvPr/>
        </p:nvSpPr>
        <p:spPr>
          <a:xfrm>
            <a:off x="9963150" y="4444365"/>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早期储备</a:t>
            </a:r>
            <a:endParaRPr sz="770" b="1">
              <a:solidFill>
                <a:srgbClr val="9E3038"/>
              </a:solidFill>
              <a:latin typeface="Noto Sans Hans"/>
              <a:ea typeface="Noto Sans Hans"/>
              <a:cs typeface="Noto Sans Hans"/>
            </a:endParaRPr>
          </a:p>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阶段拨款</a:t>
            </a:r>
            <a:endParaRPr sz="770" b="1">
              <a:solidFill>
                <a:srgbClr val="9E3038"/>
              </a:solidFill>
              <a:latin typeface="Noto Sans Hans"/>
              <a:ea typeface="Noto Sans Hans"/>
              <a:cs typeface="Noto Sans Hans"/>
            </a:endParaRPr>
          </a:p>
        </p:txBody>
      </p:sp>
      <p:sp>
        <p:nvSpPr>
          <p:cNvPr id="136" name="矩形 135"/>
          <p:cNvSpPr>
            <a:spLocks noGrp="1"/>
          </p:cNvSpPr>
          <p:nvPr/>
        </p:nvSpPr>
        <p:spPr>
          <a:xfrm>
            <a:off x="457200" y="4775835"/>
            <a:ext cx="1485900" cy="340995"/>
          </a:xfrm>
          <a:prstGeom prst="rect">
            <a:avLst/>
          </a:prstGeom>
          <a:solidFill>
            <a:srgbClr val="F8E5E4"/>
          </a:solidFill>
          <a:ln w="9525">
            <a:solidFill>
              <a:srgbClr val="FFFFFF"/>
            </a:solidFill>
            <a:prstDash val="solid"/>
          </a:ln>
        </p:spPr>
      </p:sp>
      <p:sp>
        <p:nvSpPr>
          <p:cNvPr id="137" name="矩形 136"/>
          <p:cNvSpPr>
            <a:spLocks noGrp="1"/>
          </p:cNvSpPr>
          <p:nvPr/>
        </p:nvSpPr>
        <p:spPr>
          <a:xfrm>
            <a:off x="476250" y="4785360"/>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外地康复机器人总部招引</a:t>
            </a:r>
            <a:endParaRPr sz="770" b="1">
              <a:solidFill>
                <a:srgbClr val="9E3038"/>
              </a:solidFill>
              <a:latin typeface="Noto Sans Hans"/>
              <a:ea typeface="Noto Sans Hans"/>
              <a:cs typeface="Noto Sans Hans"/>
            </a:endParaRPr>
          </a:p>
        </p:txBody>
      </p:sp>
      <p:sp>
        <p:nvSpPr>
          <p:cNvPr id="138" name="矩形 137"/>
          <p:cNvSpPr>
            <a:spLocks noGrp="1"/>
          </p:cNvSpPr>
          <p:nvPr/>
        </p:nvSpPr>
        <p:spPr>
          <a:xfrm>
            <a:off x="1943100" y="4775835"/>
            <a:ext cx="857250" cy="340995"/>
          </a:xfrm>
          <a:prstGeom prst="rect">
            <a:avLst/>
          </a:prstGeom>
          <a:solidFill>
            <a:srgbClr val="F8E5E4"/>
          </a:solidFill>
          <a:ln w="9525">
            <a:solidFill>
              <a:srgbClr val="FFFFFF"/>
            </a:solidFill>
            <a:prstDash val="solid"/>
          </a:ln>
        </p:spPr>
      </p:sp>
      <p:sp>
        <p:nvSpPr>
          <p:cNvPr id="139" name="矩形 138"/>
          <p:cNvSpPr>
            <a:spLocks noGrp="1"/>
          </p:cNvSpPr>
          <p:nvPr/>
        </p:nvSpPr>
        <p:spPr>
          <a:xfrm>
            <a:off x="1962150" y="4785360"/>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招引/建议</a:t>
            </a:r>
            <a:endParaRPr sz="790" b="0">
              <a:solidFill>
                <a:srgbClr val="403A38"/>
              </a:solidFill>
              <a:latin typeface="Noto Sans Hans"/>
              <a:ea typeface="Noto Sans Hans"/>
              <a:cs typeface="Noto Sans Hans"/>
            </a:endParaRPr>
          </a:p>
        </p:txBody>
      </p:sp>
      <p:sp>
        <p:nvSpPr>
          <p:cNvPr id="140" name="矩形 139"/>
          <p:cNvSpPr>
            <a:spLocks noGrp="1"/>
          </p:cNvSpPr>
          <p:nvPr/>
        </p:nvSpPr>
        <p:spPr>
          <a:xfrm>
            <a:off x="2800350" y="4775835"/>
            <a:ext cx="1638300" cy="340995"/>
          </a:xfrm>
          <a:prstGeom prst="rect">
            <a:avLst/>
          </a:prstGeom>
          <a:solidFill>
            <a:srgbClr val="F8E5E4"/>
          </a:solidFill>
          <a:ln w="9525">
            <a:solidFill>
              <a:srgbClr val="FFFFFF"/>
            </a:solidFill>
            <a:prstDash val="solid"/>
          </a:ln>
        </p:spPr>
      </p:sp>
      <p:sp>
        <p:nvSpPr>
          <p:cNvPr id="141" name="矩形 140"/>
          <p:cNvSpPr>
            <a:spLocks noGrp="1"/>
          </p:cNvSpPr>
          <p:nvPr/>
        </p:nvSpPr>
        <p:spPr>
          <a:xfrm>
            <a:off x="2819400" y="4785360"/>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销售服务、培训、临床合作与轻中试</a:t>
            </a:r>
            <a:endParaRPr sz="770" b="0">
              <a:solidFill>
                <a:srgbClr val="403A38"/>
              </a:solidFill>
              <a:latin typeface="Noto Sans Hans"/>
              <a:ea typeface="Noto Sans Hans"/>
              <a:cs typeface="Noto Sans Hans"/>
            </a:endParaRPr>
          </a:p>
        </p:txBody>
      </p:sp>
      <p:sp>
        <p:nvSpPr>
          <p:cNvPr id="142" name="矩形 141"/>
          <p:cNvSpPr>
            <a:spLocks noGrp="1"/>
          </p:cNvSpPr>
          <p:nvPr/>
        </p:nvSpPr>
        <p:spPr>
          <a:xfrm>
            <a:off x="4438650" y="4775835"/>
            <a:ext cx="2171700" cy="340995"/>
          </a:xfrm>
          <a:prstGeom prst="rect">
            <a:avLst/>
          </a:prstGeom>
          <a:solidFill>
            <a:srgbClr val="F8E5E4"/>
          </a:solidFill>
          <a:ln w="9525">
            <a:solidFill>
              <a:srgbClr val="FFFFFF"/>
            </a:solidFill>
            <a:prstDash val="solid"/>
          </a:ln>
        </p:spPr>
      </p:sp>
      <p:sp>
        <p:nvSpPr>
          <p:cNvPr id="143" name="矩形 142"/>
          <p:cNvSpPr>
            <a:spLocks noGrp="1"/>
          </p:cNvSpPr>
          <p:nvPr/>
        </p:nvSpPr>
        <p:spPr>
          <a:xfrm>
            <a:off x="4457700" y="4785360"/>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股权+政策+订单+基金；一企一策</a:t>
            </a:r>
            <a:endParaRPr sz="770" b="0">
              <a:solidFill>
                <a:srgbClr val="403A38"/>
              </a:solidFill>
              <a:latin typeface="Noto Sans Hans"/>
              <a:ea typeface="Noto Sans Hans"/>
              <a:cs typeface="Noto Sans Hans"/>
            </a:endParaRPr>
          </a:p>
        </p:txBody>
      </p:sp>
      <p:sp>
        <p:nvSpPr>
          <p:cNvPr id="144" name="矩形 143"/>
          <p:cNvSpPr>
            <a:spLocks noGrp="1"/>
          </p:cNvSpPr>
          <p:nvPr/>
        </p:nvSpPr>
        <p:spPr>
          <a:xfrm>
            <a:off x="6610350" y="4775835"/>
            <a:ext cx="1619250" cy="340995"/>
          </a:xfrm>
          <a:prstGeom prst="rect">
            <a:avLst/>
          </a:prstGeom>
          <a:solidFill>
            <a:srgbClr val="F8E5E4"/>
          </a:solidFill>
          <a:ln w="9525">
            <a:solidFill>
              <a:srgbClr val="FFFFFF"/>
            </a:solidFill>
            <a:prstDash val="solid"/>
          </a:ln>
        </p:spPr>
      </p:sp>
      <p:sp>
        <p:nvSpPr>
          <p:cNvPr id="145" name="矩形 144"/>
          <p:cNvSpPr>
            <a:spLocks noGrp="1"/>
          </p:cNvSpPr>
          <p:nvPr/>
        </p:nvSpPr>
        <p:spPr>
          <a:xfrm>
            <a:off x="6629400" y="4785360"/>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5—8年；税收、就业、股权增值</a:t>
            </a:r>
            <a:endParaRPr sz="770" b="0">
              <a:solidFill>
                <a:srgbClr val="403A38"/>
              </a:solidFill>
              <a:latin typeface="Noto Sans Hans"/>
              <a:ea typeface="Noto Sans Hans"/>
              <a:cs typeface="Noto Sans Hans"/>
            </a:endParaRPr>
          </a:p>
        </p:txBody>
      </p:sp>
      <p:sp>
        <p:nvSpPr>
          <p:cNvPr id="146" name="矩形 145"/>
          <p:cNvSpPr>
            <a:spLocks noGrp="1"/>
          </p:cNvSpPr>
          <p:nvPr/>
        </p:nvSpPr>
        <p:spPr>
          <a:xfrm>
            <a:off x="8229600" y="4775835"/>
            <a:ext cx="1714500" cy="340995"/>
          </a:xfrm>
          <a:prstGeom prst="rect">
            <a:avLst/>
          </a:prstGeom>
          <a:solidFill>
            <a:srgbClr val="F8E5E4"/>
          </a:solidFill>
          <a:ln w="9525">
            <a:solidFill>
              <a:srgbClr val="FFFFFF"/>
            </a:solidFill>
            <a:prstDash val="solid"/>
          </a:ln>
        </p:spPr>
      </p:sp>
      <p:sp>
        <p:nvSpPr>
          <p:cNvPr id="147" name="矩形 146"/>
          <p:cNvSpPr>
            <a:spLocks noGrp="1"/>
          </p:cNvSpPr>
          <p:nvPr/>
        </p:nvSpPr>
        <p:spPr>
          <a:xfrm>
            <a:off x="8248650" y="4785360"/>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总部能级与承诺兑现</a:t>
            </a:r>
            <a:endParaRPr sz="770" b="0">
              <a:solidFill>
                <a:srgbClr val="403A38"/>
              </a:solidFill>
              <a:latin typeface="Noto Sans Hans"/>
              <a:ea typeface="Noto Sans Hans"/>
              <a:cs typeface="Noto Sans Hans"/>
            </a:endParaRPr>
          </a:p>
        </p:txBody>
      </p:sp>
      <p:sp>
        <p:nvSpPr>
          <p:cNvPr id="148" name="矩形 147"/>
          <p:cNvSpPr>
            <a:spLocks noGrp="1"/>
          </p:cNvSpPr>
          <p:nvPr/>
        </p:nvSpPr>
        <p:spPr>
          <a:xfrm>
            <a:off x="9944100" y="4775835"/>
            <a:ext cx="1790700" cy="340995"/>
          </a:xfrm>
          <a:prstGeom prst="rect">
            <a:avLst/>
          </a:prstGeom>
          <a:solidFill>
            <a:srgbClr val="F5EDDA"/>
          </a:solidFill>
          <a:ln w="9525">
            <a:solidFill>
              <a:srgbClr val="FFFFFF"/>
            </a:solidFill>
            <a:prstDash val="solid"/>
          </a:ln>
        </p:spPr>
      </p:sp>
      <p:sp>
        <p:nvSpPr>
          <p:cNvPr id="149" name="矩形 148"/>
          <p:cNvSpPr>
            <a:spLocks noGrp="1"/>
          </p:cNvSpPr>
          <p:nvPr/>
        </p:nvSpPr>
        <p:spPr>
          <a:xfrm>
            <a:off x="9963150" y="4785360"/>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9E3038"/>
                </a:solidFill>
                <a:latin typeface="Noto Sans Hans"/>
                <a:ea typeface="Noto Sans Hans"/>
                <a:cs typeface="Noto Sans Hans"/>
              </a:defRPr>
            </a:pPr>
            <a:r>
              <a:rPr sz="770" b="1">
                <a:solidFill>
                  <a:srgbClr val="9E3038"/>
                </a:solidFill>
                <a:latin typeface="Noto Sans Hans"/>
                <a:ea typeface="Noto Sans Hans"/>
                <a:cs typeface="Noto Sans Hans"/>
              </a:rPr>
              <a:t>择优接洽傅利叶/程天</a:t>
            </a:r>
            <a:endParaRPr sz="770" b="1">
              <a:solidFill>
                <a:srgbClr val="9E3038"/>
              </a:solidFill>
              <a:latin typeface="Noto Sans Hans"/>
              <a:ea typeface="Noto Sans Hans"/>
              <a:cs typeface="Noto Sans Hans"/>
            </a:endParaRPr>
          </a:p>
        </p:txBody>
      </p:sp>
      <p:sp>
        <p:nvSpPr>
          <p:cNvPr id="150" name="矩形 149"/>
          <p:cNvSpPr>
            <a:spLocks noGrp="1"/>
          </p:cNvSpPr>
          <p:nvPr/>
        </p:nvSpPr>
        <p:spPr>
          <a:xfrm>
            <a:off x="457200" y="5116830"/>
            <a:ext cx="1485900" cy="340995"/>
          </a:xfrm>
          <a:prstGeom prst="rect">
            <a:avLst/>
          </a:prstGeom>
          <a:solidFill>
            <a:srgbClr val="F7F3F1"/>
          </a:solidFill>
          <a:ln w="9525">
            <a:solidFill>
              <a:srgbClr val="FFFFFF"/>
            </a:solidFill>
            <a:prstDash val="solid"/>
          </a:ln>
        </p:spPr>
      </p:sp>
      <p:sp>
        <p:nvSpPr>
          <p:cNvPr id="151" name="矩形 150"/>
          <p:cNvSpPr>
            <a:spLocks noGrp="1"/>
          </p:cNvSpPr>
          <p:nvPr/>
        </p:nvSpPr>
        <p:spPr>
          <a:xfrm>
            <a:off x="476250" y="5126355"/>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安养链机器人运营平台</a:t>
            </a:r>
            <a:endParaRPr sz="770" b="1">
              <a:solidFill>
                <a:srgbClr val="8F6900"/>
              </a:solidFill>
              <a:latin typeface="Noto Sans Hans"/>
              <a:ea typeface="Noto Sans Hans"/>
              <a:cs typeface="Noto Sans Hans"/>
            </a:endParaRPr>
          </a:p>
        </p:txBody>
      </p:sp>
      <p:sp>
        <p:nvSpPr>
          <p:cNvPr id="152" name="矩形 151"/>
          <p:cNvSpPr>
            <a:spLocks noGrp="1"/>
          </p:cNvSpPr>
          <p:nvPr/>
        </p:nvSpPr>
        <p:spPr>
          <a:xfrm>
            <a:off x="1943100" y="5116830"/>
            <a:ext cx="857250" cy="340995"/>
          </a:xfrm>
          <a:prstGeom prst="rect">
            <a:avLst/>
          </a:prstGeom>
          <a:solidFill>
            <a:srgbClr val="F7F3F1"/>
          </a:solidFill>
          <a:ln w="9525">
            <a:solidFill>
              <a:srgbClr val="FFFFFF"/>
            </a:solidFill>
            <a:prstDash val="solid"/>
          </a:ln>
        </p:spPr>
      </p:sp>
      <p:sp>
        <p:nvSpPr>
          <p:cNvPr id="153" name="矩形 152"/>
          <p:cNvSpPr>
            <a:spLocks noGrp="1"/>
          </p:cNvSpPr>
          <p:nvPr/>
        </p:nvSpPr>
        <p:spPr>
          <a:xfrm>
            <a:off x="1962150" y="5126355"/>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平台场景/拟建</a:t>
            </a:r>
            <a:endParaRPr sz="790" b="0">
              <a:solidFill>
                <a:srgbClr val="403A38"/>
              </a:solidFill>
              <a:latin typeface="Noto Sans Hans"/>
              <a:ea typeface="Noto Sans Hans"/>
              <a:cs typeface="Noto Sans Hans"/>
            </a:endParaRPr>
          </a:p>
        </p:txBody>
      </p:sp>
      <p:sp>
        <p:nvSpPr>
          <p:cNvPr id="154" name="矩形 153"/>
          <p:cNvSpPr>
            <a:spLocks noGrp="1"/>
          </p:cNvSpPr>
          <p:nvPr/>
        </p:nvSpPr>
        <p:spPr>
          <a:xfrm>
            <a:off x="2800350" y="5116830"/>
            <a:ext cx="1638300" cy="340995"/>
          </a:xfrm>
          <a:prstGeom prst="rect">
            <a:avLst/>
          </a:prstGeom>
          <a:solidFill>
            <a:srgbClr val="F7F3F1"/>
          </a:solidFill>
          <a:ln w="9525">
            <a:solidFill>
              <a:srgbClr val="FFFFFF"/>
            </a:solidFill>
            <a:prstDash val="solid"/>
          </a:ln>
        </p:spPr>
      </p:sp>
      <p:sp>
        <p:nvSpPr>
          <p:cNvPr id="155" name="矩形 154"/>
          <p:cNvSpPr>
            <a:spLocks noGrp="1"/>
          </p:cNvSpPr>
          <p:nvPr/>
        </p:nvSpPr>
        <p:spPr>
          <a:xfrm>
            <a:off x="2819400" y="5126355"/>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设备接入、需求池、试点工单与服务支付</a:t>
            </a:r>
            <a:endParaRPr sz="770" b="0">
              <a:solidFill>
                <a:srgbClr val="403A38"/>
              </a:solidFill>
              <a:latin typeface="Noto Sans Hans"/>
              <a:ea typeface="Noto Sans Hans"/>
              <a:cs typeface="Noto Sans Hans"/>
            </a:endParaRPr>
          </a:p>
        </p:txBody>
      </p:sp>
      <p:sp>
        <p:nvSpPr>
          <p:cNvPr id="156" name="矩形 155"/>
          <p:cNvSpPr>
            <a:spLocks noGrp="1"/>
          </p:cNvSpPr>
          <p:nvPr/>
        </p:nvSpPr>
        <p:spPr>
          <a:xfrm>
            <a:off x="4438650" y="5116830"/>
            <a:ext cx="2171700" cy="340995"/>
          </a:xfrm>
          <a:prstGeom prst="rect">
            <a:avLst/>
          </a:prstGeom>
          <a:solidFill>
            <a:srgbClr val="F7F3F1"/>
          </a:solidFill>
          <a:ln w="9525">
            <a:solidFill>
              <a:srgbClr val="FFFFFF"/>
            </a:solidFill>
            <a:prstDash val="solid"/>
          </a:ln>
        </p:spPr>
      </p:sp>
      <p:sp>
        <p:nvSpPr>
          <p:cNvPr id="157" name="矩形 156"/>
          <p:cNvSpPr>
            <a:spLocks noGrp="1"/>
          </p:cNvSpPr>
          <p:nvPr/>
        </p:nvSpPr>
        <p:spPr>
          <a:xfrm>
            <a:off x="4457700" y="5126355"/>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合资运营/内部项目/供应商招采</a:t>
            </a:r>
            <a:endParaRPr sz="770" b="0">
              <a:solidFill>
                <a:srgbClr val="403A38"/>
              </a:solidFill>
              <a:latin typeface="Noto Sans Hans"/>
              <a:ea typeface="Noto Sans Hans"/>
              <a:cs typeface="Noto Sans Hans"/>
            </a:endParaRPr>
          </a:p>
        </p:txBody>
      </p:sp>
      <p:sp>
        <p:nvSpPr>
          <p:cNvPr id="158" name="矩形 157"/>
          <p:cNvSpPr>
            <a:spLocks noGrp="1"/>
          </p:cNvSpPr>
          <p:nvPr/>
        </p:nvSpPr>
        <p:spPr>
          <a:xfrm>
            <a:off x="6610350" y="5116830"/>
            <a:ext cx="1619250" cy="340995"/>
          </a:xfrm>
          <a:prstGeom prst="rect">
            <a:avLst/>
          </a:prstGeom>
          <a:solidFill>
            <a:srgbClr val="F7F3F1"/>
          </a:solidFill>
          <a:ln w="9525">
            <a:solidFill>
              <a:srgbClr val="FFFFFF"/>
            </a:solidFill>
            <a:prstDash val="solid"/>
          </a:ln>
        </p:spPr>
      </p:sp>
      <p:sp>
        <p:nvSpPr>
          <p:cNvPr id="159" name="矩形 158"/>
          <p:cNvSpPr>
            <a:spLocks noGrp="1"/>
          </p:cNvSpPr>
          <p:nvPr/>
        </p:nvSpPr>
        <p:spPr>
          <a:xfrm>
            <a:off x="6629400" y="5126355"/>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1—2年；形成可控场景入口</a:t>
            </a:r>
            <a:endParaRPr sz="770" b="0">
              <a:solidFill>
                <a:srgbClr val="403A38"/>
              </a:solidFill>
              <a:latin typeface="Noto Sans Hans"/>
              <a:ea typeface="Noto Sans Hans"/>
              <a:cs typeface="Noto Sans Hans"/>
            </a:endParaRPr>
          </a:p>
        </p:txBody>
      </p:sp>
      <p:sp>
        <p:nvSpPr>
          <p:cNvPr id="160" name="矩形 159"/>
          <p:cNvSpPr>
            <a:spLocks noGrp="1"/>
          </p:cNvSpPr>
          <p:nvPr/>
        </p:nvSpPr>
        <p:spPr>
          <a:xfrm>
            <a:off x="8229600" y="5116830"/>
            <a:ext cx="1714500" cy="340995"/>
          </a:xfrm>
          <a:prstGeom prst="rect">
            <a:avLst/>
          </a:prstGeom>
          <a:solidFill>
            <a:srgbClr val="F7F3F1"/>
          </a:solidFill>
          <a:ln w="9525">
            <a:solidFill>
              <a:srgbClr val="FFFFFF"/>
            </a:solidFill>
            <a:prstDash val="solid"/>
          </a:ln>
        </p:spPr>
      </p:sp>
      <p:sp>
        <p:nvSpPr>
          <p:cNvPr id="161" name="矩形 160"/>
          <p:cNvSpPr>
            <a:spLocks noGrp="1"/>
          </p:cNvSpPr>
          <p:nvPr/>
        </p:nvSpPr>
        <p:spPr>
          <a:xfrm>
            <a:off x="8248650" y="5126355"/>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数据合规、集成、持续运营</a:t>
            </a:r>
            <a:endParaRPr sz="770" b="0">
              <a:solidFill>
                <a:srgbClr val="403A38"/>
              </a:solidFill>
              <a:latin typeface="Noto Sans Hans"/>
              <a:ea typeface="Noto Sans Hans"/>
              <a:cs typeface="Noto Sans Hans"/>
            </a:endParaRPr>
          </a:p>
        </p:txBody>
      </p:sp>
      <p:sp>
        <p:nvSpPr>
          <p:cNvPr id="162" name="矩形 161"/>
          <p:cNvSpPr>
            <a:spLocks noGrp="1"/>
          </p:cNvSpPr>
          <p:nvPr/>
        </p:nvSpPr>
        <p:spPr>
          <a:xfrm>
            <a:off x="9944100" y="5116830"/>
            <a:ext cx="1790700" cy="340995"/>
          </a:xfrm>
          <a:prstGeom prst="rect">
            <a:avLst/>
          </a:prstGeom>
          <a:solidFill>
            <a:srgbClr val="F5EDDA"/>
          </a:solidFill>
          <a:ln w="9525">
            <a:solidFill>
              <a:srgbClr val="FFFFFF"/>
            </a:solidFill>
            <a:prstDash val="solid"/>
          </a:ln>
        </p:spPr>
      </p:sp>
      <p:sp>
        <p:nvSpPr>
          <p:cNvPr id="163" name="矩形 162"/>
          <p:cNvSpPr>
            <a:spLocks noGrp="1"/>
          </p:cNvSpPr>
          <p:nvPr/>
        </p:nvSpPr>
        <p:spPr>
          <a:xfrm>
            <a:off x="9963150" y="5126355"/>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先内部论证与需求梳理</a:t>
            </a:r>
            <a:endParaRPr sz="770" b="1">
              <a:solidFill>
                <a:srgbClr val="8F6900"/>
              </a:solidFill>
              <a:latin typeface="Noto Sans Hans"/>
              <a:ea typeface="Noto Sans Hans"/>
              <a:cs typeface="Noto Sans Hans"/>
            </a:endParaRPr>
          </a:p>
        </p:txBody>
      </p:sp>
      <p:sp>
        <p:nvSpPr>
          <p:cNvPr id="164" name="矩形 163"/>
          <p:cNvSpPr>
            <a:spLocks noGrp="1"/>
          </p:cNvSpPr>
          <p:nvPr/>
        </p:nvSpPr>
        <p:spPr>
          <a:xfrm>
            <a:off x="457200" y="5457825"/>
            <a:ext cx="1485900" cy="340995"/>
          </a:xfrm>
          <a:prstGeom prst="rect">
            <a:avLst/>
          </a:prstGeom>
          <a:solidFill>
            <a:srgbClr val="F8E5E4"/>
          </a:solidFill>
          <a:ln w="9525">
            <a:solidFill>
              <a:srgbClr val="FFFFFF"/>
            </a:solidFill>
            <a:prstDash val="solid"/>
          </a:ln>
        </p:spPr>
      </p:sp>
      <p:sp>
        <p:nvSpPr>
          <p:cNvPr id="165" name="矩形 164"/>
          <p:cNvSpPr>
            <a:spLocks noGrp="1"/>
          </p:cNvSpPr>
          <p:nvPr/>
        </p:nvSpPr>
        <p:spPr>
          <a:xfrm>
            <a:off x="476250" y="5467350"/>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康养实训与安全评测专区</a:t>
            </a:r>
            <a:endParaRPr sz="770" b="1">
              <a:solidFill>
                <a:srgbClr val="8F6900"/>
              </a:solidFill>
              <a:latin typeface="Noto Sans Hans"/>
              <a:ea typeface="Noto Sans Hans"/>
              <a:cs typeface="Noto Sans Hans"/>
            </a:endParaRPr>
          </a:p>
        </p:txBody>
      </p:sp>
      <p:sp>
        <p:nvSpPr>
          <p:cNvPr id="166" name="矩形 165"/>
          <p:cNvSpPr>
            <a:spLocks noGrp="1"/>
          </p:cNvSpPr>
          <p:nvPr/>
        </p:nvSpPr>
        <p:spPr>
          <a:xfrm>
            <a:off x="1943100" y="5457825"/>
            <a:ext cx="857250" cy="340995"/>
          </a:xfrm>
          <a:prstGeom prst="rect">
            <a:avLst/>
          </a:prstGeom>
          <a:solidFill>
            <a:srgbClr val="F8E5E4"/>
          </a:solidFill>
          <a:ln w="9525">
            <a:solidFill>
              <a:srgbClr val="FFFFFF"/>
            </a:solidFill>
            <a:prstDash val="solid"/>
          </a:ln>
        </p:spPr>
      </p:sp>
      <p:sp>
        <p:nvSpPr>
          <p:cNvPr id="167" name="矩形 166"/>
          <p:cNvSpPr>
            <a:spLocks noGrp="1"/>
          </p:cNvSpPr>
          <p:nvPr/>
        </p:nvSpPr>
        <p:spPr>
          <a:xfrm>
            <a:off x="1962150" y="5467350"/>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创新平台/拟议</a:t>
            </a:r>
            <a:endParaRPr sz="790" b="0">
              <a:solidFill>
                <a:srgbClr val="403A38"/>
              </a:solidFill>
              <a:latin typeface="Noto Sans Hans"/>
              <a:ea typeface="Noto Sans Hans"/>
              <a:cs typeface="Noto Sans Hans"/>
            </a:endParaRPr>
          </a:p>
        </p:txBody>
      </p:sp>
      <p:sp>
        <p:nvSpPr>
          <p:cNvPr id="168" name="矩形 167"/>
          <p:cNvSpPr>
            <a:spLocks noGrp="1"/>
          </p:cNvSpPr>
          <p:nvPr/>
        </p:nvSpPr>
        <p:spPr>
          <a:xfrm>
            <a:off x="2800350" y="5457825"/>
            <a:ext cx="1638300" cy="340995"/>
          </a:xfrm>
          <a:prstGeom prst="rect">
            <a:avLst/>
          </a:prstGeom>
          <a:solidFill>
            <a:srgbClr val="F8E5E4"/>
          </a:solidFill>
          <a:ln w="9525">
            <a:solidFill>
              <a:srgbClr val="FFFFFF"/>
            </a:solidFill>
            <a:prstDash val="solid"/>
          </a:ln>
        </p:spPr>
      </p:sp>
      <p:sp>
        <p:nvSpPr>
          <p:cNvPr id="169" name="矩形 168"/>
          <p:cNvSpPr>
            <a:spLocks noGrp="1"/>
          </p:cNvSpPr>
          <p:nvPr/>
        </p:nvSpPr>
        <p:spPr>
          <a:xfrm>
            <a:off x="2819400" y="5467350"/>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任务库、数据采集、安全测试与联调</a:t>
            </a:r>
            <a:endParaRPr sz="770" b="0">
              <a:solidFill>
                <a:srgbClr val="403A38"/>
              </a:solidFill>
              <a:latin typeface="Noto Sans Hans"/>
              <a:ea typeface="Noto Sans Hans"/>
              <a:cs typeface="Noto Sans Hans"/>
            </a:endParaRPr>
          </a:p>
        </p:txBody>
      </p:sp>
      <p:sp>
        <p:nvSpPr>
          <p:cNvPr id="170" name="矩形 169"/>
          <p:cNvSpPr>
            <a:spLocks noGrp="1"/>
          </p:cNvSpPr>
          <p:nvPr/>
        </p:nvSpPr>
        <p:spPr>
          <a:xfrm>
            <a:off x="4438650" y="5457825"/>
            <a:ext cx="2171700" cy="340995"/>
          </a:xfrm>
          <a:prstGeom prst="rect">
            <a:avLst/>
          </a:prstGeom>
          <a:solidFill>
            <a:srgbClr val="F8E5E4"/>
          </a:solidFill>
          <a:ln w="9525">
            <a:solidFill>
              <a:srgbClr val="FFFFFF"/>
            </a:solidFill>
            <a:prstDash val="solid"/>
          </a:ln>
        </p:spPr>
      </p:sp>
      <p:sp>
        <p:nvSpPr>
          <p:cNvPr id="171" name="矩形 170"/>
          <p:cNvSpPr>
            <a:spLocks noGrp="1"/>
          </p:cNvSpPr>
          <p:nvPr/>
        </p:nvSpPr>
        <p:spPr>
          <a:xfrm>
            <a:off x="4457700" y="5467350"/>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联合建设；3000—8000万元情景</a:t>
            </a:r>
            <a:endParaRPr sz="770" b="0">
              <a:solidFill>
                <a:srgbClr val="403A38"/>
              </a:solidFill>
              <a:latin typeface="Noto Sans Hans"/>
              <a:ea typeface="Noto Sans Hans"/>
              <a:cs typeface="Noto Sans Hans"/>
            </a:endParaRPr>
          </a:p>
        </p:txBody>
      </p:sp>
      <p:sp>
        <p:nvSpPr>
          <p:cNvPr id="172" name="矩形 171"/>
          <p:cNvSpPr>
            <a:spLocks noGrp="1"/>
          </p:cNvSpPr>
          <p:nvPr/>
        </p:nvSpPr>
        <p:spPr>
          <a:xfrm>
            <a:off x="6610350" y="5457825"/>
            <a:ext cx="1619250" cy="340995"/>
          </a:xfrm>
          <a:prstGeom prst="rect">
            <a:avLst/>
          </a:prstGeom>
          <a:solidFill>
            <a:srgbClr val="F8E5E4"/>
          </a:solidFill>
          <a:ln w="9525">
            <a:solidFill>
              <a:srgbClr val="FFFFFF"/>
            </a:solidFill>
            <a:prstDash val="solid"/>
          </a:ln>
        </p:spPr>
      </p:sp>
      <p:sp>
        <p:nvSpPr>
          <p:cNvPr id="173" name="矩形 172"/>
          <p:cNvSpPr>
            <a:spLocks noGrp="1"/>
          </p:cNvSpPr>
          <p:nvPr/>
        </p:nvSpPr>
        <p:spPr>
          <a:xfrm>
            <a:off x="6629400" y="5467350"/>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3—5年；平台服务、孵化与招商</a:t>
            </a:r>
            <a:endParaRPr sz="770" b="0">
              <a:solidFill>
                <a:srgbClr val="403A38"/>
              </a:solidFill>
              <a:latin typeface="Noto Sans Hans"/>
              <a:ea typeface="Noto Sans Hans"/>
              <a:cs typeface="Noto Sans Hans"/>
            </a:endParaRPr>
          </a:p>
        </p:txBody>
      </p:sp>
      <p:sp>
        <p:nvSpPr>
          <p:cNvPr id="174" name="矩形 173"/>
          <p:cNvSpPr>
            <a:spLocks noGrp="1"/>
          </p:cNvSpPr>
          <p:nvPr/>
        </p:nvSpPr>
        <p:spPr>
          <a:xfrm>
            <a:off x="8229600" y="5457825"/>
            <a:ext cx="1714500" cy="340995"/>
          </a:xfrm>
          <a:prstGeom prst="rect">
            <a:avLst/>
          </a:prstGeom>
          <a:solidFill>
            <a:srgbClr val="F8E5E4"/>
          </a:solidFill>
          <a:ln w="9525">
            <a:solidFill>
              <a:srgbClr val="FFFFFF"/>
            </a:solidFill>
            <a:prstDash val="solid"/>
          </a:ln>
        </p:spPr>
      </p:sp>
      <p:sp>
        <p:nvSpPr>
          <p:cNvPr id="175" name="矩形 174"/>
          <p:cNvSpPr>
            <a:spLocks noGrp="1"/>
          </p:cNvSpPr>
          <p:nvPr/>
        </p:nvSpPr>
        <p:spPr>
          <a:xfrm>
            <a:off x="8248650" y="5467350"/>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重复建设、数据合规</a:t>
            </a:r>
            <a:endParaRPr sz="770" b="0">
              <a:solidFill>
                <a:srgbClr val="403A38"/>
              </a:solidFill>
              <a:latin typeface="Noto Sans Hans"/>
              <a:ea typeface="Noto Sans Hans"/>
              <a:cs typeface="Noto Sans Hans"/>
            </a:endParaRPr>
          </a:p>
        </p:txBody>
      </p:sp>
      <p:sp>
        <p:nvSpPr>
          <p:cNvPr id="176" name="矩形 175"/>
          <p:cNvSpPr>
            <a:spLocks noGrp="1"/>
          </p:cNvSpPr>
          <p:nvPr/>
        </p:nvSpPr>
        <p:spPr>
          <a:xfrm>
            <a:off x="9944100" y="5457825"/>
            <a:ext cx="1790700" cy="340995"/>
          </a:xfrm>
          <a:prstGeom prst="rect">
            <a:avLst/>
          </a:prstGeom>
          <a:solidFill>
            <a:srgbClr val="F5EDDA"/>
          </a:solidFill>
          <a:ln w="9525">
            <a:solidFill>
              <a:srgbClr val="FFFFFF"/>
            </a:solidFill>
            <a:prstDash val="solid"/>
          </a:ln>
        </p:spPr>
      </p:sp>
      <p:sp>
        <p:nvSpPr>
          <p:cNvPr id="177" name="矩形 176"/>
          <p:cNvSpPr>
            <a:spLocks noGrp="1"/>
          </p:cNvSpPr>
          <p:nvPr/>
        </p:nvSpPr>
        <p:spPr>
          <a:xfrm>
            <a:off x="9963150" y="5467350"/>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长期项目</a:t>
            </a:r>
            <a:endParaRPr sz="770" b="1">
              <a:solidFill>
                <a:srgbClr val="8F6900"/>
              </a:solidFill>
              <a:latin typeface="Noto Sans Hans"/>
              <a:ea typeface="Noto Sans Hans"/>
              <a:cs typeface="Noto Sans Hans"/>
            </a:endParaRPr>
          </a:p>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先完成可研</a:t>
            </a:r>
            <a:endParaRPr sz="770" b="1">
              <a:solidFill>
                <a:srgbClr val="8F6900"/>
              </a:solidFill>
              <a:latin typeface="Noto Sans Hans"/>
              <a:ea typeface="Noto Sans Hans"/>
              <a:cs typeface="Noto Sans Hans"/>
            </a:endParaRPr>
          </a:p>
        </p:txBody>
      </p:sp>
      <p:sp>
        <p:nvSpPr>
          <p:cNvPr id="178" name="矩形 177"/>
          <p:cNvSpPr>
            <a:spLocks noGrp="1"/>
          </p:cNvSpPr>
          <p:nvPr/>
        </p:nvSpPr>
        <p:spPr>
          <a:xfrm>
            <a:off x="457200" y="5798820"/>
            <a:ext cx="1485900" cy="340995"/>
          </a:xfrm>
          <a:prstGeom prst="rect">
            <a:avLst/>
          </a:prstGeom>
          <a:solidFill>
            <a:srgbClr val="F7F3F1"/>
          </a:solidFill>
          <a:ln w="9525">
            <a:solidFill>
              <a:srgbClr val="FFFFFF"/>
            </a:solidFill>
            <a:prstDash val="solid"/>
          </a:ln>
        </p:spPr>
      </p:sp>
      <p:sp>
        <p:nvSpPr>
          <p:cNvPr id="179" name="矩形 178"/>
          <p:cNvSpPr>
            <a:spLocks noGrp="1"/>
          </p:cNvSpPr>
          <p:nvPr/>
        </p:nvSpPr>
        <p:spPr>
          <a:xfrm>
            <a:off x="476250" y="5808345"/>
            <a:ext cx="1447800" cy="321945"/>
          </a:xfrm>
          <a:prstGeom prst="rect">
            <a:avLst/>
          </a:prstGeom>
          <a:noFill/>
          <a:ln w="0">
            <a:noFill/>
            <a:prstDash val="solid"/>
          </a:ln>
        </p:spPr>
        <p:txBody>
          <a:bodyPr wrap="square" lIns="47625" tIns="19050" rIns="47625" bIns="19050" anchor="ctr">
            <a:normAutofit/>
          </a:bodyPr>
          <a:lstStyle/>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武汉都市圈场景复制包</a:t>
            </a:r>
            <a:endParaRPr sz="770" b="1">
              <a:solidFill>
                <a:srgbClr val="8F6900"/>
              </a:solidFill>
              <a:latin typeface="Noto Sans Hans"/>
              <a:ea typeface="Noto Sans Hans"/>
              <a:cs typeface="Noto Sans Hans"/>
            </a:endParaRPr>
          </a:p>
        </p:txBody>
      </p:sp>
      <p:sp>
        <p:nvSpPr>
          <p:cNvPr id="180" name="矩形 179"/>
          <p:cNvSpPr>
            <a:spLocks noGrp="1"/>
          </p:cNvSpPr>
          <p:nvPr/>
        </p:nvSpPr>
        <p:spPr>
          <a:xfrm>
            <a:off x="1943100" y="5798820"/>
            <a:ext cx="857250" cy="340995"/>
          </a:xfrm>
          <a:prstGeom prst="rect">
            <a:avLst/>
          </a:prstGeom>
          <a:solidFill>
            <a:srgbClr val="F7F3F1"/>
          </a:solidFill>
          <a:ln w="9525">
            <a:solidFill>
              <a:srgbClr val="FFFFFF"/>
            </a:solidFill>
            <a:prstDash val="solid"/>
          </a:ln>
        </p:spPr>
      </p:sp>
      <p:sp>
        <p:nvSpPr>
          <p:cNvPr id="181" name="矩形 180"/>
          <p:cNvSpPr>
            <a:spLocks noGrp="1"/>
          </p:cNvSpPr>
          <p:nvPr/>
        </p:nvSpPr>
        <p:spPr>
          <a:xfrm>
            <a:off x="1962150" y="5808345"/>
            <a:ext cx="819150" cy="321945"/>
          </a:xfrm>
          <a:prstGeom prst="rect">
            <a:avLst/>
          </a:prstGeom>
          <a:noFill/>
          <a:ln w="0">
            <a:noFill/>
            <a:prstDash val="solid"/>
          </a:ln>
        </p:spPr>
        <p:txBody>
          <a:bodyPr wrap="square" lIns="47625" tIns="19050" rIns="47625" bIns="19050" anchor="ctr">
            <a:normAutofit/>
          </a:bodyPr>
          <a:lstStyle/>
          <a:p>
            <a:pPr algn="ctr">
              <a:defRPr sz="690" b="0">
                <a:solidFill>
                  <a:srgbClr val="403A38"/>
                </a:solidFill>
                <a:latin typeface="Noto Sans Hans"/>
                <a:ea typeface="Noto Sans Hans"/>
                <a:cs typeface="Noto Sans Hans"/>
              </a:defRPr>
            </a:pPr>
            <a:r>
              <a:rPr sz="790" b="0">
                <a:solidFill>
                  <a:srgbClr val="403A38"/>
                </a:solidFill>
                <a:latin typeface="Noto Sans Hans"/>
                <a:ea typeface="Noto Sans Hans"/>
                <a:cs typeface="Noto Sans Hans"/>
              </a:rPr>
              <a:t>区域复制/建议</a:t>
            </a:r>
            <a:endParaRPr sz="790" b="0">
              <a:solidFill>
                <a:srgbClr val="403A38"/>
              </a:solidFill>
              <a:latin typeface="Noto Sans Hans"/>
              <a:ea typeface="Noto Sans Hans"/>
              <a:cs typeface="Noto Sans Hans"/>
            </a:endParaRPr>
          </a:p>
        </p:txBody>
      </p:sp>
      <p:sp>
        <p:nvSpPr>
          <p:cNvPr id="182" name="矩形 181"/>
          <p:cNvSpPr>
            <a:spLocks noGrp="1"/>
          </p:cNvSpPr>
          <p:nvPr/>
        </p:nvSpPr>
        <p:spPr>
          <a:xfrm>
            <a:off x="2800350" y="5798820"/>
            <a:ext cx="1638300" cy="340995"/>
          </a:xfrm>
          <a:prstGeom prst="rect">
            <a:avLst/>
          </a:prstGeom>
          <a:solidFill>
            <a:srgbClr val="F7F3F1"/>
          </a:solidFill>
          <a:ln w="9525">
            <a:solidFill>
              <a:srgbClr val="FFFFFF"/>
            </a:solidFill>
            <a:prstDash val="solid"/>
          </a:ln>
        </p:spPr>
      </p:sp>
      <p:sp>
        <p:nvSpPr>
          <p:cNvPr id="183" name="矩形 182"/>
          <p:cNvSpPr>
            <a:spLocks noGrp="1"/>
          </p:cNvSpPr>
          <p:nvPr/>
        </p:nvSpPr>
        <p:spPr>
          <a:xfrm>
            <a:off x="2819400" y="5808345"/>
            <a:ext cx="16002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复制康复中心、运营机器人、远程服务标准包</a:t>
            </a:r>
            <a:endParaRPr sz="770" b="0">
              <a:solidFill>
                <a:srgbClr val="403A38"/>
              </a:solidFill>
              <a:latin typeface="Noto Sans Hans"/>
              <a:ea typeface="Noto Sans Hans"/>
              <a:cs typeface="Noto Sans Hans"/>
            </a:endParaRPr>
          </a:p>
        </p:txBody>
      </p:sp>
      <p:sp>
        <p:nvSpPr>
          <p:cNvPr id="184" name="矩形 183"/>
          <p:cNvSpPr>
            <a:spLocks noGrp="1"/>
          </p:cNvSpPr>
          <p:nvPr/>
        </p:nvSpPr>
        <p:spPr>
          <a:xfrm>
            <a:off x="4438650" y="5798820"/>
            <a:ext cx="2171700" cy="340995"/>
          </a:xfrm>
          <a:prstGeom prst="rect">
            <a:avLst/>
          </a:prstGeom>
          <a:solidFill>
            <a:srgbClr val="F7F3F1"/>
          </a:solidFill>
          <a:ln w="9525">
            <a:solidFill>
              <a:srgbClr val="FFFFFF"/>
            </a:solidFill>
            <a:prstDash val="solid"/>
          </a:ln>
        </p:spPr>
      </p:sp>
      <p:sp>
        <p:nvSpPr>
          <p:cNvPr id="185" name="矩形 184"/>
          <p:cNvSpPr>
            <a:spLocks noGrp="1"/>
          </p:cNvSpPr>
          <p:nvPr/>
        </p:nvSpPr>
        <p:spPr>
          <a:xfrm>
            <a:off x="4457700" y="5808345"/>
            <a:ext cx="21336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联合投资/输出运营/设备租赁</a:t>
            </a:r>
            <a:endParaRPr sz="770" b="0">
              <a:solidFill>
                <a:srgbClr val="403A38"/>
              </a:solidFill>
              <a:latin typeface="Noto Sans Hans"/>
              <a:ea typeface="Noto Sans Hans"/>
              <a:cs typeface="Noto Sans Hans"/>
            </a:endParaRPr>
          </a:p>
        </p:txBody>
      </p:sp>
      <p:sp>
        <p:nvSpPr>
          <p:cNvPr id="186" name="矩形 185"/>
          <p:cNvSpPr>
            <a:spLocks noGrp="1"/>
          </p:cNvSpPr>
          <p:nvPr/>
        </p:nvSpPr>
        <p:spPr>
          <a:xfrm>
            <a:off x="6610350" y="5798820"/>
            <a:ext cx="1619250" cy="340995"/>
          </a:xfrm>
          <a:prstGeom prst="rect">
            <a:avLst/>
          </a:prstGeom>
          <a:solidFill>
            <a:srgbClr val="F7F3F1"/>
          </a:solidFill>
          <a:ln w="9525">
            <a:solidFill>
              <a:srgbClr val="FFFFFF"/>
            </a:solidFill>
            <a:prstDash val="solid"/>
          </a:ln>
        </p:spPr>
      </p:sp>
      <p:sp>
        <p:nvSpPr>
          <p:cNvPr id="187" name="矩形 186"/>
          <p:cNvSpPr>
            <a:spLocks noGrp="1"/>
          </p:cNvSpPr>
          <p:nvPr/>
        </p:nvSpPr>
        <p:spPr>
          <a:xfrm>
            <a:off x="6629400" y="5808345"/>
            <a:ext cx="158115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3—5年；区域服务收入</a:t>
            </a:r>
            <a:endParaRPr sz="770" b="0">
              <a:solidFill>
                <a:srgbClr val="403A38"/>
              </a:solidFill>
              <a:latin typeface="Noto Sans Hans"/>
              <a:ea typeface="Noto Sans Hans"/>
              <a:cs typeface="Noto Sans Hans"/>
            </a:endParaRPr>
          </a:p>
        </p:txBody>
      </p:sp>
      <p:sp>
        <p:nvSpPr>
          <p:cNvPr id="188" name="矩形 187"/>
          <p:cNvSpPr>
            <a:spLocks noGrp="1"/>
          </p:cNvSpPr>
          <p:nvPr/>
        </p:nvSpPr>
        <p:spPr>
          <a:xfrm>
            <a:off x="8229600" y="5798820"/>
            <a:ext cx="1714500" cy="340995"/>
          </a:xfrm>
          <a:prstGeom prst="rect">
            <a:avLst/>
          </a:prstGeom>
          <a:solidFill>
            <a:srgbClr val="F7F3F1"/>
          </a:solidFill>
          <a:ln w="9525">
            <a:solidFill>
              <a:srgbClr val="FFFFFF"/>
            </a:solidFill>
            <a:prstDash val="solid"/>
          </a:ln>
        </p:spPr>
      </p:sp>
      <p:sp>
        <p:nvSpPr>
          <p:cNvPr id="189" name="矩形 188"/>
          <p:cNvSpPr>
            <a:spLocks noGrp="1"/>
          </p:cNvSpPr>
          <p:nvPr/>
        </p:nvSpPr>
        <p:spPr>
          <a:xfrm>
            <a:off x="8248650" y="5808345"/>
            <a:ext cx="1676400" cy="321945"/>
          </a:xfrm>
          <a:prstGeom prst="rect">
            <a:avLst/>
          </a:prstGeom>
          <a:noFill/>
          <a:ln w="0">
            <a:noFill/>
            <a:prstDash val="solid"/>
          </a:ln>
        </p:spPr>
        <p:txBody>
          <a:bodyPr wrap="square" lIns="47625" tIns="19050" rIns="47625" bIns="19050" anchor="ctr">
            <a:normAutofit/>
          </a:bodyPr>
          <a:lstStyle/>
          <a:p>
            <a:pPr algn="l">
              <a:defRPr sz="670" b="0">
                <a:solidFill>
                  <a:srgbClr val="403A38"/>
                </a:solidFill>
                <a:latin typeface="Noto Sans Hans"/>
                <a:ea typeface="Noto Sans Hans"/>
                <a:cs typeface="Noto Sans Hans"/>
              </a:defRPr>
            </a:pPr>
            <a:r>
              <a:rPr sz="770" b="0">
                <a:solidFill>
                  <a:srgbClr val="403A38"/>
                </a:solidFill>
                <a:latin typeface="Noto Sans Hans"/>
                <a:ea typeface="Noto Sans Hans"/>
                <a:cs typeface="Noto Sans Hans"/>
              </a:rPr>
              <a:t>地方支付和运营能力</a:t>
            </a:r>
            <a:endParaRPr sz="770" b="0">
              <a:solidFill>
                <a:srgbClr val="403A38"/>
              </a:solidFill>
              <a:latin typeface="Noto Sans Hans"/>
              <a:ea typeface="Noto Sans Hans"/>
              <a:cs typeface="Noto Sans Hans"/>
            </a:endParaRPr>
          </a:p>
        </p:txBody>
      </p:sp>
      <p:sp>
        <p:nvSpPr>
          <p:cNvPr id="190" name="矩形 189"/>
          <p:cNvSpPr>
            <a:spLocks noGrp="1"/>
          </p:cNvSpPr>
          <p:nvPr/>
        </p:nvSpPr>
        <p:spPr>
          <a:xfrm>
            <a:off x="9944100" y="5798820"/>
            <a:ext cx="1790700" cy="340995"/>
          </a:xfrm>
          <a:prstGeom prst="rect">
            <a:avLst/>
          </a:prstGeom>
          <a:solidFill>
            <a:srgbClr val="F5EDDA"/>
          </a:solidFill>
          <a:ln w="9525">
            <a:solidFill>
              <a:srgbClr val="FFFFFF"/>
            </a:solidFill>
            <a:prstDash val="solid"/>
          </a:ln>
        </p:spPr>
      </p:sp>
      <p:sp>
        <p:nvSpPr>
          <p:cNvPr id="191" name="矩形 190"/>
          <p:cNvSpPr>
            <a:spLocks noGrp="1"/>
          </p:cNvSpPr>
          <p:nvPr/>
        </p:nvSpPr>
        <p:spPr>
          <a:xfrm>
            <a:off x="9963150" y="5808345"/>
            <a:ext cx="1752600" cy="321945"/>
          </a:xfrm>
          <a:prstGeom prst="rect">
            <a:avLst/>
          </a:prstGeom>
          <a:noFill/>
          <a:ln w="0">
            <a:noFill/>
            <a:prstDash val="solid"/>
          </a:ln>
        </p:spPr>
        <p:txBody>
          <a:bodyPr wrap="square" lIns="47625" tIns="19050" rIns="47625" bIns="19050" anchor="ctr">
            <a:normAutofit/>
          </a:bodyPr>
          <a:lstStyle/>
          <a:p>
            <a:pPr algn="ctr">
              <a:defRPr sz="670" b="1">
                <a:solidFill>
                  <a:srgbClr val="8F6900"/>
                </a:solidFill>
                <a:latin typeface="Noto Sans Hans"/>
                <a:ea typeface="Noto Sans Hans"/>
                <a:cs typeface="Noto Sans Hans"/>
              </a:defRPr>
            </a:pPr>
            <a:r>
              <a:rPr sz="770" b="1">
                <a:solidFill>
                  <a:srgbClr val="8F6900"/>
                </a:solidFill>
                <a:latin typeface="Noto Sans Hans"/>
                <a:ea typeface="Noto Sans Hans"/>
                <a:cs typeface="Noto Sans Hans"/>
              </a:rPr>
              <a:t>完成武汉验证后复制</a:t>
            </a:r>
            <a:endParaRPr sz="770" b="1">
              <a:solidFill>
                <a:srgbClr val="8F6900"/>
              </a:solidFill>
              <a:latin typeface="Noto Sans Hans"/>
              <a:ea typeface="Noto Sans Hans"/>
              <a:cs typeface="Noto Sans Hans"/>
            </a:endParaRPr>
          </a:p>
        </p:txBody>
      </p:sp>
      <p:sp>
        <p:nvSpPr>
          <p:cNvPr id="192" name="圆角矩形 191"/>
          <p:cNvSpPr>
            <a:spLocks noGrp="1"/>
          </p:cNvSpPr>
          <p:nvPr/>
        </p:nvSpPr>
        <p:spPr>
          <a:xfrm>
            <a:off x="457200" y="6172200"/>
            <a:ext cx="11277600" cy="295275"/>
          </a:xfrm>
          <a:prstGeom prst="roundRect">
            <a:avLst>
              <a:gd name="adj" fmla="val 6452"/>
            </a:avLst>
          </a:prstGeom>
          <a:solidFill>
            <a:srgbClr val="8E1118"/>
          </a:solidFill>
          <a:ln w="0">
            <a:noFill/>
            <a:prstDash val="solid"/>
          </a:ln>
        </p:spPr>
      </p:sp>
      <p:sp>
        <p:nvSpPr>
          <p:cNvPr id="193" name="矩形 192"/>
          <p:cNvSpPr>
            <a:spLocks noGrp="1"/>
          </p:cNvSpPr>
          <p:nvPr/>
        </p:nvSpPr>
        <p:spPr>
          <a:xfrm>
            <a:off x="552450" y="6210300"/>
            <a:ext cx="11087100" cy="219075"/>
          </a:xfrm>
          <a:prstGeom prst="rect">
            <a:avLst/>
          </a:prstGeom>
          <a:noFill/>
          <a:ln w="0">
            <a:noFill/>
            <a:prstDash val="solid"/>
          </a:ln>
        </p:spPr>
        <p:txBody>
          <a:bodyPr wrap="square" lIns="47625" tIns="19050" rIns="47625" bIns="19050" anchor="ctr">
            <a:normAutofit/>
          </a:bodyPr>
          <a:lstStyle/>
          <a:p>
            <a:pPr algn="ctr">
              <a:defRPr sz="830" b="1">
                <a:solidFill>
                  <a:srgbClr val="FFFFFF"/>
                </a:solidFill>
                <a:latin typeface="Noto Sans Hans"/>
                <a:ea typeface="Noto Sans Hans"/>
                <a:cs typeface="Noto Sans Hans"/>
              </a:defRPr>
            </a:pPr>
            <a:r>
              <a:rPr sz="930" b="1">
                <a:solidFill>
                  <a:srgbClr val="FFFFFF"/>
                </a:solidFill>
                <a:latin typeface="Noto Sans Hans"/>
                <a:ea typeface="Noto Sans Hans"/>
                <a:cs typeface="Noto Sans Hans"/>
              </a:rPr>
              <a:t>推进原则：场景项目看运营指标，企业项目看订单与估值，平台项目看公共性与利用率；所有情景金额均须重新测算并履行可研、采购和投资决策程序。</a:t>
            </a:r>
            <a:endParaRPr sz="930" b="1">
              <a:solidFill>
                <a:srgbClr val="FFFFFF"/>
              </a:solidFill>
              <a:latin typeface="Noto Sans Hans"/>
              <a:ea typeface="Noto Sans Hans"/>
              <a:cs typeface="Noto Sans Hans"/>
            </a:endParaRPr>
          </a:p>
        </p:txBody>
      </p:sp>
      <p:sp>
        <p:nvSpPr>
          <p:cNvPr id="194" name="矩形 193"/>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资料来源：养老机器人产业增强基础数据库；企业、国家试点、政府采购和地方落地项目公开资料。</a:t>
            </a:r>
            <a:endParaRPr sz="715" b="0">
              <a:solidFill>
                <a:srgbClr val="716B68"/>
              </a:solidFill>
              <a:latin typeface="Noto Sans Hans"/>
              <a:ea typeface="Noto Sans Hans"/>
              <a:cs typeface="Noto Sans Hans"/>
            </a:endParaRPr>
          </a:p>
        </p:txBody>
      </p:sp>
      <p:sp>
        <p:nvSpPr>
          <p:cNvPr id="195" name="矩形 194"/>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18</a:t>
            </a:r>
            <a:endParaRPr lang="en-US" sz="900" b="1">
              <a:solidFill>
                <a:srgbClr val="D00914"/>
              </a:solidFill>
              <a:latin typeface="Noto Sans Hans"/>
              <a:ea typeface="Noto Sans Hans"/>
              <a:cs typeface="Noto Sans H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lstStyle/>
          <a:p>
            <a:r>
              <a:rPr lang="en-US" sz="2000" b="1">
                <a:solidFill>
                  <a:srgbClr val="D00914"/>
                </a:solidFill>
                <a:latin typeface="Noto Sans Hans"/>
                <a:ea typeface="Noto Sans Hans"/>
                <a:cs typeface="Noto Sans Hans"/>
              </a:rPr>
              <a:t>2.5</a:t>
            </a:r>
            <a:r>
              <a:rPr sz="2000" b="1">
                <a:solidFill>
                  <a:srgbClr val="D00914"/>
                </a:solidFill>
                <a:latin typeface="Noto Sans Hans"/>
                <a:ea typeface="Noto Sans Hans"/>
                <a:cs typeface="Noto Sans Hans"/>
              </a:rPr>
              <a:t>【问题清单】</a:t>
            </a:r>
            <a:r>
              <a:rPr b="1">
                <a:solidFill>
                  <a:srgbClr val="403A38"/>
                </a:solidFill>
                <a:latin typeface="Noto Sans Hans"/>
                <a:ea typeface="Noto Sans Hans"/>
                <a:cs typeface="Noto Sans Hans"/>
              </a:rPr>
              <a:t>养老机器人产业的主要矛盾不在“有没有产品”，而在“能否安全使用、持续运营并形成付费”</a:t>
            </a:r>
            <a:endParaRPr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卡点影响项目判断，堵点影响落地效率，断点可能导致项目停摆或投资损失</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247775"/>
            <a:ext cx="742950" cy="323850"/>
          </a:xfrm>
          <a:prstGeom prst="rect">
            <a:avLst/>
          </a:prstGeom>
          <a:solidFill>
            <a:srgbClr val="164A7B"/>
          </a:solidFill>
          <a:ln w="9525">
            <a:solidFill>
              <a:srgbClr val="FFFFFF"/>
            </a:solidFill>
            <a:prstDash val="solid"/>
          </a:ln>
        </p:spPr>
      </p:sp>
      <p:sp>
        <p:nvSpPr>
          <p:cNvPr id="7" name="矩形 6"/>
          <p:cNvSpPr>
            <a:spLocks noGrp="1"/>
          </p:cNvSpPr>
          <p:nvPr/>
        </p:nvSpPr>
        <p:spPr>
          <a:xfrm>
            <a:off x="476250" y="1257300"/>
            <a:ext cx="704850" cy="304800"/>
          </a:xfrm>
          <a:prstGeom prst="rect">
            <a:avLst/>
          </a:prstGeom>
          <a:noFill/>
          <a:ln w="0">
            <a:noFill/>
            <a:prstDash val="solid"/>
          </a:ln>
        </p:spPr>
        <p:txBody>
          <a:bodyPr wrap="square" lIns="47625" tIns="19050" rIns="47625" bIns="19050" anchor="ctr">
            <a:normAutofit/>
          </a:bodyPr>
          <a:lstStyle/>
          <a:p>
            <a:pPr algn="ctr">
              <a:defRPr sz="855" b="1">
                <a:solidFill>
                  <a:srgbClr val="FFFFFF"/>
                </a:solidFill>
                <a:latin typeface="Noto Sans Hans"/>
                <a:ea typeface="Noto Sans Hans"/>
                <a:cs typeface="Noto Sans Hans"/>
              </a:defRPr>
            </a:pPr>
            <a:r>
              <a:rPr sz="960" b="1">
                <a:solidFill>
                  <a:srgbClr val="FFFFFF"/>
                </a:solidFill>
                <a:latin typeface="Noto Sans Hans"/>
                <a:ea typeface="Noto Sans Hans"/>
                <a:cs typeface="Noto Sans Hans"/>
              </a:rPr>
              <a:t>类型</a:t>
            </a:r>
            <a:endParaRPr sz="960" b="1">
              <a:solidFill>
                <a:srgbClr val="FFFFFF"/>
              </a:solidFill>
              <a:latin typeface="Noto Sans Hans"/>
              <a:ea typeface="Noto Sans Hans"/>
              <a:cs typeface="Noto Sans Hans"/>
            </a:endParaRPr>
          </a:p>
        </p:txBody>
      </p:sp>
      <p:sp>
        <p:nvSpPr>
          <p:cNvPr id="8" name="矩形 7"/>
          <p:cNvSpPr>
            <a:spLocks noGrp="1"/>
          </p:cNvSpPr>
          <p:nvPr/>
        </p:nvSpPr>
        <p:spPr>
          <a:xfrm>
            <a:off x="1200150" y="1247775"/>
            <a:ext cx="904875" cy="323850"/>
          </a:xfrm>
          <a:prstGeom prst="rect">
            <a:avLst/>
          </a:prstGeom>
          <a:solidFill>
            <a:srgbClr val="164A7B"/>
          </a:solidFill>
          <a:ln w="9525">
            <a:solidFill>
              <a:srgbClr val="FFFFFF"/>
            </a:solidFill>
            <a:prstDash val="solid"/>
          </a:ln>
        </p:spPr>
      </p:sp>
      <p:sp>
        <p:nvSpPr>
          <p:cNvPr id="9" name="矩形 8"/>
          <p:cNvSpPr>
            <a:spLocks noGrp="1"/>
          </p:cNvSpPr>
          <p:nvPr/>
        </p:nvSpPr>
        <p:spPr>
          <a:xfrm>
            <a:off x="1219200" y="1257300"/>
            <a:ext cx="866775" cy="304800"/>
          </a:xfrm>
          <a:prstGeom prst="rect">
            <a:avLst/>
          </a:prstGeom>
          <a:noFill/>
          <a:ln w="0">
            <a:noFill/>
            <a:prstDash val="solid"/>
          </a:ln>
        </p:spPr>
        <p:txBody>
          <a:bodyPr wrap="square" lIns="47625" tIns="19050" rIns="47625" bIns="19050" anchor="ctr">
            <a:normAutofit/>
          </a:bodyPr>
          <a:lstStyle/>
          <a:p>
            <a:pPr algn="ctr">
              <a:defRPr sz="855" b="1">
                <a:solidFill>
                  <a:srgbClr val="FFFFFF"/>
                </a:solidFill>
                <a:latin typeface="Noto Sans Hans"/>
                <a:ea typeface="Noto Sans Hans"/>
                <a:cs typeface="Noto Sans Hans"/>
              </a:defRPr>
            </a:pPr>
            <a:r>
              <a:rPr sz="960" b="1">
                <a:solidFill>
                  <a:srgbClr val="FFFFFF"/>
                </a:solidFill>
                <a:latin typeface="Noto Sans Hans"/>
                <a:ea typeface="Noto Sans Hans"/>
                <a:cs typeface="Noto Sans Hans"/>
              </a:rPr>
              <a:t>编号</a:t>
            </a:r>
            <a:endParaRPr sz="960" b="1">
              <a:solidFill>
                <a:srgbClr val="FFFFFF"/>
              </a:solidFill>
              <a:latin typeface="Noto Sans Hans"/>
              <a:ea typeface="Noto Sans Hans"/>
              <a:cs typeface="Noto Sans Hans"/>
            </a:endParaRPr>
          </a:p>
        </p:txBody>
      </p:sp>
      <p:sp>
        <p:nvSpPr>
          <p:cNvPr id="10" name="矩形 9"/>
          <p:cNvSpPr>
            <a:spLocks noGrp="1"/>
          </p:cNvSpPr>
          <p:nvPr/>
        </p:nvSpPr>
        <p:spPr>
          <a:xfrm>
            <a:off x="2105025" y="1247775"/>
            <a:ext cx="1314450" cy="323850"/>
          </a:xfrm>
          <a:prstGeom prst="rect">
            <a:avLst/>
          </a:prstGeom>
          <a:solidFill>
            <a:srgbClr val="164A7B"/>
          </a:solidFill>
          <a:ln w="9525">
            <a:solidFill>
              <a:srgbClr val="FFFFFF"/>
            </a:solidFill>
            <a:prstDash val="solid"/>
          </a:ln>
        </p:spPr>
      </p:sp>
      <p:sp>
        <p:nvSpPr>
          <p:cNvPr id="11" name="矩形 10"/>
          <p:cNvSpPr>
            <a:spLocks noGrp="1"/>
          </p:cNvSpPr>
          <p:nvPr/>
        </p:nvSpPr>
        <p:spPr>
          <a:xfrm>
            <a:off x="2124075" y="1257300"/>
            <a:ext cx="1276350" cy="304800"/>
          </a:xfrm>
          <a:prstGeom prst="rect">
            <a:avLst/>
          </a:prstGeom>
          <a:noFill/>
          <a:ln w="0">
            <a:noFill/>
            <a:prstDash val="solid"/>
          </a:ln>
        </p:spPr>
        <p:txBody>
          <a:bodyPr wrap="square" lIns="47625" tIns="19050" rIns="47625" bIns="19050" anchor="ctr">
            <a:normAutofit/>
          </a:bodyPr>
          <a:lstStyle/>
          <a:p>
            <a:pPr algn="ctr">
              <a:defRPr sz="855" b="1">
                <a:solidFill>
                  <a:srgbClr val="FFFFFF"/>
                </a:solidFill>
                <a:latin typeface="Noto Sans Hans"/>
                <a:ea typeface="Noto Sans Hans"/>
                <a:cs typeface="Noto Sans Hans"/>
              </a:defRPr>
            </a:pPr>
            <a:r>
              <a:rPr sz="960" b="1">
                <a:solidFill>
                  <a:srgbClr val="FFFFFF"/>
                </a:solidFill>
                <a:latin typeface="Noto Sans Hans"/>
                <a:ea typeface="Noto Sans Hans"/>
                <a:cs typeface="Noto Sans Hans"/>
              </a:rPr>
              <a:t>具体环节</a:t>
            </a:r>
            <a:endParaRPr sz="960" b="1">
              <a:solidFill>
                <a:srgbClr val="FFFFFF"/>
              </a:solidFill>
              <a:latin typeface="Noto Sans Hans"/>
              <a:ea typeface="Noto Sans Hans"/>
              <a:cs typeface="Noto Sans Hans"/>
            </a:endParaRPr>
          </a:p>
        </p:txBody>
      </p:sp>
      <p:sp>
        <p:nvSpPr>
          <p:cNvPr id="12" name="矩形 11"/>
          <p:cNvSpPr>
            <a:spLocks noGrp="1"/>
          </p:cNvSpPr>
          <p:nvPr/>
        </p:nvSpPr>
        <p:spPr>
          <a:xfrm>
            <a:off x="3419475" y="1247775"/>
            <a:ext cx="3190875" cy="323850"/>
          </a:xfrm>
          <a:prstGeom prst="rect">
            <a:avLst/>
          </a:prstGeom>
          <a:solidFill>
            <a:srgbClr val="164A7B"/>
          </a:solidFill>
          <a:ln w="9525">
            <a:solidFill>
              <a:srgbClr val="FFFFFF"/>
            </a:solidFill>
            <a:prstDash val="solid"/>
          </a:ln>
        </p:spPr>
      </p:sp>
      <p:sp>
        <p:nvSpPr>
          <p:cNvPr id="13" name="矩形 12"/>
          <p:cNvSpPr>
            <a:spLocks noGrp="1"/>
          </p:cNvSpPr>
          <p:nvPr/>
        </p:nvSpPr>
        <p:spPr>
          <a:xfrm>
            <a:off x="3438525" y="1257300"/>
            <a:ext cx="3152775" cy="304800"/>
          </a:xfrm>
          <a:prstGeom prst="rect">
            <a:avLst/>
          </a:prstGeom>
          <a:noFill/>
          <a:ln w="0">
            <a:noFill/>
            <a:prstDash val="solid"/>
          </a:ln>
        </p:spPr>
        <p:txBody>
          <a:bodyPr wrap="square" lIns="47625" tIns="19050" rIns="47625" bIns="19050" anchor="ctr">
            <a:normAutofit/>
          </a:bodyPr>
          <a:lstStyle/>
          <a:p>
            <a:pPr algn="ctr">
              <a:defRPr sz="855" b="1">
                <a:solidFill>
                  <a:srgbClr val="FFFFFF"/>
                </a:solidFill>
                <a:latin typeface="Noto Sans Hans"/>
                <a:ea typeface="Noto Sans Hans"/>
                <a:cs typeface="Noto Sans Hans"/>
              </a:defRPr>
            </a:pPr>
            <a:r>
              <a:rPr sz="960" b="1">
                <a:solidFill>
                  <a:srgbClr val="FFFFFF"/>
                </a:solidFill>
                <a:latin typeface="Noto Sans Hans"/>
                <a:ea typeface="Noto Sans Hans"/>
                <a:cs typeface="Noto Sans Hans"/>
              </a:rPr>
              <a:t>问题描述</a:t>
            </a:r>
            <a:endParaRPr sz="960" b="1">
              <a:solidFill>
                <a:srgbClr val="FFFFFF"/>
              </a:solidFill>
              <a:latin typeface="Noto Sans Hans"/>
              <a:ea typeface="Noto Sans Hans"/>
              <a:cs typeface="Noto Sans Hans"/>
            </a:endParaRPr>
          </a:p>
        </p:txBody>
      </p:sp>
      <p:sp>
        <p:nvSpPr>
          <p:cNvPr id="14" name="矩形 13"/>
          <p:cNvSpPr>
            <a:spLocks noGrp="1"/>
          </p:cNvSpPr>
          <p:nvPr/>
        </p:nvSpPr>
        <p:spPr>
          <a:xfrm>
            <a:off x="6610350" y="1247775"/>
            <a:ext cx="2762250" cy="323850"/>
          </a:xfrm>
          <a:prstGeom prst="rect">
            <a:avLst/>
          </a:prstGeom>
          <a:solidFill>
            <a:srgbClr val="164A7B"/>
          </a:solidFill>
          <a:ln w="9525">
            <a:solidFill>
              <a:srgbClr val="FFFFFF"/>
            </a:solidFill>
            <a:prstDash val="solid"/>
          </a:ln>
        </p:spPr>
      </p:sp>
      <p:sp>
        <p:nvSpPr>
          <p:cNvPr id="15" name="矩形 14"/>
          <p:cNvSpPr>
            <a:spLocks noGrp="1"/>
          </p:cNvSpPr>
          <p:nvPr/>
        </p:nvSpPr>
        <p:spPr>
          <a:xfrm>
            <a:off x="6629400" y="1257300"/>
            <a:ext cx="2724150" cy="304800"/>
          </a:xfrm>
          <a:prstGeom prst="rect">
            <a:avLst/>
          </a:prstGeom>
          <a:noFill/>
          <a:ln w="0">
            <a:noFill/>
            <a:prstDash val="solid"/>
          </a:ln>
        </p:spPr>
        <p:txBody>
          <a:bodyPr wrap="square" lIns="47625" tIns="19050" rIns="47625" bIns="19050" anchor="ctr">
            <a:normAutofit/>
          </a:bodyPr>
          <a:lstStyle/>
          <a:p>
            <a:pPr algn="ctr">
              <a:defRPr sz="855" b="1">
                <a:solidFill>
                  <a:srgbClr val="FFFFFF"/>
                </a:solidFill>
                <a:latin typeface="Noto Sans Hans"/>
                <a:ea typeface="Noto Sans Hans"/>
                <a:cs typeface="Noto Sans Hans"/>
              </a:defRPr>
            </a:pPr>
            <a:r>
              <a:rPr sz="960" b="1">
                <a:solidFill>
                  <a:srgbClr val="FFFFFF"/>
                </a:solidFill>
                <a:latin typeface="Noto Sans Hans"/>
                <a:ea typeface="Noto Sans Hans"/>
                <a:cs typeface="Noto Sans Hans"/>
              </a:rPr>
              <a:t>存在风险</a:t>
            </a:r>
            <a:endParaRPr sz="960" b="1">
              <a:solidFill>
                <a:srgbClr val="FFFFFF"/>
              </a:solidFill>
              <a:latin typeface="Noto Sans Hans"/>
              <a:ea typeface="Noto Sans Hans"/>
              <a:cs typeface="Noto Sans Hans"/>
            </a:endParaRPr>
          </a:p>
        </p:txBody>
      </p:sp>
      <p:sp>
        <p:nvSpPr>
          <p:cNvPr id="16" name="矩形 15"/>
          <p:cNvSpPr>
            <a:spLocks noGrp="1"/>
          </p:cNvSpPr>
          <p:nvPr/>
        </p:nvSpPr>
        <p:spPr>
          <a:xfrm>
            <a:off x="9372600" y="1247775"/>
            <a:ext cx="2362200" cy="323850"/>
          </a:xfrm>
          <a:prstGeom prst="rect">
            <a:avLst/>
          </a:prstGeom>
          <a:solidFill>
            <a:srgbClr val="164A7B"/>
          </a:solidFill>
          <a:ln w="9525">
            <a:solidFill>
              <a:srgbClr val="FFFFFF"/>
            </a:solidFill>
            <a:prstDash val="solid"/>
          </a:ln>
        </p:spPr>
      </p:sp>
      <p:sp>
        <p:nvSpPr>
          <p:cNvPr id="17" name="矩形 16"/>
          <p:cNvSpPr>
            <a:spLocks noGrp="1"/>
          </p:cNvSpPr>
          <p:nvPr/>
        </p:nvSpPr>
        <p:spPr>
          <a:xfrm>
            <a:off x="9391650" y="1257300"/>
            <a:ext cx="2324100" cy="304800"/>
          </a:xfrm>
          <a:prstGeom prst="rect">
            <a:avLst/>
          </a:prstGeom>
          <a:noFill/>
          <a:ln w="0">
            <a:noFill/>
            <a:prstDash val="solid"/>
          </a:ln>
        </p:spPr>
        <p:txBody>
          <a:bodyPr wrap="square" lIns="47625" tIns="19050" rIns="47625" bIns="19050" anchor="ctr">
            <a:normAutofit/>
          </a:bodyPr>
          <a:lstStyle/>
          <a:p>
            <a:pPr algn="ctr">
              <a:defRPr sz="855" b="1">
                <a:solidFill>
                  <a:srgbClr val="FFFFFF"/>
                </a:solidFill>
                <a:latin typeface="Noto Sans Hans"/>
                <a:ea typeface="Noto Sans Hans"/>
                <a:cs typeface="Noto Sans Hans"/>
              </a:defRPr>
            </a:pPr>
            <a:r>
              <a:rPr sz="960" b="1">
                <a:solidFill>
                  <a:srgbClr val="FFFFFF"/>
                </a:solidFill>
                <a:latin typeface="Noto Sans Hans"/>
                <a:ea typeface="Noto Sans Hans"/>
                <a:cs typeface="Noto Sans Hans"/>
              </a:rPr>
              <a:t>对产业链/项目影响</a:t>
            </a:r>
            <a:endParaRPr sz="960" b="1">
              <a:solidFill>
                <a:srgbClr val="FFFFFF"/>
              </a:solidFill>
              <a:latin typeface="Noto Sans Hans"/>
              <a:ea typeface="Noto Sans Hans"/>
              <a:cs typeface="Noto Sans Hans"/>
            </a:endParaRPr>
          </a:p>
        </p:txBody>
      </p:sp>
      <p:sp>
        <p:nvSpPr>
          <p:cNvPr id="18" name="矩形 17"/>
          <p:cNvSpPr>
            <a:spLocks noGrp="1"/>
          </p:cNvSpPr>
          <p:nvPr/>
        </p:nvSpPr>
        <p:spPr>
          <a:xfrm>
            <a:off x="457200" y="1571625"/>
            <a:ext cx="742950" cy="381953"/>
          </a:xfrm>
          <a:prstGeom prst="rect">
            <a:avLst/>
          </a:prstGeom>
          <a:solidFill>
            <a:srgbClr val="164A7B"/>
          </a:solidFill>
          <a:ln w="9525">
            <a:solidFill>
              <a:srgbClr val="FFFFFF"/>
            </a:solidFill>
            <a:prstDash val="solid"/>
          </a:ln>
        </p:spPr>
      </p:sp>
      <p:sp>
        <p:nvSpPr>
          <p:cNvPr id="19" name="矩形 18"/>
          <p:cNvSpPr>
            <a:spLocks noGrp="1"/>
          </p:cNvSpPr>
          <p:nvPr/>
        </p:nvSpPr>
        <p:spPr>
          <a:xfrm>
            <a:off x="476250" y="1581150"/>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卡点</a:t>
            </a:r>
            <a:endParaRPr sz="890" b="1">
              <a:solidFill>
                <a:srgbClr val="FFFFFF"/>
              </a:solidFill>
              <a:latin typeface="Noto Sans Hans"/>
              <a:ea typeface="Noto Sans Hans"/>
              <a:cs typeface="Noto Sans Hans"/>
            </a:endParaRPr>
          </a:p>
        </p:txBody>
      </p:sp>
      <p:sp>
        <p:nvSpPr>
          <p:cNvPr id="20" name="矩形 19"/>
          <p:cNvSpPr>
            <a:spLocks noGrp="1"/>
          </p:cNvSpPr>
          <p:nvPr/>
        </p:nvSpPr>
        <p:spPr>
          <a:xfrm>
            <a:off x="1200150" y="1571625"/>
            <a:ext cx="904875" cy="381953"/>
          </a:xfrm>
          <a:prstGeom prst="rect">
            <a:avLst/>
          </a:prstGeom>
          <a:solidFill>
            <a:srgbClr val="F8E5E4"/>
          </a:solidFill>
          <a:ln w="9525">
            <a:solidFill>
              <a:srgbClr val="FFFFFF"/>
            </a:solidFill>
            <a:prstDash val="solid"/>
          </a:ln>
        </p:spPr>
      </p:sp>
      <p:sp>
        <p:nvSpPr>
          <p:cNvPr id="21" name="矩形 20"/>
          <p:cNvSpPr>
            <a:spLocks noGrp="1"/>
          </p:cNvSpPr>
          <p:nvPr/>
        </p:nvSpPr>
        <p:spPr>
          <a:xfrm>
            <a:off x="1219200" y="1581150"/>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卡-1</a:t>
            </a:r>
            <a:endParaRPr sz="890" b="1">
              <a:solidFill>
                <a:srgbClr val="403A38"/>
              </a:solidFill>
              <a:latin typeface="Noto Sans Hans"/>
              <a:ea typeface="Noto Sans Hans"/>
              <a:cs typeface="Noto Sans Hans"/>
            </a:endParaRPr>
          </a:p>
        </p:txBody>
      </p:sp>
      <p:sp>
        <p:nvSpPr>
          <p:cNvPr id="22" name="矩形 21"/>
          <p:cNvSpPr>
            <a:spLocks noGrp="1"/>
          </p:cNvSpPr>
          <p:nvPr/>
        </p:nvSpPr>
        <p:spPr>
          <a:xfrm>
            <a:off x="2105025" y="1571625"/>
            <a:ext cx="1314450" cy="381953"/>
          </a:xfrm>
          <a:prstGeom prst="rect">
            <a:avLst/>
          </a:prstGeom>
          <a:solidFill>
            <a:srgbClr val="F8E5E4"/>
          </a:solidFill>
          <a:ln w="9525">
            <a:solidFill>
              <a:srgbClr val="FFFFFF"/>
            </a:solidFill>
            <a:prstDash val="solid"/>
          </a:ln>
        </p:spPr>
      </p:sp>
      <p:sp>
        <p:nvSpPr>
          <p:cNvPr id="23" name="矩形 22"/>
          <p:cNvSpPr>
            <a:spLocks noGrp="1"/>
          </p:cNvSpPr>
          <p:nvPr/>
        </p:nvSpPr>
        <p:spPr>
          <a:xfrm>
            <a:off x="2124075" y="1581150"/>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需求—产品匹配</a:t>
            </a:r>
            <a:endParaRPr sz="820" b="0">
              <a:solidFill>
                <a:srgbClr val="403A38"/>
              </a:solidFill>
              <a:latin typeface="Noto Sans Hans"/>
              <a:ea typeface="Noto Sans Hans"/>
              <a:cs typeface="Noto Sans Hans"/>
            </a:endParaRPr>
          </a:p>
        </p:txBody>
      </p:sp>
      <p:sp>
        <p:nvSpPr>
          <p:cNvPr id="24" name="矩形 23"/>
          <p:cNvSpPr>
            <a:spLocks noGrp="1"/>
          </p:cNvSpPr>
          <p:nvPr/>
        </p:nvSpPr>
        <p:spPr>
          <a:xfrm>
            <a:off x="3419475" y="1571625"/>
            <a:ext cx="3190875" cy="381953"/>
          </a:xfrm>
          <a:prstGeom prst="rect">
            <a:avLst/>
          </a:prstGeom>
          <a:solidFill>
            <a:srgbClr val="F8E5E4"/>
          </a:solidFill>
          <a:ln w="9525">
            <a:solidFill>
              <a:srgbClr val="FFFFFF"/>
            </a:solidFill>
            <a:prstDash val="solid"/>
          </a:ln>
        </p:spPr>
      </p:sp>
      <p:sp>
        <p:nvSpPr>
          <p:cNvPr id="25" name="矩形 24"/>
          <p:cNvSpPr>
            <a:spLocks noGrp="1"/>
          </p:cNvSpPr>
          <p:nvPr/>
        </p:nvSpPr>
        <p:spPr>
          <a:xfrm>
            <a:off x="3438525" y="1581150"/>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将展示型或通用机器人直接定义为养老产品，忽略失能程度与护理流程</a:t>
            </a:r>
            <a:endParaRPr sz="820" b="0">
              <a:solidFill>
                <a:srgbClr val="403A38"/>
              </a:solidFill>
              <a:latin typeface="Noto Sans Hans"/>
              <a:ea typeface="Noto Sans Hans"/>
              <a:cs typeface="Noto Sans Hans"/>
            </a:endParaRPr>
          </a:p>
        </p:txBody>
      </p:sp>
      <p:sp>
        <p:nvSpPr>
          <p:cNvPr id="26" name="矩形 25"/>
          <p:cNvSpPr>
            <a:spLocks noGrp="1"/>
          </p:cNvSpPr>
          <p:nvPr/>
        </p:nvSpPr>
        <p:spPr>
          <a:xfrm>
            <a:off x="6610350" y="1571625"/>
            <a:ext cx="2762250" cy="381953"/>
          </a:xfrm>
          <a:prstGeom prst="rect">
            <a:avLst/>
          </a:prstGeom>
          <a:solidFill>
            <a:srgbClr val="F8E5E4"/>
          </a:solidFill>
          <a:ln w="9525">
            <a:solidFill>
              <a:srgbClr val="FFFFFF"/>
            </a:solidFill>
            <a:prstDash val="solid"/>
          </a:ln>
        </p:spPr>
      </p:sp>
      <p:sp>
        <p:nvSpPr>
          <p:cNvPr id="27" name="矩形 26"/>
          <p:cNvSpPr>
            <a:spLocks noGrp="1"/>
          </p:cNvSpPr>
          <p:nvPr/>
        </p:nvSpPr>
        <p:spPr>
          <a:xfrm>
            <a:off x="6629400" y="1581150"/>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试点利用率、复购率偏低</a:t>
            </a:r>
            <a:endParaRPr sz="820" b="1">
              <a:solidFill>
                <a:srgbClr val="D00914"/>
              </a:solidFill>
              <a:latin typeface="Noto Sans Hans"/>
              <a:ea typeface="Noto Sans Hans"/>
              <a:cs typeface="Noto Sans Hans"/>
            </a:endParaRPr>
          </a:p>
        </p:txBody>
      </p:sp>
      <p:sp>
        <p:nvSpPr>
          <p:cNvPr id="28" name="矩形 27"/>
          <p:cNvSpPr>
            <a:spLocks noGrp="1"/>
          </p:cNvSpPr>
          <p:nvPr/>
        </p:nvSpPr>
        <p:spPr>
          <a:xfrm>
            <a:off x="9372600" y="1571625"/>
            <a:ext cx="2362200" cy="381953"/>
          </a:xfrm>
          <a:prstGeom prst="rect">
            <a:avLst/>
          </a:prstGeom>
          <a:solidFill>
            <a:srgbClr val="F8E5E4"/>
          </a:solidFill>
          <a:ln w="9525">
            <a:solidFill>
              <a:srgbClr val="FFFFFF"/>
            </a:solidFill>
            <a:prstDash val="solid"/>
          </a:ln>
        </p:spPr>
      </p:sp>
      <p:sp>
        <p:nvSpPr>
          <p:cNvPr id="29" name="矩形 28"/>
          <p:cNvSpPr>
            <a:spLocks noGrp="1"/>
          </p:cNvSpPr>
          <p:nvPr/>
        </p:nvSpPr>
        <p:spPr>
          <a:xfrm>
            <a:off x="9391650" y="1581150"/>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产品开发和采购方向失真</a:t>
            </a:r>
            <a:endParaRPr sz="820" b="0">
              <a:solidFill>
                <a:srgbClr val="403A38"/>
              </a:solidFill>
              <a:latin typeface="Noto Sans Hans"/>
              <a:ea typeface="Noto Sans Hans"/>
              <a:cs typeface="Noto Sans Hans"/>
            </a:endParaRPr>
          </a:p>
        </p:txBody>
      </p:sp>
      <p:sp>
        <p:nvSpPr>
          <p:cNvPr id="30" name="矩形 29"/>
          <p:cNvSpPr>
            <a:spLocks noGrp="1"/>
          </p:cNvSpPr>
          <p:nvPr/>
        </p:nvSpPr>
        <p:spPr>
          <a:xfrm>
            <a:off x="457200" y="1953578"/>
            <a:ext cx="742950" cy="381953"/>
          </a:xfrm>
          <a:prstGeom prst="rect">
            <a:avLst/>
          </a:prstGeom>
          <a:solidFill>
            <a:srgbClr val="164A7B"/>
          </a:solidFill>
          <a:ln w="9525">
            <a:solidFill>
              <a:srgbClr val="FFFFFF"/>
            </a:solidFill>
            <a:prstDash val="solid"/>
          </a:ln>
        </p:spPr>
      </p:sp>
      <p:sp>
        <p:nvSpPr>
          <p:cNvPr id="31" name="矩形 30"/>
          <p:cNvSpPr>
            <a:spLocks noGrp="1"/>
          </p:cNvSpPr>
          <p:nvPr/>
        </p:nvSpPr>
        <p:spPr>
          <a:xfrm>
            <a:off x="476250" y="1963103"/>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卡点</a:t>
            </a:r>
            <a:endParaRPr sz="890" b="1">
              <a:solidFill>
                <a:srgbClr val="FFFFFF"/>
              </a:solidFill>
              <a:latin typeface="Noto Sans Hans"/>
              <a:ea typeface="Noto Sans Hans"/>
              <a:cs typeface="Noto Sans Hans"/>
            </a:endParaRPr>
          </a:p>
        </p:txBody>
      </p:sp>
      <p:sp>
        <p:nvSpPr>
          <p:cNvPr id="32" name="矩形 31"/>
          <p:cNvSpPr>
            <a:spLocks noGrp="1"/>
          </p:cNvSpPr>
          <p:nvPr/>
        </p:nvSpPr>
        <p:spPr>
          <a:xfrm>
            <a:off x="1200150" y="1953578"/>
            <a:ext cx="904875" cy="381953"/>
          </a:xfrm>
          <a:prstGeom prst="rect">
            <a:avLst/>
          </a:prstGeom>
          <a:solidFill>
            <a:srgbClr val="F7F3F1"/>
          </a:solidFill>
          <a:ln w="9525">
            <a:solidFill>
              <a:srgbClr val="FFFFFF"/>
            </a:solidFill>
            <a:prstDash val="solid"/>
          </a:ln>
        </p:spPr>
      </p:sp>
      <p:sp>
        <p:nvSpPr>
          <p:cNvPr id="33" name="矩形 32"/>
          <p:cNvSpPr>
            <a:spLocks noGrp="1"/>
          </p:cNvSpPr>
          <p:nvPr/>
        </p:nvSpPr>
        <p:spPr>
          <a:xfrm>
            <a:off x="1219200" y="1963103"/>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卡-2</a:t>
            </a:r>
            <a:endParaRPr sz="890" b="1">
              <a:solidFill>
                <a:srgbClr val="403A38"/>
              </a:solidFill>
              <a:latin typeface="Noto Sans Hans"/>
              <a:ea typeface="Noto Sans Hans"/>
              <a:cs typeface="Noto Sans Hans"/>
            </a:endParaRPr>
          </a:p>
        </p:txBody>
      </p:sp>
      <p:sp>
        <p:nvSpPr>
          <p:cNvPr id="34" name="矩形 33"/>
          <p:cNvSpPr>
            <a:spLocks noGrp="1"/>
          </p:cNvSpPr>
          <p:nvPr/>
        </p:nvSpPr>
        <p:spPr>
          <a:xfrm>
            <a:off x="2105025" y="1953578"/>
            <a:ext cx="1314450" cy="381953"/>
          </a:xfrm>
          <a:prstGeom prst="rect">
            <a:avLst/>
          </a:prstGeom>
          <a:solidFill>
            <a:srgbClr val="F7F3F1"/>
          </a:solidFill>
          <a:ln w="9525">
            <a:solidFill>
              <a:srgbClr val="FFFFFF"/>
            </a:solidFill>
            <a:prstDash val="solid"/>
          </a:ln>
        </p:spPr>
      </p:sp>
      <p:sp>
        <p:nvSpPr>
          <p:cNvPr id="35" name="矩形 34"/>
          <p:cNvSpPr>
            <a:spLocks noGrp="1"/>
          </p:cNvSpPr>
          <p:nvPr/>
        </p:nvSpPr>
        <p:spPr>
          <a:xfrm>
            <a:off x="2124075" y="1963103"/>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商业证据</a:t>
            </a:r>
            <a:endParaRPr sz="820" b="0">
              <a:solidFill>
                <a:srgbClr val="403A38"/>
              </a:solidFill>
              <a:latin typeface="Noto Sans Hans"/>
              <a:ea typeface="Noto Sans Hans"/>
              <a:cs typeface="Noto Sans Hans"/>
            </a:endParaRPr>
          </a:p>
        </p:txBody>
      </p:sp>
      <p:sp>
        <p:nvSpPr>
          <p:cNvPr id="36" name="矩形 35"/>
          <p:cNvSpPr>
            <a:spLocks noGrp="1"/>
          </p:cNvSpPr>
          <p:nvPr/>
        </p:nvSpPr>
        <p:spPr>
          <a:xfrm>
            <a:off x="3419475" y="1953578"/>
            <a:ext cx="3190875" cy="381953"/>
          </a:xfrm>
          <a:prstGeom prst="rect">
            <a:avLst/>
          </a:prstGeom>
          <a:solidFill>
            <a:srgbClr val="F7F3F1"/>
          </a:solidFill>
          <a:ln w="9525">
            <a:solidFill>
              <a:srgbClr val="FFFFFF"/>
            </a:solidFill>
            <a:prstDash val="solid"/>
          </a:ln>
        </p:spPr>
      </p:sp>
      <p:sp>
        <p:nvSpPr>
          <p:cNvPr id="37" name="矩形 36"/>
          <p:cNvSpPr>
            <a:spLocks noGrp="1"/>
          </p:cNvSpPr>
          <p:nvPr/>
        </p:nvSpPr>
        <p:spPr>
          <a:xfrm>
            <a:off x="3438525" y="1963103"/>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将试点、目录、获奖和样机等同于销售与商业化</a:t>
            </a:r>
            <a:endParaRPr sz="820" b="0">
              <a:solidFill>
                <a:srgbClr val="403A38"/>
              </a:solidFill>
              <a:latin typeface="Noto Sans Hans"/>
              <a:ea typeface="Noto Sans Hans"/>
              <a:cs typeface="Noto Sans Hans"/>
            </a:endParaRPr>
          </a:p>
        </p:txBody>
      </p:sp>
      <p:sp>
        <p:nvSpPr>
          <p:cNvPr id="38" name="矩形 37"/>
          <p:cNvSpPr>
            <a:spLocks noGrp="1"/>
          </p:cNvSpPr>
          <p:nvPr/>
        </p:nvSpPr>
        <p:spPr>
          <a:xfrm>
            <a:off x="6610350" y="1953578"/>
            <a:ext cx="2762250" cy="381953"/>
          </a:xfrm>
          <a:prstGeom prst="rect">
            <a:avLst/>
          </a:prstGeom>
          <a:solidFill>
            <a:srgbClr val="F7F3F1"/>
          </a:solidFill>
          <a:ln w="9525">
            <a:solidFill>
              <a:srgbClr val="FFFFFF"/>
            </a:solidFill>
            <a:prstDash val="solid"/>
          </a:ln>
        </p:spPr>
      </p:sp>
      <p:sp>
        <p:nvSpPr>
          <p:cNvPr id="39" name="矩形 38"/>
          <p:cNvSpPr>
            <a:spLocks noGrp="1"/>
          </p:cNvSpPr>
          <p:nvPr/>
        </p:nvSpPr>
        <p:spPr>
          <a:xfrm>
            <a:off x="6629400" y="1963103"/>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高估收入、市场份额和企业价值</a:t>
            </a:r>
            <a:endParaRPr sz="820" b="1">
              <a:solidFill>
                <a:srgbClr val="D00914"/>
              </a:solidFill>
              <a:latin typeface="Noto Sans Hans"/>
              <a:ea typeface="Noto Sans Hans"/>
              <a:cs typeface="Noto Sans Hans"/>
            </a:endParaRPr>
          </a:p>
        </p:txBody>
      </p:sp>
      <p:sp>
        <p:nvSpPr>
          <p:cNvPr id="40" name="矩形 39"/>
          <p:cNvSpPr>
            <a:spLocks noGrp="1"/>
          </p:cNvSpPr>
          <p:nvPr/>
        </p:nvSpPr>
        <p:spPr>
          <a:xfrm>
            <a:off x="9372600" y="1953578"/>
            <a:ext cx="2362200" cy="381953"/>
          </a:xfrm>
          <a:prstGeom prst="rect">
            <a:avLst/>
          </a:prstGeom>
          <a:solidFill>
            <a:srgbClr val="F7F3F1"/>
          </a:solidFill>
          <a:ln w="9525">
            <a:solidFill>
              <a:srgbClr val="FFFFFF"/>
            </a:solidFill>
            <a:prstDash val="solid"/>
          </a:ln>
        </p:spPr>
      </p:sp>
      <p:sp>
        <p:nvSpPr>
          <p:cNvPr id="41" name="矩形 40"/>
          <p:cNvSpPr>
            <a:spLocks noGrp="1"/>
          </p:cNvSpPr>
          <p:nvPr/>
        </p:nvSpPr>
        <p:spPr>
          <a:xfrm>
            <a:off x="9391650" y="1963103"/>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投资筛选与估值出现系统性偏差</a:t>
            </a:r>
            <a:endParaRPr sz="820" b="0">
              <a:solidFill>
                <a:srgbClr val="403A38"/>
              </a:solidFill>
              <a:latin typeface="Noto Sans Hans"/>
              <a:ea typeface="Noto Sans Hans"/>
              <a:cs typeface="Noto Sans Hans"/>
            </a:endParaRPr>
          </a:p>
        </p:txBody>
      </p:sp>
      <p:sp>
        <p:nvSpPr>
          <p:cNvPr id="42" name="矩形 41"/>
          <p:cNvSpPr>
            <a:spLocks noGrp="1"/>
          </p:cNvSpPr>
          <p:nvPr/>
        </p:nvSpPr>
        <p:spPr>
          <a:xfrm>
            <a:off x="457200" y="2335530"/>
            <a:ext cx="742950" cy="381953"/>
          </a:xfrm>
          <a:prstGeom prst="rect">
            <a:avLst/>
          </a:prstGeom>
          <a:solidFill>
            <a:srgbClr val="164A7B"/>
          </a:solidFill>
          <a:ln w="9525">
            <a:solidFill>
              <a:srgbClr val="FFFFFF"/>
            </a:solidFill>
            <a:prstDash val="solid"/>
          </a:ln>
        </p:spPr>
      </p:sp>
      <p:sp>
        <p:nvSpPr>
          <p:cNvPr id="43" name="矩形 42"/>
          <p:cNvSpPr>
            <a:spLocks noGrp="1"/>
          </p:cNvSpPr>
          <p:nvPr/>
        </p:nvSpPr>
        <p:spPr>
          <a:xfrm>
            <a:off x="476250" y="2345055"/>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卡点</a:t>
            </a:r>
            <a:endParaRPr sz="890" b="1">
              <a:solidFill>
                <a:srgbClr val="FFFFFF"/>
              </a:solidFill>
              <a:latin typeface="Noto Sans Hans"/>
              <a:ea typeface="Noto Sans Hans"/>
              <a:cs typeface="Noto Sans Hans"/>
            </a:endParaRPr>
          </a:p>
        </p:txBody>
      </p:sp>
      <p:sp>
        <p:nvSpPr>
          <p:cNvPr id="44" name="矩形 43"/>
          <p:cNvSpPr>
            <a:spLocks noGrp="1"/>
          </p:cNvSpPr>
          <p:nvPr/>
        </p:nvSpPr>
        <p:spPr>
          <a:xfrm>
            <a:off x="1200150" y="2335530"/>
            <a:ext cx="904875" cy="381953"/>
          </a:xfrm>
          <a:prstGeom prst="rect">
            <a:avLst/>
          </a:prstGeom>
          <a:solidFill>
            <a:srgbClr val="F8E5E4"/>
          </a:solidFill>
          <a:ln w="9525">
            <a:solidFill>
              <a:srgbClr val="FFFFFF"/>
            </a:solidFill>
            <a:prstDash val="solid"/>
          </a:ln>
        </p:spPr>
      </p:sp>
      <p:sp>
        <p:nvSpPr>
          <p:cNvPr id="45" name="矩形 44"/>
          <p:cNvSpPr>
            <a:spLocks noGrp="1"/>
          </p:cNvSpPr>
          <p:nvPr/>
        </p:nvSpPr>
        <p:spPr>
          <a:xfrm>
            <a:off x="1219200" y="2345055"/>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卡-3</a:t>
            </a:r>
            <a:endParaRPr sz="890" b="1">
              <a:solidFill>
                <a:srgbClr val="403A38"/>
              </a:solidFill>
              <a:latin typeface="Noto Sans Hans"/>
              <a:ea typeface="Noto Sans Hans"/>
              <a:cs typeface="Noto Sans Hans"/>
            </a:endParaRPr>
          </a:p>
        </p:txBody>
      </p:sp>
      <p:sp>
        <p:nvSpPr>
          <p:cNvPr id="46" name="矩形 45"/>
          <p:cNvSpPr>
            <a:spLocks noGrp="1"/>
          </p:cNvSpPr>
          <p:nvPr/>
        </p:nvSpPr>
        <p:spPr>
          <a:xfrm>
            <a:off x="2105025" y="2335530"/>
            <a:ext cx="1314450" cy="381953"/>
          </a:xfrm>
          <a:prstGeom prst="rect">
            <a:avLst/>
          </a:prstGeom>
          <a:solidFill>
            <a:srgbClr val="F8E5E4"/>
          </a:solidFill>
          <a:ln w="9525">
            <a:solidFill>
              <a:srgbClr val="FFFFFF"/>
            </a:solidFill>
            <a:prstDash val="solid"/>
          </a:ln>
        </p:spPr>
      </p:sp>
      <p:sp>
        <p:nvSpPr>
          <p:cNvPr id="47" name="矩形 46"/>
          <p:cNvSpPr>
            <a:spLocks noGrp="1"/>
          </p:cNvSpPr>
          <p:nvPr/>
        </p:nvSpPr>
        <p:spPr>
          <a:xfrm>
            <a:off x="2124075" y="2345055"/>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统计与财务口径</a:t>
            </a:r>
            <a:endParaRPr sz="820" b="0">
              <a:solidFill>
                <a:srgbClr val="403A38"/>
              </a:solidFill>
              <a:latin typeface="Noto Sans Hans"/>
              <a:ea typeface="Noto Sans Hans"/>
              <a:cs typeface="Noto Sans Hans"/>
            </a:endParaRPr>
          </a:p>
        </p:txBody>
      </p:sp>
      <p:sp>
        <p:nvSpPr>
          <p:cNvPr id="48" name="矩形 47"/>
          <p:cNvSpPr>
            <a:spLocks noGrp="1"/>
          </p:cNvSpPr>
          <p:nvPr/>
        </p:nvSpPr>
        <p:spPr>
          <a:xfrm>
            <a:off x="3419475" y="2335530"/>
            <a:ext cx="3190875" cy="381953"/>
          </a:xfrm>
          <a:prstGeom prst="rect">
            <a:avLst/>
          </a:prstGeom>
          <a:solidFill>
            <a:srgbClr val="F8E5E4"/>
          </a:solidFill>
          <a:ln w="9525">
            <a:solidFill>
              <a:srgbClr val="FFFFFF"/>
            </a:solidFill>
            <a:prstDash val="solid"/>
          </a:ln>
        </p:spPr>
      </p:sp>
      <p:sp>
        <p:nvSpPr>
          <p:cNvPr id="49" name="矩形 48"/>
          <p:cNvSpPr>
            <a:spLocks noGrp="1"/>
          </p:cNvSpPr>
          <p:nvPr/>
        </p:nvSpPr>
        <p:spPr>
          <a:xfrm>
            <a:off x="3438525" y="2345055"/>
            <a:ext cx="3152775"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产业边界交叉；非上市企业营收、毛利和现金消耗不透明</a:t>
            </a:r>
            <a:endParaRPr sz="820" b="0">
              <a:solidFill>
                <a:srgbClr val="403A38"/>
              </a:solidFill>
              <a:latin typeface="Noto Sans Hans"/>
              <a:ea typeface="Noto Sans Hans"/>
              <a:cs typeface="Noto Sans Hans"/>
            </a:endParaRPr>
          </a:p>
        </p:txBody>
      </p:sp>
      <p:sp>
        <p:nvSpPr>
          <p:cNvPr id="50" name="矩形 49"/>
          <p:cNvSpPr>
            <a:spLocks noGrp="1"/>
          </p:cNvSpPr>
          <p:nvPr/>
        </p:nvSpPr>
        <p:spPr>
          <a:xfrm>
            <a:off x="6610350" y="2335530"/>
            <a:ext cx="2762250" cy="381953"/>
          </a:xfrm>
          <a:prstGeom prst="rect">
            <a:avLst/>
          </a:prstGeom>
          <a:solidFill>
            <a:srgbClr val="F8E5E4"/>
          </a:solidFill>
          <a:ln w="9525">
            <a:solidFill>
              <a:srgbClr val="FFFFFF"/>
            </a:solidFill>
            <a:prstDash val="solid"/>
          </a:ln>
        </p:spPr>
      </p:sp>
      <p:sp>
        <p:nvSpPr>
          <p:cNvPr id="51" name="矩形 50"/>
          <p:cNvSpPr>
            <a:spLocks noGrp="1"/>
          </p:cNvSpPr>
          <p:nvPr/>
        </p:nvSpPr>
        <p:spPr>
          <a:xfrm>
            <a:off x="6629400" y="2345055"/>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市场规模不可比，融资需求难判断</a:t>
            </a:r>
            <a:endParaRPr sz="820" b="1">
              <a:solidFill>
                <a:srgbClr val="D00914"/>
              </a:solidFill>
              <a:latin typeface="Noto Sans Hans"/>
              <a:ea typeface="Noto Sans Hans"/>
              <a:cs typeface="Noto Sans Hans"/>
            </a:endParaRPr>
          </a:p>
        </p:txBody>
      </p:sp>
      <p:sp>
        <p:nvSpPr>
          <p:cNvPr id="52" name="矩形 51"/>
          <p:cNvSpPr>
            <a:spLocks noGrp="1"/>
          </p:cNvSpPr>
          <p:nvPr/>
        </p:nvSpPr>
        <p:spPr>
          <a:xfrm>
            <a:off x="9372600" y="2335530"/>
            <a:ext cx="2362200" cy="381953"/>
          </a:xfrm>
          <a:prstGeom prst="rect">
            <a:avLst/>
          </a:prstGeom>
          <a:solidFill>
            <a:srgbClr val="F8E5E4"/>
          </a:solidFill>
          <a:ln w="9525">
            <a:solidFill>
              <a:srgbClr val="FFFFFF"/>
            </a:solidFill>
            <a:prstDash val="solid"/>
          </a:ln>
        </p:spPr>
      </p:sp>
      <p:sp>
        <p:nvSpPr>
          <p:cNvPr id="53" name="矩形 52"/>
          <p:cNvSpPr>
            <a:spLocks noGrp="1"/>
          </p:cNvSpPr>
          <p:nvPr/>
        </p:nvSpPr>
        <p:spPr>
          <a:xfrm>
            <a:off x="9391650" y="2345055"/>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无法形成统一项目数据库与估值基准</a:t>
            </a:r>
            <a:endParaRPr sz="820" b="0">
              <a:solidFill>
                <a:srgbClr val="403A38"/>
              </a:solidFill>
              <a:latin typeface="Noto Sans Hans"/>
              <a:ea typeface="Noto Sans Hans"/>
              <a:cs typeface="Noto Sans Hans"/>
            </a:endParaRPr>
          </a:p>
        </p:txBody>
      </p:sp>
      <p:sp>
        <p:nvSpPr>
          <p:cNvPr id="54" name="矩形 53"/>
          <p:cNvSpPr>
            <a:spLocks noGrp="1"/>
          </p:cNvSpPr>
          <p:nvPr/>
        </p:nvSpPr>
        <p:spPr>
          <a:xfrm>
            <a:off x="457200" y="2717483"/>
            <a:ext cx="742950" cy="381953"/>
          </a:xfrm>
          <a:prstGeom prst="rect">
            <a:avLst/>
          </a:prstGeom>
          <a:solidFill>
            <a:srgbClr val="164A7B"/>
          </a:solidFill>
          <a:ln w="9525">
            <a:solidFill>
              <a:srgbClr val="FFFFFF"/>
            </a:solidFill>
            <a:prstDash val="solid"/>
          </a:ln>
        </p:spPr>
      </p:sp>
      <p:sp>
        <p:nvSpPr>
          <p:cNvPr id="55" name="矩形 54"/>
          <p:cNvSpPr>
            <a:spLocks noGrp="1"/>
          </p:cNvSpPr>
          <p:nvPr/>
        </p:nvSpPr>
        <p:spPr>
          <a:xfrm>
            <a:off x="476250" y="2727008"/>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卡点</a:t>
            </a:r>
            <a:endParaRPr sz="890" b="1">
              <a:solidFill>
                <a:srgbClr val="FFFFFF"/>
              </a:solidFill>
              <a:latin typeface="Noto Sans Hans"/>
              <a:ea typeface="Noto Sans Hans"/>
              <a:cs typeface="Noto Sans Hans"/>
            </a:endParaRPr>
          </a:p>
        </p:txBody>
      </p:sp>
      <p:sp>
        <p:nvSpPr>
          <p:cNvPr id="56" name="矩形 55"/>
          <p:cNvSpPr>
            <a:spLocks noGrp="1"/>
          </p:cNvSpPr>
          <p:nvPr/>
        </p:nvSpPr>
        <p:spPr>
          <a:xfrm>
            <a:off x="1200150" y="2717483"/>
            <a:ext cx="904875" cy="381953"/>
          </a:xfrm>
          <a:prstGeom prst="rect">
            <a:avLst/>
          </a:prstGeom>
          <a:solidFill>
            <a:srgbClr val="F7F3F1"/>
          </a:solidFill>
          <a:ln w="9525">
            <a:solidFill>
              <a:srgbClr val="FFFFFF"/>
            </a:solidFill>
            <a:prstDash val="solid"/>
          </a:ln>
        </p:spPr>
      </p:sp>
      <p:sp>
        <p:nvSpPr>
          <p:cNvPr id="57" name="矩形 56"/>
          <p:cNvSpPr>
            <a:spLocks noGrp="1"/>
          </p:cNvSpPr>
          <p:nvPr/>
        </p:nvSpPr>
        <p:spPr>
          <a:xfrm>
            <a:off x="1219200" y="2727008"/>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卡-4</a:t>
            </a:r>
            <a:endParaRPr sz="890" b="1">
              <a:solidFill>
                <a:srgbClr val="403A38"/>
              </a:solidFill>
              <a:latin typeface="Noto Sans Hans"/>
              <a:ea typeface="Noto Sans Hans"/>
              <a:cs typeface="Noto Sans Hans"/>
            </a:endParaRPr>
          </a:p>
        </p:txBody>
      </p:sp>
      <p:sp>
        <p:nvSpPr>
          <p:cNvPr id="58" name="矩形 57"/>
          <p:cNvSpPr>
            <a:spLocks noGrp="1"/>
          </p:cNvSpPr>
          <p:nvPr/>
        </p:nvSpPr>
        <p:spPr>
          <a:xfrm>
            <a:off x="2105025" y="2717483"/>
            <a:ext cx="1314450" cy="381953"/>
          </a:xfrm>
          <a:prstGeom prst="rect">
            <a:avLst/>
          </a:prstGeom>
          <a:solidFill>
            <a:srgbClr val="F7F3F1"/>
          </a:solidFill>
          <a:ln w="9525">
            <a:solidFill>
              <a:srgbClr val="FFFFFF"/>
            </a:solidFill>
            <a:prstDash val="solid"/>
          </a:ln>
        </p:spPr>
      </p:sp>
      <p:sp>
        <p:nvSpPr>
          <p:cNvPr id="59" name="矩形 58"/>
          <p:cNvSpPr>
            <a:spLocks noGrp="1"/>
          </p:cNvSpPr>
          <p:nvPr/>
        </p:nvSpPr>
        <p:spPr>
          <a:xfrm>
            <a:off x="2124075" y="2727008"/>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临床价值与ROI</a:t>
            </a:r>
            <a:endParaRPr sz="820" b="0">
              <a:solidFill>
                <a:srgbClr val="403A38"/>
              </a:solidFill>
              <a:latin typeface="Noto Sans Hans"/>
              <a:ea typeface="Noto Sans Hans"/>
              <a:cs typeface="Noto Sans Hans"/>
            </a:endParaRPr>
          </a:p>
        </p:txBody>
      </p:sp>
      <p:sp>
        <p:nvSpPr>
          <p:cNvPr id="60" name="矩形 59"/>
          <p:cNvSpPr>
            <a:spLocks noGrp="1"/>
          </p:cNvSpPr>
          <p:nvPr/>
        </p:nvSpPr>
        <p:spPr>
          <a:xfrm>
            <a:off x="3419475" y="2717483"/>
            <a:ext cx="3190875" cy="381953"/>
          </a:xfrm>
          <a:prstGeom prst="rect">
            <a:avLst/>
          </a:prstGeom>
          <a:solidFill>
            <a:srgbClr val="F7F3F1"/>
          </a:solidFill>
          <a:ln w="9525">
            <a:solidFill>
              <a:srgbClr val="FFFFFF"/>
            </a:solidFill>
            <a:prstDash val="solid"/>
          </a:ln>
        </p:spPr>
      </p:sp>
      <p:sp>
        <p:nvSpPr>
          <p:cNvPr id="61" name="矩形 60"/>
          <p:cNvSpPr>
            <a:spLocks noGrp="1"/>
          </p:cNvSpPr>
          <p:nvPr/>
        </p:nvSpPr>
        <p:spPr>
          <a:xfrm>
            <a:off x="3438525" y="2727008"/>
            <a:ext cx="3152775"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技术可用不等于临床有效；缺少工时、利用率和全生命周期成本</a:t>
            </a:r>
            <a:endParaRPr sz="820" b="0">
              <a:solidFill>
                <a:srgbClr val="403A38"/>
              </a:solidFill>
              <a:latin typeface="Noto Sans Hans"/>
              <a:ea typeface="Noto Sans Hans"/>
              <a:cs typeface="Noto Sans Hans"/>
            </a:endParaRPr>
          </a:p>
        </p:txBody>
      </p:sp>
      <p:sp>
        <p:nvSpPr>
          <p:cNvPr id="62" name="矩形 61"/>
          <p:cNvSpPr>
            <a:spLocks noGrp="1"/>
          </p:cNvSpPr>
          <p:nvPr/>
        </p:nvSpPr>
        <p:spPr>
          <a:xfrm>
            <a:off x="6610350" y="2717483"/>
            <a:ext cx="2762250" cy="381953"/>
          </a:xfrm>
          <a:prstGeom prst="rect">
            <a:avLst/>
          </a:prstGeom>
          <a:solidFill>
            <a:srgbClr val="F7F3F1"/>
          </a:solidFill>
          <a:ln w="9525">
            <a:solidFill>
              <a:srgbClr val="FFFFFF"/>
            </a:solidFill>
            <a:prstDash val="solid"/>
          </a:ln>
        </p:spPr>
      </p:sp>
      <p:sp>
        <p:nvSpPr>
          <p:cNvPr id="63" name="矩形 62"/>
          <p:cNvSpPr>
            <a:spLocks noGrp="1"/>
          </p:cNvSpPr>
          <p:nvPr/>
        </p:nvSpPr>
        <p:spPr>
          <a:xfrm>
            <a:off x="6629400" y="2727008"/>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采购后闲置，投资决策缺乏证据</a:t>
            </a:r>
            <a:endParaRPr sz="820" b="1">
              <a:solidFill>
                <a:srgbClr val="D00914"/>
              </a:solidFill>
              <a:latin typeface="Noto Sans Hans"/>
              <a:ea typeface="Noto Sans Hans"/>
              <a:cs typeface="Noto Sans Hans"/>
            </a:endParaRPr>
          </a:p>
        </p:txBody>
      </p:sp>
      <p:sp>
        <p:nvSpPr>
          <p:cNvPr id="64" name="矩形 63"/>
          <p:cNvSpPr>
            <a:spLocks noGrp="1"/>
          </p:cNvSpPr>
          <p:nvPr/>
        </p:nvSpPr>
        <p:spPr>
          <a:xfrm>
            <a:off x="9372600" y="2717483"/>
            <a:ext cx="2362200" cy="381953"/>
          </a:xfrm>
          <a:prstGeom prst="rect">
            <a:avLst/>
          </a:prstGeom>
          <a:solidFill>
            <a:srgbClr val="F7F3F1"/>
          </a:solidFill>
          <a:ln w="9525">
            <a:solidFill>
              <a:srgbClr val="FFFFFF"/>
            </a:solidFill>
            <a:prstDash val="solid"/>
          </a:ln>
        </p:spPr>
      </p:sp>
      <p:sp>
        <p:nvSpPr>
          <p:cNvPr id="65" name="矩形 64"/>
          <p:cNvSpPr>
            <a:spLocks noGrp="1"/>
          </p:cNvSpPr>
          <p:nvPr/>
        </p:nvSpPr>
        <p:spPr>
          <a:xfrm>
            <a:off x="9391650" y="2727008"/>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医院和养老机构难以规模采购</a:t>
            </a:r>
            <a:endParaRPr sz="820" b="0">
              <a:solidFill>
                <a:srgbClr val="403A38"/>
              </a:solidFill>
              <a:latin typeface="Noto Sans Hans"/>
              <a:ea typeface="Noto Sans Hans"/>
              <a:cs typeface="Noto Sans Hans"/>
            </a:endParaRPr>
          </a:p>
        </p:txBody>
      </p:sp>
      <p:sp>
        <p:nvSpPr>
          <p:cNvPr id="66" name="矩形 65"/>
          <p:cNvSpPr>
            <a:spLocks noGrp="1"/>
          </p:cNvSpPr>
          <p:nvPr/>
        </p:nvSpPr>
        <p:spPr>
          <a:xfrm>
            <a:off x="457200" y="3099435"/>
            <a:ext cx="742950" cy="381953"/>
          </a:xfrm>
          <a:prstGeom prst="rect">
            <a:avLst/>
          </a:prstGeom>
          <a:solidFill>
            <a:srgbClr val="C94A27"/>
          </a:solidFill>
          <a:ln w="9525">
            <a:solidFill>
              <a:srgbClr val="FFFFFF"/>
            </a:solidFill>
            <a:prstDash val="solid"/>
          </a:ln>
        </p:spPr>
      </p:sp>
      <p:sp>
        <p:nvSpPr>
          <p:cNvPr id="67" name="矩形 66"/>
          <p:cNvSpPr>
            <a:spLocks noGrp="1"/>
          </p:cNvSpPr>
          <p:nvPr/>
        </p:nvSpPr>
        <p:spPr>
          <a:xfrm>
            <a:off x="476250" y="3108960"/>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堵点</a:t>
            </a:r>
            <a:endParaRPr sz="890" b="1">
              <a:solidFill>
                <a:srgbClr val="FFFFFF"/>
              </a:solidFill>
              <a:latin typeface="Noto Sans Hans"/>
              <a:ea typeface="Noto Sans Hans"/>
              <a:cs typeface="Noto Sans Hans"/>
            </a:endParaRPr>
          </a:p>
        </p:txBody>
      </p:sp>
      <p:sp>
        <p:nvSpPr>
          <p:cNvPr id="68" name="矩形 67"/>
          <p:cNvSpPr>
            <a:spLocks noGrp="1"/>
          </p:cNvSpPr>
          <p:nvPr/>
        </p:nvSpPr>
        <p:spPr>
          <a:xfrm>
            <a:off x="1200150" y="3099435"/>
            <a:ext cx="904875" cy="381953"/>
          </a:xfrm>
          <a:prstGeom prst="rect">
            <a:avLst/>
          </a:prstGeom>
          <a:solidFill>
            <a:srgbClr val="F8E5E4"/>
          </a:solidFill>
          <a:ln w="9525">
            <a:solidFill>
              <a:srgbClr val="FFFFFF"/>
            </a:solidFill>
            <a:prstDash val="solid"/>
          </a:ln>
        </p:spPr>
      </p:sp>
      <p:sp>
        <p:nvSpPr>
          <p:cNvPr id="69" name="矩形 68"/>
          <p:cNvSpPr>
            <a:spLocks noGrp="1"/>
          </p:cNvSpPr>
          <p:nvPr/>
        </p:nvSpPr>
        <p:spPr>
          <a:xfrm>
            <a:off x="1219200" y="3108960"/>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堵-1</a:t>
            </a:r>
            <a:endParaRPr sz="890" b="1">
              <a:solidFill>
                <a:srgbClr val="403A38"/>
              </a:solidFill>
              <a:latin typeface="Noto Sans Hans"/>
              <a:ea typeface="Noto Sans Hans"/>
              <a:cs typeface="Noto Sans Hans"/>
            </a:endParaRPr>
          </a:p>
        </p:txBody>
      </p:sp>
      <p:sp>
        <p:nvSpPr>
          <p:cNvPr id="70" name="矩形 69"/>
          <p:cNvSpPr>
            <a:spLocks noGrp="1"/>
          </p:cNvSpPr>
          <p:nvPr/>
        </p:nvSpPr>
        <p:spPr>
          <a:xfrm>
            <a:off x="2105025" y="3099435"/>
            <a:ext cx="1314450" cy="381953"/>
          </a:xfrm>
          <a:prstGeom prst="rect">
            <a:avLst/>
          </a:prstGeom>
          <a:solidFill>
            <a:srgbClr val="F8E5E4"/>
          </a:solidFill>
          <a:ln w="9525">
            <a:solidFill>
              <a:srgbClr val="FFFFFF"/>
            </a:solidFill>
            <a:prstDash val="solid"/>
          </a:ln>
        </p:spPr>
      </p:sp>
      <p:sp>
        <p:nvSpPr>
          <p:cNvPr id="71" name="矩形 70"/>
          <p:cNvSpPr>
            <a:spLocks noGrp="1"/>
          </p:cNvSpPr>
          <p:nvPr/>
        </p:nvSpPr>
        <p:spPr>
          <a:xfrm>
            <a:off x="2124075" y="3108960"/>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场景适配</a:t>
            </a:r>
            <a:endParaRPr sz="820" b="0">
              <a:solidFill>
                <a:srgbClr val="403A38"/>
              </a:solidFill>
              <a:latin typeface="Noto Sans Hans"/>
              <a:ea typeface="Noto Sans Hans"/>
              <a:cs typeface="Noto Sans Hans"/>
            </a:endParaRPr>
          </a:p>
        </p:txBody>
      </p:sp>
      <p:sp>
        <p:nvSpPr>
          <p:cNvPr id="72" name="矩形 71"/>
          <p:cNvSpPr>
            <a:spLocks noGrp="1"/>
          </p:cNvSpPr>
          <p:nvPr/>
        </p:nvSpPr>
        <p:spPr>
          <a:xfrm>
            <a:off x="3419475" y="3099435"/>
            <a:ext cx="3190875" cy="381953"/>
          </a:xfrm>
          <a:prstGeom prst="rect">
            <a:avLst/>
          </a:prstGeom>
          <a:solidFill>
            <a:srgbClr val="F8E5E4"/>
          </a:solidFill>
          <a:ln w="9525">
            <a:solidFill>
              <a:srgbClr val="FFFFFF"/>
            </a:solidFill>
            <a:prstDash val="solid"/>
          </a:ln>
        </p:spPr>
      </p:sp>
      <p:sp>
        <p:nvSpPr>
          <p:cNvPr id="73" name="矩形 72"/>
          <p:cNvSpPr>
            <a:spLocks noGrp="1"/>
          </p:cNvSpPr>
          <p:nvPr/>
        </p:nvSpPr>
        <p:spPr>
          <a:xfrm>
            <a:off x="3438525" y="3108960"/>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床、门、电梯、卫生间、网络和老人行为高度非标准</a:t>
            </a:r>
            <a:endParaRPr sz="820" b="0">
              <a:solidFill>
                <a:srgbClr val="403A38"/>
              </a:solidFill>
              <a:latin typeface="Noto Sans Hans"/>
              <a:ea typeface="Noto Sans Hans"/>
              <a:cs typeface="Noto Sans Hans"/>
            </a:endParaRPr>
          </a:p>
        </p:txBody>
      </p:sp>
      <p:sp>
        <p:nvSpPr>
          <p:cNvPr id="74" name="矩形 73"/>
          <p:cNvSpPr>
            <a:spLocks noGrp="1"/>
          </p:cNvSpPr>
          <p:nvPr/>
        </p:nvSpPr>
        <p:spPr>
          <a:xfrm>
            <a:off x="6610350" y="3099435"/>
            <a:ext cx="2762250" cy="381953"/>
          </a:xfrm>
          <a:prstGeom prst="rect">
            <a:avLst/>
          </a:prstGeom>
          <a:solidFill>
            <a:srgbClr val="F8E5E4"/>
          </a:solidFill>
          <a:ln w="9525">
            <a:solidFill>
              <a:srgbClr val="FFFFFF"/>
            </a:solidFill>
            <a:prstDash val="solid"/>
          </a:ln>
        </p:spPr>
      </p:sp>
      <p:sp>
        <p:nvSpPr>
          <p:cNvPr id="75" name="矩形 74"/>
          <p:cNvSpPr>
            <a:spLocks noGrp="1"/>
          </p:cNvSpPr>
          <p:nvPr/>
        </p:nvSpPr>
        <p:spPr>
          <a:xfrm>
            <a:off x="6629400" y="3108960"/>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非标改造成本高，任务成功率下降</a:t>
            </a:r>
            <a:endParaRPr sz="820" b="1">
              <a:solidFill>
                <a:srgbClr val="D00914"/>
              </a:solidFill>
              <a:latin typeface="Noto Sans Hans"/>
              <a:ea typeface="Noto Sans Hans"/>
              <a:cs typeface="Noto Sans Hans"/>
            </a:endParaRPr>
          </a:p>
        </p:txBody>
      </p:sp>
      <p:sp>
        <p:nvSpPr>
          <p:cNvPr id="76" name="矩形 75"/>
          <p:cNvSpPr>
            <a:spLocks noGrp="1"/>
          </p:cNvSpPr>
          <p:nvPr/>
        </p:nvSpPr>
        <p:spPr>
          <a:xfrm>
            <a:off x="9372600" y="3099435"/>
            <a:ext cx="2362200" cy="381953"/>
          </a:xfrm>
          <a:prstGeom prst="rect">
            <a:avLst/>
          </a:prstGeom>
          <a:solidFill>
            <a:srgbClr val="F8E5E4"/>
          </a:solidFill>
          <a:ln w="9525">
            <a:solidFill>
              <a:srgbClr val="FFFFFF"/>
            </a:solidFill>
            <a:prstDash val="solid"/>
          </a:ln>
        </p:spPr>
      </p:sp>
      <p:sp>
        <p:nvSpPr>
          <p:cNvPr id="77" name="矩形 76"/>
          <p:cNvSpPr>
            <a:spLocks noGrp="1"/>
          </p:cNvSpPr>
          <p:nvPr/>
        </p:nvSpPr>
        <p:spPr>
          <a:xfrm>
            <a:off x="9391650" y="3108960"/>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交付周期延长、项目难复制</a:t>
            </a:r>
            <a:endParaRPr sz="820" b="0">
              <a:solidFill>
                <a:srgbClr val="403A38"/>
              </a:solidFill>
              <a:latin typeface="Noto Sans Hans"/>
              <a:ea typeface="Noto Sans Hans"/>
              <a:cs typeface="Noto Sans Hans"/>
            </a:endParaRPr>
          </a:p>
        </p:txBody>
      </p:sp>
      <p:sp>
        <p:nvSpPr>
          <p:cNvPr id="78" name="矩形 77"/>
          <p:cNvSpPr>
            <a:spLocks noGrp="1"/>
          </p:cNvSpPr>
          <p:nvPr/>
        </p:nvSpPr>
        <p:spPr>
          <a:xfrm>
            <a:off x="457200" y="3481388"/>
            <a:ext cx="742950" cy="381953"/>
          </a:xfrm>
          <a:prstGeom prst="rect">
            <a:avLst/>
          </a:prstGeom>
          <a:solidFill>
            <a:srgbClr val="C94A27"/>
          </a:solidFill>
          <a:ln w="9525">
            <a:solidFill>
              <a:srgbClr val="FFFFFF"/>
            </a:solidFill>
            <a:prstDash val="solid"/>
          </a:ln>
        </p:spPr>
      </p:sp>
      <p:sp>
        <p:nvSpPr>
          <p:cNvPr id="79" name="矩形 78"/>
          <p:cNvSpPr>
            <a:spLocks noGrp="1"/>
          </p:cNvSpPr>
          <p:nvPr/>
        </p:nvSpPr>
        <p:spPr>
          <a:xfrm>
            <a:off x="476250" y="3490913"/>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堵点</a:t>
            </a:r>
            <a:endParaRPr sz="890" b="1">
              <a:solidFill>
                <a:srgbClr val="FFFFFF"/>
              </a:solidFill>
              <a:latin typeface="Noto Sans Hans"/>
              <a:ea typeface="Noto Sans Hans"/>
              <a:cs typeface="Noto Sans Hans"/>
            </a:endParaRPr>
          </a:p>
        </p:txBody>
      </p:sp>
      <p:sp>
        <p:nvSpPr>
          <p:cNvPr id="80" name="矩形 79"/>
          <p:cNvSpPr>
            <a:spLocks noGrp="1"/>
          </p:cNvSpPr>
          <p:nvPr/>
        </p:nvSpPr>
        <p:spPr>
          <a:xfrm>
            <a:off x="1200150" y="3481388"/>
            <a:ext cx="904875" cy="381953"/>
          </a:xfrm>
          <a:prstGeom prst="rect">
            <a:avLst/>
          </a:prstGeom>
          <a:solidFill>
            <a:srgbClr val="F7F3F1"/>
          </a:solidFill>
          <a:ln w="9525">
            <a:solidFill>
              <a:srgbClr val="FFFFFF"/>
            </a:solidFill>
            <a:prstDash val="solid"/>
          </a:ln>
        </p:spPr>
      </p:sp>
      <p:sp>
        <p:nvSpPr>
          <p:cNvPr id="81" name="矩形 80"/>
          <p:cNvSpPr>
            <a:spLocks noGrp="1"/>
          </p:cNvSpPr>
          <p:nvPr/>
        </p:nvSpPr>
        <p:spPr>
          <a:xfrm>
            <a:off x="1219200" y="3490913"/>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堵-2</a:t>
            </a:r>
            <a:endParaRPr sz="890" b="1">
              <a:solidFill>
                <a:srgbClr val="403A38"/>
              </a:solidFill>
              <a:latin typeface="Noto Sans Hans"/>
              <a:ea typeface="Noto Sans Hans"/>
              <a:cs typeface="Noto Sans Hans"/>
            </a:endParaRPr>
          </a:p>
        </p:txBody>
      </p:sp>
      <p:sp>
        <p:nvSpPr>
          <p:cNvPr id="82" name="矩形 81"/>
          <p:cNvSpPr>
            <a:spLocks noGrp="1"/>
          </p:cNvSpPr>
          <p:nvPr/>
        </p:nvSpPr>
        <p:spPr>
          <a:xfrm>
            <a:off x="2105025" y="3481388"/>
            <a:ext cx="1314450" cy="381953"/>
          </a:xfrm>
          <a:prstGeom prst="rect">
            <a:avLst/>
          </a:prstGeom>
          <a:solidFill>
            <a:srgbClr val="F7F3F1"/>
          </a:solidFill>
          <a:ln w="9525">
            <a:solidFill>
              <a:srgbClr val="FFFFFF"/>
            </a:solidFill>
            <a:prstDash val="solid"/>
          </a:ln>
        </p:spPr>
      </p:sp>
      <p:sp>
        <p:nvSpPr>
          <p:cNvPr id="83" name="矩形 82"/>
          <p:cNvSpPr>
            <a:spLocks noGrp="1"/>
          </p:cNvSpPr>
          <p:nvPr/>
        </p:nvSpPr>
        <p:spPr>
          <a:xfrm>
            <a:off x="2124075" y="3490913"/>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系统接口</a:t>
            </a:r>
            <a:endParaRPr sz="820" b="0">
              <a:solidFill>
                <a:srgbClr val="403A38"/>
              </a:solidFill>
              <a:latin typeface="Noto Sans Hans"/>
              <a:ea typeface="Noto Sans Hans"/>
              <a:cs typeface="Noto Sans Hans"/>
            </a:endParaRPr>
          </a:p>
        </p:txBody>
      </p:sp>
      <p:sp>
        <p:nvSpPr>
          <p:cNvPr id="84" name="矩形 83"/>
          <p:cNvSpPr>
            <a:spLocks noGrp="1"/>
          </p:cNvSpPr>
          <p:nvPr/>
        </p:nvSpPr>
        <p:spPr>
          <a:xfrm>
            <a:off x="3419475" y="3481388"/>
            <a:ext cx="3190875" cy="381953"/>
          </a:xfrm>
          <a:prstGeom prst="rect">
            <a:avLst/>
          </a:prstGeom>
          <a:solidFill>
            <a:srgbClr val="F7F3F1"/>
          </a:solidFill>
          <a:ln w="9525">
            <a:solidFill>
              <a:srgbClr val="FFFFFF"/>
            </a:solidFill>
            <a:prstDash val="solid"/>
          </a:ln>
        </p:spPr>
      </p:sp>
      <p:sp>
        <p:nvSpPr>
          <p:cNvPr id="85" name="矩形 84"/>
          <p:cNvSpPr>
            <a:spLocks noGrp="1"/>
          </p:cNvSpPr>
          <p:nvPr/>
        </p:nvSpPr>
        <p:spPr>
          <a:xfrm>
            <a:off x="3438525" y="3490913"/>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机器人、养老平台、门禁、电梯和健康数据接口不统一</a:t>
            </a:r>
            <a:endParaRPr sz="820" b="0">
              <a:solidFill>
                <a:srgbClr val="403A38"/>
              </a:solidFill>
              <a:latin typeface="Noto Sans Hans"/>
              <a:ea typeface="Noto Sans Hans"/>
              <a:cs typeface="Noto Sans Hans"/>
            </a:endParaRPr>
          </a:p>
        </p:txBody>
      </p:sp>
      <p:sp>
        <p:nvSpPr>
          <p:cNvPr id="86" name="矩形 85"/>
          <p:cNvSpPr>
            <a:spLocks noGrp="1"/>
          </p:cNvSpPr>
          <p:nvPr/>
        </p:nvSpPr>
        <p:spPr>
          <a:xfrm>
            <a:off x="6610350" y="3481388"/>
            <a:ext cx="2762250" cy="381953"/>
          </a:xfrm>
          <a:prstGeom prst="rect">
            <a:avLst/>
          </a:prstGeom>
          <a:solidFill>
            <a:srgbClr val="F7F3F1"/>
          </a:solidFill>
          <a:ln w="9525">
            <a:solidFill>
              <a:srgbClr val="FFFFFF"/>
            </a:solidFill>
            <a:prstDash val="solid"/>
          </a:ln>
        </p:spPr>
      </p:sp>
      <p:sp>
        <p:nvSpPr>
          <p:cNvPr id="87" name="矩形 86"/>
          <p:cNvSpPr>
            <a:spLocks noGrp="1"/>
          </p:cNvSpPr>
          <p:nvPr/>
        </p:nvSpPr>
        <p:spPr>
          <a:xfrm>
            <a:off x="6629400" y="3490913"/>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接入慢、运维成本高、数据孤岛</a:t>
            </a:r>
            <a:endParaRPr sz="820" b="1">
              <a:solidFill>
                <a:srgbClr val="D00914"/>
              </a:solidFill>
              <a:latin typeface="Noto Sans Hans"/>
              <a:ea typeface="Noto Sans Hans"/>
              <a:cs typeface="Noto Sans Hans"/>
            </a:endParaRPr>
          </a:p>
        </p:txBody>
      </p:sp>
      <p:sp>
        <p:nvSpPr>
          <p:cNvPr id="88" name="矩形 87"/>
          <p:cNvSpPr>
            <a:spLocks noGrp="1"/>
          </p:cNvSpPr>
          <p:nvPr/>
        </p:nvSpPr>
        <p:spPr>
          <a:xfrm>
            <a:off x="9372600" y="3481388"/>
            <a:ext cx="2362200" cy="381953"/>
          </a:xfrm>
          <a:prstGeom prst="rect">
            <a:avLst/>
          </a:prstGeom>
          <a:solidFill>
            <a:srgbClr val="F7F3F1"/>
          </a:solidFill>
          <a:ln w="9525">
            <a:solidFill>
              <a:srgbClr val="FFFFFF"/>
            </a:solidFill>
            <a:prstDash val="solid"/>
          </a:ln>
        </p:spPr>
      </p:sp>
      <p:sp>
        <p:nvSpPr>
          <p:cNvPr id="89" name="矩形 88"/>
          <p:cNvSpPr>
            <a:spLocks noGrp="1"/>
          </p:cNvSpPr>
          <p:nvPr/>
        </p:nvSpPr>
        <p:spPr>
          <a:xfrm>
            <a:off x="9391650" y="3490913"/>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多机器人协同与运营平台难形成</a:t>
            </a:r>
            <a:endParaRPr sz="820" b="0">
              <a:solidFill>
                <a:srgbClr val="403A38"/>
              </a:solidFill>
              <a:latin typeface="Noto Sans Hans"/>
              <a:ea typeface="Noto Sans Hans"/>
              <a:cs typeface="Noto Sans Hans"/>
            </a:endParaRPr>
          </a:p>
        </p:txBody>
      </p:sp>
      <p:sp>
        <p:nvSpPr>
          <p:cNvPr id="90" name="矩形 89"/>
          <p:cNvSpPr>
            <a:spLocks noGrp="1"/>
          </p:cNvSpPr>
          <p:nvPr/>
        </p:nvSpPr>
        <p:spPr>
          <a:xfrm>
            <a:off x="457200" y="3863340"/>
            <a:ext cx="742950" cy="381953"/>
          </a:xfrm>
          <a:prstGeom prst="rect">
            <a:avLst/>
          </a:prstGeom>
          <a:solidFill>
            <a:srgbClr val="C94A27"/>
          </a:solidFill>
          <a:ln w="9525">
            <a:solidFill>
              <a:srgbClr val="FFFFFF"/>
            </a:solidFill>
            <a:prstDash val="solid"/>
          </a:ln>
        </p:spPr>
      </p:sp>
      <p:sp>
        <p:nvSpPr>
          <p:cNvPr id="91" name="矩形 90"/>
          <p:cNvSpPr>
            <a:spLocks noGrp="1"/>
          </p:cNvSpPr>
          <p:nvPr/>
        </p:nvSpPr>
        <p:spPr>
          <a:xfrm>
            <a:off x="476250" y="3872865"/>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堵点</a:t>
            </a:r>
            <a:endParaRPr sz="890" b="1">
              <a:solidFill>
                <a:srgbClr val="FFFFFF"/>
              </a:solidFill>
              <a:latin typeface="Noto Sans Hans"/>
              <a:ea typeface="Noto Sans Hans"/>
              <a:cs typeface="Noto Sans Hans"/>
            </a:endParaRPr>
          </a:p>
        </p:txBody>
      </p:sp>
      <p:sp>
        <p:nvSpPr>
          <p:cNvPr id="92" name="矩形 91"/>
          <p:cNvSpPr>
            <a:spLocks noGrp="1"/>
          </p:cNvSpPr>
          <p:nvPr/>
        </p:nvSpPr>
        <p:spPr>
          <a:xfrm>
            <a:off x="1200150" y="3863340"/>
            <a:ext cx="904875" cy="381953"/>
          </a:xfrm>
          <a:prstGeom prst="rect">
            <a:avLst/>
          </a:prstGeom>
          <a:solidFill>
            <a:srgbClr val="F8E5E4"/>
          </a:solidFill>
          <a:ln w="9525">
            <a:solidFill>
              <a:srgbClr val="FFFFFF"/>
            </a:solidFill>
            <a:prstDash val="solid"/>
          </a:ln>
        </p:spPr>
      </p:sp>
      <p:sp>
        <p:nvSpPr>
          <p:cNvPr id="93" name="矩形 92"/>
          <p:cNvSpPr>
            <a:spLocks noGrp="1"/>
          </p:cNvSpPr>
          <p:nvPr/>
        </p:nvSpPr>
        <p:spPr>
          <a:xfrm>
            <a:off x="1219200" y="3872865"/>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堵-3</a:t>
            </a:r>
            <a:endParaRPr sz="890" b="1">
              <a:solidFill>
                <a:srgbClr val="403A38"/>
              </a:solidFill>
              <a:latin typeface="Noto Sans Hans"/>
              <a:ea typeface="Noto Sans Hans"/>
              <a:cs typeface="Noto Sans Hans"/>
            </a:endParaRPr>
          </a:p>
        </p:txBody>
      </p:sp>
      <p:sp>
        <p:nvSpPr>
          <p:cNvPr id="94" name="矩形 93"/>
          <p:cNvSpPr>
            <a:spLocks noGrp="1"/>
          </p:cNvSpPr>
          <p:nvPr/>
        </p:nvSpPr>
        <p:spPr>
          <a:xfrm>
            <a:off x="2105025" y="3863340"/>
            <a:ext cx="1314450" cy="381953"/>
          </a:xfrm>
          <a:prstGeom prst="rect">
            <a:avLst/>
          </a:prstGeom>
          <a:solidFill>
            <a:srgbClr val="F8E5E4"/>
          </a:solidFill>
          <a:ln w="9525">
            <a:solidFill>
              <a:srgbClr val="FFFFFF"/>
            </a:solidFill>
            <a:prstDash val="solid"/>
          </a:ln>
        </p:spPr>
      </p:sp>
      <p:sp>
        <p:nvSpPr>
          <p:cNvPr id="95" name="矩形 94"/>
          <p:cNvSpPr>
            <a:spLocks noGrp="1"/>
          </p:cNvSpPr>
          <p:nvPr/>
        </p:nvSpPr>
        <p:spPr>
          <a:xfrm>
            <a:off x="2124075" y="3872865"/>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售后培训与接受度</a:t>
            </a:r>
            <a:endParaRPr sz="820" b="0">
              <a:solidFill>
                <a:srgbClr val="403A38"/>
              </a:solidFill>
              <a:latin typeface="Noto Sans Hans"/>
              <a:ea typeface="Noto Sans Hans"/>
              <a:cs typeface="Noto Sans Hans"/>
            </a:endParaRPr>
          </a:p>
        </p:txBody>
      </p:sp>
      <p:sp>
        <p:nvSpPr>
          <p:cNvPr id="96" name="矩形 95"/>
          <p:cNvSpPr>
            <a:spLocks noGrp="1"/>
          </p:cNvSpPr>
          <p:nvPr/>
        </p:nvSpPr>
        <p:spPr>
          <a:xfrm>
            <a:off x="3419475" y="3863340"/>
            <a:ext cx="3190875" cy="381953"/>
          </a:xfrm>
          <a:prstGeom prst="rect">
            <a:avLst/>
          </a:prstGeom>
          <a:solidFill>
            <a:srgbClr val="F8E5E4"/>
          </a:solidFill>
          <a:ln w="9525">
            <a:solidFill>
              <a:srgbClr val="FFFFFF"/>
            </a:solidFill>
            <a:prstDash val="solid"/>
          </a:ln>
        </p:spPr>
      </p:sp>
      <p:sp>
        <p:nvSpPr>
          <p:cNvPr id="97" name="矩形 96"/>
          <p:cNvSpPr>
            <a:spLocks noGrp="1"/>
          </p:cNvSpPr>
          <p:nvPr/>
        </p:nvSpPr>
        <p:spPr>
          <a:xfrm>
            <a:off x="3438525" y="3872865"/>
            <a:ext cx="3152775"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护理机构缺运维人员；老人、家属和护理员接受度差异大</a:t>
            </a:r>
            <a:endParaRPr sz="820" b="0">
              <a:solidFill>
                <a:srgbClr val="403A38"/>
              </a:solidFill>
              <a:latin typeface="Noto Sans Hans"/>
              <a:ea typeface="Noto Sans Hans"/>
              <a:cs typeface="Noto Sans Hans"/>
            </a:endParaRPr>
          </a:p>
        </p:txBody>
      </p:sp>
      <p:sp>
        <p:nvSpPr>
          <p:cNvPr id="98" name="矩形 97"/>
          <p:cNvSpPr>
            <a:spLocks noGrp="1"/>
          </p:cNvSpPr>
          <p:nvPr/>
        </p:nvSpPr>
        <p:spPr>
          <a:xfrm>
            <a:off x="6610350" y="3863340"/>
            <a:ext cx="2762250" cy="381953"/>
          </a:xfrm>
          <a:prstGeom prst="rect">
            <a:avLst/>
          </a:prstGeom>
          <a:solidFill>
            <a:srgbClr val="F8E5E4"/>
          </a:solidFill>
          <a:ln w="9525">
            <a:solidFill>
              <a:srgbClr val="FFFFFF"/>
            </a:solidFill>
            <a:prstDash val="solid"/>
          </a:ln>
        </p:spPr>
      </p:sp>
      <p:sp>
        <p:nvSpPr>
          <p:cNvPr id="99" name="矩形 98"/>
          <p:cNvSpPr>
            <a:spLocks noGrp="1"/>
          </p:cNvSpPr>
          <p:nvPr/>
        </p:nvSpPr>
        <p:spPr>
          <a:xfrm>
            <a:off x="6629400" y="3872865"/>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停机、闲置、服务成本吞噬毛利</a:t>
            </a:r>
            <a:endParaRPr sz="820" b="1">
              <a:solidFill>
                <a:srgbClr val="D00914"/>
              </a:solidFill>
              <a:latin typeface="Noto Sans Hans"/>
              <a:ea typeface="Noto Sans Hans"/>
              <a:cs typeface="Noto Sans Hans"/>
            </a:endParaRPr>
          </a:p>
        </p:txBody>
      </p:sp>
      <p:sp>
        <p:nvSpPr>
          <p:cNvPr id="100" name="矩形 99"/>
          <p:cNvSpPr>
            <a:spLocks noGrp="1"/>
          </p:cNvSpPr>
          <p:nvPr/>
        </p:nvSpPr>
        <p:spPr>
          <a:xfrm>
            <a:off x="9372600" y="3863340"/>
            <a:ext cx="2362200" cy="381953"/>
          </a:xfrm>
          <a:prstGeom prst="rect">
            <a:avLst/>
          </a:prstGeom>
          <a:solidFill>
            <a:srgbClr val="F8E5E4"/>
          </a:solidFill>
          <a:ln w="9525">
            <a:solidFill>
              <a:srgbClr val="FFFFFF"/>
            </a:solidFill>
            <a:prstDash val="solid"/>
          </a:ln>
        </p:spPr>
      </p:sp>
      <p:sp>
        <p:nvSpPr>
          <p:cNvPr id="101" name="矩形 100"/>
          <p:cNvSpPr>
            <a:spLocks noGrp="1"/>
          </p:cNvSpPr>
          <p:nvPr/>
        </p:nvSpPr>
        <p:spPr>
          <a:xfrm>
            <a:off x="9391650" y="3872865"/>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产品无法从试点进入常态运营</a:t>
            </a:r>
            <a:endParaRPr sz="820" b="0">
              <a:solidFill>
                <a:srgbClr val="403A38"/>
              </a:solidFill>
              <a:latin typeface="Noto Sans Hans"/>
              <a:ea typeface="Noto Sans Hans"/>
              <a:cs typeface="Noto Sans Hans"/>
            </a:endParaRPr>
          </a:p>
        </p:txBody>
      </p:sp>
      <p:sp>
        <p:nvSpPr>
          <p:cNvPr id="102" name="矩形 101"/>
          <p:cNvSpPr>
            <a:spLocks noGrp="1"/>
          </p:cNvSpPr>
          <p:nvPr/>
        </p:nvSpPr>
        <p:spPr>
          <a:xfrm>
            <a:off x="457200" y="4245293"/>
            <a:ext cx="742950" cy="381953"/>
          </a:xfrm>
          <a:prstGeom prst="rect">
            <a:avLst/>
          </a:prstGeom>
          <a:solidFill>
            <a:srgbClr val="C94A27"/>
          </a:solidFill>
          <a:ln w="9525">
            <a:solidFill>
              <a:srgbClr val="FFFFFF"/>
            </a:solidFill>
            <a:prstDash val="solid"/>
          </a:ln>
        </p:spPr>
      </p:sp>
      <p:sp>
        <p:nvSpPr>
          <p:cNvPr id="103" name="矩形 102"/>
          <p:cNvSpPr>
            <a:spLocks noGrp="1"/>
          </p:cNvSpPr>
          <p:nvPr/>
        </p:nvSpPr>
        <p:spPr>
          <a:xfrm>
            <a:off x="476250" y="4254818"/>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堵点</a:t>
            </a:r>
            <a:endParaRPr sz="890" b="1">
              <a:solidFill>
                <a:srgbClr val="FFFFFF"/>
              </a:solidFill>
              <a:latin typeface="Noto Sans Hans"/>
              <a:ea typeface="Noto Sans Hans"/>
              <a:cs typeface="Noto Sans Hans"/>
            </a:endParaRPr>
          </a:p>
        </p:txBody>
      </p:sp>
      <p:sp>
        <p:nvSpPr>
          <p:cNvPr id="104" name="矩形 103"/>
          <p:cNvSpPr>
            <a:spLocks noGrp="1"/>
          </p:cNvSpPr>
          <p:nvPr/>
        </p:nvSpPr>
        <p:spPr>
          <a:xfrm>
            <a:off x="1200150" y="4245293"/>
            <a:ext cx="904875" cy="381953"/>
          </a:xfrm>
          <a:prstGeom prst="rect">
            <a:avLst/>
          </a:prstGeom>
          <a:solidFill>
            <a:srgbClr val="F7F3F1"/>
          </a:solidFill>
          <a:ln w="9525">
            <a:solidFill>
              <a:srgbClr val="FFFFFF"/>
            </a:solidFill>
            <a:prstDash val="solid"/>
          </a:ln>
        </p:spPr>
      </p:sp>
      <p:sp>
        <p:nvSpPr>
          <p:cNvPr id="105" name="矩形 104"/>
          <p:cNvSpPr>
            <a:spLocks noGrp="1"/>
          </p:cNvSpPr>
          <p:nvPr/>
        </p:nvSpPr>
        <p:spPr>
          <a:xfrm>
            <a:off x="1219200" y="4254818"/>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堵-4</a:t>
            </a:r>
            <a:endParaRPr sz="890" b="1">
              <a:solidFill>
                <a:srgbClr val="403A38"/>
              </a:solidFill>
              <a:latin typeface="Noto Sans Hans"/>
              <a:ea typeface="Noto Sans Hans"/>
              <a:cs typeface="Noto Sans Hans"/>
            </a:endParaRPr>
          </a:p>
        </p:txBody>
      </p:sp>
      <p:sp>
        <p:nvSpPr>
          <p:cNvPr id="106" name="矩形 105"/>
          <p:cNvSpPr>
            <a:spLocks noGrp="1"/>
          </p:cNvSpPr>
          <p:nvPr/>
        </p:nvSpPr>
        <p:spPr>
          <a:xfrm>
            <a:off x="2105025" y="4245293"/>
            <a:ext cx="1314450" cy="381953"/>
          </a:xfrm>
          <a:prstGeom prst="rect">
            <a:avLst/>
          </a:prstGeom>
          <a:solidFill>
            <a:srgbClr val="F7F3F1"/>
          </a:solidFill>
          <a:ln w="9525">
            <a:solidFill>
              <a:srgbClr val="FFFFFF"/>
            </a:solidFill>
            <a:prstDash val="solid"/>
          </a:ln>
        </p:spPr>
      </p:sp>
      <p:sp>
        <p:nvSpPr>
          <p:cNvPr id="107" name="矩形 106"/>
          <p:cNvSpPr>
            <a:spLocks noGrp="1"/>
          </p:cNvSpPr>
          <p:nvPr/>
        </p:nvSpPr>
        <p:spPr>
          <a:xfrm>
            <a:off x="2124075" y="4254818"/>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支付闭环</a:t>
            </a:r>
            <a:endParaRPr sz="820" b="0">
              <a:solidFill>
                <a:srgbClr val="403A38"/>
              </a:solidFill>
              <a:latin typeface="Noto Sans Hans"/>
              <a:ea typeface="Noto Sans Hans"/>
              <a:cs typeface="Noto Sans Hans"/>
            </a:endParaRPr>
          </a:p>
        </p:txBody>
      </p:sp>
      <p:sp>
        <p:nvSpPr>
          <p:cNvPr id="108" name="矩形 107"/>
          <p:cNvSpPr>
            <a:spLocks noGrp="1"/>
          </p:cNvSpPr>
          <p:nvPr/>
        </p:nvSpPr>
        <p:spPr>
          <a:xfrm>
            <a:off x="3419475" y="4245293"/>
            <a:ext cx="3190875" cy="381953"/>
          </a:xfrm>
          <a:prstGeom prst="rect">
            <a:avLst/>
          </a:prstGeom>
          <a:solidFill>
            <a:srgbClr val="F7F3F1"/>
          </a:solidFill>
          <a:ln w="9525">
            <a:solidFill>
              <a:srgbClr val="FFFFFF"/>
            </a:solidFill>
            <a:prstDash val="solid"/>
          </a:ln>
        </p:spPr>
      </p:sp>
      <p:sp>
        <p:nvSpPr>
          <p:cNvPr id="109" name="矩形 108"/>
          <p:cNvSpPr>
            <a:spLocks noGrp="1"/>
          </p:cNvSpPr>
          <p:nvPr/>
        </p:nvSpPr>
        <p:spPr>
          <a:xfrm>
            <a:off x="3438525" y="4254818"/>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个人支付能力有限，机构资本预算和运营预算分离；设备不当然进入长护险</a:t>
            </a:r>
            <a:endParaRPr sz="820" b="0">
              <a:solidFill>
                <a:srgbClr val="403A38"/>
              </a:solidFill>
              <a:latin typeface="Noto Sans Hans"/>
              <a:ea typeface="Noto Sans Hans"/>
              <a:cs typeface="Noto Sans Hans"/>
            </a:endParaRPr>
          </a:p>
        </p:txBody>
      </p:sp>
      <p:sp>
        <p:nvSpPr>
          <p:cNvPr id="110" name="矩形 109"/>
          <p:cNvSpPr>
            <a:spLocks noGrp="1"/>
          </p:cNvSpPr>
          <p:nvPr/>
        </p:nvSpPr>
        <p:spPr>
          <a:xfrm>
            <a:off x="6610350" y="4245293"/>
            <a:ext cx="2762250" cy="381953"/>
          </a:xfrm>
          <a:prstGeom prst="rect">
            <a:avLst/>
          </a:prstGeom>
          <a:solidFill>
            <a:srgbClr val="F7F3F1"/>
          </a:solidFill>
          <a:ln w="9525">
            <a:solidFill>
              <a:srgbClr val="FFFFFF"/>
            </a:solidFill>
            <a:prstDash val="solid"/>
          </a:ln>
        </p:spPr>
      </p:sp>
      <p:sp>
        <p:nvSpPr>
          <p:cNvPr id="111" name="矩形 110"/>
          <p:cNvSpPr>
            <a:spLocks noGrp="1"/>
          </p:cNvSpPr>
          <p:nvPr/>
        </p:nvSpPr>
        <p:spPr>
          <a:xfrm>
            <a:off x="6629400" y="4254818"/>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回款慢、续费低、错误假设医保支付</a:t>
            </a:r>
            <a:endParaRPr sz="820" b="1">
              <a:solidFill>
                <a:srgbClr val="D00914"/>
              </a:solidFill>
              <a:latin typeface="Noto Sans Hans"/>
              <a:ea typeface="Noto Sans Hans"/>
              <a:cs typeface="Noto Sans Hans"/>
            </a:endParaRPr>
          </a:p>
        </p:txBody>
      </p:sp>
      <p:sp>
        <p:nvSpPr>
          <p:cNvPr id="112" name="矩形 111"/>
          <p:cNvSpPr>
            <a:spLocks noGrp="1"/>
          </p:cNvSpPr>
          <p:nvPr/>
        </p:nvSpPr>
        <p:spPr>
          <a:xfrm>
            <a:off x="9372600" y="4245293"/>
            <a:ext cx="2362200" cy="381953"/>
          </a:xfrm>
          <a:prstGeom prst="rect">
            <a:avLst/>
          </a:prstGeom>
          <a:solidFill>
            <a:srgbClr val="F7F3F1"/>
          </a:solidFill>
          <a:ln w="9525">
            <a:solidFill>
              <a:srgbClr val="FFFFFF"/>
            </a:solidFill>
            <a:prstDash val="solid"/>
          </a:ln>
        </p:spPr>
      </p:sp>
      <p:sp>
        <p:nvSpPr>
          <p:cNvPr id="113" name="矩形 112"/>
          <p:cNvSpPr>
            <a:spLocks noGrp="1"/>
          </p:cNvSpPr>
          <p:nvPr/>
        </p:nvSpPr>
        <p:spPr>
          <a:xfrm>
            <a:off x="9391650" y="4254818"/>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商业模式难以成立</a:t>
            </a:r>
            <a:endParaRPr sz="820" b="0">
              <a:solidFill>
                <a:srgbClr val="403A38"/>
              </a:solidFill>
              <a:latin typeface="Noto Sans Hans"/>
              <a:ea typeface="Noto Sans Hans"/>
              <a:cs typeface="Noto Sans Hans"/>
            </a:endParaRPr>
          </a:p>
        </p:txBody>
      </p:sp>
      <p:sp>
        <p:nvSpPr>
          <p:cNvPr id="114" name="矩形 113"/>
          <p:cNvSpPr>
            <a:spLocks noGrp="1"/>
          </p:cNvSpPr>
          <p:nvPr/>
        </p:nvSpPr>
        <p:spPr>
          <a:xfrm>
            <a:off x="457200" y="4627245"/>
            <a:ext cx="742950" cy="381953"/>
          </a:xfrm>
          <a:prstGeom prst="rect">
            <a:avLst/>
          </a:prstGeom>
          <a:solidFill>
            <a:srgbClr val="8E1118"/>
          </a:solidFill>
          <a:ln w="9525">
            <a:solidFill>
              <a:srgbClr val="FFFFFF"/>
            </a:solidFill>
            <a:prstDash val="solid"/>
          </a:ln>
        </p:spPr>
      </p:sp>
      <p:sp>
        <p:nvSpPr>
          <p:cNvPr id="115" name="矩形 114"/>
          <p:cNvSpPr>
            <a:spLocks noGrp="1"/>
          </p:cNvSpPr>
          <p:nvPr/>
        </p:nvSpPr>
        <p:spPr>
          <a:xfrm>
            <a:off x="476250" y="4636770"/>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断点</a:t>
            </a:r>
            <a:endParaRPr sz="890" b="1">
              <a:solidFill>
                <a:srgbClr val="FFFFFF"/>
              </a:solidFill>
              <a:latin typeface="Noto Sans Hans"/>
              <a:ea typeface="Noto Sans Hans"/>
              <a:cs typeface="Noto Sans Hans"/>
            </a:endParaRPr>
          </a:p>
        </p:txBody>
      </p:sp>
      <p:sp>
        <p:nvSpPr>
          <p:cNvPr id="116" name="矩形 115"/>
          <p:cNvSpPr>
            <a:spLocks noGrp="1"/>
          </p:cNvSpPr>
          <p:nvPr/>
        </p:nvSpPr>
        <p:spPr>
          <a:xfrm>
            <a:off x="1200150" y="4627245"/>
            <a:ext cx="904875" cy="381953"/>
          </a:xfrm>
          <a:prstGeom prst="rect">
            <a:avLst/>
          </a:prstGeom>
          <a:solidFill>
            <a:srgbClr val="F8E5E4"/>
          </a:solidFill>
          <a:ln w="9525">
            <a:solidFill>
              <a:srgbClr val="FFFFFF"/>
            </a:solidFill>
            <a:prstDash val="solid"/>
          </a:ln>
        </p:spPr>
      </p:sp>
      <p:sp>
        <p:nvSpPr>
          <p:cNvPr id="117" name="矩形 116"/>
          <p:cNvSpPr>
            <a:spLocks noGrp="1"/>
          </p:cNvSpPr>
          <p:nvPr/>
        </p:nvSpPr>
        <p:spPr>
          <a:xfrm>
            <a:off x="1219200" y="4636770"/>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断-1</a:t>
            </a:r>
            <a:endParaRPr sz="890" b="1">
              <a:solidFill>
                <a:srgbClr val="403A38"/>
              </a:solidFill>
              <a:latin typeface="Noto Sans Hans"/>
              <a:ea typeface="Noto Sans Hans"/>
              <a:cs typeface="Noto Sans Hans"/>
            </a:endParaRPr>
          </a:p>
        </p:txBody>
      </p:sp>
      <p:sp>
        <p:nvSpPr>
          <p:cNvPr id="118" name="矩形 117"/>
          <p:cNvSpPr>
            <a:spLocks noGrp="1"/>
          </p:cNvSpPr>
          <p:nvPr/>
        </p:nvSpPr>
        <p:spPr>
          <a:xfrm>
            <a:off x="2105025" y="4627245"/>
            <a:ext cx="1314450" cy="381953"/>
          </a:xfrm>
          <a:prstGeom prst="rect">
            <a:avLst/>
          </a:prstGeom>
          <a:solidFill>
            <a:srgbClr val="F8E5E4"/>
          </a:solidFill>
          <a:ln w="9525">
            <a:solidFill>
              <a:srgbClr val="FFFFFF"/>
            </a:solidFill>
            <a:prstDash val="solid"/>
          </a:ln>
        </p:spPr>
      </p:sp>
      <p:sp>
        <p:nvSpPr>
          <p:cNvPr id="119" name="矩形 118"/>
          <p:cNvSpPr>
            <a:spLocks noGrp="1"/>
          </p:cNvSpPr>
          <p:nvPr/>
        </p:nvSpPr>
        <p:spPr>
          <a:xfrm>
            <a:off x="2124075" y="4636770"/>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安全责任</a:t>
            </a:r>
            <a:endParaRPr sz="820" b="0">
              <a:solidFill>
                <a:srgbClr val="403A38"/>
              </a:solidFill>
              <a:latin typeface="Noto Sans Hans"/>
              <a:ea typeface="Noto Sans Hans"/>
              <a:cs typeface="Noto Sans Hans"/>
            </a:endParaRPr>
          </a:p>
        </p:txBody>
      </p:sp>
      <p:sp>
        <p:nvSpPr>
          <p:cNvPr id="120" name="矩形 119"/>
          <p:cNvSpPr>
            <a:spLocks noGrp="1"/>
          </p:cNvSpPr>
          <p:nvPr/>
        </p:nvSpPr>
        <p:spPr>
          <a:xfrm>
            <a:off x="3419475" y="4627245"/>
            <a:ext cx="3190875" cy="381953"/>
          </a:xfrm>
          <a:prstGeom prst="rect">
            <a:avLst/>
          </a:prstGeom>
          <a:solidFill>
            <a:srgbClr val="F8E5E4"/>
          </a:solidFill>
          <a:ln w="9525">
            <a:solidFill>
              <a:srgbClr val="FFFFFF"/>
            </a:solidFill>
            <a:prstDash val="solid"/>
          </a:ln>
        </p:spPr>
      </p:sp>
      <p:sp>
        <p:nvSpPr>
          <p:cNvPr id="121" name="矩形 120"/>
          <p:cNvSpPr>
            <a:spLocks noGrp="1"/>
          </p:cNvSpPr>
          <p:nvPr/>
        </p:nvSpPr>
        <p:spPr>
          <a:xfrm>
            <a:off x="3438525" y="4636770"/>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移位、排泄、翻身等直接接触老人，失效后果严重</a:t>
            </a:r>
            <a:endParaRPr sz="820" b="0">
              <a:solidFill>
                <a:srgbClr val="403A38"/>
              </a:solidFill>
              <a:latin typeface="Noto Sans Hans"/>
              <a:ea typeface="Noto Sans Hans"/>
              <a:cs typeface="Noto Sans Hans"/>
            </a:endParaRPr>
          </a:p>
        </p:txBody>
      </p:sp>
      <p:sp>
        <p:nvSpPr>
          <p:cNvPr id="122" name="矩形 121"/>
          <p:cNvSpPr>
            <a:spLocks noGrp="1"/>
          </p:cNvSpPr>
          <p:nvPr/>
        </p:nvSpPr>
        <p:spPr>
          <a:xfrm>
            <a:off x="6610350" y="4627245"/>
            <a:ext cx="2762250" cy="381953"/>
          </a:xfrm>
          <a:prstGeom prst="rect">
            <a:avLst/>
          </a:prstGeom>
          <a:solidFill>
            <a:srgbClr val="F8E5E4"/>
          </a:solidFill>
          <a:ln w="9525">
            <a:solidFill>
              <a:srgbClr val="FFFFFF"/>
            </a:solidFill>
            <a:prstDash val="solid"/>
          </a:ln>
        </p:spPr>
      </p:sp>
      <p:sp>
        <p:nvSpPr>
          <p:cNvPr id="123" name="矩形 122"/>
          <p:cNvSpPr>
            <a:spLocks noGrp="1"/>
          </p:cNvSpPr>
          <p:nvPr/>
        </p:nvSpPr>
        <p:spPr>
          <a:xfrm>
            <a:off x="6629400" y="4636770"/>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人身伤害、责任纠纷、舆情</a:t>
            </a:r>
            <a:endParaRPr sz="820" b="1">
              <a:solidFill>
                <a:srgbClr val="D00914"/>
              </a:solidFill>
              <a:latin typeface="Noto Sans Hans"/>
              <a:ea typeface="Noto Sans Hans"/>
              <a:cs typeface="Noto Sans Hans"/>
            </a:endParaRPr>
          </a:p>
        </p:txBody>
      </p:sp>
      <p:sp>
        <p:nvSpPr>
          <p:cNvPr id="124" name="矩形 123"/>
          <p:cNvSpPr>
            <a:spLocks noGrp="1"/>
          </p:cNvSpPr>
          <p:nvPr/>
        </p:nvSpPr>
        <p:spPr>
          <a:xfrm>
            <a:off x="9372600" y="4627245"/>
            <a:ext cx="2362200" cy="381953"/>
          </a:xfrm>
          <a:prstGeom prst="rect">
            <a:avLst/>
          </a:prstGeom>
          <a:solidFill>
            <a:srgbClr val="F8E5E4"/>
          </a:solidFill>
          <a:ln w="9525">
            <a:solidFill>
              <a:srgbClr val="FFFFFF"/>
            </a:solidFill>
            <a:prstDash val="solid"/>
          </a:ln>
        </p:spPr>
      </p:sp>
      <p:sp>
        <p:nvSpPr>
          <p:cNvPr id="125" name="矩形 124"/>
          <p:cNvSpPr>
            <a:spLocks noGrp="1"/>
          </p:cNvSpPr>
          <p:nvPr/>
        </p:nvSpPr>
        <p:spPr>
          <a:xfrm>
            <a:off x="9391650" y="4636770"/>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护理机器人项目可能被叫停</a:t>
            </a:r>
            <a:endParaRPr sz="820" b="0">
              <a:solidFill>
                <a:srgbClr val="403A38"/>
              </a:solidFill>
              <a:latin typeface="Noto Sans Hans"/>
              <a:ea typeface="Noto Sans Hans"/>
              <a:cs typeface="Noto Sans Hans"/>
            </a:endParaRPr>
          </a:p>
        </p:txBody>
      </p:sp>
      <p:sp>
        <p:nvSpPr>
          <p:cNvPr id="126" name="矩形 125"/>
          <p:cNvSpPr>
            <a:spLocks noGrp="1"/>
          </p:cNvSpPr>
          <p:nvPr/>
        </p:nvSpPr>
        <p:spPr>
          <a:xfrm>
            <a:off x="457200" y="5009198"/>
            <a:ext cx="742950" cy="381953"/>
          </a:xfrm>
          <a:prstGeom prst="rect">
            <a:avLst/>
          </a:prstGeom>
          <a:solidFill>
            <a:srgbClr val="8E1118"/>
          </a:solidFill>
          <a:ln w="9525">
            <a:solidFill>
              <a:srgbClr val="FFFFFF"/>
            </a:solidFill>
            <a:prstDash val="solid"/>
          </a:ln>
        </p:spPr>
      </p:sp>
      <p:sp>
        <p:nvSpPr>
          <p:cNvPr id="127" name="矩形 126"/>
          <p:cNvSpPr>
            <a:spLocks noGrp="1"/>
          </p:cNvSpPr>
          <p:nvPr/>
        </p:nvSpPr>
        <p:spPr>
          <a:xfrm>
            <a:off x="476250" y="5018723"/>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断点</a:t>
            </a:r>
            <a:endParaRPr sz="890" b="1">
              <a:solidFill>
                <a:srgbClr val="FFFFFF"/>
              </a:solidFill>
              <a:latin typeface="Noto Sans Hans"/>
              <a:ea typeface="Noto Sans Hans"/>
              <a:cs typeface="Noto Sans Hans"/>
            </a:endParaRPr>
          </a:p>
        </p:txBody>
      </p:sp>
      <p:sp>
        <p:nvSpPr>
          <p:cNvPr id="128" name="矩形 127"/>
          <p:cNvSpPr>
            <a:spLocks noGrp="1"/>
          </p:cNvSpPr>
          <p:nvPr/>
        </p:nvSpPr>
        <p:spPr>
          <a:xfrm>
            <a:off x="1200150" y="5009198"/>
            <a:ext cx="904875" cy="381953"/>
          </a:xfrm>
          <a:prstGeom prst="rect">
            <a:avLst/>
          </a:prstGeom>
          <a:solidFill>
            <a:srgbClr val="F7F3F1"/>
          </a:solidFill>
          <a:ln w="9525">
            <a:solidFill>
              <a:srgbClr val="FFFFFF"/>
            </a:solidFill>
            <a:prstDash val="solid"/>
          </a:ln>
        </p:spPr>
      </p:sp>
      <p:sp>
        <p:nvSpPr>
          <p:cNvPr id="129" name="矩形 128"/>
          <p:cNvSpPr>
            <a:spLocks noGrp="1"/>
          </p:cNvSpPr>
          <p:nvPr/>
        </p:nvSpPr>
        <p:spPr>
          <a:xfrm>
            <a:off x="1219200" y="5018723"/>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断-2</a:t>
            </a:r>
            <a:endParaRPr sz="890" b="1">
              <a:solidFill>
                <a:srgbClr val="403A38"/>
              </a:solidFill>
              <a:latin typeface="Noto Sans Hans"/>
              <a:ea typeface="Noto Sans Hans"/>
              <a:cs typeface="Noto Sans Hans"/>
            </a:endParaRPr>
          </a:p>
        </p:txBody>
      </p:sp>
      <p:sp>
        <p:nvSpPr>
          <p:cNvPr id="130" name="矩形 129"/>
          <p:cNvSpPr>
            <a:spLocks noGrp="1"/>
          </p:cNvSpPr>
          <p:nvPr/>
        </p:nvSpPr>
        <p:spPr>
          <a:xfrm>
            <a:off x="2105025" y="5009198"/>
            <a:ext cx="1314450" cy="381953"/>
          </a:xfrm>
          <a:prstGeom prst="rect">
            <a:avLst/>
          </a:prstGeom>
          <a:solidFill>
            <a:srgbClr val="F7F3F1"/>
          </a:solidFill>
          <a:ln w="9525">
            <a:solidFill>
              <a:srgbClr val="FFFFFF"/>
            </a:solidFill>
            <a:prstDash val="solid"/>
          </a:ln>
        </p:spPr>
      </p:sp>
      <p:sp>
        <p:nvSpPr>
          <p:cNvPr id="131" name="矩形 130"/>
          <p:cNvSpPr>
            <a:spLocks noGrp="1"/>
          </p:cNvSpPr>
          <p:nvPr/>
        </p:nvSpPr>
        <p:spPr>
          <a:xfrm>
            <a:off x="2124075" y="5018723"/>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资质与临床证据</a:t>
            </a:r>
            <a:endParaRPr sz="820" b="0">
              <a:solidFill>
                <a:srgbClr val="403A38"/>
              </a:solidFill>
              <a:latin typeface="Noto Sans Hans"/>
              <a:ea typeface="Noto Sans Hans"/>
              <a:cs typeface="Noto Sans Hans"/>
            </a:endParaRPr>
          </a:p>
        </p:txBody>
      </p:sp>
      <p:sp>
        <p:nvSpPr>
          <p:cNvPr id="132" name="矩形 131"/>
          <p:cNvSpPr>
            <a:spLocks noGrp="1"/>
          </p:cNvSpPr>
          <p:nvPr/>
        </p:nvSpPr>
        <p:spPr>
          <a:xfrm>
            <a:off x="3419475" y="5009198"/>
            <a:ext cx="3190875" cy="381953"/>
          </a:xfrm>
          <a:prstGeom prst="rect">
            <a:avLst/>
          </a:prstGeom>
          <a:solidFill>
            <a:srgbClr val="F7F3F1"/>
          </a:solidFill>
          <a:ln w="9525">
            <a:solidFill>
              <a:srgbClr val="FFFFFF"/>
            </a:solidFill>
            <a:prstDash val="solid"/>
          </a:ln>
        </p:spPr>
      </p:sp>
      <p:sp>
        <p:nvSpPr>
          <p:cNvPr id="133" name="矩形 132"/>
          <p:cNvSpPr>
            <a:spLocks noGrp="1"/>
          </p:cNvSpPr>
          <p:nvPr/>
        </p:nvSpPr>
        <p:spPr>
          <a:xfrm>
            <a:off x="3438525" y="5018723"/>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注册范围、产品型号、适应症和宣传可能不一致</a:t>
            </a:r>
            <a:endParaRPr sz="820" b="0">
              <a:solidFill>
                <a:srgbClr val="403A38"/>
              </a:solidFill>
              <a:latin typeface="Noto Sans Hans"/>
              <a:ea typeface="Noto Sans Hans"/>
              <a:cs typeface="Noto Sans Hans"/>
            </a:endParaRPr>
          </a:p>
        </p:txBody>
      </p:sp>
      <p:sp>
        <p:nvSpPr>
          <p:cNvPr id="134" name="矩形 133"/>
          <p:cNvSpPr>
            <a:spLocks noGrp="1"/>
          </p:cNvSpPr>
          <p:nvPr/>
        </p:nvSpPr>
        <p:spPr>
          <a:xfrm>
            <a:off x="6610350" y="5009198"/>
            <a:ext cx="2762250" cy="381953"/>
          </a:xfrm>
          <a:prstGeom prst="rect">
            <a:avLst/>
          </a:prstGeom>
          <a:solidFill>
            <a:srgbClr val="F7F3F1"/>
          </a:solidFill>
          <a:ln w="9525">
            <a:solidFill>
              <a:srgbClr val="FFFFFF"/>
            </a:solidFill>
            <a:prstDash val="solid"/>
          </a:ln>
        </p:spPr>
      </p:sp>
      <p:sp>
        <p:nvSpPr>
          <p:cNvPr id="135" name="矩形 134"/>
          <p:cNvSpPr>
            <a:spLocks noGrp="1"/>
          </p:cNvSpPr>
          <p:nvPr/>
        </p:nvSpPr>
        <p:spPr>
          <a:xfrm>
            <a:off x="6629400" y="5018723"/>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违规采购、医疗器械合规风险</a:t>
            </a:r>
            <a:endParaRPr sz="820" b="1">
              <a:solidFill>
                <a:srgbClr val="D00914"/>
              </a:solidFill>
              <a:latin typeface="Noto Sans Hans"/>
              <a:ea typeface="Noto Sans Hans"/>
              <a:cs typeface="Noto Sans Hans"/>
            </a:endParaRPr>
          </a:p>
        </p:txBody>
      </p:sp>
      <p:sp>
        <p:nvSpPr>
          <p:cNvPr id="136" name="矩形 135"/>
          <p:cNvSpPr>
            <a:spLocks noGrp="1"/>
          </p:cNvSpPr>
          <p:nvPr/>
        </p:nvSpPr>
        <p:spPr>
          <a:xfrm>
            <a:off x="9372600" y="5009198"/>
            <a:ext cx="2362200" cy="381953"/>
          </a:xfrm>
          <a:prstGeom prst="rect">
            <a:avLst/>
          </a:prstGeom>
          <a:solidFill>
            <a:srgbClr val="F7F3F1"/>
          </a:solidFill>
          <a:ln w="9525">
            <a:solidFill>
              <a:srgbClr val="FFFFFF"/>
            </a:solidFill>
            <a:prstDash val="solid"/>
          </a:ln>
        </p:spPr>
      </p:sp>
      <p:sp>
        <p:nvSpPr>
          <p:cNvPr id="137" name="矩形 136"/>
          <p:cNvSpPr>
            <a:spLocks noGrp="1"/>
          </p:cNvSpPr>
          <p:nvPr/>
        </p:nvSpPr>
        <p:spPr>
          <a:xfrm>
            <a:off x="9391650" y="5018723"/>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医院端无法采购或形成退货损失</a:t>
            </a:r>
            <a:endParaRPr sz="820" b="0">
              <a:solidFill>
                <a:srgbClr val="403A38"/>
              </a:solidFill>
              <a:latin typeface="Noto Sans Hans"/>
              <a:ea typeface="Noto Sans Hans"/>
              <a:cs typeface="Noto Sans Hans"/>
            </a:endParaRPr>
          </a:p>
        </p:txBody>
      </p:sp>
      <p:sp>
        <p:nvSpPr>
          <p:cNvPr id="138" name="矩形 137"/>
          <p:cNvSpPr>
            <a:spLocks noGrp="1"/>
          </p:cNvSpPr>
          <p:nvPr/>
        </p:nvSpPr>
        <p:spPr>
          <a:xfrm>
            <a:off x="457200" y="5391150"/>
            <a:ext cx="742950" cy="381953"/>
          </a:xfrm>
          <a:prstGeom prst="rect">
            <a:avLst/>
          </a:prstGeom>
          <a:solidFill>
            <a:srgbClr val="8E1118"/>
          </a:solidFill>
          <a:ln w="9525">
            <a:solidFill>
              <a:srgbClr val="FFFFFF"/>
            </a:solidFill>
            <a:prstDash val="solid"/>
          </a:ln>
        </p:spPr>
      </p:sp>
      <p:sp>
        <p:nvSpPr>
          <p:cNvPr id="139" name="矩形 138"/>
          <p:cNvSpPr>
            <a:spLocks noGrp="1"/>
          </p:cNvSpPr>
          <p:nvPr/>
        </p:nvSpPr>
        <p:spPr>
          <a:xfrm>
            <a:off x="476250" y="5400675"/>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断点</a:t>
            </a:r>
            <a:endParaRPr sz="890" b="1">
              <a:solidFill>
                <a:srgbClr val="FFFFFF"/>
              </a:solidFill>
              <a:latin typeface="Noto Sans Hans"/>
              <a:ea typeface="Noto Sans Hans"/>
              <a:cs typeface="Noto Sans Hans"/>
            </a:endParaRPr>
          </a:p>
        </p:txBody>
      </p:sp>
      <p:sp>
        <p:nvSpPr>
          <p:cNvPr id="140" name="矩形 139"/>
          <p:cNvSpPr>
            <a:spLocks noGrp="1"/>
          </p:cNvSpPr>
          <p:nvPr/>
        </p:nvSpPr>
        <p:spPr>
          <a:xfrm>
            <a:off x="1200150" y="5391150"/>
            <a:ext cx="904875" cy="381953"/>
          </a:xfrm>
          <a:prstGeom prst="rect">
            <a:avLst/>
          </a:prstGeom>
          <a:solidFill>
            <a:srgbClr val="F8E5E4"/>
          </a:solidFill>
          <a:ln w="9525">
            <a:solidFill>
              <a:srgbClr val="FFFFFF"/>
            </a:solidFill>
            <a:prstDash val="solid"/>
          </a:ln>
        </p:spPr>
      </p:sp>
      <p:sp>
        <p:nvSpPr>
          <p:cNvPr id="141" name="矩形 140"/>
          <p:cNvSpPr>
            <a:spLocks noGrp="1"/>
          </p:cNvSpPr>
          <p:nvPr/>
        </p:nvSpPr>
        <p:spPr>
          <a:xfrm>
            <a:off x="1219200" y="5400675"/>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断-3</a:t>
            </a:r>
            <a:endParaRPr sz="890" b="1">
              <a:solidFill>
                <a:srgbClr val="403A38"/>
              </a:solidFill>
              <a:latin typeface="Noto Sans Hans"/>
              <a:ea typeface="Noto Sans Hans"/>
              <a:cs typeface="Noto Sans Hans"/>
            </a:endParaRPr>
          </a:p>
        </p:txBody>
      </p:sp>
      <p:sp>
        <p:nvSpPr>
          <p:cNvPr id="142" name="矩形 141"/>
          <p:cNvSpPr>
            <a:spLocks noGrp="1"/>
          </p:cNvSpPr>
          <p:nvPr/>
        </p:nvSpPr>
        <p:spPr>
          <a:xfrm>
            <a:off x="2105025" y="5391150"/>
            <a:ext cx="1314450" cy="381953"/>
          </a:xfrm>
          <a:prstGeom prst="rect">
            <a:avLst/>
          </a:prstGeom>
          <a:solidFill>
            <a:srgbClr val="F8E5E4"/>
          </a:solidFill>
          <a:ln w="9525">
            <a:solidFill>
              <a:srgbClr val="FFFFFF"/>
            </a:solidFill>
            <a:prstDash val="solid"/>
          </a:ln>
        </p:spPr>
      </p:sp>
      <p:sp>
        <p:nvSpPr>
          <p:cNvPr id="143" name="矩形 142"/>
          <p:cNvSpPr>
            <a:spLocks noGrp="1"/>
          </p:cNvSpPr>
          <p:nvPr/>
        </p:nvSpPr>
        <p:spPr>
          <a:xfrm>
            <a:off x="2124075" y="5400675"/>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数据与隐私</a:t>
            </a:r>
            <a:endParaRPr sz="820" b="0">
              <a:solidFill>
                <a:srgbClr val="403A38"/>
              </a:solidFill>
              <a:latin typeface="Noto Sans Hans"/>
              <a:ea typeface="Noto Sans Hans"/>
              <a:cs typeface="Noto Sans Hans"/>
            </a:endParaRPr>
          </a:p>
        </p:txBody>
      </p:sp>
      <p:sp>
        <p:nvSpPr>
          <p:cNvPr id="144" name="矩形 143"/>
          <p:cNvSpPr>
            <a:spLocks noGrp="1"/>
          </p:cNvSpPr>
          <p:nvPr/>
        </p:nvSpPr>
        <p:spPr>
          <a:xfrm>
            <a:off x="3419475" y="5391150"/>
            <a:ext cx="3190875" cy="381953"/>
          </a:xfrm>
          <a:prstGeom prst="rect">
            <a:avLst/>
          </a:prstGeom>
          <a:solidFill>
            <a:srgbClr val="F8E5E4"/>
          </a:solidFill>
          <a:ln w="9525">
            <a:solidFill>
              <a:srgbClr val="FFFFFF"/>
            </a:solidFill>
            <a:prstDash val="solid"/>
          </a:ln>
        </p:spPr>
      </p:sp>
      <p:sp>
        <p:nvSpPr>
          <p:cNvPr id="145" name="矩形 144"/>
          <p:cNvSpPr>
            <a:spLocks noGrp="1"/>
          </p:cNvSpPr>
          <p:nvPr/>
        </p:nvSpPr>
        <p:spPr>
          <a:xfrm>
            <a:off x="3438525" y="5400675"/>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家庭音视频、健康和认知数据长期采集，老人知情同意不足</a:t>
            </a:r>
            <a:endParaRPr sz="820" b="0">
              <a:solidFill>
                <a:srgbClr val="403A38"/>
              </a:solidFill>
              <a:latin typeface="Noto Sans Hans"/>
              <a:ea typeface="Noto Sans Hans"/>
              <a:cs typeface="Noto Sans Hans"/>
            </a:endParaRPr>
          </a:p>
        </p:txBody>
      </p:sp>
      <p:sp>
        <p:nvSpPr>
          <p:cNvPr id="146" name="矩形 145"/>
          <p:cNvSpPr>
            <a:spLocks noGrp="1"/>
          </p:cNvSpPr>
          <p:nvPr/>
        </p:nvSpPr>
        <p:spPr>
          <a:xfrm>
            <a:off x="6610350" y="5391150"/>
            <a:ext cx="2762250" cy="381953"/>
          </a:xfrm>
          <a:prstGeom prst="rect">
            <a:avLst/>
          </a:prstGeom>
          <a:solidFill>
            <a:srgbClr val="F8E5E4"/>
          </a:solidFill>
          <a:ln w="9525">
            <a:solidFill>
              <a:srgbClr val="FFFFFF"/>
            </a:solidFill>
            <a:prstDash val="solid"/>
          </a:ln>
        </p:spPr>
      </p:sp>
      <p:sp>
        <p:nvSpPr>
          <p:cNvPr id="147" name="矩形 146"/>
          <p:cNvSpPr>
            <a:spLocks noGrp="1"/>
          </p:cNvSpPr>
          <p:nvPr/>
        </p:nvSpPr>
        <p:spPr>
          <a:xfrm>
            <a:off x="6629400" y="5400675"/>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泄露、越权、国资合规和声誉风险</a:t>
            </a:r>
            <a:endParaRPr sz="820" b="1">
              <a:solidFill>
                <a:srgbClr val="D00914"/>
              </a:solidFill>
              <a:latin typeface="Noto Sans Hans"/>
              <a:ea typeface="Noto Sans Hans"/>
              <a:cs typeface="Noto Sans Hans"/>
            </a:endParaRPr>
          </a:p>
        </p:txBody>
      </p:sp>
      <p:sp>
        <p:nvSpPr>
          <p:cNvPr id="148" name="矩形 147"/>
          <p:cNvSpPr>
            <a:spLocks noGrp="1"/>
          </p:cNvSpPr>
          <p:nvPr/>
        </p:nvSpPr>
        <p:spPr>
          <a:xfrm>
            <a:off x="9372600" y="5391150"/>
            <a:ext cx="2362200" cy="381953"/>
          </a:xfrm>
          <a:prstGeom prst="rect">
            <a:avLst/>
          </a:prstGeom>
          <a:solidFill>
            <a:srgbClr val="F8E5E4"/>
          </a:solidFill>
          <a:ln w="9525">
            <a:solidFill>
              <a:srgbClr val="FFFFFF"/>
            </a:solidFill>
            <a:prstDash val="solid"/>
          </a:ln>
        </p:spPr>
      </p:sp>
      <p:sp>
        <p:nvSpPr>
          <p:cNvPr id="149" name="矩形 148"/>
          <p:cNvSpPr>
            <a:spLocks noGrp="1"/>
          </p:cNvSpPr>
          <p:nvPr/>
        </p:nvSpPr>
        <p:spPr>
          <a:xfrm>
            <a:off x="9391650" y="5400675"/>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平台和产品无法持续运营</a:t>
            </a:r>
            <a:endParaRPr sz="820" b="0">
              <a:solidFill>
                <a:srgbClr val="403A38"/>
              </a:solidFill>
              <a:latin typeface="Noto Sans Hans"/>
              <a:ea typeface="Noto Sans Hans"/>
              <a:cs typeface="Noto Sans Hans"/>
            </a:endParaRPr>
          </a:p>
        </p:txBody>
      </p:sp>
      <p:sp>
        <p:nvSpPr>
          <p:cNvPr id="150" name="矩形 149"/>
          <p:cNvSpPr>
            <a:spLocks noGrp="1"/>
          </p:cNvSpPr>
          <p:nvPr/>
        </p:nvSpPr>
        <p:spPr>
          <a:xfrm>
            <a:off x="457200" y="5773103"/>
            <a:ext cx="742950" cy="381953"/>
          </a:xfrm>
          <a:prstGeom prst="rect">
            <a:avLst/>
          </a:prstGeom>
          <a:solidFill>
            <a:srgbClr val="8E1118"/>
          </a:solidFill>
          <a:ln w="9525">
            <a:solidFill>
              <a:srgbClr val="FFFFFF"/>
            </a:solidFill>
            <a:prstDash val="solid"/>
          </a:ln>
        </p:spPr>
      </p:sp>
      <p:sp>
        <p:nvSpPr>
          <p:cNvPr id="151" name="矩形 150"/>
          <p:cNvSpPr>
            <a:spLocks noGrp="1"/>
          </p:cNvSpPr>
          <p:nvPr/>
        </p:nvSpPr>
        <p:spPr>
          <a:xfrm>
            <a:off x="476250" y="5782628"/>
            <a:ext cx="704850" cy="362903"/>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断点</a:t>
            </a:r>
            <a:endParaRPr sz="890" b="1">
              <a:solidFill>
                <a:srgbClr val="FFFFFF"/>
              </a:solidFill>
              <a:latin typeface="Noto Sans Hans"/>
              <a:ea typeface="Noto Sans Hans"/>
              <a:cs typeface="Noto Sans Hans"/>
            </a:endParaRPr>
          </a:p>
        </p:txBody>
      </p:sp>
      <p:sp>
        <p:nvSpPr>
          <p:cNvPr id="152" name="矩形 151"/>
          <p:cNvSpPr>
            <a:spLocks noGrp="1"/>
          </p:cNvSpPr>
          <p:nvPr/>
        </p:nvSpPr>
        <p:spPr>
          <a:xfrm>
            <a:off x="1200150" y="5773103"/>
            <a:ext cx="904875" cy="381953"/>
          </a:xfrm>
          <a:prstGeom prst="rect">
            <a:avLst/>
          </a:prstGeom>
          <a:solidFill>
            <a:srgbClr val="F7F3F1"/>
          </a:solidFill>
          <a:ln w="9525">
            <a:solidFill>
              <a:srgbClr val="FFFFFF"/>
            </a:solidFill>
            <a:prstDash val="solid"/>
          </a:ln>
        </p:spPr>
      </p:sp>
      <p:sp>
        <p:nvSpPr>
          <p:cNvPr id="153" name="矩形 152"/>
          <p:cNvSpPr>
            <a:spLocks noGrp="1"/>
          </p:cNvSpPr>
          <p:nvPr/>
        </p:nvSpPr>
        <p:spPr>
          <a:xfrm>
            <a:off x="1219200" y="5782628"/>
            <a:ext cx="866775" cy="362903"/>
          </a:xfrm>
          <a:prstGeom prst="rect">
            <a:avLst/>
          </a:prstGeom>
          <a:noFill/>
          <a:ln w="0">
            <a:noFill/>
            <a:prstDash val="solid"/>
          </a:ln>
        </p:spPr>
        <p:txBody>
          <a:bodyPr wrap="square" lIns="47625" tIns="19050" rIns="47625" bIns="19050" anchor="ctr">
            <a:normAutofit/>
          </a:bodyPr>
          <a:lstStyle/>
          <a:p>
            <a:pPr algn="ctr">
              <a:defRPr sz="790" b="1">
                <a:solidFill>
                  <a:srgbClr val="403A38"/>
                </a:solidFill>
                <a:latin typeface="Noto Sans Hans"/>
                <a:ea typeface="Noto Sans Hans"/>
                <a:cs typeface="Noto Sans Hans"/>
              </a:defRPr>
            </a:pPr>
            <a:r>
              <a:rPr sz="890" b="1">
                <a:solidFill>
                  <a:srgbClr val="403A38"/>
                </a:solidFill>
                <a:latin typeface="Noto Sans Hans"/>
                <a:ea typeface="Noto Sans Hans"/>
                <a:cs typeface="Noto Sans Hans"/>
              </a:rPr>
              <a:t>断-4</a:t>
            </a:r>
            <a:endParaRPr sz="890" b="1">
              <a:solidFill>
                <a:srgbClr val="403A38"/>
              </a:solidFill>
              <a:latin typeface="Noto Sans Hans"/>
              <a:ea typeface="Noto Sans Hans"/>
              <a:cs typeface="Noto Sans Hans"/>
            </a:endParaRPr>
          </a:p>
        </p:txBody>
      </p:sp>
      <p:sp>
        <p:nvSpPr>
          <p:cNvPr id="154" name="矩形 153"/>
          <p:cNvSpPr>
            <a:spLocks noGrp="1"/>
          </p:cNvSpPr>
          <p:nvPr/>
        </p:nvSpPr>
        <p:spPr>
          <a:xfrm>
            <a:off x="2105025" y="5773103"/>
            <a:ext cx="1314450" cy="381953"/>
          </a:xfrm>
          <a:prstGeom prst="rect">
            <a:avLst/>
          </a:prstGeom>
          <a:solidFill>
            <a:srgbClr val="F7F3F1"/>
          </a:solidFill>
          <a:ln w="9525">
            <a:solidFill>
              <a:srgbClr val="FFFFFF"/>
            </a:solidFill>
            <a:prstDash val="solid"/>
          </a:ln>
        </p:spPr>
      </p:sp>
      <p:sp>
        <p:nvSpPr>
          <p:cNvPr id="155" name="矩形 154"/>
          <p:cNvSpPr>
            <a:spLocks noGrp="1"/>
          </p:cNvSpPr>
          <p:nvPr/>
        </p:nvSpPr>
        <p:spPr>
          <a:xfrm>
            <a:off x="2124075" y="5782628"/>
            <a:ext cx="1276350" cy="362903"/>
          </a:xfrm>
          <a:prstGeom prst="rect">
            <a:avLst/>
          </a:prstGeom>
          <a:noFill/>
          <a:ln w="0">
            <a:noFill/>
            <a:prstDash val="solid"/>
          </a:ln>
        </p:spPr>
        <p:txBody>
          <a:bodyPr wrap="square" lIns="47625" tIns="19050" rIns="47625" bIns="19050" anchor="ctr">
            <a:normAutofit/>
          </a:bodyPr>
          <a:lstStyle/>
          <a:p>
            <a:pPr algn="ctr">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估值与国资投资</a:t>
            </a:r>
            <a:endParaRPr sz="820" b="0">
              <a:solidFill>
                <a:srgbClr val="403A38"/>
              </a:solidFill>
              <a:latin typeface="Noto Sans Hans"/>
              <a:ea typeface="Noto Sans Hans"/>
              <a:cs typeface="Noto Sans Hans"/>
            </a:endParaRPr>
          </a:p>
        </p:txBody>
      </p:sp>
      <p:sp>
        <p:nvSpPr>
          <p:cNvPr id="156" name="矩形 155"/>
          <p:cNvSpPr>
            <a:spLocks noGrp="1"/>
          </p:cNvSpPr>
          <p:nvPr/>
        </p:nvSpPr>
        <p:spPr>
          <a:xfrm>
            <a:off x="3419475" y="5773103"/>
            <a:ext cx="3190875" cy="381953"/>
          </a:xfrm>
          <a:prstGeom prst="rect">
            <a:avLst/>
          </a:prstGeom>
          <a:solidFill>
            <a:srgbClr val="F7F3F1"/>
          </a:solidFill>
          <a:ln w="9525">
            <a:solidFill>
              <a:srgbClr val="FFFFFF"/>
            </a:solidFill>
            <a:prstDash val="solid"/>
          </a:ln>
        </p:spPr>
      </p:sp>
      <p:sp>
        <p:nvSpPr>
          <p:cNvPr id="157" name="矩形 156"/>
          <p:cNvSpPr>
            <a:spLocks noGrp="1"/>
          </p:cNvSpPr>
          <p:nvPr/>
        </p:nvSpPr>
        <p:spPr>
          <a:xfrm>
            <a:off x="3438525" y="5782628"/>
            <a:ext cx="3152775" cy="36290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人形/具身智能估值脱离养老收入，技术早期且退出路径窄</a:t>
            </a:r>
            <a:endParaRPr sz="820" b="0">
              <a:solidFill>
                <a:srgbClr val="403A38"/>
              </a:solidFill>
              <a:latin typeface="Noto Sans Hans"/>
              <a:ea typeface="Noto Sans Hans"/>
              <a:cs typeface="Noto Sans Hans"/>
            </a:endParaRPr>
          </a:p>
        </p:txBody>
      </p:sp>
      <p:sp>
        <p:nvSpPr>
          <p:cNvPr id="158" name="矩形 157"/>
          <p:cNvSpPr>
            <a:spLocks noGrp="1"/>
          </p:cNvSpPr>
          <p:nvPr/>
        </p:nvSpPr>
        <p:spPr>
          <a:xfrm>
            <a:off x="6610350" y="5773103"/>
            <a:ext cx="2762250" cy="381953"/>
          </a:xfrm>
          <a:prstGeom prst="rect">
            <a:avLst/>
          </a:prstGeom>
          <a:solidFill>
            <a:srgbClr val="F7F3F1"/>
          </a:solidFill>
          <a:ln w="9525">
            <a:solidFill>
              <a:srgbClr val="FFFFFF"/>
            </a:solidFill>
            <a:prstDash val="solid"/>
          </a:ln>
        </p:spPr>
      </p:sp>
      <p:sp>
        <p:nvSpPr>
          <p:cNvPr id="159" name="矩形 158"/>
          <p:cNvSpPr>
            <a:spLocks noGrp="1"/>
          </p:cNvSpPr>
          <p:nvPr/>
        </p:nvSpPr>
        <p:spPr>
          <a:xfrm>
            <a:off x="6629400" y="5782628"/>
            <a:ext cx="2724150" cy="362903"/>
          </a:xfrm>
          <a:prstGeom prst="rect">
            <a:avLst/>
          </a:prstGeom>
          <a:noFill/>
          <a:ln w="0">
            <a:noFill/>
            <a:prstDash val="solid"/>
          </a:ln>
        </p:spPr>
        <p:txBody>
          <a:bodyPr wrap="square" lIns="47625" tIns="19050" rIns="47625" bIns="19050" anchor="ctr">
            <a:normAutofit/>
          </a:bodyPr>
          <a:lstStyle/>
          <a:p>
            <a:pPr algn="l">
              <a:defRPr sz="715" b="1">
                <a:solidFill>
                  <a:srgbClr val="D00914"/>
                </a:solidFill>
                <a:latin typeface="Noto Sans Hans"/>
                <a:ea typeface="Noto Sans Hans"/>
                <a:cs typeface="Noto Sans Hans"/>
              </a:defRPr>
            </a:pPr>
            <a:r>
              <a:rPr sz="820" b="1">
                <a:solidFill>
                  <a:srgbClr val="D00914"/>
                </a:solidFill>
                <a:latin typeface="Noto Sans Hans"/>
                <a:ea typeface="Noto Sans Hans"/>
                <a:cs typeface="Noto Sans Hans"/>
              </a:rPr>
              <a:t>减值、回撤和问责风险</a:t>
            </a:r>
            <a:endParaRPr sz="820" b="1">
              <a:solidFill>
                <a:srgbClr val="D00914"/>
              </a:solidFill>
              <a:latin typeface="Noto Sans Hans"/>
              <a:ea typeface="Noto Sans Hans"/>
              <a:cs typeface="Noto Sans Hans"/>
            </a:endParaRPr>
          </a:p>
        </p:txBody>
      </p:sp>
      <p:sp>
        <p:nvSpPr>
          <p:cNvPr id="160" name="矩形 159"/>
          <p:cNvSpPr>
            <a:spLocks noGrp="1"/>
          </p:cNvSpPr>
          <p:nvPr/>
        </p:nvSpPr>
        <p:spPr>
          <a:xfrm>
            <a:off x="9372600" y="5773103"/>
            <a:ext cx="2362200" cy="381953"/>
          </a:xfrm>
          <a:prstGeom prst="rect">
            <a:avLst/>
          </a:prstGeom>
          <a:solidFill>
            <a:srgbClr val="F7F3F1"/>
          </a:solidFill>
          <a:ln w="9525">
            <a:solidFill>
              <a:srgbClr val="FFFFFF"/>
            </a:solidFill>
            <a:prstDash val="solid"/>
          </a:ln>
        </p:spPr>
      </p:sp>
      <p:sp>
        <p:nvSpPr>
          <p:cNvPr id="161" name="矩形 160"/>
          <p:cNvSpPr>
            <a:spLocks noGrp="1"/>
          </p:cNvSpPr>
          <p:nvPr/>
        </p:nvSpPr>
        <p:spPr>
          <a:xfrm>
            <a:off x="9391650" y="5782628"/>
            <a:ext cx="2324100" cy="362903"/>
          </a:xfrm>
          <a:prstGeom prst="rect">
            <a:avLst/>
          </a:prstGeom>
          <a:noFill/>
          <a:ln w="0">
            <a:noFill/>
            <a:prstDash val="solid"/>
          </a:ln>
        </p:spPr>
        <p:txBody>
          <a:bodyPr wrap="square" lIns="47625" tIns="19050" rIns="47625" bIns="19050" anchor="ctr">
            <a:normAutofit/>
          </a:bodyPr>
          <a:lstStyle/>
          <a:p>
            <a:pPr algn="l">
              <a:defRPr sz="715" b="0">
                <a:solidFill>
                  <a:srgbClr val="403A38"/>
                </a:solidFill>
                <a:latin typeface="Noto Sans Hans"/>
                <a:ea typeface="Noto Sans Hans"/>
                <a:cs typeface="Noto Sans Hans"/>
              </a:defRPr>
            </a:pPr>
            <a:r>
              <a:rPr sz="820" b="0">
                <a:solidFill>
                  <a:srgbClr val="403A38"/>
                </a:solidFill>
                <a:latin typeface="Noto Sans Hans"/>
                <a:ea typeface="Noto Sans Hans"/>
                <a:cs typeface="Noto Sans Hans"/>
              </a:rPr>
              <a:t>资本投入无法形成产业与财务回报</a:t>
            </a:r>
            <a:endParaRPr sz="820" b="0">
              <a:solidFill>
                <a:srgbClr val="403A38"/>
              </a:solidFill>
              <a:latin typeface="Noto Sans Hans"/>
              <a:ea typeface="Noto Sans Hans"/>
              <a:cs typeface="Noto Sans Hans"/>
            </a:endParaRPr>
          </a:p>
        </p:txBody>
      </p:sp>
      <p:sp>
        <p:nvSpPr>
          <p:cNvPr id="162" name="圆角矩形 161"/>
          <p:cNvSpPr>
            <a:spLocks noGrp="1"/>
          </p:cNvSpPr>
          <p:nvPr/>
        </p:nvSpPr>
        <p:spPr>
          <a:xfrm>
            <a:off x="457200" y="6210300"/>
            <a:ext cx="11277600" cy="257175"/>
          </a:xfrm>
          <a:prstGeom prst="roundRect">
            <a:avLst>
              <a:gd name="adj" fmla="val 7407"/>
            </a:avLst>
          </a:prstGeom>
          <a:solidFill>
            <a:srgbClr val="8E1118"/>
          </a:solidFill>
          <a:ln w="0">
            <a:noFill/>
            <a:prstDash val="solid"/>
          </a:ln>
        </p:spPr>
      </p:sp>
      <p:sp>
        <p:nvSpPr>
          <p:cNvPr id="163" name="矩形 162"/>
          <p:cNvSpPr>
            <a:spLocks noGrp="1"/>
          </p:cNvSpPr>
          <p:nvPr/>
        </p:nvSpPr>
        <p:spPr>
          <a:xfrm>
            <a:off x="552450" y="6229350"/>
            <a:ext cx="11087100" cy="219075"/>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核心判断：安全、证照和数据是项目“否决项”；需求、ROI和支付是商业化“必要条件”；场景、接口、售后和组织协同决定能否规模复制。</a:t>
            </a:r>
            <a:endParaRPr sz="940" b="1">
              <a:solidFill>
                <a:srgbClr val="FFFFFF"/>
              </a:solidFill>
              <a:latin typeface="Noto Sans Hans"/>
              <a:ea typeface="Noto Sans Hans"/>
              <a:cs typeface="Noto Sans Hans"/>
            </a:endParaRPr>
          </a:p>
        </p:txBody>
      </p:sp>
      <p:sp>
        <p:nvSpPr>
          <p:cNvPr id="164" name="矩形 163"/>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资料来源：养老机器人产业增强基础数据库“产业问题”；国家试点、监管政策、政府采购和企业公开资料。</a:t>
            </a:r>
            <a:endParaRPr sz="715" b="0">
              <a:solidFill>
                <a:srgbClr val="716B68"/>
              </a:solidFill>
              <a:latin typeface="Noto Sans Hans"/>
              <a:ea typeface="Noto Sans Hans"/>
              <a:cs typeface="Noto Sans Hans"/>
            </a:endParaRPr>
          </a:p>
        </p:txBody>
      </p:sp>
      <p:sp>
        <p:nvSpPr>
          <p:cNvPr id="165" name="矩形 164"/>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19</a:t>
            </a:r>
            <a:endParaRPr lang="en-US" sz="900" b="1">
              <a:solidFill>
                <a:srgbClr val="D00914"/>
              </a:solidFill>
              <a:latin typeface="Noto Sans Hans"/>
              <a:ea typeface="Noto Sans Hans"/>
              <a:cs typeface="Noto Sans H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【问题归因】</a:t>
            </a:r>
            <a:r>
              <a:rPr sz="1900" b="1">
                <a:solidFill>
                  <a:srgbClr val="403A38"/>
                </a:solidFill>
                <a:latin typeface="Noto Sans Hans"/>
                <a:ea typeface="Noto Sans Hans"/>
                <a:cs typeface="Noto Sans Hans"/>
              </a:rPr>
              <a:t>核心问题源于产业早期、场景复杂、支付分散和组织割裂，需用场景与资本协同构建闭环</a:t>
            </a:r>
            <a:endParaRPr sz="1900"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以真实任务和运营数据为抓手，把“问题清单”转化为试点标准、投资条件和投后赋能任务</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8D1CD"/>
          </a:solidFill>
          <a:ln w="0">
            <a:noFill/>
            <a:prstDash val="solid"/>
          </a:ln>
        </p:spPr>
      </p:sp>
      <p:sp>
        <p:nvSpPr>
          <p:cNvPr id="6" name="矩形 5"/>
          <p:cNvSpPr>
            <a:spLocks noGrp="1"/>
          </p:cNvSpPr>
          <p:nvPr/>
        </p:nvSpPr>
        <p:spPr>
          <a:xfrm>
            <a:off x="457200" y="1200150"/>
            <a:ext cx="2381250" cy="361950"/>
          </a:xfrm>
          <a:prstGeom prst="rect">
            <a:avLst/>
          </a:prstGeom>
          <a:solidFill>
            <a:srgbClr val="164A7B"/>
          </a:solidFill>
          <a:ln w="0">
            <a:noFill/>
            <a:prstDash val="solid"/>
          </a:ln>
        </p:spPr>
      </p:sp>
      <p:sp>
        <p:nvSpPr>
          <p:cNvPr id="7" name="矩形 6"/>
          <p:cNvSpPr>
            <a:spLocks noGrp="1"/>
          </p:cNvSpPr>
          <p:nvPr/>
        </p:nvSpPr>
        <p:spPr>
          <a:xfrm>
            <a:off x="504825" y="1238250"/>
            <a:ext cx="2286000" cy="2857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核心原因</a:t>
            </a:r>
            <a:endParaRPr sz="1200" b="1">
              <a:solidFill>
                <a:srgbClr val="FFFFFF"/>
              </a:solidFill>
              <a:latin typeface="Noto Sans Hans"/>
              <a:ea typeface="Noto Sans Hans"/>
              <a:cs typeface="Noto Sans Hans"/>
            </a:endParaRPr>
          </a:p>
        </p:txBody>
      </p:sp>
      <p:sp>
        <p:nvSpPr>
          <p:cNvPr id="8" name="矩形 7"/>
          <p:cNvSpPr>
            <a:spLocks noGrp="1"/>
          </p:cNvSpPr>
          <p:nvPr/>
        </p:nvSpPr>
        <p:spPr>
          <a:xfrm>
            <a:off x="2914650" y="1200150"/>
            <a:ext cx="3429000" cy="361950"/>
          </a:xfrm>
          <a:prstGeom prst="rect">
            <a:avLst/>
          </a:prstGeom>
          <a:solidFill>
            <a:srgbClr val="164A7B"/>
          </a:solidFill>
          <a:ln w="0">
            <a:noFill/>
            <a:prstDash val="solid"/>
          </a:ln>
        </p:spPr>
      </p:sp>
      <p:sp>
        <p:nvSpPr>
          <p:cNvPr id="9" name="矩形 8"/>
          <p:cNvSpPr>
            <a:spLocks noGrp="1"/>
          </p:cNvSpPr>
          <p:nvPr/>
        </p:nvSpPr>
        <p:spPr>
          <a:xfrm>
            <a:off x="2962275" y="1238250"/>
            <a:ext cx="3333750" cy="2857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问题产生机制</a:t>
            </a:r>
            <a:endParaRPr sz="1200" b="1">
              <a:solidFill>
                <a:srgbClr val="FFFFFF"/>
              </a:solidFill>
              <a:latin typeface="Noto Sans Hans"/>
              <a:ea typeface="Noto Sans Hans"/>
              <a:cs typeface="Noto Sans Hans"/>
            </a:endParaRPr>
          </a:p>
        </p:txBody>
      </p:sp>
      <p:sp>
        <p:nvSpPr>
          <p:cNvPr id="10" name="矩形 9"/>
          <p:cNvSpPr>
            <a:spLocks noGrp="1"/>
          </p:cNvSpPr>
          <p:nvPr/>
        </p:nvSpPr>
        <p:spPr>
          <a:xfrm>
            <a:off x="6419850" y="1200150"/>
            <a:ext cx="3429000" cy="361950"/>
          </a:xfrm>
          <a:prstGeom prst="rect">
            <a:avLst/>
          </a:prstGeom>
          <a:solidFill>
            <a:srgbClr val="C94A27"/>
          </a:solidFill>
          <a:ln w="0">
            <a:noFill/>
            <a:prstDash val="solid"/>
          </a:ln>
        </p:spPr>
      </p:sp>
      <p:sp>
        <p:nvSpPr>
          <p:cNvPr id="11" name="矩形 10"/>
          <p:cNvSpPr>
            <a:spLocks noGrp="1"/>
          </p:cNvSpPr>
          <p:nvPr/>
        </p:nvSpPr>
        <p:spPr>
          <a:xfrm>
            <a:off x="6467475" y="1238250"/>
            <a:ext cx="3333750" cy="2857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策略选择 / 解决路径</a:t>
            </a:r>
            <a:endParaRPr sz="1200" b="1">
              <a:solidFill>
                <a:srgbClr val="FFFFFF"/>
              </a:solidFill>
              <a:latin typeface="Noto Sans Hans"/>
              <a:ea typeface="Noto Sans Hans"/>
              <a:cs typeface="Noto Sans Hans"/>
            </a:endParaRPr>
          </a:p>
        </p:txBody>
      </p:sp>
      <p:sp>
        <p:nvSpPr>
          <p:cNvPr id="12" name="矩形 11"/>
          <p:cNvSpPr>
            <a:spLocks noGrp="1"/>
          </p:cNvSpPr>
          <p:nvPr/>
        </p:nvSpPr>
        <p:spPr>
          <a:xfrm>
            <a:off x="9925050" y="1200150"/>
            <a:ext cx="1809750" cy="361950"/>
          </a:xfrm>
          <a:prstGeom prst="rect">
            <a:avLst/>
          </a:prstGeom>
          <a:solidFill>
            <a:srgbClr val="8E1118"/>
          </a:solidFill>
          <a:ln w="0">
            <a:noFill/>
            <a:prstDash val="solid"/>
          </a:ln>
        </p:spPr>
      </p:sp>
      <p:sp>
        <p:nvSpPr>
          <p:cNvPr id="13" name="矩形 12"/>
          <p:cNvSpPr>
            <a:spLocks noGrp="1"/>
          </p:cNvSpPr>
          <p:nvPr/>
        </p:nvSpPr>
        <p:spPr>
          <a:xfrm>
            <a:off x="9972675" y="1238250"/>
            <a:ext cx="1714500" cy="285750"/>
          </a:xfrm>
          <a:prstGeom prst="rect">
            <a:avLst/>
          </a:prstGeom>
          <a:noFill/>
          <a:ln w="0">
            <a:noFill/>
            <a:prstDash val="solid"/>
          </a:ln>
        </p:spPr>
        <p:txBody>
          <a:bodyPr wrap="square" lIns="47625" tIns="19050" rIns="47625" bIns="19050" anchor="ctr">
            <a:normAutofit/>
          </a:bodyPr>
          <a:lstStyle/>
          <a:p>
            <a:pPr algn="ctr">
              <a:defRPr sz="105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责任主体</a:t>
            </a:r>
            <a:endParaRPr sz="1200" b="1">
              <a:solidFill>
                <a:srgbClr val="FFFFFF"/>
              </a:solidFill>
              <a:latin typeface="Noto Sans Hans"/>
              <a:ea typeface="Noto Sans Hans"/>
              <a:cs typeface="Noto Sans Hans"/>
            </a:endParaRPr>
          </a:p>
        </p:txBody>
      </p:sp>
      <p:sp>
        <p:nvSpPr>
          <p:cNvPr id="14" name="矩形 13"/>
          <p:cNvSpPr>
            <a:spLocks noGrp="1"/>
          </p:cNvSpPr>
          <p:nvPr/>
        </p:nvSpPr>
        <p:spPr>
          <a:xfrm>
            <a:off x="457200" y="1638300"/>
            <a:ext cx="2381250" cy="557213"/>
          </a:xfrm>
          <a:prstGeom prst="rect">
            <a:avLst/>
          </a:prstGeom>
          <a:solidFill>
            <a:srgbClr val="F8E5E4"/>
          </a:solidFill>
          <a:ln w="9525">
            <a:solidFill>
              <a:srgbClr val="FFFFFF"/>
            </a:solidFill>
            <a:prstDash val="solid"/>
          </a:ln>
        </p:spPr>
      </p:sp>
      <p:sp>
        <p:nvSpPr>
          <p:cNvPr id="15" name="矩形 14"/>
          <p:cNvSpPr>
            <a:spLocks noGrp="1"/>
          </p:cNvSpPr>
          <p:nvPr/>
        </p:nvSpPr>
        <p:spPr>
          <a:xfrm>
            <a:off x="476250" y="1647825"/>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需求定义原因</a:t>
            </a:r>
            <a:endParaRPr sz="970" b="1">
              <a:solidFill>
                <a:srgbClr val="164A7B"/>
              </a:solidFill>
              <a:latin typeface="Noto Sans Hans"/>
              <a:ea typeface="Noto Sans Hans"/>
              <a:cs typeface="Noto Sans Hans"/>
            </a:endParaRPr>
          </a:p>
        </p:txBody>
      </p:sp>
      <p:sp>
        <p:nvSpPr>
          <p:cNvPr id="16" name="矩形 15"/>
          <p:cNvSpPr>
            <a:spLocks noGrp="1"/>
          </p:cNvSpPr>
          <p:nvPr/>
        </p:nvSpPr>
        <p:spPr>
          <a:xfrm>
            <a:off x="2914650" y="1638300"/>
            <a:ext cx="3429000" cy="557213"/>
          </a:xfrm>
          <a:prstGeom prst="rect">
            <a:avLst/>
          </a:prstGeom>
          <a:solidFill>
            <a:srgbClr val="F8E5E4"/>
          </a:solidFill>
          <a:ln w="9525">
            <a:solidFill>
              <a:srgbClr val="FFFFFF"/>
            </a:solidFill>
            <a:prstDash val="solid"/>
          </a:ln>
        </p:spPr>
      </p:sp>
      <p:sp>
        <p:nvSpPr>
          <p:cNvPr id="17" name="矩形 16"/>
          <p:cNvSpPr>
            <a:spLocks noGrp="1"/>
          </p:cNvSpPr>
          <p:nvPr/>
        </p:nvSpPr>
        <p:spPr>
          <a:xfrm>
            <a:off x="2933700" y="1647825"/>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以机器人形态替代任务分析，老人分级、护理流程和设施差异未进入产品定义</a:t>
            </a:r>
            <a:endParaRPr sz="900" b="0">
              <a:solidFill>
                <a:srgbClr val="403A38"/>
              </a:solidFill>
              <a:latin typeface="Noto Sans Hans"/>
              <a:ea typeface="Noto Sans Hans"/>
              <a:cs typeface="Noto Sans Hans"/>
            </a:endParaRPr>
          </a:p>
        </p:txBody>
      </p:sp>
      <p:sp>
        <p:nvSpPr>
          <p:cNvPr id="18" name="矩形 17"/>
          <p:cNvSpPr>
            <a:spLocks noGrp="1"/>
          </p:cNvSpPr>
          <p:nvPr/>
        </p:nvSpPr>
        <p:spPr>
          <a:xfrm>
            <a:off x="6419850" y="1638300"/>
            <a:ext cx="3429000" cy="557213"/>
          </a:xfrm>
          <a:prstGeom prst="rect">
            <a:avLst/>
          </a:prstGeom>
          <a:solidFill>
            <a:srgbClr val="EEF3F8"/>
          </a:solidFill>
          <a:ln w="9525">
            <a:solidFill>
              <a:srgbClr val="FFFFFF"/>
            </a:solidFill>
            <a:prstDash val="solid"/>
          </a:ln>
        </p:spPr>
      </p:sp>
      <p:sp>
        <p:nvSpPr>
          <p:cNvPr id="19" name="矩形 18"/>
          <p:cNvSpPr>
            <a:spLocks noGrp="1"/>
          </p:cNvSpPr>
          <p:nvPr/>
        </p:nvSpPr>
        <p:spPr>
          <a:xfrm>
            <a:off x="6438900" y="1647825"/>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按任务立项，建立老人画像、场景流程和需求清单</a:t>
            </a:r>
            <a:endParaRPr sz="910" b="1">
              <a:solidFill>
                <a:srgbClr val="8E1118"/>
              </a:solidFill>
              <a:latin typeface="Noto Sans Hans"/>
              <a:ea typeface="Noto Sans Hans"/>
              <a:cs typeface="Noto Sans Hans"/>
            </a:endParaRPr>
          </a:p>
        </p:txBody>
      </p:sp>
      <p:sp>
        <p:nvSpPr>
          <p:cNvPr id="20" name="矩形 19"/>
          <p:cNvSpPr>
            <a:spLocks noGrp="1"/>
          </p:cNvSpPr>
          <p:nvPr/>
        </p:nvSpPr>
        <p:spPr>
          <a:xfrm>
            <a:off x="9925050" y="1638300"/>
            <a:ext cx="1809750" cy="557213"/>
          </a:xfrm>
          <a:prstGeom prst="rect">
            <a:avLst/>
          </a:prstGeom>
          <a:solidFill>
            <a:srgbClr val="F8E5E4"/>
          </a:solidFill>
          <a:ln w="9525">
            <a:solidFill>
              <a:srgbClr val="FFFFFF"/>
            </a:solidFill>
            <a:prstDash val="solid"/>
          </a:ln>
        </p:spPr>
      </p:sp>
      <p:sp>
        <p:nvSpPr>
          <p:cNvPr id="21" name="矩形 20"/>
          <p:cNvSpPr>
            <a:spLocks noGrp="1"/>
          </p:cNvSpPr>
          <p:nvPr/>
        </p:nvSpPr>
        <p:spPr>
          <a:xfrm>
            <a:off x="9944100" y="1647825"/>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城投场景平台+康养机构</a:t>
            </a:r>
            <a:endParaRPr sz="910" b="1">
              <a:solidFill>
                <a:srgbClr val="403A38"/>
              </a:solidFill>
              <a:latin typeface="Noto Sans Hans"/>
              <a:ea typeface="Noto Sans Hans"/>
              <a:cs typeface="Noto Sans Hans"/>
            </a:endParaRPr>
          </a:p>
        </p:txBody>
      </p:sp>
      <p:sp>
        <p:nvSpPr>
          <p:cNvPr id="22" name="矩形 21"/>
          <p:cNvSpPr>
            <a:spLocks noGrp="1"/>
          </p:cNvSpPr>
          <p:nvPr/>
        </p:nvSpPr>
        <p:spPr>
          <a:xfrm>
            <a:off x="457200" y="2195513"/>
            <a:ext cx="2381250" cy="557213"/>
          </a:xfrm>
          <a:prstGeom prst="rect">
            <a:avLst/>
          </a:prstGeom>
          <a:solidFill>
            <a:srgbClr val="F7F3F1"/>
          </a:solidFill>
          <a:ln w="9525">
            <a:solidFill>
              <a:srgbClr val="FFFFFF"/>
            </a:solidFill>
            <a:prstDash val="solid"/>
          </a:ln>
        </p:spPr>
      </p:sp>
      <p:sp>
        <p:nvSpPr>
          <p:cNvPr id="23" name="矩形 22"/>
          <p:cNvSpPr>
            <a:spLocks noGrp="1"/>
          </p:cNvSpPr>
          <p:nvPr/>
        </p:nvSpPr>
        <p:spPr>
          <a:xfrm>
            <a:off x="476250" y="2205038"/>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技术与标准原因</a:t>
            </a:r>
            <a:endParaRPr sz="970" b="1">
              <a:solidFill>
                <a:srgbClr val="164A7B"/>
              </a:solidFill>
              <a:latin typeface="Noto Sans Hans"/>
              <a:ea typeface="Noto Sans Hans"/>
              <a:cs typeface="Noto Sans Hans"/>
            </a:endParaRPr>
          </a:p>
        </p:txBody>
      </p:sp>
      <p:sp>
        <p:nvSpPr>
          <p:cNvPr id="24" name="矩形 23"/>
          <p:cNvSpPr>
            <a:spLocks noGrp="1"/>
          </p:cNvSpPr>
          <p:nvPr/>
        </p:nvSpPr>
        <p:spPr>
          <a:xfrm>
            <a:off x="2914650" y="2195513"/>
            <a:ext cx="3429000" cy="557213"/>
          </a:xfrm>
          <a:prstGeom prst="rect">
            <a:avLst/>
          </a:prstGeom>
          <a:solidFill>
            <a:srgbClr val="F7F3F1"/>
          </a:solidFill>
          <a:ln w="9525">
            <a:solidFill>
              <a:srgbClr val="FFFFFF"/>
            </a:solidFill>
            <a:prstDash val="solid"/>
          </a:ln>
        </p:spPr>
      </p:sp>
      <p:sp>
        <p:nvSpPr>
          <p:cNvPr id="25" name="矩形 24"/>
          <p:cNvSpPr>
            <a:spLocks noGrp="1"/>
          </p:cNvSpPr>
          <p:nvPr/>
        </p:nvSpPr>
        <p:spPr>
          <a:xfrm>
            <a:off x="2933700" y="2205038"/>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非结构环境下泛化不足，养老场景缺少统一安全、性能和经济性标准</a:t>
            </a:r>
            <a:endParaRPr sz="900" b="0">
              <a:solidFill>
                <a:srgbClr val="403A38"/>
              </a:solidFill>
              <a:latin typeface="Noto Sans Hans"/>
              <a:ea typeface="Noto Sans Hans"/>
              <a:cs typeface="Noto Sans Hans"/>
            </a:endParaRPr>
          </a:p>
        </p:txBody>
      </p:sp>
      <p:sp>
        <p:nvSpPr>
          <p:cNvPr id="26" name="矩形 25"/>
          <p:cNvSpPr>
            <a:spLocks noGrp="1"/>
          </p:cNvSpPr>
          <p:nvPr/>
        </p:nvSpPr>
        <p:spPr>
          <a:xfrm>
            <a:off x="6419850" y="2195513"/>
            <a:ext cx="3429000" cy="557213"/>
          </a:xfrm>
          <a:prstGeom prst="rect">
            <a:avLst/>
          </a:prstGeom>
          <a:solidFill>
            <a:srgbClr val="EEF3F8"/>
          </a:solidFill>
          <a:ln w="9525">
            <a:solidFill>
              <a:srgbClr val="FFFFFF"/>
            </a:solidFill>
            <a:prstDash val="solid"/>
          </a:ln>
        </p:spPr>
      </p:sp>
      <p:sp>
        <p:nvSpPr>
          <p:cNvPr id="27" name="矩形 26"/>
          <p:cNvSpPr>
            <a:spLocks noGrp="1"/>
          </p:cNvSpPr>
          <p:nvPr/>
        </p:nvSpPr>
        <p:spPr>
          <a:xfrm>
            <a:off x="6438900" y="2205038"/>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限定低风险任务、结构化改造；共建测试和采购标准</a:t>
            </a:r>
            <a:endParaRPr sz="910" b="1">
              <a:solidFill>
                <a:srgbClr val="8E1118"/>
              </a:solidFill>
              <a:latin typeface="Noto Sans Hans"/>
              <a:ea typeface="Noto Sans Hans"/>
              <a:cs typeface="Noto Sans Hans"/>
            </a:endParaRPr>
          </a:p>
        </p:txBody>
      </p:sp>
      <p:sp>
        <p:nvSpPr>
          <p:cNvPr id="28" name="矩形 27"/>
          <p:cNvSpPr>
            <a:spLocks noGrp="1"/>
          </p:cNvSpPr>
          <p:nvPr/>
        </p:nvSpPr>
        <p:spPr>
          <a:xfrm>
            <a:off x="9925050" y="2195513"/>
            <a:ext cx="1809750" cy="557213"/>
          </a:xfrm>
          <a:prstGeom prst="rect">
            <a:avLst/>
          </a:prstGeom>
          <a:solidFill>
            <a:srgbClr val="F7F3F1"/>
          </a:solidFill>
          <a:ln w="9525">
            <a:solidFill>
              <a:srgbClr val="FFFFFF"/>
            </a:solidFill>
            <a:prstDash val="solid"/>
          </a:ln>
        </p:spPr>
      </p:sp>
      <p:sp>
        <p:nvSpPr>
          <p:cNvPr id="29" name="矩形 28"/>
          <p:cNvSpPr>
            <a:spLocks noGrp="1"/>
          </p:cNvSpPr>
          <p:nvPr/>
        </p:nvSpPr>
        <p:spPr>
          <a:xfrm>
            <a:off x="9944100" y="2205038"/>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企业+高校+检测机构</a:t>
            </a:r>
            <a:endParaRPr sz="910" b="1">
              <a:solidFill>
                <a:srgbClr val="403A38"/>
              </a:solidFill>
              <a:latin typeface="Noto Sans Hans"/>
              <a:ea typeface="Noto Sans Hans"/>
              <a:cs typeface="Noto Sans Hans"/>
            </a:endParaRPr>
          </a:p>
        </p:txBody>
      </p:sp>
      <p:sp>
        <p:nvSpPr>
          <p:cNvPr id="30" name="矩形 29"/>
          <p:cNvSpPr>
            <a:spLocks noGrp="1"/>
          </p:cNvSpPr>
          <p:nvPr/>
        </p:nvSpPr>
        <p:spPr>
          <a:xfrm>
            <a:off x="457200" y="2752725"/>
            <a:ext cx="2381250" cy="557213"/>
          </a:xfrm>
          <a:prstGeom prst="rect">
            <a:avLst/>
          </a:prstGeom>
          <a:solidFill>
            <a:srgbClr val="F8E5E4"/>
          </a:solidFill>
          <a:ln w="9525">
            <a:solidFill>
              <a:srgbClr val="FFFFFF"/>
            </a:solidFill>
            <a:prstDash val="solid"/>
          </a:ln>
        </p:spPr>
      </p:sp>
      <p:sp>
        <p:nvSpPr>
          <p:cNvPr id="31" name="矩形 30"/>
          <p:cNvSpPr>
            <a:spLocks noGrp="1"/>
          </p:cNvSpPr>
          <p:nvPr/>
        </p:nvSpPr>
        <p:spPr>
          <a:xfrm>
            <a:off x="476250" y="2762250"/>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商业与支付原因</a:t>
            </a:r>
            <a:endParaRPr sz="970" b="1">
              <a:solidFill>
                <a:srgbClr val="164A7B"/>
              </a:solidFill>
              <a:latin typeface="Noto Sans Hans"/>
              <a:ea typeface="Noto Sans Hans"/>
              <a:cs typeface="Noto Sans Hans"/>
            </a:endParaRPr>
          </a:p>
        </p:txBody>
      </p:sp>
      <p:sp>
        <p:nvSpPr>
          <p:cNvPr id="32" name="矩形 31"/>
          <p:cNvSpPr>
            <a:spLocks noGrp="1"/>
          </p:cNvSpPr>
          <p:nvPr/>
        </p:nvSpPr>
        <p:spPr>
          <a:xfrm>
            <a:off x="2914650" y="2752725"/>
            <a:ext cx="3429000" cy="557213"/>
          </a:xfrm>
          <a:prstGeom prst="rect">
            <a:avLst/>
          </a:prstGeom>
          <a:solidFill>
            <a:srgbClr val="F8E5E4"/>
          </a:solidFill>
          <a:ln w="9525">
            <a:solidFill>
              <a:srgbClr val="FFFFFF"/>
            </a:solidFill>
            <a:prstDash val="solid"/>
          </a:ln>
        </p:spPr>
      </p:sp>
      <p:sp>
        <p:nvSpPr>
          <p:cNvPr id="33" name="矩形 32"/>
          <p:cNvSpPr>
            <a:spLocks noGrp="1"/>
          </p:cNvSpPr>
          <p:nvPr/>
        </p:nvSpPr>
        <p:spPr>
          <a:xfrm>
            <a:off x="2933700" y="2762250"/>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机构预算分离、个人支付有限，长护险主要支付服务而非设备</a:t>
            </a:r>
            <a:endParaRPr sz="900" b="0">
              <a:solidFill>
                <a:srgbClr val="403A38"/>
              </a:solidFill>
              <a:latin typeface="Noto Sans Hans"/>
              <a:ea typeface="Noto Sans Hans"/>
              <a:cs typeface="Noto Sans Hans"/>
            </a:endParaRPr>
          </a:p>
        </p:txBody>
      </p:sp>
      <p:sp>
        <p:nvSpPr>
          <p:cNvPr id="34" name="矩形 33"/>
          <p:cNvSpPr>
            <a:spLocks noGrp="1"/>
          </p:cNvSpPr>
          <p:nvPr/>
        </p:nvSpPr>
        <p:spPr>
          <a:xfrm>
            <a:off x="6419850" y="2752725"/>
            <a:ext cx="3429000" cy="557213"/>
          </a:xfrm>
          <a:prstGeom prst="rect">
            <a:avLst/>
          </a:prstGeom>
          <a:solidFill>
            <a:srgbClr val="EEF3F8"/>
          </a:solidFill>
          <a:ln w="9525">
            <a:solidFill>
              <a:srgbClr val="FFFFFF"/>
            </a:solidFill>
            <a:prstDash val="solid"/>
          </a:ln>
        </p:spPr>
      </p:sp>
      <p:sp>
        <p:nvSpPr>
          <p:cNvPr id="35" name="矩形 34"/>
          <p:cNvSpPr>
            <a:spLocks noGrp="1"/>
          </p:cNvSpPr>
          <p:nvPr/>
        </p:nvSpPr>
        <p:spPr>
          <a:xfrm>
            <a:off x="6438900" y="2762250"/>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租赁、按次、服务包与按效付费；明确每个场景付费主体</a:t>
            </a:r>
            <a:endParaRPr sz="910" b="1">
              <a:solidFill>
                <a:srgbClr val="8E1118"/>
              </a:solidFill>
              <a:latin typeface="Noto Sans Hans"/>
              <a:ea typeface="Noto Sans Hans"/>
              <a:cs typeface="Noto Sans Hans"/>
            </a:endParaRPr>
          </a:p>
        </p:txBody>
      </p:sp>
      <p:sp>
        <p:nvSpPr>
          <p:cNvPr id="36" name="矩形 35"/>
          <p:cNvSpPr>
            <a:spLocks noGrp="1"/>
          </p:cNvSpPr>
          <p:nvPr/>
        </p:nvSpPr>
        <p:spPr>
          <a:xfrm>
            <a:off x="9925050" y="2752725"/>
            <a:ext cx="1809750" cy="557213"/>
          </a:xfrm>
          <a:prstGeom prst="rect">
            <a:avLst/>
          </a:prstGeom>
          <a:solidFill>
            <a:srgbClr val="F8E5E4"/>
          </a:solidFill>
          <a:ln w="9525">
            <a:solidFill>
              <a:srgbClr val="FFFFFF"/>
            </a:solidFill>
            <a:prstDash val="solid"/>
          </a:ln>
        </p:spPr>
      </p:sp>
      <p:sp>
        <p:nvSpPr>
          <p:cNvPr id="37" name="矩形 36"/>
          <p:cNvSpPr>
            <a:spLocks noGrp="1"/>
          </p:cNvSpPr>
          <p:nvPr/>
        </p:nvSpPr>
        <p:spPr>
          <a:xfrm>
            <a:off x="9944100" y="2762250"/>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金融平台+运营主体</a:t>
            </a:r>
            <a:endParaRPr sz="910" b="1">
              <a:solidFill>
                <a:srgbClr val="403A38"/>
              </a:solidFill>
              <a:latin typeface="Noto Sans Hans"/>
              <a:ea typeface="Noto Sans Hans"/>
              <a:cs typeface="Noto Sans Hans"/>
            </a:endParaRPr>
          </a:p>
        </p:txBody>
      </p:sp>
      <p:sp>
        <p:nvSpPr>
          <p:cNvPr id="38" name="矩形 37"/>
          <p:cNvSpPr>
            <a:spLocks noGrp="1"/>
          </p:cNvSpPr>
          <p:nvPr/>
        </p:nvSpPr>
        <p:spPr>
          <a:xfrm>
            <a:off x="457200" y="3309938"/>
            <a:ext cx="2381250" cy="557213"/>
          </a:xfrm>
          <a:prstGeom prst="rect">
            <a:avLst/>
          </a:prstGeom>
          <a:solidFill>
            <a:srgbClr val="F7F3F1"/>
          </a:solidFill>
          <a:ln w="9525">
            <a:solidFill>
              <a:srgbClr val="FFFFFF"/>
            </a:solidFill>
            <a:prstDash val="solid"/>
          </a:ln>
        </p:spPr>
      </p:sp>
      <p:sp>
        <p:nvSpPr>
          <p:cNvPr id="39" name="矩形 38"/>
          <p:cNvSpPr>
            <a:spLocks noGrp="1"/>
          </p:cNvSpPr>
          <p:nvPr/>
        </p:nvSpPr>
        <p:spPr>
          <a:xfrm>
            <a:off x="476250" y="3319463"/>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供应链与服务原因</a:t>
            </a:r>
            <a:endParaRPr sz="970" b="1">
              <a:solidFill>
                <a:srgbClr val="164A7B"/>
              </a:solidFill>
              <a:latin typeface="Noto Sans Hans"/>
              <a:ea typeface="Noto Sans Hans"/>
              <a:cs typeface="Noto Sans Hans"/>
            </a:endParaRPr>
          </a:p>
        </p:txBody>
      </p:sp>
      <p:sp>
        <p:nvSpPr>
          <p:cNvPr id="40" name="矩形 39"/>
          <p:cNvSpPr>
            <a:spLocks noGrp="1"/>
          </p:cNvSpPr>
          <p:nvPr/>
        </p:nvSpPr>
        <p:spPr>
          <a:xfrm>
            <a:off x="2914650" y="3309938"/>
            <a:ext cx="3429000" cy="557213"/>
          </a:xfrm>
          <a:prstGeom prst="rect">
            <a:avLst/>
          </a:prstGeom>
          <a:solidFill>
            <a:srgbClr val="F7F3F1"/>
          </a:solidFill>
          <a:ln w="9525">
            <a:solidFill>
              <a:srgbClr val="FFFFFF"/>
            </a:solidFill>
            <a:prstDash val="solid"/>
          </a:ln>
        </p:spPr>
      </p:sp>
      <p:sp>
        <p:nvSpPr>
          <p:cNvPr id="41" name="矩形 40"/>
          <p:cNvSpPr>
            <a:spLocks noGrp="1"/>
          </p:cNvSpPr>
          <p:nvPr/>
        </p:nvSpPr>
        <p:spPr>
          <a:xfrm>
            <a:off x="2933700" y="3319463"/>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核心部件、整机、平台和售后各自为战，区域维修与备件体系薄弱</a:t>
            </a:r>
            <a:endParaRPr sz="900" b="0">
              <a:solidFill>
                <a:srgbClr val="403A38"/>
              </a:solidFill>
              <a:latin typeface="Noto Sans Hans"/>
              <a:ea typeface="Noto Sans Hans"/>
              <a:cs typeface="Noto Sans Hans"/>
            </a:endParaRPr>
          </a:p>
        </p:txBody>
      </p:sp>
      <p:sp>
        <p:nvSpPr>
          <p:cNvPr id="42" name="矩形 41"/>
          <p:cNvSpPr>
            <a:spLocks noGrp="1"/>
          </p:cNvSpPr>
          <p:nvPr/>
        </p:nvSpPr>
        <p:spPr>
          <a:xfrm>
            <a:off x="6419850" y="3309938"/>
            <a:ext cx="3429000" cy="557213"/>
          </a:xfrm>
          <a:prstGeom prst="rect">
            <a:avLst/>
          </a:prstGeom>
          <a:solidFill>
            <a:srgbClr val="EEF3F8"/>
          </a:solidFill>
          <a:ln w="9525">
            <a:solidFill>
              <a:srgbClr val="FFFFFF"/>
            </a:solidFill>
            <a:prstDash val="solid"/>
          </a:ln>
        </p:spPr>
      </p:sp>
      <p:sp>
        <p:nvSpPr>
          <p:cNvPr id="43" name="矩形 42"/>
          <p:cNvSpPr>
            <a:spLocks noGrp="1"/>
          </p:cNvSpPr>
          <p:nvPr/>
        </p:nvSpPr>
        <p:spPr>
          <a:xfrm>
            <a:off x="6438900" y="3319463"/>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本地补链、区域服务中心、备件池和服务SLA</a:t>
            </a:r>
            <a:endParaRPr sz="910" b="1">
              <a:solidFill>
                <a:srgbClr val="8E1118"/>
              </a:solidFill>
              <a:latin typeface="Noto Sans Hans"/>
              <a:ea typeface="Noto Sans Hans"/>
              <a:cs typeface="Noto Sans Hans"/>
            </a:endParaRPr>
          </a:p>
        </p:txBody>
      </p:sp>
      <p:sp>
        <p:nvSpPr>
          <p:cNvPr id="44" name="矩形 43"/>
          <p:cNvSpPr>
            <a:spLocks noGrp="1"/>
          </p:cNvSpPr>
          <p:nvPr/>
        </p:nvSpPr>
        <p:spPr>
          <a:xfrm>
            <a:off x="9925050" y="3309938"/>
            <a:ext cx="1809750" cy="557213"/>
          </a:xfrm>
          <a:prstGeom prst="rect">
            <a:avLst/>
          </a:prstGeom>
          <a:solidFill>
            <a:srgbClr val="F7F3F1"/>
          </a:solidFill>
          <a:ln w="9525">
            <a:solidFill>
              <a:srgbClr val="FFFFFF"/>
            </a:solidFill>
            <a:prstDash val="solid"/>
          </a:ln>
        </p:spPr>
      </p:sp>
      <p:sp>
        <p:nvSpPr>
          <p:cNvPr id="45" name="矩形 44"/>
          <p:cNvSpPr>
            <a:spLocks noGrp="1"/>
          </p:cNvSpPr>
          <p:nvPr/>
        </p:nvSpPr>
        <p:spPr>
          <a:xfrm>
            <a:off x="9944100" y="3319463"/>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厂商+园区+城投</a:t>
            </a:r>
            <a:endParaRPr sz="910" b="1">
              <a:solidFill>
                <a:srgbClr val="403A38"/>
              </a:solidFill>
              <a:latin typeface="Noto Sans Hans"/>
              <a:ea typeface="Noto Sans Hans"/>
              <a:cs typeface="Noto Sans Hans"/>
            </a:endParaRPr>
          </a:p>
        </p:txBody>
      </p:sp>
      <p:sp>
        <p:nvSpPr>
          <p:cNvPr id="46" name="矩形 45"/>
          <p:cNvSpPr>
            <a:spLocks noGrp="1"/>
          </p:cNvSpPr>
          <p:nvPr/>
        </p:nvSpPr>
        <p:spPr>
          <a:xfrm>
            <a:off x="457200" y="3867150"/>
            <a:ext cx="2381250" cy="557213"/>
          </a:xfrm>
          <a:prstGeom prst="rect">
            <a:avLst/>
          </a:prstGeom>
          <a:solidFill>
            <a:srgbClr val="F8E5E4"/>
          </a:solidFill>
          <a:ln w="9525">
            <a:solidFill>
              <a:srgbClr val="FFFFFF"/>
            </a:solidFill>
            <a:prstDash val="solid"/>
          </a:ln>
        </p:spPr>
      </p:sp>
      <p:sp>
        <p:nvSpPr>
          <p:cNvPr id="47" name="矩形 46"/>
          <p:cNvSpPr>
            <a:spLocks noGrp="1"/>
          </p:cNvSpPr>
          <p:nvPr/>
        </p:nvSpPr>
        <p:spPr>
          <a:xfrm>
            <a:off x="476250" y="3876675"/>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数据与合规原因</a:t>
            </a:r>
            <a:endParaRPr sz="970" b="1">
              <a:solidFill>
                <a:srgbClr val="164A7B"/>
              </a:solidFill>
              <a:latin typeface="Noto Sans Hans"/>
              <a:ea typeface="Noto Sans Hans"/>
              <a:cs typeface="Noto Sans Hans"/>
            </a:endParaRPr>
          </a:p>
        </p:txBody>
      </p:sp>
      <p:sp>
        <p:nvSpPr>
          <p:cNvPr id="48" name="矩形 47"/>
          <p:cNvSpPr>
            <a:spLocks noGrp="1"/>
          </p:cNvSpPr>
          <p:nvPr/>
        </p:nvSpPr>
        <p:spPr>
          <a:xfrm>
            <a:off x="2914650" y="3867150"/>
            <a:ext cx="3429000" cy="557213"/>
          </a:xfrm>
          <a:prstGeom prst="rect">
            <a:avLst/>
          </a:prstGeom>
          <a:solidFill>
            <a:srgbClr val="F8E5E4"/>
          </a:solidFill>
          <a:ln w="9525">
            <a:solidFill>
              <a:srgbClr val="FFFFFF"/>
            </a:solidFill>
            <a:prstDash val="solid"/>
          </a:ln>
        </p:spPr>
      </p:sp>
      <p:sp>
        <p:nvSpPr>
          <p:cNvPr id="49" name="矩形 48"/>
          <p:cNvSpPr>
            <a:spLocks noGrp="1"/>
          </p:cNvSpPr>
          <p:nvPr/>
        </p:nvSpPr>
        <p:spPr>
          <a:xfrm>
            <a:off x="2933700" y="3876675"/>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敏感信息长期采集，证照、适应症、临床证据和责任协议核验不足</a:t>
            </a:r>
            <a:endParaRPr sz="900" b="0">
              <a:solidFill>
                <a:srgbClr val="403A38"/>
              </a:solidFill>
              <a:latin typeface="Noto Sans Hans"/>
              <a:ea typeface="Noto Sans Hans"/>
              <a:cs typeface="Noto Sans Hans"/>
            </a:endParaRPr>
          </a:p>
        </p:txBody>
      </p:sp>
      <p:sp>
        <p:nvSpPr>
          <p:cNvPr id="50" name="矩形 49"/>
          <p:cNvSpPr>
            <a:spLocks noGrp="1"/>
          </p:cNvSpPr>
          <p:nvPr/>
        </p:nvSpPr>
        <p:spPr>
          <a:xfrm>
            <a:off x="6419850" y="3867150"/>
            <a:ext cx="3429000" cy="557213"/>
          </a:xfrm>
          <a:prstGeom prst="rect">
            <a:avLst/>
          </a:prstGeom>
          <a:solidFill>
            <a:srgbClr val="EEF3F8"/>
          </a:solidFill>
          <a:ln w="9525">
            <a:solidFill>
              <a:srgbClr val="FFFFFF"/>
            </a:solidFill>
            <a:prstDash val="solid"/>
          </a:ln>
        </p:spPr>
      </p:sp>
      <p:sp>
        <p:nvSpPr>
          <p:cNvPr id="51" name="矩形 50"/>
          <p:cNvSpPr>
            <a:spLocks noGrp="1"/>
          </p:cNvSpPr>
          <p:nvPr/>
        </p:nvSpPr>
        <p:spPr>
          <a:xfrm>
            <a:off x="6438900" y="3876675"/>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逐证核验、数据保护影响评估、第三方检测和保险机制</a:t>
            </a:r>
            <a:endParaRPr sz="910" b="1">
              <a:solidFill>
                <a:srgbClr val="8E1118"/>
              </a:solidFill>
              <a:latin typeface="Noto Sans Hans"/>
              <a:ea typeface="Noto Sans Hans"/>
              <a:cs typeface="Noto Sans Hans"/>
            </a:endParaRPr>
          </a:p>
        </p:txBody>
      </p:sp>
      <p:sp>
        <p:nvSpPr>
          <p:cNvPr id="52" name="矩形 51"/>
          <p:cNvSpPr>
            <a:spLocks noGrp="1"/>
          </p:cNvSpPr>
          <p:nvPr/>
        </p:nvSpPr>
        <p:spPr>
          <a:xfrm>
            <a:off x="9925050" y="3867150"/>
            <a:ext cx="1809750" cy="557213"/>
          </a:xfrm>
          <a:prstGeom prst="rect">
            <a:avLst/>
          </a:prstGeom>
          <a:solidFill>
            <a:srgbClr val="F8E5E4"/>
          </a:solidFill>
          <a:ln w="9525">
            <a:solidFill>
              <a:srgbClr val="FFFFFF"/>
            </a:solidFill>
            <a:prstDash val="solid"/>
          </a:ln>
        </p:spPr>
      </p:sp>
      <p:sp>
        <p:nvSpPr>
          <p:cNvPr id="53" name="矩形 52"/>
          <p:cNvSpPr>
            <a:spLocks noGrp="1"/>
          </p:cNvSpPr>
          <p:nvPr/>
        </p:nvSpPr>
        <p:spPr>
          <a:xfrm>
            <a:off x="9944100" y="3876675"/>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法务+医院+平台</a:t>
            </a:r>
            <a:endParaRPr sz="910" b="1">
              <a:solidFill>
                <a:srgbClr val="403A38"/>
              </a:solidFill>
              <a:latin typeface="Noto Sans Hans"/>
              <a:ea typeface="Noto Sans Hans"/>
              <a:cs typeface="Noto Sans Hans"/>
            </a:endParaRPr>
          </a:p>
        </p:txBody>
      </p:sp>
      <p:sp>
        <p:nvSpPr>
          <p:cNvPr id="54" name="矩形 53"/>
          <p:cNvSpPr>
            <a:spLocks noGrp="1"/>
          </p:cNvSpPr>
          <p:nvPr/>
        </p:nvSpPr>
        <p:spPr>
          <a:xfrm>
            <a:off x="457200" y="4424363"/>
            <a:ext cx="2381250" cy="557213"/>
          </a:xfrm>
          <a:prstGeom prst="rect">
            <a:avLst/>
          </a:prstGeom>
          <a:solidFill>
            <a:srgbClr val="F7F3F1"/>
          </a:solidFill>
          <a:ln w="9525">
            <a:solidFill>
              <a:srgbClr val="FFFFFF"/>
            </a:solidFill>
            <a:prstDash val="solid"/>
          </a:ln>
        </p:spPr>
      </p:sp>
      <p:sp>
        <p:nvSpPr>
          <p:cNvPr id="55" name="矩形 54"/>
          <p:cNvSpPr>
            <a:spLocks noGrp="1"/>
          </p:cNvSpPr>
          <p:nvPr/>
        </p:nvSpPr>
        <p:spPr>
          <a:xfrm>
            <a:off x="476250" y="4433888"/>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资本与估值原因</a:t>
            </a:r>
            <a:endParaRPr sz="970" b="1">
              <a:solidFill>
                <a:srgbClr val="164A7B"/>
              </a:solidFill>
              <a:latin typeface="Noto Sans Hans"/>
              <a:ea typeface="Noto Sans Hans"/>
              <a:cs typeface="Noto Sans Hans"/>
            </a:endParaRPr>
          </a:p>
        </p:txBody>
      </p:sp>
      <p:sp>
        <p:nvSpPr>
          <p:cNvPr id="56" name="矩形 55"/>
          <p:cNvSpPr>
            <a:spLocks noGrp="1"/>
          </p:cNvSpPr>
          <p:nvPr/>
        </p:nvSpPr>
        <p:spPr>
          <a:xfrm>
            <a:off x="2914650" y="4424363"/>
            <a:ext cx="3429000" cy="557213"/>
          </a:xfrm>
          <a:prstGeom prst="rect">
            <a:avLst/>
          </a:prstGeom>
          <a:solidFill>
            <a:srgbClr val="F7F3F1"/>
          </a:solidFill>
          <a:ln w="9525">
            <a:solidFill>
              <a:srgbClr val="FFFFFF"/>
            </a:solidFill>
            <a:prstDash val="solid"/>
          </a:ln>
        </p:spPr>
      </p:sp>
      <p:sp>
        <p:nvSpPr>
          <p:cNvPr id="57" name="矩形 56"/>
          <p:cNvSpPr>
            <a:spLocks noGrp="1"/>
          </p:cNvSpPr>
          <p:nvPr/>
        </p:nvSpPr>
        <p:spPr>
          <a:xfrm>
            <a:off x="2933700" y="4433888"/>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早期企业经营数据不透明，估值受人形和具身智能概念推动</a:t>
            </a:r>
            <a:endParaRPr sz="900" b="0">
              <a:solidFill>
                <a:srgbClr val="403A38"/>
              </a:solidFill>
              <a:latin typeface="Noto Sans Hans"/>
              <a:ea typeface="Noto Sans Hans"/>
              <a:cs typeface="Noto Sans Hans"/>
            </a:endParaRPr>
          </a:p>
        </p:txBody>
      </p:sp>
      <p:sp>
        <p:nvSpPr>
          <p:cNvPr id="58" name="矩形 57"/>
          <p:cNvSpPr>
            <a:spLocks noGrp="1"/>
          </p:cNvSpPr>
          <p:nvPr/>
        </p:nvSpPr>
        <p:spPr>
          <a:xfrm>
            <a:off x="6419850" y="4424363"/>
            <a:ext cx="3429000" cy="557213"/>
          </a:xfrm>
          <a:prstGeom prst="rect">
            <a:avLst/>
          </a:prstGeom>
          <a:solidFill>
            <a:srgbClr val="EEF3F8"/>
          </a:solidFill>
          <a:ln w="9525">
            <a:solidFill>
              <a:srgbClr val="FFFFFF"/>
            </a:solidFill>
            <a:prstDash val="solid"/>
          </a:ln>
        </p:spPr>
      </p:sp>
      <p:sp>
        <p:nvSpPr>
          <p:cNvPr id="59" name="矩形 58"/>
          <p:cNvSpPr>
            <a:spLocks noGrp="1"/>
          </p:cNvSpPr>
          <p:nvPr/>
        </p:nvSpPr>
        <p:spPr>
          <a:xfrm>
            <a:off x="6438900" y="4433888"/>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分层估值、里程碑出资、现金流核验和退出备选</a:t>
            </a:r>
            <a:endParaRPr sz="910" b="1">
              <a:solidFill>
                <a:srgbClr val="8E1118"/>
              </a:solidFill>
              <a:latin typeface="Noto Sans Hans"/>
              <a:ea typeface="Noto Sans Hans"/>
              <a:cs typeface="Noto Sans Hans"/>
            </a:endParaRPr>
          </a:p>
        </p:txBody>
      </p:sp>
      <p:sp>
        <p:nvSpPr>
          <p:cNvPr id="60" name="矩形 59"/>
          <p:cNvSpPr>
            <a:spLocks noGrp="1"/>
          </p:cNvSpPr>
          <p:nvPr/>
        </p:nvSpPr>
        <p:spPr>
          <a:xfrm>
            <a:off x="9925050" y="4424363"/>
            <a:ext cx="1809750" cy="557213"/>
          </a:xfrm>
          <a:prstGeom prst="rect">
            <a:avLst/>
          </a:prstGeom>
          <a:solidFill>
            <a:srgbClr val="F7F3F1"/>
          </a:solidFill>
          <a:ln w="9525">
            <a:solidFill>
              <a:srgbClr val="FFFFFF"/>
            </a:solidFill>
            <a:prstDash val="solid"/>
          </a:ln>
        </p:spPr>
      </p:sp>
      <p:sp>
        <p:nvSpPr>
          <p:cNvPr id="61" name="矩形 60"/>
          <p:cNvSpPr>
            <a:spLocks noGrp="1"/>
          </p:cNvSpPr>
          <p:nvPr/>
        </p:nvSpPr>
        <p:spPr>
          <a:xfrm>
            <a:off x="9944100" y="4433888"/>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投资平台</a:t>
            </a:r>
            <a:endParaRPr sz="910" b="1">
              <a:solidFill>
                <a:srgbClr val="403A38"/>
              </a:solidFill>
              <a:latin typeface="Noto Sans Hans"/>
              <a:ea typeface="Noto Sans Hans"/>
              <a:cs typeface="Noto Sans Hans"/>
            </a:endParaRPr>
          </a:p>
        </p:txBody>
      </p:sp>
      <p:sp>
        <p:nvSpPr>
          <p:cNvPr id="62" name="矩形 61"/>
          <p:cNvSpPr>
            <a:spLocks noGrp="1"/>
          </p:cNvSpPr>
          <p:nvPr/>
        </p:nvSpPr>
        <p:spPr>
          <a:xfrm>
            <a:off x="457200" y="4981575"/>
            <a:ext cx="2381250" cy="557213"/>
          </a:xfrm>
          <a:prstGeom prst="rect">
            <a:avLst/>
          </a:prstGeom>
          <a:solidFill>
            <a:srgbClr val="F8E5E4"/>
          </a:solidFill>
          <a:ln w="9525">
            <a:solidFill>
              <a:srgbClr val="FFFFFF"/>
            </a:solidFill>
            <a:prstDash val="solid"/>
          </a:ln>
        </p:spPr>
      </p:sp>
      <p:sp>
        <p:nvSpPr>
          <p:cNvPr id="63" name="矩形 62"/>
          <p:cNvSpPr>
            <a:spLocks noGrp="1"/>
          </p:cNvSpPr>
          <p:nvPr/>
        </p:nvSpPr>
        <p:spPr>
          <a:xfrm>
            <a:off x="476250" y="4991100"/>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组织协同原因</a:t>
            </a:r>
            <a:endParaRPr sz="970" b="1">
              <a:solidFill>
                <a:srgbClr val="164A7B"/>
              </a:solidFill>
              <a:latin typeface="Noto Sans Hans"/>
              <a:ea typeface="Noto Sans Hans"/>
              <a:cs typeface="Noto Sans Hans"/>
            </a:endParaRPr>
          </a:p>
        </p:txBody>
      </p:sp>
      <p:sp>
        <p:nvSpPr>
          <p:cNvPr id="64" name="矩形 63"/>
          <p:cNvSpPr>
            <a:spLocks noGrp="1"/>
          </p:cNvSpPr>
          <p:nvPr/>
        </p:nvSpPr>
        <p:spPr>
          <a:xfrm>
            <a:off x="2914650" y="4981575"/>
            <a:ext cx="3429000" cy="557213"/>
          </a:xfrm>
          <a:prstGeom prst="rect">
            <a:avLst/>
          </a:prstGeom>
          <a:solidFill>
            <a:srgbClr val="F8E5E4"/>
          </a:solidFill>
          <a:ln w="9525">
            <a:solidFill>
              <a:srgbClr val="FFFFFF"/>
            </a:solidFill>
            <a:prstDash val="solid"/>
          </a:ln>
        </p:spPr>
      </p:sp>
      <p:sp>
        <p:nvSpPr>
          <p:cNvPr id="65" name="矩形 64"/>
          <p:cNvSpPr>
            <a:spLocks noGrp="1"/>
          </p:cNvSpPr>
          <p:nvPr/>
        </p:nvSpPr>
        <p:spPr>
          <a:xfrm>
            <a:off x="2933700" y="4991100"/>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投资、招商、园区、场景和采购条线分散，无法形成资本—场景闭环</a:t>
            </a:r>
            <a:endParaRPr sz="900" b="0">
              <a:solidFill>
                <a:srgbClr val="403A38"/>
              </a:solidFill>
              <a:latin typeface="Noto Sans Hans"/>
              <a:ea typeface="Noto Sans Hans"/>
              <a:cs typeface="Noto Sans Hans"/>
            </a:endParaRPr>
          </a:p>
        </p:txBody>
      </p:sp>
      <p:sp>
        <p:nvSpPr>
          <p:cNvPr id="66" name="矩形 65"/>
          <p:cNvSpPr>
            <a:spLocks noGrp="1"/>
          </p:cNvSpPr>
          <p:nvPr/>
        </p:nvSpPr>
        <p:spPr>
          <a:xfrm>
            <a:off x="6419850" y="4981575"/>
            <a:ext cx="3429000" cy="557213"/>
          </a:xfrm>
          <a:prstGeom prst="rect">
            <a:avLst/>
          </a:prstGeom>
          <a:solidFill>
            <a:srgbClr val="EEF3F8"/>
          </a:solidFill>
          <a:ln w="9525">
            <a:solidFill>
              <a:srgbClr val="FFFFFF"/>
            </a:solidFill>
            <a:prstDash val="solid"/>
          </a:ln>
        </p:spPr>
      </p:sp>
      <p:sp>
        <p:nvSpPr>
          <p:cNvPr id="67" name="矩形 66"/>
          <p:cNvSpPr>
            <a:spLocks noGrp="1"/>
          </p:cNvSpPr>
          <p:nvPr/>
        </p:nvSpPr>
        <p:spPr>
          <a:xfrm>
            <a:off x="6438900" y="4991100"/>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建立联合工作组、项目经理制和月度里程碑</a:t>
            </a:r>
            <a:endParaRPr sz="910" b="1">
              <a:solidFill>
                <a:srgbClr val="8E1118"/>
              </a:solidFill>
              <a:latin typeface="Noto Sans Hans"/>
              <a:ea typeface="Noto Sans Hans"/>
              <a:cs typeface="Noto Sans Hans"/>
            </a:endParaRPr>
          </a:p>
        </p:txBody>
      </p:sp>
      <p:sp>
        <p:nvSpPr>
          <p:cNvPr id="68" name="矩形 67"/>
          <p:cNvSpPr>
            <a:spLocks noGrp="1"/>
          </p:cNvSpPr>
          <p:nvPr/>
        </p:nvSpPr>
        <p:spPr>
          <a:xfrm>
            <a:off x="9925050" y="4981575"/>
            <a:ext cx="1809750" cy="557213"/>
          </a:xfrm>
          <a:prstGeom prst="rect">
            <a:avLst/>
          </a:prstGeom>
          <a:solidFill>
            <a:srgbClr val="F8E5E4"/>
          </a:solidFill>
          <a:ln w="9525">
            <a:solidFill>
              <a:srgbClr val="FFFFFF"/>
            </a:solidFill>
            <a:prstDash val="solid"/>
          </a:ln>
        </p:spPr>
      </p:sp>
      <p:sp>
        <p:nvSpPr>
          <p:cNvPr id="69" name="矩形 68"/>
          <p:cNvSpPr>
            <a:spLocks noGrp="1"/>
          </p:cNvSpPr>
          <p:nvPr/>
        </p:nvSpPr>
        <p:spPr>
          <a:xfrm>
            <a:off x="9944100" y="4991100"/>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武汉城投</a:t>
            </a:r>
            <a:endParaRPr sz="910" b="1">
              <a:solidFill>
                <a:srgbClr val="403A38"/>
              </a:solidFill>
              <a:latin typeface="Noto Sans Hans"/>
              <a:ea typeface="Noto Sans Hans"/>
              <a:cs typeface="Noto Sans Hans"/>
            </a:endParaRPr>
          </a:p>
        </p:txBody>
      </p:sp>
      <p:sp>
        <p:nvSpPr>
          <p:cNvPr id="70" name="矩形 69"/>
          <p:cNvSpPr>
            <a:spLocks noGrp="1"/>
          </p:cNvSpPr>
          <p:nvPr/>
        </p:nvSpPr>
        <p:spPr>
          <a:xfrm>
            <a:off x="457200" y="5538788"/>
            <a:ext cx="2381250" cy="557213"/>
          </a:xfrm>
          <a:prstGeom prst="rect">
            <a:avLst/>
          </a:prstGeom>
          <a:solidFill>
            <a:srgbClr val="F7F3F1"/>
          </a:solidFill>
          <a:ln w="9525">
            <a:solidFill>
              <a:srgbClr val="FFFFFF"/>
            </a:solidFill>
            <a:prstDash val="solid"/>
          </a:ln>
        </p:spPr>
      </p:sp>
      <p:sp>
        <p:nvSpPr>
          <p:cNvPr id="71" name="矩形 70"/>
          <p:cNvSpPr>
            <a:spLocks noGrp="1"/>
          </p:cNvSpPr>
          <p:nvPr/>
        </p:nvSpPr>
        <p:spPr>
          <a:xfrm>
            <a:off x="476250" y="5548313"/>
            <a:ext cx="2343150" cy="538163"/>
          </a:xfrm>
          <a:prstGeom prst="rect">
            <a:avLst/>
          </a:prstGeom>
          <a:noFill/>
          <a:ln w="0">
            <a:noFill/>
            <a:prstDash val="solid"/>
          </a:ln>
        </p:spPr>
        <p:txBody>
          <a:bodyPr wrap="square" lIns="47625" tIns="19050" rIns="47625" bIns="19050" anchor="ctr">
            <a:normAutofit/>
          </a:bodyPr>
          <a:lstStyle/>
          <a:p>
            <a:pPr algn="ctr">
              <a:defRPr sz="870" b="1">
                <a:solidFill>
                  <a:srgbClr val="164A7B"/>
                </a:solidFill>
                <a:latin typeface="Noto Sans Hans"/>
                <a:ea typeface="Noto Sans Hans"/>
                <a:cs typeface="Noto Sans Hans"/>
              </a:defRPr>
            </a:pPr>
            <a:r>
              <a:rPr sz="970" b="1">
                <a:solidFill>
                  <a:srgbClr val="164A7B"/>
                </a:solidFill>
                <a:latin typeface="Noto Sans Hans"/>
                <a:ea typeface="Noto Sans Hans"/>
                <a:cs typeface="Noto Sans Hans"/>
              </a:rPr>
              <a:t>生态与创新原因</a:t>
            </a:r>
            <a:endParaRPr sz="970" b="1">
              <a:solidFill>
                <a:srgbClr val="164A7B"/>
              </a:solidFill>
              <a:latin typeface="Noto Sans Hans"/>
              <a:ea typeface="Noto Sans Hans"/>
              <a:cs typeface="Noto Sans Hans"/>
            </a:endParaRPr>
          </a:p>
        </p:txBody>
      </p:sp>
      <p:sp>
        <p:nvSpPr>
          <p:cNvPr id="72" name="矩形 71"/>
          <p:cNvSpPr>
            <a:spLocks noGrp="1"/>
          </p:cNvSpPr>
          <p:nvPr/>
        </p:nvSpPr>
        <p:spPr>
          <a:xfrm>
            <a:off x="2914650" y="5538788"/>
            <a:ext cx="3429000" cy="557213"/>
          </a:xfrm>
          <a:prstGeom prst="rect">
            <a:avLst/>
          </a:prstGeom>
          <a:solidFill>
            <a:srgbClr val="F7F3F1"/>
          </a:solidFill>
          <a:ln w="9525">
            <a:solidFill>
              <a:srgbClr val="FFFFFF"/>
            </a:solidFill>
            <a:prstDash val="solid"/>
          </a:ln>
        </p:spPr>
      </p:sp>
      <p:sp>
        <p:nvSpPr>
          <p:cNvPr id="73" name="矩形 72"/>
          <p:cNvSpPr>
            <a:spLocks noGrp="1"/>
          </p:cNvSpPr>
          <p:nvPr/>
        </p:nvSpPr>
        <p:spPr>
          <a:xfrm>
            <a:off x="2933700" y="5548313"/>
            <a:ext cx="3390900" cy="538163"/>
          </a:xfrm>
          <a:prstGeom prst="rect">
            <a:avLst/>
          </a:prstGeom>
          <a:noFill/>
          <a:ln w="0">
            <a:noFill/>
            <a:prstDash val="solid"/>
          </a:ln>
        </p:spPr>
        <p:txBody>
          <a:bodyPr wrap="square" lIns="47625" tIns="19050" rIns="47625" bIns="19050" anchor="ctr">
            <a:normAutofit/>
          </a:bodyPr>
          <a:lstStyle/>
          <a:p>
            <a:pPr algn="l" eaLnBrk="1" fontAlgn="auto" latinLnBrk="0" hangingPunct="1">
              <a:lnSpc>
                <a:spcPct val="120000"/>
              </a:lnSpc>
              <a:defRPr sz="795" b="0">
                <a:solidFill>
                  <a:srgbClr val="403A38"/>
                </a:solidFill>
                <a:latin typeface="Noto Sans Hans"/>
                <a:ea typeface="Noto Sans Hans"/>
                <a:cs typeface="Noto Sans Hans"/>
              </a:defRPr>
            </a:pPr>
            <a:r>
              <a:rPr sz="900" b="0">
                <a:solidFill>
                  <a:srgbClr val="403A38"/>
                </a:solidFill>
                <a:latin typeface="Noto Sans Hans"/>
                <a:ea typeface="Noto Sans Hans"/>
                <a:cs typeface="Noto Sans Hans"/>
              </a:rPr>
              <a:t>缺少持续真实任务数据、联合研发机制和公共验证平台</a:t>
            </a:r>
            <a:endParaRPr sz="900" b="0">
              <a:solidFill>
                <a:srgbClr val="403A38"/>
              </a:solidFill>
              <a:latin typeface="Noto Sans Hans"/>
              <a:ea typeface="Noto Sans Hans"/>
              <a:cs typeface="Noto Sans Hans"/>
            </a:endParaRPr>
          </a:p>
        </p:txBody>
      </p:sp>
      <p:sp>
        <p:nvSpPr>
          <p:cNvPr id="74" name="矩形 73"/>
          <p:cNvSpPr>
            <a:spLocks noGrp="1"/>
          </p:cNvSpPr>
          <p:nvPr/>
        </p:nvSpPr>
        <p:spPr>
          <a:xfrm>
            <a:off x="6419850" y="5538788"/>
            <a:ext cx="3429000" cy="557213"/>
          </a:xfrm>
          <a:prstGeom prst="rect">
            <a:avLst/>
          </a:prstGeom>
          <a:solidFill>
            <a:srgbClr val="EEF3F8"/>
          </a:solidFill>
          <a:ln w="9525">
            <a:solidFill>
              <a:srgbClr val="FFFFFF"/>
            </a:solidFill>
            <a:prstDash val="solid"/>
          </a:ln>
        </p:spPr>
      </p:sp>
      <p:sp>
        <p:nvSpPr>
          <p:cNvPr id="75" name="矩形 74"/>
          <p:cNvSpPr>
            <a:spLocks noGrp="1"/>
          </p:cNvSpPr>
          <p:nvPr/>
        </p:nvSpPr>
        <p:spPr>
          <a:xfrm>
            <a:off x="6438900" y="5548313"/>
            <a:ext cx="3390900" cy="538163"/>
          </a:xfrm>
          <a:prstGeom prst="rect">
            <a:avLst/>
          </a:prstGeom>
          <a:noFill/>
          <a:ln w="0">
            <a:noFill/>
            <a:prstDash val="solid"/>
          </a:ln>
        </p:spPr>
        <p:txBody>
          <a:bodyPr wrap="square" lIns="47625" tIns="19050" rIns="47625" bIns="19050" anchor="ctr">
            <a:normAutofit/>
          </a:bodyPr>
          <a:lstStyle/>
          <a:p>
            <a:pPr algn="l">
              <a:defRPr sz="805" b="1">
                <a:solidFill>
                  <a:srgbClr val="8E1118"/>
                </a:solidFill>
                <a:latin typeface="Noto Sans Hans"/>
                <a:ea typeface="Noto Sans Hans"/>
                <a:cs typeface="Noto Sans Hans"/>
              </a:defRPr>
            </a:pPr>
            <a:r>
              <a:rPr sz="910" b="1">
                <a:solidFill>
                  <a:srgbClr val="8E1118"/>
                </a:solidFill>
                <a:latin typeface="Noto Sans Hans"/>
                <a:ea typeface="Noto Sans Hans"/>
                <a:cs typeface="Noto Sans Hans"/>
              </a:rPr>
              <a:t>建设任务库、数据集和联合实验室，推动成果转化</a:t>
            </a:r>
            <a:endParaRPr sz="910" b="1">
              <a:solidFill>
                <a:srgbClr val="8E1118"/>
              </a:solidFill>
              <a:latin typeface="Noto Sans Hans"/>
              <a:ea typeface="Noto Sans Hans"/>
              <a:cs typeface="Noto Sans Hans"/>
            </a:endParaRPr>
          </a:p>
        </p:txBody>
      </p:sp>
      <p:sp>
        <p:nvSpPr>
          <p:cNvPr id="76" name="矩形 75"/>
          <p:cNvSpPr>
            <a:spLocks noGrp="1"/>
          </p:cNvSpPr>
          <p:nvPr/>
        </p:nvSpPr>
        <p:spPr>
          <a:xfrm>
            <a:off x="9925050" y="5538788"/>
            <a:ext cx="1809750" cy="557213"/>
          </a:xfrm>
          <a:prstGeom prst="rect">
            <a:avLst/>
          </a:prstGeom>
          <a:solidFill>
            <a:srgbClr val="F7F3F1"/>
          </a:solidFill>
          <a:ln w="9525">
            <a:solidFill>
              <a:srgbClr val="FFFFFF"/>
            </a:solidFill>
            <a:prstDash val="solid"/>
          </a:ln>
        </p:spPr>
      </p:sp>
      <p:sp>
        <p:nvSpPr>
          <p:cNvPr id="77" name="矩形 76"/>
          <p:cNvSpPr>
            <a:spLocks noGrp="1"/>
          </p:cNvSpPr>
          <p:nvPr/>
        </p:nvSpPr>
        <p:spPr>
          <a:xfrm>
            <a:off x="9944100" y="5548313"/>
            <a:ext cx="1771650" cy="538163"/>
          </a:xfrm>
          <a:prstGeom prst="rect">
            <a:avLst/>
          </a:prstGeom>
          <a:noFill/>
          <a:ln w="0">
            <a:noFill/>
            <a:prstDash val="solid"/>
          </a:ln>
        </p:spPr>
        <p:txBody>
          <a:bodyPr wrap="square" lIns="47625" tIns="19050" rIns="47625" bIns="19050" anchor="ctr">
            <a:normAutofit/>
          </a:bodyPr>
          <a:lstStyle/>
          <a:p>
            <a:pPr algn="ctr">
              <a:defRPr sz="810" b="1">
                <a:solidFill>
                  <a:srgbClr val="403A38"/>
                </a:solidFill>
                <a:latin typeface="Noto Sans Hans"/>
                <a:ea typeface="Noto Sans Hans"/>
                <a:cs typeface="Noto Sans Hans"/>
              </a:defRPr>
            </a:pPr>
            <a:r>
              <a:rPr sz="910" b="1">
                <a:solidFill>
                  <a:srgbClr val="403A38"/>
                </a:solidFill>
                <a:latin typeface="Noto Sans Hans"/>
                <a:ea typeface="Noto Sans Hans"/>
                <a:cs typeface="Noto Sans Hans"/>
              </a:rPr>
              <a:t>创新中心+高校+场景方</a:t>
            </a:r>
            <a:endParaRPr sz="910" b="1">
              <a:solidFill>
                <a:srgbClr val="403A38"/>
              </a:solidFill>
              <a:latin typeface="Noto Sans Hans"/>
              <a:ea typeface="Noto Sans Hans"/>
              <a:cs typeface="Noto Sans Hans"/>
            </a:endParaRPr>
          </a:p>
        </p:txBody>
      </p:sp>
      <p:sp>
        <p:nvSpPr>
          <p:cNvPr id="78" name="圆角矩形 77"/>
          <p:cNvSpPr>
            <a:spLocks noGrp="1"/>
          </p:cNvSpPr>
          <p:nvPr/>
        </p:nvSpPr>
        <p:spPr>
          <a:xfrm>
            <a:off x="457200" y="6181725"/>
            <a:ext cx="11277600" cy="285750"/>
          </a:xfrm>
          <a:prstGeom prst="roundRect">
            <a:avLst>
              <a:gd name="adj" fmla="val 6667"/>
            </a:avLst>
          </a:prstGeom>
          <a:solidFill>
            <a:srgbClr val="8E1118"/>
          </a:solidFill>
          <a:ln w="0">
            <a:noFill/>
            <a:prstDash val="solid"/>
          </a:ln>
        </p:spPr>
      </p:sp>
      <p:sp>
        <p:nvSpPr>
          <p:cNvPr id="79" name="矩形 78"/>
          <p:cNvSpPr>
            <a:spLocks noGrp="1"/>
          </p:cNvSpPr>
          <p:nvPr/>
        </p:nvSpPr>
        <p:spPr>
          <a:xfrm>
            <a:off x="552450" y="6210300"/>
            <a:ext cx="11087100" cy="228600"/>
          </a:xfrm>
          <a:prstGeom prst="rect">
            <a:avLst/>
          </a:prstGeom>
          <a:noFill/>
          <a:ln w="0">
            <a:noFill/>
            <a:prstDash val="solid"/>
          </a:ln>
        </p:spPr>
        <p:txBody>
          <a:bodyPr wrap="square" lIns="47625" tIns="19050" rIns="47625" bIns="19050" anchor="ctr">
            <a:normAutofit/>
          </a:bodyPr>
          <a:lstStyle/>
          <a:p>
            <a:pPr algn="ctr">
              <a:defRPr sz="840" b="1">
                <a:solidFill>
                  <a:srgbClr val="FFFFFF"/>
                </a:solidFill>
                <a:latin typeface="Noto Sans Hans"/>
                <a:ea typeface="Noto Sans Hans"/>
                <a:cs typeface="Noto Sans Hans"/>
              </a:defRPr>
            </a:pPr>
            <a:r>
              <a:rPr sz="940" b="1">
                <a:solidFill>
                  <a:srgbClr val="FFFFFF"/>
                </a:solidFill>
                <a:latin typeface="Noto Sans Hans"/>
                <a:ea typeface="Noto Sans Hans"/>
                <a:cs typeface="Noto Sans Hans"/>
              </a:rPr>
              <a:t>工作机制：问题入库 → 明确否决项与验证指标 → 试点采集数据 → 形成采购/投资条件 → 持续跟踪整改；每个项目设置唯一牵头人和退出节点。</a:t>
            </a:r>
            <a:endParaRPr sz="940" b="1">
              <a:solidFill>
                <a:srgbClr val="FFFFFF"/>
              </a:solidFill>
              <a:latin typeface="Noto Sans Hans"/>
              <a:ea typeface="Noto Sans Hans"/>
              <a:cs typeface="Noto Sans Hans"/>
            </a:endParaRPr>
          </a:p>
        </p:txBody>
      </p:sp>
      <p:sp>
        <p:nvSpPr>
          <p:cNvPr id="80" name="矩形 79"/>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资料来源：养老机器人产业增强基础数据库；相关政策、监管、试点和武汉城投公开资料。</a:t>
            </a:r>
            <a:endParaRPr sz="715" b="0">
              <a:solidFill>
                <a:srgbClr val="716B68"/>
              </a:solidFill>
              <a:latin typeface="Noto Sans Hans"/>
              <a:ea typeface="Noto Sans Hans"/>
              <a:cs typeface="Noto Sans Hans"/>
            </a:endParaRPr>
          </a:p>
        </p:txBody>
      </p:sp>
      <p:sp>
        <p:nvSpPr>
          <p:cNvPr id="81" name="矩形 80"/>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20</a:t>
            </a:r>
            <a:endParaRPr lang="en-US" sz="900" b="1">
              <a:solidFill>
                <a:srgbClr val="D00914"/>
              </a:solidFill>
              <a:latin typeface="Noto Sans Hans"/>
              <a:ea typeface="Noto Sans Hans"/>
              <a:cs typeface="Noto Sans H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95250" y="219075"/>
            <a:ext cx="171450" cy="685800"/>
          </a:xfrm>
          <a:prstGeom prst="rect">
            <a:avLst/>
          </a:prstGeom>
          <a:solidFill>
            <a:srgbClr val="D00914"/>
          </a:solidFill>
          <a:ln w="0">
            <a:noFill/>
            <a:prstDash val="solid"/>
          </a:ln>
        </p:spPr>
      </p:sp>
      <p:sp>
        <p:nvSpPr>
          <p:cNvPr id="3" name="矩形 2"/>
          <p:cNvSpPr>
            <a:spLocks noGrp="1"/>
          </p:cNvSpPr>
          <p:nvPr/>
        </p:nvSpPr>
        <p:spPr>
          <a:xfrm>
            <a:off x="476250" y="171450"/>
            <a:ext cx="11239500" cy="495300"/>
          </a:xfrm>
          <a:prstGeom prst="rect">
            <a:avLst/>
          </a:prstGeom>
          <a:noFill/>
          <a:ln w="0">
            <a:noFill/>
            <a:prstDash val="solid"/>
          </a:ln>
        </p:spPr>
        <p:txBody>
          <a:bodyPr lIns="0" tIns="0" rIns="0" bIns="0" anchor="ctr">
            <a:normAutofit/>
          </a:bodyPr>
          <a:lstStyle/>
          <a:p>
            <a:r>
              <a:rPr sz="2025" b="1">
                <a:solidFill>
                  <a:srgbClr val="D00914"/>
                </a:solidFill>
                <a:latin typeface="Noto Sans Hans"/>
                <a:ea typeface="Noto Sans Hans"/>
                <a:cs typeface="Noto Sans Hans"/>
              </a:rPr>
              <a:t>【行动计划】</a:t>
            </a:r>
            <a:r>
              <a:rPr sz="2025" b="1">
                <a:solidFill>
                  <a:srgbClr val="403A38"/>
                </a:solidFill>
                <a:latin typeface="Noto Sans Hans"/>
                <a:ea typeface="Noto Sans Hans"/>
                <a:cs typeface="Noto Sans Hans"/>
              </a:rPr>
              <a:t>建议以“场景验证—资本筛选—平台建设—区域复制”形成养老机器人产业布局闭环</a:t>
            </a:r>
            <a:endParaRPr sz="2025" b="1">
              <a:solidFill>
                <a:srgbClr val="403A38"/>
              </a:solidFill>
              <a:latin typeface="Noto Sans Hans"/>
              <a:ea typeface="Noto Sans Hans"/>
              <a:cs typeface="Noto Sans Hans"/>
            </a:endParaRPr>
          </a:p>
        </p:txBody>
      </p:sp>
      <p:sp>
        <p:nvSpPr>
          <p:cNvPr id="4" name="矩形 3"/>
          <p:cNvSpPr>
            <a:spLocks noGrp="1"/>
          </p:cNvSpPr>
          <p:nvPr/>
        </p:nvSpPr>
        <p:spPr>
          <a:xfrm>
            <a:off x="476250" y="666750"/>
            <a:ext cx="11144250" cy="257175"/>
          </a:xfrm>
          <a:prstGeom prst="rect">
            <a:avLst/>
          </a:prstGeom>
          <a:noFill/>
          <a:ln w="0">
            <a:noFill/>
            <a:prstDash val="solid"/>
          </a:ln>
        </p:spPr>
        <p:txBody>
          <a:bodyPr wrap="square" lIns="47625" tIns="19050" rIns="47625" bIns="19050" anchor="ctr">
            <a:normAutofit/>
          </a:bodyPr>
          <a:lstStyle/>
          <a:p>
            <a:pPr algn="l">
              <a:defRPr sz="1065" b="0">
                <a:solidFill>
                  <a:srgbClr val="716B68"/>
                </a:solidFill>
                <a:latin typeface="Noto Sans Hans"/>
                <a:ea typeface="Noto Sans Hans"/>
                <a:cs typeface="Noto Sans Hans"/>
              </a:defRPr>
            </a:pPr>
            <a:r>
              <a:rPr sz="1065" b="0">
                <a:solidFill>
                  <a:srgbClr val="716B68"/>
                </a:solidFill>
                <a:latin typeface="Noto Sans Hans"/>
                <a:ea typeface="Noto Sans Hans"/>
                <a:cs typeface="Noto Sans Hans"/>
              </a:rPr>
              <a:t>近期优先成熟康复和运营型机器人，中期培育高刚需护理机器人；所有投资以真实使用数据、付费闭环和安全合规为前提</a:t>
            </a:r>
            <a:endParaRPr sz="1065" b="0">
              <a:solidFill>
                <a:srgbClr val="716B68"/>
              </a:solidFill>
              <a:latin typeface="Noto Sans Hans"/>
              <a:ea typeface="Noto Sans Hans"/>
              <a:cs typeface="Noto Sans Hans"/>
            </a:endParaRPr>
          </a:p>
        </p:txBody>
      </p:sp>
      <p:sp>
        <p:nvSpPr>
          <p:cNvPr id="5" name="矩形 4"/>
          <p:cNvSpPr>
            <a:spLocks noGrp="1"/>
          </p:cNvSpPr>
          <p:nvPr/>
        </p:nvSpPr>
        <p:spPr>
          <a:xfrm>
            <a:off x="476250" y="981075"/>
            <a:ext cx="11239500" cy="14288"/>
          </a:xfrm>
          <a:prstGeom prst="rect">
            <a:avLst/>
          </a:prstGeom>
          <a:solidFill>
            <a:srgbClr val="D7D0CC"/>
          </a:solidFill>
          <a:ln w="0">
            <a:noFill/>
            <a:prstDash val="solid"/>
          </a:ln>
        </p:spPr>
      </p:sp>
      <p:sp>
        <p:nvSpPr>
          <p:cNvPr id="6" name="圆角矩形 5"/>
          <p:cNvSpPr>
            <a:spLocks noGrp="1"/>
          </p:cNvSpPr>
          <p:nvPr/>
        </p:nvSpPr>
        <p:spPr>
          <a:xfrm>
            <a:off x="457200" y="1200150"/>
            <a:ext cx="1981200" cy="4953000"/>
          </a:xfrm>
          <a:prstGeom prst="roundRect">
            <a:avLst>
              <a:gd name="adj" fmla="val 962"/>
            </a:avLst>
          </a:prstGeom>
          <a:solidFill>
            <a:srgbClr val="F7F1F0"/>
          </a:solidFill>
          <a:ln w="9525">
            <a:solidFill>
              <a:srgbClr val="D7D0CC"/>
            </a:solidFill>
            <a:prstDash val="solid"/>
          </a:ln>
        </p:spPr>
      </p:sp>
      <p:sp>
        <p:nvSpPr>
          <p:cNvPr id="7" name="圆角矩形 6"/>
          <p:cNvSpPr>
            <a:spLocks noGrp="1"/>
          </p:cNvSpPr>
          <p:nvPr/>
        </p:nvSpPr>
        <p:spPr>
          <a:xfrm>
            <a:off x="457200" y="1200150"/>
            <a:ext cx="1981200" cy="457200"/>
          </a:xfrm>
          <a:prstGeom prst="roundRect">
            <a:avLst>
              <a:gd name="adj" fmla="val 4167"/>
            </a:avLst>
          </a:prstGeom>
          <a:solidFill>
            <a:srgbClr val="8E1118"/>
          </a:solidFill>
          <a:ln w="0">
            <a:noFill/>
            <a:prstDash val="solid"/>
          </a:ln>
        </p:spPr>
      </p:sp>
      <p:sp>
        <p:nvSpPr>
          <p:cNvPr id="8" name="矩形 7"/>
          <p:cNvSpPr>
            <a:spLocks noGrp="1"/>
          </p:cNvSpPr>
          <p:nvPr/>
        </p:nvSpPr>
        <p:spPr>
          <a:xfrm>
            <a:off x="552450" y="1257300"/>
            <a:ext cx="1790700" cy="342900"/>
          </a:xfrm>
          <a:prstGeom prst="rect">
            <a:avLst/>
          </a:prstGeom>
          <a:noFill/>
          <a:ln w="0">
            <a:noFill/>
            <a:prstDash val="solid"/>
          </a:ln>
        </p:spPr>
        <p:txBody>
          <a:bodyPr wrap="square" lIns="47625" tIns="19050" rIns="47625" bIns="19050" anchor="ctr">
            <a:normAutofit/>
          </a:bodyPr>
          <a:lstStyle/>
          <a:p>
            <a:pPr algn="ctr">
              <a:defRPr sz="1125"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产业布局总原则</a:t>
            </a:r>
            <a:endParaRPr sz="1200" b="1">
              <a:solidFill>
                <a:srgbClr val="FFFFFF"/>
              </a:solidFill>
              <a:latin typeface="Noto Sans Hans"/>
              <a:ea typeface="Noto Sans Hans"/>
              <a:cs typeface="Noto Sans Hans"/>
            </a:endParaRPr>
          </a:p>
        </p:txBody>
      </p:sp>
      <p:sp>
        <p:nvSpPr>
          <p:cNvPr id="9" name="矩形 8"/>
          <p:cNvSpPr>
            <a:spLocks noGrp="1"/>
          </p:cNvSpPr>
          <p:nvPr/>
        </p:nvSpPr>
        <p:spPr>
          <a:xfrm>
            <a:off x="647700" y="1790700"/>
            <a:ext cx="1600200" cy="838200"/>
          </a:xfrm>
          <a:prstGeom prst="rect">
            <a:avLst/>
          </a:prstGeom>
          <a:noFill/>
          <a:ln w="0">
            <a:noFill/>
            <a:prstDash val="solid"/>
          </a:ln>
        </p:spPr>
        <p:txBody>
          <a:bodyPr wrap="square" lIns="47625" tIns="19050" rIns="47625" bIns="19050" anchor="ctr">
            <a:noAutofit/>
          </a:bodyPr>
          <a:lstStyle/>
          <a:p>
            <a:pPr algn="ctr">
              <a:defRPr sz="1500" b="1">
                <a:solidFill>
                  <a:srgbClr val="D00914"/>
                </a:solidFill>
                <a:latin typeface="Noto Sans Hans"/>
                <a:ea typeface="Noto Sans Hans"/>
                <a:cs typeface="Noto Sans Hans"/>
              </a:defRPr>
            </a:pPr>
            <a:r>
              <a:rPr sz="1600" b="1">
                <a:solidFill>
                  <a:srgbClr val="D00914"/>
                </a:solidFill>
                <a:latin typeface="Noto Sans Hans"/>
                <a:ea typeface="Noto Sans Hans"/>
                <a:cs typeface="Noto Sans Hans"/>
              </a:rPr>
              <a:t>以场景换数据</a:t>
            </a:r>
            <a:endParaRPr sz="1600" b="1">
              <a:solidFill>
                <a:srgbClr val="D00914"/>
              </a:solidFill>
              <a:latin typeface="Noto Sans Hans"/>
              <a:ea typeface="Noto Sans Hans"/>
              <a:cs typeface="Noto Sans Hans"/>
            </a:endParaRPr>
          </a:p>
          <a:p>
            <a:pPr algn="ctr">
              <a:defRPr sz="1500" b="1">
                <a:solidFill>
                  <a:srgbClr val="D00914"/>
                </a:solidFill>
                <a:latin typeface="Noto Sans Hans"/>
                <a:ea typeface="Noto Sans Hans"/>
                <a:cs typeface="Noto Sans Hans"/>
              </a:defRPr>
            </a:pPr>
            <a:r>
              <a:rPr sz="1600" b="1">
                <a:solidFill>
                  <a:srgbClr val="D00914"/>
                </a:solidFill>
                <a:latin typeface="Noto Sans Hans"/>
                <a:ea typeface="Noto Sans Hans"/>
                <a:cs typeface="Noto Sans Hans"/>
              </a:rPr>
              <a:t>以数据定投资</a:t>
            </a:r>
            <a:endParaRPr sz="1600" b="1">
              <a:solidFill>
                <a:srgbClr val="D00914"/>
              </a:solidFill>
              <a:latin typeface="Noto Sans Hans"/>
              <a:ea typeface="Noto Sans Hans"/>
              <a:cs typeface="Noto Sans Hans"/>
            </a:endParaRPr>
          </a:p>
          <a:p>
            <a:pPr algn="ctr">
              <a:defRPr sz="1500" b="1">
                <a:solidFill>
                  <a:srgbClr val="D00914"/>
                </a:solidFill>
                <a:latin typeface="Noto Sans Hans"/>
                <a:ea typeface="Noto Sans Hans"/>
                <a:cs typeface="Noto Sans Hans"/>
              </a:defRPr>
            </a:pPr>
            <a:r>
              <a:rPr sz="1600" b="1">
                <a:solidFill>
                  <a:srgbClr val="D00914"/>
                </a:solidFill>
                <a:latin typeface="Noto Sans Hans"/>
                <a:ea typeface="Noto Sans Hans"/>
                <a:cs typeface="Noto Sans Hans"/>
              </a:rPr>
              <a:t>以投资带产业</a:t>
            </a:r>
            <a:endParaRPr sz="1600" b="1">
              <a:solidFill>
                <a:srgbClr val="D00914"/>
              </a:solidFill>
              <a:latin typeface="Noto Sans Hans"/>
              <a:ea typeface="Noto Sans Hans"/>
              <a:cs typeface="Noto Sans Hans"/>
            </a:endParaRPr>
          </a:p>
        </p:txBody>
      </p:sp>
      <p:sp>
        <p:nvSpPr>
          <p:cNvPr id="10" name="矩形 9"/>
          <p:cNvSpPr>
            <a:spLocks noGrp="1"/>
          </p:cNvSpPr>
          <p:nvPr/>
        </p:nvSpPr>
        <p:spPr>
          <a:xfrm>
            <a:off x="647700" y="2781300"/>
            <a:ext cx="1600200" cy="12383"/>
          </a:xfrm>
          <a:prstGeom prst="rect">
            <a:avLst/>
          </a:prstGeom>
          <a:solidFill>
            <a:srgbClr val="D7D0CC"/>
          </a:solidFill>
          <a:ln w="0">
            <a:noFill/>
            <a:prstDash val="solid"/>
          </a:ln>
        </p:spPr>
      </p:sp>
      <p:sp>
        <p:nvSpPr>
          <p:cNvPr id="11" name="矩形 10"/>
          <p:cNvSpPr>
            <a:spLocks noGrp="1"/>
          </p:cNvSpPr>
          <p:nvPr/>
        </p:nvSpPr>
        <p:spPr>
          <a:xfrm>
            <a:off x="647700" y="2924175"/>
            <a:ext cx="1600200" cy="238125"/>
          </a:xfrm>
          <a:prstGeom prst="rect">
            <a:avLst/>
          </a:prstGeom>
          <a:noFill/>
          <a:ln w="0">
            <a:noFill/>
            <a:prstDash val="solid"/>
          </a:ln>
        </p:spPr>
        <p:txBody>
          <a:bodyPr wrap="square" lIns="47625" tIns="19050" rIns="47625" bIns="19050" anchor="ctr">
            <a:normAutofit/>
          </a:bodyPr>
          <a:lstStyle/>
          <a:p>
            <a:pPr algn="ctr">
              <a:defRPr sz="900"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近期优先</a:t>
            </a:r>
            <a:endParaRPr sz="1000" b="1">
              <a:solidFill>
                <a:srgbClr val="8E1118"/>
              </a:solidFill>
              <a:latin typeface="Noto Sans Hans"/>
              <a:ea typeface="Noto Sans Hans"/>
              <a:cs typeface="Noto Sans Hans"/>
            </a:endParaRPr>
          </a:p>
        </p:txBody>
      </p:sp>
      <p:sp>
        <p:nvSpPr>
          <p:cNvPr id="12" name="矩形 11"/>
          <p:cNvSpPr>
            <a:spLocks noGrp="1"/>
          </p:cNvSpPr>
          <p:nvPr/>
        </p:nvSpPr>
        <p:spPr>
          <a:xfrm>
            <a:off x="647700" y="3209925"/>
            <a:ext cx="1600200" cy="523875"/>
          </a:xfrm>
          <a:prstGeom prst="rect">
            <a:avLst/>
          </a:prstGeom>
          <a:noFill/>
          <a:ln w="0">
            <a:noFill/>
            <a:prstDash val="solid"/>
          </a:ln>
        </p:spPr>
        <p:txBody>
          <a:bodyPr wrap="square" lIns="47625" tIns="19050" rIns="47625" bIns="19050" anchor="ctr">
            <a:normAutofit/>
          </a:bodyPr>
          <a:lstStyle/>
          <a:p>
            <a:pPr algn="ctr">
              <a:defRPr sz="86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康复示范中心</a:t>
            </a:r>
            <a:endParaRPr sz="1000" b="1">
              <a:solidFill>
                <a:srgbClr val="403A38"/>
              </a:solidFill>
              <a:latin typeface="Noto Sans Hans"/>
              <a:ea typeface="Noto Sans Hans"/>
              <a:cs typeface="Noto Sans Hans"/>
            </a:endParaRPr>
          </a:p>
          <a:p>
            <a:pPr algn="ctr">
              <a:defRPr sz="86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配送 · 清洁 · 巡检</a:t>
            </a:r>
            <a:endParaRPr sz="1000" b="1">
              <a:solidFill>
                <a:srgbClr val="403A38"/>
              </a:solidFill>
              <a:latin typeface="Noto Sans Hans"/>
              <a:ea typeface="Noto Sans Hans"/>
              <a:cs typeface="Noto Sans Hans"/>
            </a:endParaRPr>
          </a:p>
        </p:txBody>
      </p:sp>
      <p:sp>
        <p:nvSpPr>
          <p:cNvPr id="13" name="矩形 12"/>
          <p:cNvSpPr>
            <a:spLocks noGrp="1"/>
          </p:cNvSpPr>
          <p:nvPr/>
        </p:nvSpPr>
        <p:spPr>
          <a:xfrm>
            <a:off x="647700" y="3905250"/>
            <a:ext cx="1600200" cy="238125"/>
          </a:xfrm>
          <a:prstGeom prst="rect">
            <a:avLst/>
          </a:prstGeom>
          <a:noFill/>
          <a:ln w="0">
            <a:noFill/>
            <a:prstDash val="solid"/>
          </a:ln>
        </p:spPr>
        <p:txBody>
          <a:bodyPr wrap="square" lIns="47625" tIns="19050" rIns="47625" bIns="19050" anchor="ctr">
            <a:normAutofit/>
          </a:bodyPr>
          <a:lstStyle/>
          <a:p>
            <a:pPr algn="ctr">
              <a:defRPr sz="900"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中期培育</a:t>
            </a:r>
            <a:endParaRPr sz="1000" b="1">
              <a:solidFill>
                <a:srgbClr val="8E1118"/>
              </a:solidFill>
              <a:latin typeface="Noto Sans Hans"/>
              <a:ea typeface="Noto Sans Hans"/>
              <a:cs typeface="Noto Sans Hans"/>
            </a:endParaRPr>
          </a:p>
        </p:txBody>
      </p:sp>
      <p:sp>
        <p:nvSpPr>
          <p:cNvPr id="14" name="矩形 13"/>
          <p:cNvSpPr>
            <a:spLocks noGrp="1"/>
          </p:cNvSpPr>
          <p:nvPr/>
        </p:nvSpPr>
        <p:spPr>
          <a:xfrm>
            <a:off x="647700" y="4191000"/>
            <a:ext cx="1600200" cy="523875"/>
          </a:xfrm>
          <a:prstGeom prst="rect">
            <a:avLst/>
          </a:prstGeom>
          <a:noFill/>
          <a:ln w="0">
            <a:noFill/>
            <a:prstDash val="solid"/>
          </a:ln>
        </p:spPr>
        <p:txBody>
          <a:bodyPr wrap="square" lIns="47625" tIns="19050" rIns="47625" bIns="19050" anchor="ctr">
            <a:normAutofit/>
          </a:bodyPr>
          <a:lstStyle/>
          <a:p>
            <a:pPr algn="ctr">
              <a:defRPr sz="86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排泄护理 · 移乘转运</a:t>
            </a:r>
            <a:endParaRPr sz="1000" b="1">
              <a:solidFill>
                <a:srgbClr val="403A38"/>
              </a:solidFill>
              <a:latin typeface="Noto Sans Hans"/>
              <a:ea typeface="Noto Sans Hans"/>
              <a:cs typeface="Noto Sans Hans"/>
            </a:endParaRPr>
          </a:p>
          <a:p>
            <a:pPr algn="ctr">
              <a:defRPr sz="865"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多机协同照护</a:t>
            </a:r>
            <a:endParaRPr sz="1000" b="1">
              <a:solidFill>
                <a:srgbClr val="403A38"/>
              </a:solidFill>
              <a:latin typeface="Noto Sans Hans"/>
              <a:ea typeface="Noto Sans Hans"/>
              <a:cs typeface="Noto Sans Hans"/>
            </a:endParaRPr>
          </a:p>
        </p:txBody>
      </p:sp>
      <p:sp>
        <p:nvSpPr>
          <p:cNvPr id="15" name="矩形 14"/>
          <p:cNvSpPr>
            <a:spLocks noGrp="1"/>
          </p:cNvSpPr>
          <p:nvPr/>
        </p:nvSpPr>
        <p:spPr>
          <a:xfrm>
            <a:off x="647700" y="4876800"/>
            <a:ext cx="1600200" cy="238125"/>
          </a:xfrm>
          <a:prstGeom prst="rect">
            <a:avLst/>
          </a:prstGeom>
          <a:noFill/>
          <a:ln w="0">
            <a:noFill/>
            <a:prstDash val="solid"/>
          </a:ln>
        </p:spPr>
        <p:txBody>
          <a:bodyPr wrap="square" lIns="47625" tIns="19050" rIns="47625" bIns="19050" anchor="ctr">
            <a:normAutofit/>
          </a:bodyPr>
          <a:lstStyle/>
          <a:p>
            <a:pPr algn="ctr">
              <a:defRPr sz="900"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长期跟踪</a:t>
            </a:r>
            <a:endParaRPr sz="1000" b="1">
              <a:solidFill>
                <a:srgbClr val="8E1118"/>
              </a:solidFill>
              <a:latin typeface="Noto Sans Hans"/>
              <a:ea typeface="Noto Sans Hans"/>
              <a:cs typeface="Noto Sans Hans"/>
            </a:endParaRPr>
          </a:p>
        </p:txBody>
      </p:sp>
      <p:sp>
        <p:nvSpPr>
          <p:cNvPr id="16" name="矩形 15"/>
          <p:cNvSpPr>
            <a:spLocks noGrp="1"/>
          </p:cNvSpPr>
          <p:nvPr/>
        </p:nvSpPr>
        <p:spPr>
          <a:xfrm>
            <a:off x="647700" y="5162550"/>
            <a:ext cx="1600200" cy="523875"/>
          </a:xfrm>
          <a:prstGeom prst="rect">
            <a:avLst/>
          </a:prstGeom>
          <a:noFill/>
          <a:ln w="0">
            <a:noFill/>
            <a:prstDash val="solid"/>
          </a:ln>
        </p:spPr>
        <p:txBody>
          <a:bodyPr wrap="square" lIns="47625" tIns="19050" rIns="47625" bIns="19050" anchor="ctr">
            <a:normAutofit/>
          </a:bodyPr>
          <a:lstStyle/>
          <a:p>
            <a:pPr algn="ctr">
              <a:defRPr sz="840"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居家陪伴 · 人形机器人</a:t>
            </a:r>
            <a:endParaRPr sz="1000" b="1">
              <a:solidFill>
                <a:srgbClr val="403A38"/>
              </a:solidFill>
              <a:latin typeface="Noto Sans Hans"/>
              <a:ea typeface="Noto Sans Hans"/>
              <a:cs typeface="Noto Sans Hans"/>
            </a:endParaRPr>
          </a:p>
          <a:p>
            <a:pPr algn="ctr">
              <a:defRPr sz="840" b="1">
                <a:solidFill>
                  <a:srgbClr val="403A38"/>
                </a:solidFill>
                <a:latin typeface="Noto Sans Hans"/>
                <a:ea typeface="Noto Sans Hans"/>
                <a:cs typeface="Noto Sans Hans"/>
              </a:defRPr>
            </a:pPr>
            <a:r>
              <a:rPr sz="1000" b="1">
                <a:solidFill>
                  <a:srgbClr val="403A38"/>
                </a:solidFill>
                <a:latin typeface="Noto Sans Hans"/>
                <a:ea typeface="Noto Sans Hans"/>
                <a:cs typeface="Noto Sans Hans"/>
              </a:rPr>
              <a:t>服务入口与生态价值</a:t>
            </a:r>
            <a:endParaRPr sz="1000" b="1">
              <a:solidFill>
                <a:srgbClr val="403A38"/>
              </a:solidFill>
              <a:latin typeface="Noto Sans Hans"/>
              <a:ea typeface="Noto Sans Hans"/>
              <a:cs typeface="Noto Sans Hans"/>
            </a:endParaRPr>
          </a:p>
        </p:txBody>
      </p:sp>
      <p:sp>
        <p:nvSpPr>
          <p:cNvPr id="17" name="圆角矩形 16"/>
          <p:cNvSpPr>
            <a:spLocks noGrp="1"/>
          </p:cNvSpPr>
          <p:nvPr/>
        </p:nvSpPr>
        <p:spPr>
          <a:xfrm>
            <a:off x="647700" y="5810250"/>
            <a:ext cx="1600200" cy="228600"/>
          </a:xfrm>
          <a:prstGeom prst="roundRect">
            <a:avLst>
              <a:gd name="adj" fmla="val 8333"/>
            </a:avLst>
          </a:prstGeom>
          <a:solidFill>
            <a:srgbClr val="D00914"/>
          </a:solidFill>
          <a:ln w="0">
            <a:noFill/>
            <a:prstDash val="solid"/>
          </a:ln>
        </p:spPr>
      </p:sp>
      <p:sp>
        <p:nvSpPr>
          <p:cNvPr id="18" name="矩形 17"/>
          <p:cNvSpPr>
            <a:spLocks noGrp="1"/>
          </p:cNvSpPr>
          <p:nvPr/>
        </p:nvSpPr>
        <p:spPr>
          <a:xfrm>
            <a:off x="695325" y="5829300"/>
            <a:ext cx="1504950" cy="190500"/>
          </a:xfrm>
          <a:prstGeom prst="rect">
            <a:avLst/>
          </a:prstGeom>
          <a:noFill/>
          <a:ln w="0">
            <a:noFill/>
            <a:prstDash val="solid"/>
          </a:ln>
        </p:spPr>
        <p:txBody>
          <a:bodyPr wrap="square" lIns="47625" tIns="19050" rIns="47625" bIns="19050" anchor="ctr">
            <a:normAutofit/>
          </a:bodyPr>
          <a:lstStyle/>
          <a:p>
            <a:pPr algn="ctr">
              <a:defRPr sz="790" b="1">
                <a:solidFill>
                  <a:srgbClr val="FFFFFF"/>
                </a:solidFill>
                <a:latin typeface="Noto Sans Hans"/>
                <a:ea typeface="Noto Sans Hans"/>
                <a:cs typeface="Noto Sans Hans"/>
              </a:defRPr>
            </a:pPr>
            <a:r>
              <a:rPr sz="890" b="1">
                <a:solidFill>
                  <a:srgbClr val="FFFFFF"/>
                </a:solidFill>
                <a:latin typeface="Noto Sans Hans"/>
                <a:ea typeface="Noto Sans Hans"/>
                <a:cs typeface="Noto Sans Hans"/>
              </a:rPr>
              <a:t>不为概念溢价买单</a:t>
            </a:r>
            <a:endParaRPr sz="890" b="1">
              <a:solidFill>
                <a:srgbClr val="FFFFFF"/>
              </a:solidFill>
              <a:latin typeface="Noto Sans Hans"/>
              <a:ea typeface="Noto Sans Hans"/>
              <a:cs typeface="Noto Sans Hans"/>
            </a:endParaRPr>
          </a:p>
        </p:txBody>
      </p:sp>
      <p:sp>
        <p:nvSpPr>
          <p:cNvPr id="19" name="燕尾形 18"/>
          <p:cNvSpPr>
            <a:spLocks noGrp="1"/>
          </p:cNvSpPr>
          <p:nvPr/>
        </p:nvSpPr>
        <p:spPr>
          <a:xfrm>
            <a:off x="2609850" y="1200150"/>
            <a:ext cx="1857375" cy="628650"/>
          </a:xfrm>
          <a:prstGeom prst="chevron">
            <a:avLst/>
          </a:prstGeom>
          <a:solidFill>
            <a:srgbClr val="8E1118"/>
          </a:solidFill>
          <a:ln w="19050">
            <a:solidFill>
              <a:srgbClr val="FFFFFF"/>
            </a:solidFill>
            <a:prstDash val="solid"/>
          </a:ln>
        </p:spPr>
      </p:sp>
      <p:sp>
        <p:nvSpPr>
          <p:cNvPr id="20" name="矩形 19"/>
          <p:cNvSpPr>
            <a:spLocks noGrp="1"/>
          </p:cNvSpPr>
          <p:nvPr/>
        </p:nvSpPr>
        <p:spPr>
          <a:xfrm>
            <a:off x="2757805" y="1276350"/>
            <a:ext cx="1619250" cy="266700"/>
          </a:xfrm>
          <a:prstGeom prst="rect">
            <a:avLst/>
          </a:prstGeom>
          <a:noFill/>
          <a:ln w="0">
            <a:noFill/>
            <a:prstDash val="solid"/>
          </a:ln>
        </p:spPr>
        <p:txBody>
          <a:bodyPr wrap="square" lIns="47625" tIns="19050" rIns="47625" bIns="19050" anchor="ctr">
            <a:noAutofit/>
          </a:bodyPr>
          <a:lstStyle/>
          <a:p>
            <a:pPr algn="ctr">
              <a:defRPr sz="100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01  组织与标准先行</a:t>
            </a:r>
            <a:endParaRPr sz="1200" b="1">
              <a:solidFill>
                <a:srgbClr val="FFFFFF"/>
              </a:solidFill>
              <a:latin typeface="Noto Sans Hans"/>
              <a:ea typeface="Noto Sans Hans"/>
              <a:cs typeface="Noto Sans Hans"/>
            </a:endParaRPr>
          </a:p>
        </p:txBody>
      </p:sp>
      <p:sp>
        <p:nvSpPr>
          <p:cNvPr id="21" name="矩形 20"/>
          <p:cNvSpPr>
            <a:spLocks noGrp="1"/>
          </p:cNvSpPr>
          <p:nvPr/>
        </p:nvSpPr>
        <p:spPr>
          <a:xfrm>
            <a:off x="2705100" y="1543050"/>
            <a:ext cx="1590675" cy="180975"/>
          </a:xfrm>
          <a:prstGeom prst="rect">
            <a:avLst/>
          </a:prstGeom>
          <a:noFill/>
          <a:ln w="0">
            <a:noFill/>
            <a:prstDash val="solid"/>
          </a:ln>
        </p:spPr>
        <p:txBody>
          <a:bodyPr wrap="square" lIns="47625" tIns="19050" rIns="47625" bIns="19050" anchor="ctr">
            <a:normAutofit/>
          </a:bodyPr>
          <a:lstStyle/>
          <a:p>
            <a:pPr algn="ctr">
              <a:defRPr sz="720" b="0">
                <a:solidFill>
                  <a:srgbClr val="FFFFFF"/>
                </a:solidFill>
                <a:latin typeface="Noto Sans Hans"/>
                <a:ea typeface="Noto Sans Hans"/>
                <a:cs typeface="Noto Sans Hans"/>
              </a:defRPr>
            </a:pPr>
            <a:r>
              <a:rPr sz="820" b="0">
                <a:solidFill>
                  <a:srgbClr val="FFFFFF"/>
                </a:solidFill>
                <a:latin typeface="Noto Sans Hans"/>
                <a:ea typeface="Noto Sans Hans"/>
                <a:cs typeface="Noto Sans Hans"/>
              </a:rPr>
              <a:t>0—1个月</a:t>
            </a:r>
            <a:endParaRPr sz="820" b="0">
              <a:solidFill>
                <a:srgbClr val="FFFFFF"/>
              </a:solidFill>
              <a:latin typeface="Noto Sans Hans"/>
              <a:ea typeface="Noto Sans Hans"/>
              <a:cs typeface="Noto Sans Hans"/>
            </a:endParaRPr>
          </a:p>
        </p:txBody>
      </p:sp>
      <p:sp>
        <p:nvSpPr>
          <p:cNvPr id="22" name="矩形 21"/>
          <p:cNvSpPr>
            <a:spLocks noGrp="1"/>
          </p:cNvSpPr>
          <p:nvPr/>
        </p:nvSpPr>
        <p:spPr>
          <a:xfrm>
            <a:off x="2609850" y="1924050"/>
            <a:ext cx="1781175" cy="3114675"/>
          </a:xfrm>
          <a:prstGeom prst="rect">
            <a:avLst/>
          </a:prstGeom>
          <a:solidFill>
            <a:srgbClr val="EAF1F8"/>
          </a:solidFill>
          <a:ln w="9525">
            <a:solidFill>
              <a:srgbClr val="FFFFFF"/>
            </a:solidFill>
            <a:prstDash val="solid"/>
          </a:ln>
        </p:spPr>
      </p:sp>
      <p:sp>
        <p:nvSpPr>
          <p:cNvPr id="23" name="矩形 22"/>
          <p:cNvSpPr>
            <a:spLocks noGrp="1"/>
          </p:cNvSpPr>
          <p:nvPr/>
        </p:nvSpPr>
        <p:spPr>
          <a:xfrm>
            <a:off x="2705100" y="2000250"/>
            <a:ext cx="1590675" cy="247650"/>
          </a:xfrm>
          <a:prstGeom prst="rect">
            <a:avLst/>
          </a:prstGeom>
          <a:noFill/>
          <a:ln w="0">
            <a:noFill/>
            <a:prstDash val="solid"/>
          </a:ln>
        </p:spPr>
        <p:txBody>
          <a:bodyPr wrap="square" lIns="47625" tIns="19050" rIns="47625" bIns="19050" anchor="ctr">
            <a:normAutofit/>
          </a:bodyPr>
          <a:lstStyle/>
          <a:p>
            <a:pPr algn="l">
              <a:defRPr sz="92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建立联合工作机制</a:t>
            </a:r>
            <a:endParaRPr sz="1000" b="1">
              <a:solidFill>
                <a:srgbClr val="8E1118"/>
              </a:solidFill>
              <a:latin typeface="Noto Sans Hans"/>
              <a:ea typeface="Noto Sans Hans"/>
              <a:cs typeface="Noto Sans Hans"/>
            </a:endParaRPr>
          </a:p>
        </p:txBody>
      </p:sp>
      <p:sp>
        <p:nvSpPr>
          <p:cNvPr id="24" name="矩形 23"/>
          <p:cNvSpPr>
            <a:spLocks noGrp="1"/>
          </p:cNvSpPr>
          <p:nvPr/>
        </p:nvSpPr>
        <p:spPr>
          <a:xfrm>
            <a:off x="2714625" y="2257425"/>
            <a:ext cx="1571625" cy="24479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成立投资、康养、园区、采购、法务联合工作组</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建立项目经理制与月度里程碑</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明确安全、证照、数据三类否决项</a:t>
            </a:r>
            <a:endParaRPr sz="1100" b="0">
              <a:solidFill>
                <a:srgbClr val="403A38"/>
              </a:solidFill>
              <a:latin typeface="Noto Sans Hans"/>
              <a:ea typeface="Noto Sans Hans"/>
              <a:cs typeface="Noto Sans Hans"/>
            </a:endParaRPr>
          </a:p>
        </p:txBody>
      </p:sp>
      <p:sp>
        <p:nvSpPr>
          <p:cNvPr id="25" name="圆角矩形 24"/>
          <p:cNvSpPr>
            <a:spLocks noGrp="1"/>
          </p:cNvSpPr>
          <p:nvPr/>
        </p:nvSpPr>
        <p:spPr>
          <a:xfrm>
            <a:off x="2705100" y="4762500"/>
            <a:ext cx="1590675" cy="200025"/>
          </a:xfrm>
          <a:prstGeom prst="roundRect">
            <a:avLst>
              <a:gd name="adj" fmla="val 9524"/>
            </a:avLst>
          </a:prstGeom>
          <a:solidFill>
            <a:srgbClr val="FFFFFF"/>
          </a:solidFill>
          <a:ln w="0">
            <a:noFill/>
            <a:prstDash val="solid"/>
          </a:ln>
        </p:spPr>
      </p:sp>
      <p:sp>
        <p:nvSpPr>
          <p:cNvPr id="26" name="矩形 25"/>
          <p:cNvSpPr>
            <a:spLocks noGrp="1"/>
          </p:cNvSpPr>
          <p:nvPr/>
        </p:nvSpPr>
        <p:spPr>
          <a:xfrm>
            <a:off x="2743200" y="4772025"/>
            <a:ext cx="1514475" cy="180975"/>
          </a:xfrm>
          <a:prstGeom prst="rect">
            <a:avLst/>
          </a:prstGeom>
          <a:noFill/>
          <a:ln w="0">
            <a:noFill/>
            <a:prstDash val="solid"/>
          </a:ln>
        </p:spPr>
        <p:txBody>
          <a:bodyPr wrap="square" lIns="47625" tIns="19050" rIns="47625" bIns="19050" anchor="ctr">
            <a:noAutofit/>
          </a:bodyPr>
          <a:lstStyle/>
          <a:p>
            <a:pPr algn="l">
              <a:defRPr sz="715" b="1">
                <a:solidFill>
                  <a:srgbClr val="164A7B"/>
                </a:solidFill>
                <a:latin typeface="Noto Sans Hans"/>
                <a:ea typeface="Noto Sans Hans"/>
                <a:cs typeface="Noto Sans Hans"/>
              </a:defRPr>
            </a:pPr>
            <a:r>
              <a:rPr sz="820" b="1">
                <a:solidFill>
                  <a:srgbClr val="164A7B"/>
                </a:solidFill>
                <a:latin typeface="Noto Sans Hans"/>
                <a:ea typeface="Noto Sans Hans"/>
                <a:cs typeface="Noto Sans Hans"/>
              </a:rPr>
              <a:t>成果：准入标准＋项目任务书</a:t>
            </a:r>
            <a:endParaRPr sz="820" b="1">
              <a:solidFill>
                <a:srgbClr val="164A7B"/>
              </a:solidFill>
              <a:latin typeface="Noto Sans Hans"/>
              <a:ea typeface="Noto Sans Hans"/>
              <a:cs typeface="Noto Sans Hans"/>
            </a:endParaRPr>
          </a:p>
        </p:txBody>
      </p:sp>
      <p:sp>
        <p:nvSpPr>
          <p:cNvPr id="27" name="燕尾形 26"/>
          <p:cNvSpPr>
            <a:spLocks noGrp="1"/>
          </p:cNvSpPr>
          <p:nvPr/>
        </p:nvSpPr>
        <p:spPr>
          <a:xfrm>
            <a:off x="4438650" y="1200150"/>
            <a:ext cx="1857375" cy="628650"/>
          </a:xfrm>
          <a:prstGeom prst="chevron">
            <a:avLst/>
          </a:prstGeom>
          <a:solidFill>
            <a:srgbClr val="B93D47"/>
          </a:solidFill>
          <a:ln w="19050">
            <a:solidFill>
              <a:srgbClr val="FFFFFF"/>
            </a:solidFill>
            <a:prstDash val="solid"/>
          </a:ln>
        </p:spPr>
      </p:sp>
      <p:sp>
        <p:nvSpPr>
          <p:cNvPr id="28" name="矩形 27"/>
          <p:cNvSpPr>
            <a:spLocks noGrp="1"/>
          </p:cNvSpPr>
          <p:nvPr/>
        </p:nvSpPr>
        <p:spPr>
          <a:xfrm>
            <a:off x="4586605" y="1276350"/>
            <a:ext cx="1619250" cy="266700"/>
          </a:xfrm>
          <a:prstGeom prst="rect">
            <a:avLst/>
          </a:prstGeom>
          <a:noFill/>
          <a:ln w="0">
            <a:noFill/>
            <a:prstDash val="solid"/>
          </a:ln>
        </p:spPr>
        <p:txBody>
          <a:bodyPr wrap="square" lIns="47625" tIns="19050" rIns="47625" bIns="19050" anchor="ctr">
            <a:noAutofit/>
          </a:bodyPr>
          <a:lstStyle/>
          <a:p>
            <a:pPr algn="ctr">
              <a:defRPr sz="100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02  场景与项目筛选</a:t>
            </a:r>
            <a:endParaRPr sz="1200" b="1">
              <a:solidFill>
                <a:srgbClr val="FFFFFF"/>
              </a:solidFill>
              <a:latin typeface="Noto Sans Hans"/>
              <a:ea typeface="Noto Sans Hans"/>
              <a:cs typeface="Noto Sans Hans"/>
            </a:endParaRPr>
          </a:p>
        </p:txBody>
      </p:sp>
      <p:sp>
        <p:nvSpPr>
          <p:cNvPr id="29" name="矩形 28"/>
          <p:cNvSpPr>
            <a:spLocks noGrp="1"/>
          </p:cNvSpPr>
          <p:nvPr/>
        </p:nvSpPr>
        <p:spPr>
          <a:xfrm>
            <a:off x="4533900" y="1543050"/>
            <a:ext cx="1590675" cy="180975"/>
          </a:xfrm>
          <a:prstGeom prst="rect">
            <a:avLst/>
          </a:prstGeom>
          <a:noFill/>
          <a:ln w="0">
            <a:noFill/>
            <a:prstDash val="solid"/>
          </a:ln>
        </p:spPr>
        <p:txBody>
          <a:bodyPr wrap="square" lIns="47625" tIns="19050" rIns="47625" bIns="19050" anchor="ctr">
            <a:normAutofit/>
          </a:bodyPr>
          <a:lstStyle/>
          <a:p>
            <a:pPr algn="ctr">
              <a:defRPr sz="720" b="0">
                <a:solidFill>
                  <a:srgbClr val="FFFFFF"/>
                </a:solidFill>
                <a:latin typeface="Noto Sans Hans"/>
                <a:ea typeface="Noto Sans Hans"/>
                <a:cs typeface="Noto Sans Hans"/>
              </a:defRPr>
            </a:pPr>
            <a:r>
              <a:rPr sz="820" b="0">
                <a:solidFill>
                  <a:srgbClr val="FFFFFF"/>
                </a:solidFill>
                <a:latin typeface="Noto Sans Hans"/>
                <a:ea typeface="Noto Sans Hans"/>
                <a:cs typeface="Noto Sans Hans"/>
              </a:rPr>
              <a:t>1—3个月</a:t>
            </a:r>
            <a:endParaRPr sz="820" b="0">
              <a:solidFill>
                <a:srgbClr val="FFFFFF"/>
              </a:solidFill>
              <a:latin typeface="Noto Sans Hans"/>
              <a:ea typeface="Noto Sans Hans"/>
              <a:cs typeface="Noto Sans Hans"/>
            </a:endParaRPr>
          </a:p>
        </p:txBody>
      </p:sp>
      <p:sp>
        <p:nvSpPr>
          <p:cNvPr id="30" name="矩形 29"/>
          <p:cNvSpPr>
            <a:spLocks noGrp="1"/>
          </p:cNvSpPr>
          <p:nvPr/>
        </p:nvSpPr>
        <p:spPr>
          <a:xfrm>
            <a:off x="4438650" y="1924050"/>
            <a:ext cx="1781175" cy="3114675"/>
          </a:xfrm>
          <a:prstGeom prst="rect">
            <a:avLst/>
          </a:prstGeom>
          <a:solidFill>
            <a:srgbClr val="F7F1F0"/>
          </a:solidFill>
          <a:ln w="9525">
            <a:solidFill>
              <a:srgbClr val="FFFFFF"/>
            </a:solidFill>
            <a:prstDash val="solid"/>
          </a:ln>
        </p:spPr>
      </p:sp>
      <p:sp>
        <p:nvSpPr>
          <p:cNvPr id="31" name="矩形 30"/>
          <p:cNvSpPr>
            <a:spLocks noGrp="1"/>
          </p:cNvSpPr>
          <p:nvPr/>
        </p:nvSpPr>
        <p:spPr>
          <a:xfrm>
            <a:off x="4533900" y="2000250"/>
            <a:ext cx="1590675" cy="247650"/>
          </a:xfrm>
          <a:prstGeom prst="rect">
            <a:avLst/>
          </a:prstGeom>
          <a:noFill/>
          <a:ln w="0">
            <a:noFill/>
            <a:prstDash val="solid"/>
          </a:ln>
        </p:spPr>
        <p:txBody>
          <a:bodyPr wrap="square" lIns="47625" tIns="19050" rIns="47625" bIns="19050" anchor="ctr">
            <a:normAutofit/>
          </a:bodyPr>
          <a:lstStyle/>
          <a:p>
            <a:pPr algn="l">
              <a:defRPr sz="92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形成首批试点组合</a:t>
            </a:r>
            <a:endParaRPr sz="1000" b="1">
              <a:solidFill>
                <a:srgbClr val="8E1118"/>
              </a:solidFill>
              <a:latin typeface="Noto Sans Hans"/>
              <a:ea typeface="Noto Sans Hans"/>
              <a:cs typeface="Noto Sans Hans"/>
            </a:endParaRPr>
          </a:p>
        </p:txBody>
      </p:sp>
      <p:sp>
        <p:nvSpPr>
          <p:cNvPr id="32" name="矩形 31"/>
          <p:cNvSpPr>
            <a:spLocks noGrp="1"/>
          </p:cNvSpPr>
          <p:nvPr/>
        </p:nvSpPr>
        <p:spPr>
          <a:xfrm>
            <a:off x="4543425" y="2257425"/>
            <a:ext cx="1571625" cy="24479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盘点机构床位、楼宇接口、护理流程和预算</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优先选择康复、配送清洁巡检两类成熟场景</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储备失能护理安全验证项目</a:t>
            </a:r>
            <a:endParaRPr sz="1100" b="0">
              <a:solidFill>
                <a:srgbClr val="403A38"/>
              </a:solidFill>
              <a:latin typeface="Noto Sans Hans"/>
              <a:ea typeface="Noto Sans Hans"/>
              <a:cs typeface="Noto Sans Hans"/>
            </a:endParaRPr>
          </a:p>
        </p:txBody>
      </p:sp>
      <p:sp>
        <p:nvSpPr>
          <p:cNvPr id="33" name="圆角矩形 32"/>
          <p:cNvSpPr>
            <a:spLocks noGrp="1"/>
          </p:cNvSpPr>
          <p:nvPr/>
        </p:nvSpPr>
        <p:spPr>
          <a:xfrm>
            <a:off x="4533900" y="4762500"/>
            <a:ext cx="1590675" cy="200025"/>
          </a:xfrm>
          <a:prstGeom prst="roundRect">
            <a:avLst>
              <a:gd name="adj" fmla="val 9524"/>
            </a:avLst>
          </a:prstGeom>
          <a:solidFill>
            <a:srgbClr val="FFFFFF"/>
          </a:solidFill>
          <a:ln w="0">
            <a:noFill/>
            <a:prstDash val="solid"/>
          </a:ln>
        </p:spPr>
      </p:sp>
      <p:sp>
        <p:nvSpPr>
          <p:cNvPr id="34" name="矩形 33"/>
          <p:cNvSpPr>
            <a:spLocks noGrp="1"/>
          </p:cNvSpPr>
          <p:nvPr/>
        </p:nvSpPr>
        <p:spPr>
          <a:xfrm>
            <a:off x="4572000" y="4772025"/>
            <a:ext cx="1514475" cy="180975"/>
          </a:xfrm>
          <a:prstGeom prst="rect">
            <a:avLst/>
          </a:prstGeom>
          <a:noFill/>
          <a:ln w="0">
            <a:noFill/>
            <a:prstDash val="solid"/>
          </a:ln>
        </p:spPr>
        <p:txBody>
          <a:bodyPr wrap="square" lIns="47625" tIns="19050" rIns="47625" bIns="19050" anchor="ctr">
            <a:noAutofit/>
          </a:bodyPr>
          <a:lstStyle/>
          <a:p>
            <a:pPr algn="l">
              <a:defRPr sz="715" b="1">
                <a:solidFill>
                  <a:srgbClr val="164A7B"/>
                </a:solidFill>
                <a:latin typeface="Noto Sans Hans"/>
                <a:ea typeface="Noto Sans Hans"/>
                <a:cs typeface="Noto Sans Hans"/>
              </a:defRPr>
            </a:pPr>
            <a:r>
              <a:rPr sz="820" b="1">
                <a:solidFill>
                  <a:srgbClr val="164A7B"/>
                </a:solidFill>
                <a:latin typeface="Noto Sans Hans"/>
                <a:ea typeface="Noto Sans Hans"/>
                <a:cs typeface="Noto Sans Hans"/>
              </a:rPr>
              <a:t>成果：3类场景＋5—8个项目</a:t>
            </a:r>
            <a:endParaRPr sz="820" b="1">
              <a:solidFill>
                <a:srgbClr val="164A7B"/>
              </a:solidFill>
              <a:latin typeface="Noto Sans Hans"/>
              <a:ea typeface="Noto Sans Hans"/>
              <a:cs typeface="Noto Sans Hans"/>
            </a:endParaRPr>
          </a:p>
        </p:txBody>
      </p:sp>
      <p:sp>
        <p:nvSpPr>
          <p:cNvPr id="35" name="燕尾形 34"/>
          <p:cNvSpPr>
            <a:spLocks noGrp="1"/>
          </p:cNvSpPr>
          <p:nvPr/>
        </p:nvSpPr>
        <p:spPr>
          <a:xfrm>
            <a:off x="6267450" y="1200150"/>
            <a:ext cx="1857375" cy="628650"/>
          </a:xfrm>
          <a:prstGeom prst="chevron">
            <a:avLst/>
          </a:prstGeom>
          <a:solidFill>
            <a:srgbClr val="C94A27"/>
          </a:solidFill>
          <a:ln w="19050">
            <a:solidFill>
              <a:srgbClr val="FFFFFF"/>
            </a:solidFill>
            <a:prstDash val="solid"/>
          </a:ln>
        </p:spPr>
      </p:sp>
      <p:sp>
        <p:nvSpPr>
          <p:cNvPr id="36" name="矩形 35"/>
          <p:cNvSpPr>
            <a:spLocks noGrp="1"/>
          </p:cNvSpPr>
          <p:nvPr/>
        </p:nvSpPr>
        <p:spPr>
          <a:xfrm>
            <a:off x="6415405" y="1276350"/>
            <a:ext cx="1619250" cy="266700"/>
          </a:xfrm>
          <a:prstGeom prst="rect">
            <a:avLst/>
          </a:prstGeom>
          <a:noFill/>
          <a:ln w="0">
            <a:noFill/>
            <a:prstDash val="solid"/>
          </a:ln>
        </p:spPr>
        <p:txBody>
          <a:bodyPr wrap="square" lIns="47625" tIns="19050" rIns="47625" bIns="19050" anchor="ctr">
            <a:noAutofit/>
          </a:bodyPr>
          <a:lstStyle/>
          <a:p>
            <a:pPr algn="ctr">
              <a:defRPr sz="100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03  试点与数据验证</a:t>
            </a:r>
            <a:endParaRPr sz="1200" b="1">
              <a:solidFill>
                <a:srgbClr val="FFFFFF"/>
              </a:solidFill>
              <a:latin typeface="Noto Sans Hans"/>
              <a:ea typeface="Noto Sans Hans"/>
              <a:cs typeface="Noto Sans Hans"/>
            </a:endParaRPr>
          </a:p>
        </p:txBody>
      </p:sp>
      <p:sp>
        <p:nvSpPr>
          <p:cNvPr id="37" name="矩形 36"/>
          <p:cNvSpPr>
            <a:spLocks noGrp="1"/>
          </p:cNvSpPr>
          <p:nvPr/>
        </p:nvSpPr>
        <p:spPr>
          <a:xfrm>
            <a:off x="6362700" y="1543050"/>
            <a:ext cx="1590675" cy="180975"/>
          </a:xfrm>
          <a:prstGeom prst="rect">
            <a:avLst/>
          </a:prstGeom>
          <a:noFill/>
          <a:ln w="0">
            <a:noFill/>
            <a:prstDash val="solid"/>
          </a:ln>
        </p:spPr>
        <p:txBody>
          <a:bodyPr wrap="square" lIns="47625" tIns="19050" rIns="47625" bIns="19050" anchor="ctr">
            <a:normAutofit/>
          </a:bodyPr>
          <a:lstStyle/>
          <a:p>
            <a:pPr algn="ctr">
              <a:defRPr sz="720" b="0">
                <a:solidFill>
                  <a:srgbClr val="FFFFFF"/>
                </a:solidFill>
                <a:latin typeface="Noto Sans Hans"/>
                <a:ea typeface="Noto Sans Hans"/>
                <a:cs typeface="Noto Sans Hans"/>
              </a:defRPr>
            </a:pPr>
            <a:r>
              <a:rPr sz="820" b="0">
                <a:solidFill>
                  <a:srgbClr val="FFFFFF"/>
                </a:solidFill>
                <a:latin typeface="Noto Sans Hans"/>
                <a:ea typeface="Noto Sans Hans"/>
                <a:cs typeface="Noto Sans Hans"/>
              </a:rPr>
              <a:t>3—6个月</a:t>
            </a:r>
            <a:endParaRPr sz="820" b="0">
              <a:solidFill>
                <a:srgbClr val="FFFFFF"/>
              </a:solidFill>
              <a:latin typeface="Noto Sans Hans"/>
              <a:ea typeface="Noto Sans Hans"/>
              <a:cs typeface="Noto Sans Hans"/>
            </a:endParaRPr>
          </a:p>
        </p:txBody>
      </p:sp>
      <p:sp>
        <p:nvSpPr>
          <p:cNvPr id="38" name="矩形 37"/>
          <p:cNvSpPr>
            <a:spLocks noGrp="1"/>
          </p:cNvSpPr>
          <p:nvPr/>
        </p:nvSpPr>
        <p:spPr>
          <a:xfrm>
            <a:off x="6267450" y="1924050"/>
            <a:ext cx="1781175" cy="3114675"/>
          </a:xfrm>
          <a:prstGeom prst="rect">
            <a:avLst/>
          </a:prstGeom>
          <a:solidFill>
            <a:srgbClr val="EAF1F8"/>
          </a:solidFill>
          <a:ln w="9525">
            <a:solidFill>
              <a:srgbClr val="FFFFFF"/>
            </a:solidFill>
            <a:prstDash val="solid"/>
          </a:ln>
        </p:spPr>
      </p:sp>
      <p:sp>
        <p:nvSpPr>
          <p:cNvPr id="39" name="矩形 38"/>
          <p:cNvSpPr>
            <a:spLocks noGrp="1"/>
          </p:cNvSpPr>
          <p:nvPr/>
        </p:nvSpPr>
        <p:spPr>
          <a:xfrm>
            <a:off x="6362700" y="2000250"/>
            <a:ext cx="1590675" cy="247650"/>
          </a:xfrm>
          <a:prstGeom prst="rect">
            <a:avLst/>
          </a:prstGeom>
          <a:noFill/>
          <a:ln w="0">
            <a:noFill/>
            <a:prstDash val="solid"/>
          </a:ln>
        </p:spPr>
        <p:txBody>
          <a:bodyPr wrap="square" lIns="47625" tIns="19050" rIns="47625" bIns="19050" anchor="ctr">
            <a:noAutofit/>
          </a:bodyPr>
          <a:lstStyle/>
          <a:p>
            <a:pPr algn="l">
              <a:defRPr sz="92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用12个月试点验证价值</a:t>
            </a:r>
            <a:endParaRPr sz="1000" b="1">
              <a:solidFill>
                <a:srgbClr val="8E1118"/>
              </a:solidFill>
              <a:latin typeface="Noto Sans Hans"/>
              <a:ea typeface="Noto Sans Hans"/>
              <a:cs typeface="Noto Sans Hans"/>
            </a:endParaRPr>
          </a:p>
        </p:txBody>
      </p:sp>
      <p:sp>
        <p:nvSpPr>
          <p:cNvPr id="40" name="矩形 39"/>
          <p:cNvSpPr>
            <a:spLocks noGrp="1"/>
          </p:cNvSpPr>
          <p:nvPr/>
        </p:nvSpPr>
        <p:spPr>
          <a:xfrm>
            <a:off x="6372225" y="2257425"/>
            <a:ext cx="1571625" cy="24479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采用采购、租赁、按效付费等组合</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统一采集利用率、人工接管、故障、工时与付费数据</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完成隐私评估、责任协议和第三方检测</a:t>
            </a:r>
            <a:endParaRPr sz="1100" b="0">
              <a:solidFill>
                <a:srgbClr val="403A38"/>
              </a:solidFill>
              <a:latin typeface="Noto Sans Hans"/>
              <a:ea typeface="Noto Sans Hans"/>
              <a:cs typeface="Noto Sans Hans"/>
            </a:endParaRPr>
          </a:p>
        </p:txBody>
      </p:sp>
      <p:sp>
        <p:nvSpPr>
          <p:cNvPr id="41" name="圆角矩形 40"/>
          <p:cNvSpPr>
            <a:spLocks noGrp="1"/>
          </p:cNvSpPr>
          <p:nvPr/>
        </p:nvSpPr>
        <p:spPr>
          <a:xfrm>
            <a:off x="6362700" y="4762500"/>
            <a:ext cx="1590675" cy="200025"/>
          </a:xfrm>
          <a:prstGeom prst="roundRect">
            <a:avLst>
              <a:gd name="adj" fmla="val 9524"/>
            </a:avLst>
          </a:prstGeom>
          <a:solidFill>
            <a:srgbClr val="FFFFFF"/>
          </a:solidFill>
          <a:ln w="0">
            <a:noFill/>
            <a:prstDash val="solid"/>
          </a:ln>
        </p:spPr>
      </p:sp>
      <p:sp>
        <p:nvSpPr>
          <p:cNvPr id="42" name="矩形 41"/>
          <p:cNvSpPr>
            <a:spLocks noGrp="1"/>
          </p:cNvSpPr>
          <p:nvPr/>
        </p:nvSpPr>
        <p:spPr>
          <a:xfrm>
            <a:off x="6400800" y="4772025"/>
            <a:ext cx="1590675" cy="190500"/>
          </a:xfrm>
          <a:prstGeom prst="rect">
            <a:avLst/>
          </a:prstGeom>
          <a:noFill/>
          <a:ln w="0">
            <a:noFill/>
            <a:prstDash val="solid"/>
          </a:ln>
        </p:spPr>
        <p:txBody>
          <a:bodyPr wrap="square" lIns="47625" tIns="19050" rIns="47625" bIns="19050" anchor="ctr">
            <a:noAutofit/>
          </a:bodyPr>
          <a:lstStyle/>
          <a:p>
            <a:pPr algn="l">
              <a:defRPr sz="715" b="1">
                <a:solidFill>
                  <a:srgbClr val="164A7B"/>
                </a:solidFill>
                <a:latin typeface="Noto Sans Hans"/>
                <a:ea typeface="Noto Sans Hans"/>
                <a:cs typeface="Noto Sans Hans"/>
              </a:defRPr>
            </a:pPr>
            <a:r>
              <a:rPr sz="820" b="1">
                <a:solidFill>
                  <a:srgbClr val="164A7B"/>
                </a:solidFill>
                <a:latin typeface="Noto Sans Hans"/>
                <a:ea typeface="Noto Sans Hans"/>
                <a:cs typeface="Noto Sans Hans"/>
              </a:rPr>
              <a:t>成果：ROI模型＋试点评价报告</a:t>
            </a:r>
            <a:endParaRPr sz="820" b="1">
              <a:solidFill>
                <a:srgbClr val="164A7B"/>
              </a:solidFill>
              <a:latin typeface="Noto Sans Hans"/>
              <a:ea typeface="Noto Sans Hans"/>
              <a:cs typeface="Noto Sans Hans"/>
            </a:endParaRPr>
          </a:p>
        </p:txBody>
      </p:sp>
      <p:sp>
        <p:nvSpPr>
          <p:cNvPr id="43" name="燕尾形 42"/>
          <p:cNvSpPr>
            <a:spLocks noGrp="1"/>
          </p:cNvSpPr>
          <p:nvPr/>
        </p:nvSpPr>
        <p:spPr>
          <a:xfrm>
            <a:off x="8096250" y="1200150"/>
            <a:ext cx="1857375" cy="628650"/>
          </a:xfrm>
          <a:prstGeom prst="chevron">
            <a:avLst/>
          </a:prstGeom>
          <a:solidFill>
            <a:srgbClr val="D96A59"/>
          </a:solidFill>
          <a:ln w="19050">
            <a:solidFill>
              <a:srgbClr val="FFFFFF"/>
            </a:solidFill>
            <a:prstDash val="solid"/>
          </a:ln>
        </p:spPr>
      </p:sp>
      <p:sp>
        <p:nvSpPr>
          <p:cNvPr id="44" name="矩形 43"/>
          <p:cNvSpPr>
            <a:spLocks noGrp="1"/>
          </p:cNvSpPr>
          <p:nvPr/>
        </p:nvSpPr>
        <p:spPr>
          <a:xfrm>
            <a:off x="8244205" y="1276350"/>
            <a:ext cx="1619250" cy="266700"/>
          </a:xfrm>
          <a:prstGeom prst="rect">
            <a:avLst/>
          </a:prstGeom>
          <a:noFill/>
          <a:ln w="0">
            <a:noFill/>
            <a:prstDash val="solid"/>
          </a:ln>
        </p:spPr>
        <p:txBody>
          <a:bodyPr wrap="square" lIns="47625" tIns="19050" rIns="47625" bIns="19050" anchor="ctr">
            <a:noAutofit/>
          </a:bodyPr>
          <a:lstStyle/>
          <a:p>
            <a:pPr algn="ctr">
              <a:defRPr sz="100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04  投资与产业导入</a:t>
            </a:r>
            <a:endParaRPr sz="1200" b="1">
              <a:solidFill>
                <a:srgbClr val="FFFFFF"/>
              </a:solidFill>
              <a:latin typeface="Noto Sans Hans"/>
              <a:ea typeface="Noto Sans Hans"/>
              <a:cs typeface="Noto Sans Hans"/>
            </a:endParaRPr>
          </a:p>
        </p:txBody>
      </p:sp>
      <p:sp>
        <p:nvSpPr>
          <p:cNvPr id="45" name="矩形 44"/>
          <p:cNvSpPr>
            <a:spLocks noGrp="1"/>
          </p:cNvSpPr>
          <p:nvPr/>
        </p:nvSpPr>
        <p:spPr>
          <a:xfrm>
            <a:off x="8191500" y="1543050"/>
            <a:ext cx="1590675" cy="180975"/>
          </a:xfrm>
          <a:prstGeom prst="rect">
            <a:avLst/>
          </a:prstGeom>
          <a:noFill/>
          <a:ln w="0">
            <a:noFill/>
            <a:prstDash val="solid"/>
          </a:ln>
        </p:spPr>
        <p:txBody>
          <a:bodyPr wrap="square" lIns="47625" tIns="19050" rIns="47625" bIns="19050" anchor="ctr">
            <a:normAutofit/>
          </a:bodyPr>
          <a:lstStyle/>
          <a:p>
            <a:pPr algn="ctr">
              <a:defRPr sz="720" b="0">
                <a:solidFill>
                  <a:srgbClr val="FFFFFF"/>
                </a:solidFill>
                <a:latin typeface="Noto Sans Hans"/>
                <a:ea typeface="Noto Sans Hans"/>
                <a:cs typeface="Noto Sans Hans"/>
              </a:defRPr>
            </a:pPr>
            <a:r>
              <a:rPr sz="820" b="0">
                <a:solidFill>
                  <a:srgbClr val="FFFFFF"/>
                </a:solidFill>
                <a:latin typeface="Noto Sans Hans"/>
                <a:ea typeface="Noto Sans Hans"/>
                <a:cs typeface="Noto Sans Hans"/>
              </a:rPr>
              <a:t>6—12个月</a:t>
            </a:r>
            <a:endParaRPr sz="820" b="0">
              <a:solidFill>
                <a:srgbClr val="FFFFFF"/>
              </a:solidFill>
              <a:latin typeface="Noto Sans Hans"/>
              <a:ea typeface="Noto Sans Hans"/>
              <a:cs typeface="Noto Sans Hans"/>
            </a:endParaRPr>
          </a:p>
        </p:txBody>
      </p:sp>
      <p:sp>
        <p:nvSpPr>
          <p:cNvPr id="46" name="矩形 45"/>
          <p:cNvSpPr>
            <a:spLocks noGrp="1"/>
          </p:cNvSpPr>
          <p:nvPr/>
        </p:nvSpPr>
        <p:spPr>
          <a:xfrm>
            <a:off x="8096250" y="1924050"/>
            <a:ext cx="1781175" cy="3114675"/>
          </a:xfrm>
          <a:prstGeom prst="rect">
            <a:avLst/>
          </a:prstGeom>
          <a:solidFill>
            <a:srgbClr val="F7F1F0"/>
          </a:solidFill>
          <a:ln w="9525">
            <a:solidFill>
              <a:srgbClr val="FFFFFF"/>
            </a:solidFill>
            <a:prstDash val="solid"/>
          </a:ln>
        </p:spPr>
      </p:sp>
      <p:sp>
        <p:nvSpPr>
          <p:cNvPr id="47" name="矩形 46"/>
          <p:cNvSpPr>
            <a:spLocks noGrp="1"/>
          </p:cNvSpPr>
          <p:nvPr/>
        </p:nvSpPr>
        <p:spPr>
          <a:xfrm>
            <a:off x="8191500" y="2000250"/>
            <a:ext cx="1590675" cy="247650"/>
          </a:xfrm>
          <a:prstGeom prst="rect">
            <a:avLst/>
          </a:prstGeom>
          <a:noFill/>
          <a:ln w="0">
            <a:noFill/>
            <a:prstDash val="solid"/>
          </a:ln>
        </p:spPr>
        <p:txBody>
          <a:bodyPr wrap="square" lIns="47625" tIns="19050" rIns="47625" bIns="19050" anchor="ctr">
            <a:noAutofit/>
          </a:bodyPr>
          <a:lstStyle/>
          <a:p>
            <a:pPr algn="l">
              <a:defRPr sz="92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用里程碑方式配置资本</a:t>
            </a:r>
            <a:endParaRPr sz="1000" b="1">
              <a:solidFill>
                <a:srgbClr val="8E1118"/>
              </a:solidFill>
              <a:latin typeface="Noto Sans Hans"/>
              <a:ea typeface="Noto Sans Hans"/>
              <a:cs typeface="Noto Sans Hans"/>
            </a:endParaRPr>
          </a:p>
        </p:txBody>
      </p:sp>
      <p:sp>
        <p:nvSpPr>
          <p:cNvPr id="48" name="矩形 47"/>
          <p:cNvSpPr>
            <a:spLocks noGrp="1"/>
          </p:cNvSpPr>
          <p:nvPr/>
        </p:nvSpPr>
        <p:spPr>
          <a:xfrm>
            <a:off x="8201025" y="2257425"/>
            <a:ext cx="1571625" cy="24479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对达标企业开展财务、技术和证照尽调</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通过少数股权、联合研发、首购订单和园区招引协同</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优先本地补链及华中服务中心</a:t>
            </a:r>
            <a:endParaRPr sz="1100" b="0">
              <a:solidFill>
                <a:srgbClr val="403A38"/>
              </a:solidFill>
              <a:latin typeface="Noto Sans Hans"/>
              <a:ea typeface="Noto Sans Hans"/>
              <a:cs typeface="Noto Sans Hans"/>
            </a:endParaRPr>
          </a:p>
        </p:txBody>
      </p:sp>
      <p:sp>
        <p:nvSpPr>
          <p:cNvPr id="49" name="圆角矩形 48"/>
          <p:cNvSpPr>
            <a:spLocks noGrp="1"/>
          </p:cNvSpPr>
          <p:nvPr/>
        </p:nvSpPr>
        <p:spPr>
          <a:xfrm>
            <a:off x="8191500" y="4762500"/>
            <a:ext cx="1590675" cy="200025"/>
          </a:xfrm>
          <a:prstGeom prst="roundRect">
            <a:avLst>
              <a:gd name="adj" fmla="val 9524"/>
            </a:avLst>
          </a:prstGeom>
          <a:solidFill>
            <a:srgbClr val="FFFFFF"/>
          </a:solidFill>
          <a:ln w="0">
            <a:noFill/>
            <a:prstDash val="solid"/>
          </a:ln>
        </p:spPr>
      </p:sp>
      <p:sp>
        <p:nvSpPr>
          <p:cNvPr id="50" name="矩形 49"/>
          <p:cNvSpPr>
            <a:spLocks noGrp="1"/>
          </p:cNvSpPr>
          <p:nvPr/>
        </p:nvSpPr>
        <p:spPr>
          <a:xfrm>
            <a:off x="8229600" y="4772025"/>
            <a:ext cx="1514475" cy="180975"/>
          </a:xfrm>
          <a:prstGeom prst="rect">
            <a:avLst/>
          </a:prstGeom>
          <a:noFill/>
          <a:ln w="0">
            <a:noFill/>
            <a:prstDash val="solid"/>
          </a:ln>
        </p:spPr>
        <p:txBody>
          <a:bodyPr wrap="square" lIns="47625" tIns="19050" rIns="47625" bIns="19050" anchor="ctr">
            <a:noAutofit/>
          </a:bodyPr>
          <a:lstStyle/>
          <a:p>
            <a:pPr algn="l">
              <a:defRPr sz="715" b="1">
                <a:solidFill>
                  <a:srgbClr val="164A7B"/>
                </a:solidFill>
                <a:latin typeface="Noto Sans Hans"/>
                <a:ea typeface="Noto Sans Hans"/>
                <a:cs typeface="Noto Sans Hans"/>
              </a:defRPr>
            </a:pPr>
            <a:r>
              <a:rPr sz="820" b="1">
                <a:solidFill>
                  <a:srgbClr val="164A7B"/>
                </a:solidFill>
                <a:latin typeface="Noto Sans Hans"/>
                <a:ea typeface="Noto Sans Hans"/>
                <a:cs typeface="Noto Sans Hans"/>
              </a:rPr>
              <a:t>成果：2—3项合作/投资决策</a:t>
            </a:r>
            <a:endParaRPr sz="820" b="1">
              <a:solidFill>
                <a:srgbClr val="164A7B"/>
              </a:solidFill>
              <a:latin typeface="Noto Sans Hans"/>
              <a:ea typeface="Noto Sans Hans"/>
              <a:cs typeface="Noto Sans Hans"/>
            </a:endParaRPr>
          </a:p>
        </p:txBody>
      </p:sp>
      <p:sp>
        <p:nvSpPr>
          <p:cNvPr id="51" name="燕尾形 50"/>
          <p:cNvSpPr>
            <a:spLocks noGrp="1"/>
          </p:cNvSpPr>
          <p:nvPr/>
        </p:nvSpPr>
        <p:spPr>
          <a:xfrm>
            <a:off x="9925050" y="1200150"/>
            <a:ext cx="1857375" cy="628650"/>
          </a:xfrm>
          <a:prstGeom prst="chevron">
            <a:avLst/>
          </a:prstGeom>
          <a:solidFill>
            <a:srgbClr val="E68B8F"/>
          </a:solidFill>
          <a:ln w="19050">
            <a:solidFill>
              <a:srgbClr val="FFFFFF"/>
            </a:solidFill>
            <a:prstDash val="solid"/>
          </a:ln>
        </p:spPr>
      </p:sp>
      <p:sp>
        <p:nvSpPr>
          <p:cNvPr id="52" name="矩形 51"/>
          <p:cNvSpPr>
            <a:spLocks noGrp="1"/>
          </p:cNvSpPr>
          <p:nvPr/>
        </p:nvSpPr>
        <p:spPr>
          <a:xfrm>
            <a:off x="10073005" y="1276350"/>
            <a:ext cx="1619250" cy="266700"/>
          </a:xfrm>
          <a:prstGeom prst="rect">
            <a:avLst/>
          </a:prstGeom>
          <a:noFill/>
          <a:ln w="0">
            <a:noFill/>
            <a:prstDash val="solid"/>
          </a:ln>
        </p:spPr>
        <p:txBody>
          <a:bodyPr wrap="square" lIns="47625" tIns="19050" rIns="47625" bIns="19050" anchor="ctr">
            <a:noAutofit/>
          </a:bodyPr>
          <a:lstStyle/>
          <a:p>
            <a:pPr algn="ctr">
              <a:defRPr sz="1000" b="1">
                <a:solidFill>
                  <a:srgbClr val="FFFFFF"/>
                </a:solidFill>
                <a:latin typeface="Noto Sans Hans"/>
                <a:ea typeface="Noto Sans Hans"/>
                <a:cs typeface="Noto Sans Hans"/>
              </a:defRPr>
            </a:pPr>
            <a:r>
              <a:rPr sz="1200" b="1">
                <a:solidFill>
                  <a:srgbClr val="FFFFFF"/>
                </a:solidFill>
                <a:latin typeface="Noto Sans Hans"/>
                <a:ea typeface="Noto Sans Hans"/>
                <a:cs typeface="Noto Sans Hans"/>
              </a:rPr>
              <a:t>05  平台与区域复制</a:t>
            </a:r>
            <a:endParaRPr sz="1200" b="1">
              <a:solidFill>
                <a:srgbClr val="FFFFFF"/>
              </a:solidFill>
              <a:latin typeface="Noto Sans Hans"/>
              <a:ea typeface="Noto Sans Hans"/>
              <a:cs typeface="Noto Sans Hans"/>
            </a:endParaRPr>
          </a:p>
        </p:txBody>
      </p:sp>
      <p:sp>
        <p:nvSpPr>
          <p:cNvPr id="53" name="矩形 52"/>
          <p:cNvSpPr>
            <a:spLocks noGrp="1"/>
          </p:cNvSpPr>
          <p:nvPr/>
        </p:nvSpPr>
        <p:spPr>
          <a:xfrm>
            <a:off x="10020300" y="1543050"/>
            <a:ext cx="1590675" cy="180975"/>
          </a:xfrm>
          <a:prstGeom prst="rect">
            <a:avLst/>
          </a:prstGeom>
          <a:noFill/>
          <a:ln w="0">
            <a:noFill/>
            <a:prstDash val="solid"/>
          </a:ln>
        </p:spPr>
        <p:txBody>
          <a:bodyPr wrap="square" lIns="47625" tIns="19050" rIns="47625" bIns="19050" anchor="ctr">
            <a:normAutofit/>
          </a:bodyPr>
          <a:lstStyle/>
          <a:p>
            <a:pPr algn="ctr">
              <a:defRPr sz="720" b="0">
                <a:solidFill>
                  <a:srgbClr val="FFFFFF"/>
                </a:solidFill>
                <a:latin typeface="Noto Sans Hans"/>
                <a:ea typeface="Noto Sans Hans"/>
                <a:cs typeface="Noto Sans Hans"/>
              </a:defRPr>
            </a:pPr>
            <a:r>
              <a:rPr sz="820" b="0">
                <a:solidFill>
                  <a:srgbClr val="FFFFFF"/>
                </a:solidFill>
                <a:latin typeface="Noto Sans Hans"/>
                <a:ea typeface="Noto Sans Hans"/>
                <a:cs typeface="Noto Sans Hans"/>
              </a:rPr>
              <a:t>12—24个月</a:t>
            </a:r>
            <a:endParaRPr sz="820" b="0">
              <a:solidFill>
                <a:srgbClr val="FFFFFF"/>
              </a:solidFill>
              <a:latin typeface="Noto Sans Hans"/>
              <a:ea typeface="Noto Sans Hans"/>
              <a:cs typeface="Noto Sans Hans"/>
            </a:endParaRPr>
          </a:p>
        </p:txBody>
      </p:sp>
      <p:sp>
        <p:nvSpPr>
          <p:cNvPr id="54" name="矩形 53"/>
          <p:cNvSpPr>
            <a:spLocks noGrp="1"/>
          </p:cNvSpPr>
          <p:nvPr/>
        </p:nvSpPr>
        <p:spPr>
          <a:xfrm>
            <a:off x="9925050" y="1924050"/>
            <a:ext cx="1781175" cy="3114675"/>
          </a:xfrm>
          <a:prstGeom prst="rect">
            <a:avLst/>
          </a:prstGeom>
          <a:solidFill>
            <a:srgbClr val="EAF1F8"/>
          </a:solidFill>
          <a:ln w="9525">
            <a:solidFill>
              <a:srgbClr val="FFFFFF"/>
            </a:solidFill>
            <a:prstDash val="solid"/>
          </a:ln>
        </p:spPr>
      </p:sp>
      <p:sp>
        <p:nvSpPr>
          <p:cNvPr id="55" name="矩形 54"/>
          <p:cNvSpPr>
            <a:spLocks noGrp="1"/>
          </p:cNvSpPr>
          <p:nvPr/>
        </p:nvSpPr>
        <p:spPr>
          <a:xfrm>
            <a:off x="10020300" y="2000250"/>
            <a:ext cx="1590675" cy="247650"/>
          </a:xfrm>
          <a:prstGeom prst="rect">
            <a:avLst/>
          </a:prstGeom>
          <a:noFill/>
          <a:ln w="0">
            <a:noFill/>
            <a:prstDash val="solid"/>
          </a:ln>
        </p:spPr>
        <p:txBody>
          <a:bodyPr wrap="square" lIns="47625" tIns="19050" rIns="47625" bIns="19050" anchor="ctr">
            <a:normAutofit/>
          </a:bodyPr>
          <a:lstStyle/>
          <a:p>
            <a:pPr algn="l">
              <a:defRPr sz="92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建设可持续运营底座</a:t>
            </a:r>
            <a:endParaRPr sz="1000" b="1">
              <a:solidFill>
                <a:srgbClr val="8E1118"/>
              </a:solidFill>
              <a:latin typeface="Noto Sans Hans"/>
              <a:ea typeface="Noto Sans Hans"/>
              <a:cs typeface="Noto Sans Hans"/>
            </a:endParaRPr>
          </a:p>
        </p:txBody>
      </p:sp>
      <p:sp>
        <p:nvSpPr>
          <p:cNvPr id="56" name="矩形 55"/>
          <p:cNvSpPr>
            <a:spLocks noGrp="1"/>
          </p:cNvSpPr>
          <p:nvPr/>
        </p:nvSpPr>
        <p:spPr>
          <a:xfrm>
            <a:off x="10029825" y="2257425"/>
            <a:ext cx="1571625" cy="2447925"/>
          </a:xfrm>
          <a:prstGeom prst="rect">
            <a:avLst/>
          </a:prstGeom>
          <a:noFill/>
          <a:ln w="0">
            <a:noFill/>
            <a:prstDash val="solid"/>
          </a:ln>
        </p:spPr>
        <p:txBody>
          <a:bodyPr wrap="square" lIns="47625" tIns="19050" rIns="47625" bIns="19050" anchor="t">
            <a:normAutofit/>
          </a:bodyPr>
          <a:lstStyle/>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建设安养链机器人接入、工单和支付模块</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建立备件池、培训中心与服务SLA</a:t>
            </a:r>
            <a:endParaRPr sz="1100" b="0">
              <a:solidFill>
                <a:srgbClr val="403A38"/>
              </a:solidFill>
              <a:latin typeface="Noto Sans Hans"/>
              <a:ea typeface="Noto Sans Hans"/>
              <a:cs typeface="Noto Sans Hans"/>
            </a:endParaRPr>
          </a:p>
          <a:p>
            <a:pPr algn="l" eaLnBrk="1" fontAlgn="auto" latinLnBrk="0" hangingPunct="1">
              <a:lnSpc>
                <a:spcPct val="120000"/>
              </a:lnSpc>
              <a:defRPr sz="765" b="0">
                <a:solidFill>
                  <a:srgbClr val="403A38"/>
                </a:solidFill>
                <a:latin typeface="Noto Sans Hans"/>
                <a:ea typeface="Noto Sans Hans"/>
                <a:cs typeface="Noto Sans Hans"/>
              </a:defRPr>
            </a:pPr>
            <a:r>
              <a:rPr sz="1100" b="0">
                <a:solidFill>
                  <a:srgbClr val="403A38"/>
                </a:solidFill>
                <a:latin typeface="Noto Sans Hans"/>
                <a:ea typeface="Noto Sans Hans"/>
                <a:cs typeface="Noto Sans Hans"/>
              </a:rPr>
              <a:t>• 将成熟方案复制至武汉都市圈并申报国家试点</a:t>
            </a:r>
            <a:endParaRPr sz="1100" b="0">
              <a:solidFill>
                <a:srgbClr val="403A38"/>
              </a:solidFill>
              <a:latin typeface="Noto Sans Hans"/>
              <a:ea typeface="Noto Sans Hans"/>
              <a:cs typeface="Noto Sans Hans"/>
            </a:endParaRPr>
          </a:p>
        </p:txBody>
      </p:sp>
      <p:sp>
        <p:nvSpPr>
          <p:cNvPr id="57" name="圆角矩形 56"/>
          <p:cNvSpPr>
            <a:spLocks noGrp="1"/>
          </p:cNvSpPr>
          <p:nvPr/>
        </p:nvSpPr>
        <p:spPr>
          <a:xfrm>
            <a:off x="10020300" y="4762500"/>
            <a:ext cx="1590675" cy="200025"/>
          </a:xfrm>
          <a:prstGeom prst="roundRect">
            <a:avLst>
              <a:gd name="adj" fmla="val 9524"/>
            </a:avLst>
          </a:prstGeom>
          <a:solidFill>
            <a:srgbClr val="FFFFFF"/>
          </a:solidFill>
          <a:ln w="0">
            <a:noFill/>
            <a:prstDash val="solid"/>
          </a:ln>
        </p:spPr>
      </p:sp>
      <p:sp>
        <p:nvSpPr>
          <p:cNvPr id="58" name="矩形 57"/>
          <p:cNvSpPr>
            <a:spLocks noGrp="1"/>
          </p:cNvSpPr>
          <p:nvPr/>
        </p:nvSpPr>
        <p:spPr>
          <a:xfrm>
            <a:off x="10058400" y="4772025"/>
            <a:ext cx="1514475" cy="180975"/>
          </a:xfrm>
          <a:prstGeom prst="rect">
            <a:avLst/>
          </a:prstGeom>
          <a:noFill/>
          <a:ln w="0">
            <a:noFill/>
            <a:prstDash val="solid"/>
          </a:ln>
        </p:spPr>
        <p:txBody>
          <a:bodyPr wrap="square" lIns="47625" tIns="19050" rIns="47625" bIns="19050" anchor="ctr">
            <a:noAutofit/>
          </a:bodyPr>
          <a:lstStyle/>
          <a:p>
            <a:pPr algn="l">
              <a:defRPr sz="715" b="1">
                <a:solidFill>
                  <a:srgbClr val="164A7B"/>
                </a:solidFill>
                <a:latin typeface="Noto Sans Hans"/>
                <a:ea typeface="Noto Sans Hans"/>
                <a:cs typeface="Noto Sans Hans"/>
              </a:defRPr>
            </a:pPr>
            <a:r>
              <a:rPr sz="820" b="1">
                <a:solidFill>
                  <a:srgbClr val="164A7B"/>
                </a:solidFill>
                <a:latin typeface="Noto Sans Hans"/>
                <a:ea typeface="Noto Sans Hans"/>
                <a:cs typeface="Noto Sans Hans"/>
              </a:rPr>
              <a:t>成果：标准包＋区域复制清单</a:t>
            </a:r>
            <a:endParaRPr sz="820" b="1">
              <a:solidFill>
                <a:srgbClr val="164A7B"/>
              </a:solidFill>
              <a:latin typeface="Noto Sans Hans"/>
              <a:ea typeface="Noto Sans Hans"/>
              <a:cs typeface="Noto Sans Hans"/>
            </a:endParaRPr>
          </a:p>
        </p:txBody>
      </p:sp>
      <p:sp>
        <p:nvSpPr>
          <p:cNvPr id="59" name="圆角矩形 58"/>
          <p:cNvSpPr>
            <a:spLocks noGrp="1"/>
          </p:cNvSpPr>
          <p:nvPr/>
        </p:nvSpPr>
        <p:spPr>
          <a:xfrm>
            <a:off x="2609850" y="5143500"/>
            <a:ext cx="9096375" cy="1009650"/>
          </a:xfrm>
          <a:prstGeom prst="roundRect">
            <a:avLst>
              <a:gd name="adj" fmla="val 1887"/>
            </a:avLst>
          </a:prstGeom>
          <a:solidFill>
            <a:srgbClr val="FFFFFF"/>
          </a:solidFill>
          <a:ln w="9525">
            <a:solidFill>
              <a:srgbClr val="D7D0CC"/>
            </a:solidFill>
            <a:prstDash val="solid"/>
          </a:ln>
        </p:spPr>
      </p:sp>
      <p:sp>
        <p:nvSpPr>
          <p:cNvPr id="60" name="矩形 59"/>
          <p:cNvSpPr>
            <a:spLocks noGrp="1"/>
          </p:cNvSpPr>
          <p:nvPr/>
        </p:nvSpPr>
        <p:spPr>
          <a:xfrm>
            <a:off x="2724150" y="5219700"/>
            <a:ext cx="1066800" cy="257175"/>
          </a:xfrm>
          <a:prstGeom prst="rect">
            <a:avLst/>
          </a:prstGeom>
          <a:noFill/>
          <a:ln w="0">
            <a:noFill/>
            <a:prstDash val="solid"/>
          </a:ln>
        </p:spPr>
        <p:txBody>
          <a:bodyPr wrap="square" lIns="47625" tIns="19050" rIns="47625" bIns="19050" anchor="ctr">
            <a:normAutofit/>
          </a:bodyPr>
          <a:lstStyle/>
          <a:p>
            <a:pPr algn="ctr">
              <a:defRPr sz="925"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关键决策</a:t>
            </a:r>
            <a:endParaRPr sz="1000" b="1">
              <a:solidFill>
                <a:srgbClr val="8E1118"/>
              </a:solidFill>
              <a:latin typeface="Noto Sans Hans"/>
              <a:ea typeface="Noto Sans Hans"/>
              <a:cs typeface="Noto Sans Hans"/>
            </a:endParaRPr>
          </a:p>
        </p:txBody>
      </p:sp>
      <p:sp>
        <p:nvSpPr>
          <p:cNvPr id="61" name="圆角矩形 60"/>
          <p:cNvSpPr>
            <a:spLocks noGrp="1"/>
          </p:cNvSpPr>
          <p:nvPr/>
        </p:nvSpPr>
        <p:spPr>
          <a:xfrm>
            <a:off x="3857625" y="5238750"/>
            <a:ext cx="1809750" cy="400050"/>
          </a:xfrm>
          <a:prstGeom prst="roundRect">
            <a:avLst>
              <a:gd name="adj" fmla="val 4762"/>
            </a:avLst>
          </a:prstGeom>
          <a:solidFill>
            <a:srgbClr val="F8E5E4"/>
          </a:solidFill>
          <a:ln w="0">
            <a:noFill/>
            <a:prstDash val="solid"/>
          </a:ln>
        </p:spPr>
      </p:sp>
      <p:sp>
        <p:nvSpPr>
          <p:cNvPr id="62" name="矩形 61"/>
          <p:cNvSpPr>
            <a:spLocks noGrp="1"/>
          </p:cNvSpPr>
          <p:nvPr/>
        </p:nvSpPr>
        <p:spPr>
          <a:xfrm>
            <a:off x="3905250" y="5267325"/>
            <a:ext cx="1714500" cy="171450"/>
          </a:xfrm>
          <a:prstGeom prst="rect">
            <a:avLst/>
          </a:prstGeom>
          <a:noFill/>
          <a:ln w="0">
            <a:noFill/>
            <a:prstDash val="solid"/>
          </a:ln>
        </p:spPr>
        <p:txBody>
          <a:bodyPr wrap="square" lIns="47625" tIns="19050" rIns="47625" bIns="19050" anchor="ctr">
            <a:noAutofit/>
          </a:bodyPr>
          <a:lstStyle/>
          <a:p>
            <a:pPr algn="ctr">
              <a:defRPr sz="810"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场景</a:t>
            </a:r>
            <a:endParaRPr sz="1000" b="1">
              <a:solidFill>
                <a:srgbClr val="8E1118"/>
              </a:solidFill>
              <a:latin typeface="Noto Sans Hans"/>
              <a:ea typeface="Noto Sans Hans"/>
              <a:cs typeface="Noto Sans Hans"/>
            </a:endParaRPr>
          </a:p>
        </p:txBody>
      </p:sp>
      <p:sp>
        <p:nvSpPr>
          <p:cNvPr id="63" name="矩形 62"/>
          <p:cNvSpPr>
            <a:spLocks noGrp="1"/>
          </p:cNvSpPr>
          <p:nvPr/>
        </p:nvSpPr>
        <p:spPr>
          <a:xfrm>
            <a:off x="3914775" y="5448300"/>
            <a:ext cx="1695450" cy="161925"/>
          </a:xfrm>
          <a:prstGeom prst="rect">
            <a:avLst/>
          </a:prstGeom>
          <a:noFill/>
          <a:ln w="0">
            <a:noFill/>
            <a:prstDash val="solid"/>
          </a:ln>
        </p:spPr>
        <p:txBody>
          <a:bodyPr wrap="square" lIns="47625" tIns="19050" rIns="47625" bIns="19050" anchor="ctr">
            <a:noAutofit/>
          </a:bodyPr>
          <a:lstStyle/>
          <a:p>
            <a:pPr algn="ctr">
              <a:defRPr sz="700"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需求明确、设施可改造</a:t>
            </a:r>
            <a:endParaRPr sz="800" b="0">
              <a:solidFill>
                <a:srgbClr val="403A38"/>
              </a:solidFill>
              <a:latin typeface="Noto Sans Hans"/>
              <a:ea typeface="Noto Sans Hans"/>
              <a:cs typeface="Noto Sans Hans"/>
            </a:endParaRPr>
          </a:p>
        </p:txBody>
      </p:sp>
      <p:sp>
        <p:nvSpPr>
          <p:cNvPr id="64" name="矩形 63"/>
          <p:cNvSpPr>
            <a:spLocks noGrp="1"/>
          </p:cNvSpPr>
          <p:nvPr/>
        </p:nvSpPr>
        <p:spPr>
          <a:xfrm>
            <a:off x="5648325" y="5305425"/>
            <a:ext cx="171450" cy="247650"/>
          </a:xfrm>
          <a:prstGeom prst="rect">
            <a:avLst/>
          </a:prstGeom>
          <a:noFill/>
          <a:ln w="0">
            <a:noFill/>
            <a:prstDash val="solid"/>
          </a:ln>
        </p:spPr>
        <p:txBody>
          <a:bodyPr wrap="square" lIns="47625" tIns="19050" rIns="47625" bIns="19050" anchor="ctr"/>
          <a:lstStyle/>
          <a:p>
            <a:pPr algn="ctr">
              <a:defRPr sz="1125"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a:t>
            </a:r>
            <a:endParaRPr sz="900" b="1">
              <a:solidFill>
                <a:srgbClr val="D00914"/>
              </a:solidFill>
              <a:latin typeface="Noto Sans Hans"/>
              <a:ea typeface="Noto Sans Hans"/>
              <a:cs typeface="Noto Sans Hans"/>
            </a:endParaRPr>
          </a:p>
        </p:txBody>
      </p:sp>
      <p:sp>
        <p:nvSpPr>
          <p:cNvPr id="65" name="圆角矩形 64"/>
          <p:cNvSpPr>
            <a:spLocks noGrp="1"/>
          </p:cNvSpPr>
          <p:nvPr/>
        </p:nvSpPr>
        <p:spPr>
          <a:xfrm>
            <a:off x="5772150" y="5238750"/>
            <a:ext cx="1809750" cy="400050"/>
          </a:xfrm>
          <a:prstGeom prst="roundRect">
            <a:avLst>
              <a:gd name="adj" fmla="val 4762"/>
            </a:avLst>
          </a:prstGeom>
          <a:solidFill>
            <a:srgbClr val="F8E5E4"/>
          </a:solidFill>
          <a:ln w="0">
            <a:noFill/>
            <a:prstDash val="solid"/>
          </a:ln>
        </p:spPr>
      </p:sp>
      <p:sp>
        <p:nvSpPr>
          <p:cNvPr id="66" name="矩形 65"/>
          <p:cNvSpPr>
            <a:spLocks noGrp="1"/>
          </p:cNvSpPr>
          <p:nvPr/>
        </p:nvSpPr>
        <p:spPr>
          <a:xfrm>
            <a:off x="5819775" y="5267325"/>
            <a:ext cx="1714500" cy="171450"/>
          </a:xfrm>
          <a:prstGeom prst="rect">
            <a:avLst/>
          </a:prstGeom>
          <a:noFill/>
          <a:ln w="0">
            <a:noFill/>
            <a:prstDash val="solid"/>
          </a:ln>
        </p:spPr>
        <p:txBody>
          <a:bodyPr wrap="square" lIns="47625" tIns="19050" rIns="47625" bIns="19050" anchor="ctr">
            <a:noAutofit/>
          </a:bodyPr>
          <a:lstStyle/>
          <a:p>
            <a:pPr algn="ctr">
              <a:defRPr sz="810" b="1">
                <a:solidFill>
                  <a:srgbClr val="8E1118"/>
                </a:solidFill>
                <a:latin typeface="Noto Sans Hans"/>
                <a:ea typeface="Noto Sans Hans"/>
                <a:cs typeface="Noto Sans Hans"/>
              </a:defRPr>
            </a:pPr>
            <a:r>
              <a:rPr sz="1000" b="1">
                <a:solidFill>
                  <a:srgbClr val="8E1118"/>
                </a:solidFill>
                <a:latin typeface="Noto Sans Hans"/>
                <a:ea typeface="Noto Sans Hans"/>
                <a:cs typeface="Noto Sans Hans"/>
              </a:rPr>
              <a:t>安全</a:t>
            </a:r>
            <a:endParaRPr sz="1000" b="1">
              <a:solidFill>
                <a:srgbClr val="8E1118"/>
              </a:solidFill>
              <a:latin typeface="Noto Sans Hans"/>
              <a:ea typeface="Noto Sans Hans"/>
              <a:cs typeface="Noto Sans Hans"/>
            </a:endParaRPr>
          </a:p>
        </p:txBody>
      </p:sp>
      <p:sp>
        <p:nvSpPr>
          <p:cNvPr id="67" name="矩形 66"/>
          <p:cNvSpPr>
            <a:spLocks noGrp="1"/>
          </p:cNvSpPr>
          <p:nvPr/>
        </p:nvSpPr>
        <p:spPr>
          <a:xfrm>
            <a:off x="5829300" y="5448300"/>
            <a:ext cx="1695450" cy="161925"/>
          </a:xfrm>
          <a:prstGeom prst="rect">
            <a:avLst/>
          </a:prstGeom>
          <a:noFill/>
          <a:ln w="0">
            <a:noFill/>
            <a:prstDash val="solid"/>
          </a:ln>
        </p:spPr>
        <p:txBody>
          <a:bodyPr wrap="square" lIns="47625" tIns="19050" rIns="47625" bIns="19050" anchor="ctr">
            <a:noAutofit/>
          </a:bodyPr>
          <a:lstStyle/>
          <a:p>
            <a:pPr algn="ctr">
              <a:defRPr sz="700"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事故与接管率可控</a:t>
            </a:r>
            <a:endParaRPr sz="800" b="0">
              <a:solidFill>
                <a:srgbClr val="403A38"/>
              </a:solidFill>
              <a:latin typeface="Noto Sans Hans"/>
              <a:ea typeface="Noto Sans Hans"/>
              <a:cs typeface="Noto Sans Hans"/>
            </a:endParaRPr>
          </a:p>
        </p:txBody>
      </p:sp>
      <p:sp>
        <p:nvSpPr>
          <p:cNvPr id="68" name="矩形 67"/>
          <p:cNvSpPr>
            <a:spLocks noGrp="1"/>
          </p:cNvSpPr>
          <p:nvPr/>
        </p:nvSpPr>
        <p:spPr>
          <a:xfrm>
            <a:off x="7562850" y="5305425"/>
            <a:ext cx="171450" cy="247650"/>
          </a:xfrm>
          <a:prstGeom prst="rect">
            <a:avLst/>
          </a:prstGeom>
          <a:noFill/>
          <a:ln w="0">
            <a:noFill/>
            <a:prstDash val="solid"/>
          </a:ln>
        </p:spPr>
        <p:txBody>
          <a:bodyPr wrap="square" lIns="47625" tIns="19050" rIns="47625" bIns="19050" anchor="ctr"/>
          <a:lstStyle/>
          <a:p>
            <a:pPr algn="ctr">
              <a:defRPr sz="1125"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a:t>
            </a:r>
            <a:endParaRPr sz="900" b="1">
              <a:solidFill>
                <a:srgbClr val="D00914"/>
              </a:solidFill>
              <a:latin typeface="Noto Sans Hans"/>
              <a:ea typeface="Noto Sans Hans"/>
              <a:cs typeface="Noto Sans Hans"/>
            </a:endParaRPr>
          </a:p>
        </p:txBody>
      </p:sp>
      <p:sp>
        <p:nvSpPr>
          <p:cNvPr id="69" name="圆角矩形 68"/>
          <p:cNvSpPr>
            <a:spLocks noGrp="1"/>
          </p:cNvSpPr>
          <p:nvPr/>
        </p:nvSpPr>
        <p:spPr>
          <a:xfrm>
            <a:off x="7686675" y="5238750"/>
            <a:ext cx="1809750" cy="400050"/>
          </a:xfrm>
          <a:prstGeom prst="roundRect">
            <a:avLst>
              <a:gd name="adj" fmla="val 4762"/>
            </a:avLst>
          </a:prstGeom>
          <a:solidFill>
            <a:srgbClr val="EAF1F8"/>
          </a:solidFill>
          <a:ln w="0">
            <a:noFill/>
            <a:prstDash val="solid"/>
          </a:ln>
        </p:spPr>
      </p:sp>
      <p:sp>
        <p:nvSpPr>
          <p:cNvPr id="70" name="矩形 69"/>
          <p:cNvSpPr>
            <a:spLocks noGrp="1"/>
          </p:cNvSpPr>
          <p:nvPr/>
        </p:nvSpPr>
        <p:spPr>
          <a:xfrm>
            <a:off x="7734300" y="5267325"/>
            <a:ext cx="1714500" cy="171450"/>
          </a:xfrm>
          <a:prstGeom prst="rect">
            <a:avLst/>
          </a:prstGeom>
          <a:noFill/>
          <a:ln w="0">
            <a:noFill/>
            <a:prstDash val="solid"/>
          </a:ln>
        </p:spPr>
        <p:txBody>
          <a:bodyPr wrap="square" lIns="47625" tIns="19050" rIns="47625" bIns="19050" anchor="ctr">
            <a:noAutofit/>
          </a:bodyPr>
          <a:lstStyle/>
          <a:p>
            <a:pPr algn="ctr">
              <a:defRPr sz="810" b="1">
                <a:solidFill>
                  <a:srgbClr val="164A7B"/>
                </a:solidFill>
                <a:latin typeface="Noto Sans Hans"/>
                <a:ea typeface="Noto Sans Hans"/>
                <a:cs typeface="Noto Sans Hans"/>
              </a:defRPr>
            </a:pPr>
            <a:r>
              <a:rPr sz="1000" b="1">
                <a:solidFill>
                  <a:srgbClr val="164A7B"/>
                </a:solidFill>
                <a:latin typeface="Noto Sans Hans"/>
                <a:ea typeface="Noto Sans Hans"/>
                <a:cs typeface="Noto Sans Hans"/>
              </a:rPr>
              <a:t>商业</a:t>
            </a:r>
            <a:endParaRPr sz="1000" b="1">
              <a:solidFill>
                <a:srgbClr val="164A7B"/>
              </a:solidFill>
              <a:latin typeface="Noto Sans Hans"/>
              <a:ea typeface="Noto Sans Hans"/>
              <a:cs typeface="Noto Sans Hans"/>
            </a:endParaRPr>
          </a:p>
        </p:txBody>
      </p:sp>
      <p:sp>
        <p:nvSpPr>
          <p:cNvPr id="71" name="矩形 70"/>
          <p:cNvSpPr>
            <a:spLocks noGrp="1"/>
          </p:cNvSpPr>
          <p:nvPr/>
        </p:nvSpPr>
        <p:spPr>
          <a:xfrm>
            <a:off x="7743825" y="5448300"/>
            <a:ext cx="1695450" cy="161925"/>
          </a:xfrm>
          <a:prstGeom prst="rect">
            <a:avLst/>
          </a:prstGeom>
          <a:noFill/>
          <a:ln w="0">
            <a:noFill/>
            <a:prstDash val="solid"/>
          </a:ln>
        </p:spPr>
        <p:txBody>
          <a:bodyPr wrap="square" lIns="47625" tIns="19050" rIns="47625" bIns="19050" anchor="ctr">
            <a:noAutofit/>
          </a:bodyPr>
          <a:lstStyle/>
          <a:p>
            <a:pPr algn="ctr">
              <a:defRPr sz="700"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利用率、续费与回款达标</a:t>
            </a:r>
            <a:endParaRPr sz="800" b="0">
              <a:solidFill>
                <a:srgbClr val="403A38"/>
              </a:solidFill>
              <a:latin typeface="Noto Sans Hans"/>
              <a:ea typeface="Noto Sans Hans"/>
              <a:cs typeface="Noto Sans Hans"/>
            </a:endParaRPr>
          </a:p>
        </p:txBody>
      </p:sp>
      <p:sp>
        <p:nvSpPr>
          <p:cNvPr id="72" name="矩形 71"/>
          <p:cNvSpPr>
            <a:spLocks noGrp="1"/>
          </p:cNvSpPr>
          <p:nvPr/>
        </p:nvSpPr>
        <p:spPr>
          <a:xfrm>
            <a:off x="9477375" y="5305425"/>
            <a:ext cx="171450" cy="247650"/>
          </a:xfrm>
          <a:prstGeom prst="rect">
            <a:avLst/>
          </a:prstGeom>
          <a:noFill/>
          <a:ln w="0">
            <a:noFill/>
            <a:prstDash val="solid"/>
          </a:ln>
        </p:spPr>
        <p:txBody>
          <a:bodyPr wrap="square" lIns="47625" tIns="19050" rIns="47625" bIns="19050" anchor="ctr"/>
          <a:lstStyle/>
          <a:p>
            <a:pPr algn="ctr">
              <a:defRPr sz="1125" b="1">
                <a:solidFill>
                  <a:srgbClr val="D00914"/>
                </a:solidFill>
                <a:latin typeface="Noto Sans Hans"/>
                <a:ea typeface="Noto Sans Hans"/>
                <a:cs typeface="Noto Sans Hans"/>
              </a:defRPr>
            </a:pPr>
            <a:r>
              <a:rPr sz="900" b="1">
                <a:solidFill>
                  <a:srgbClr val="D00914"/>
                </a:solidFill>
                <a:latin typeface="Noto Sans Hans"/>
                <a:ea typeface="Noto Sans Hans"/>
                <a:cs typeface="Noto Sans Hans"/>
              </a:rPr>
              <a:t>→</a:t>
            </a:r>
            <a:endParaRPr sz="900" b="1">
              <a:solidFill>
                <a:srgbClr val="D00914"/>
              </a:solidFill>
              <a:latin typeface="Noto Sans Hans"/>
              <a:ea typeface="Noto Sans Hans"/>
              <a:cs typeface="Noto Sans Hans"/>
            </a:endParaRPr>
          </a:p>
        </p:txBody>
      </p:sp>
      <p:sp>
        <p:nvSpPr>
          <p:cNvPr id="73" name="圆角矩形 72"/>
          <p:cNvSpPr>
            <a:spLocks noGrp="1"/>
          </p:cNvSpPr>
          <p:nvPr/>
        </p:nvSpPr>
        <p:spPr>
          <a:xfrm>
            <a:off x="9601200" y="5238750"/>
            <a:ext cx="1809750" cy="400050"/>
          </a:xfrm>
          <a:prstGeom prst="roundRect">
            <a:avLst>
              <a:gd name="adj" fmla="val 4762"/>
            </a:avLst>
          </a:prstGeom>
          <a:solidFill>
            <a:srgbClr val="EAF1F8"/>
          </a:solidFill>
          <a:ln w="0">
            <a:noFill/>
            <a:prstDash val="solid"/>
          </a:ln>
        </p:spPr>
      </p:sp>
      <p:sp>
        <p:nvSpPr>
          <p:cNvPr id="74" name="矩形 73"/>
          <p:cNvSpPr>
            <a:spLocks noGrp="1"/>
          </p:cNvSpPr>
          <p:nvPr/>
        </p:nvSpPr>
        <p:spPr>
          <a:xfrm>
            <a:off x="9648825" y="5267325"/>
            <a:ext cx="1714500" cy="171450"/>
          </a:xfrm>
          <a:prstGeom prst="rect">
            <a:avLst/>
          </a:prstGeom>
          <a:noFill/>
          <a:ln w="0">
            <a:noFill/>
            <a:prstDash val="solid"/>
          </a:ln>
        </p:spPr>
        <p:txBody>
          <a:bodyPr wrap="square" lIns="47625" tIns="19050" rIns="47625" bIns="19050" anchor="ctr">
            <a:noAutofit/>
          </a:bodyPr>
          <a:lstStyle/>
          <a:p>
            <a:pPr algn="ctr">
              <a:defRPr sz="810" b="1">
                <a:solidFill>
                  <a:srgbClr val="164A7B"/>
                </a:solidFill>
                <a:latin typeface="Noto Sans Hans"/>
                <a:ea typeface="Noto Sans Hans"/>
                <a:cs typeface="Noto Sans Hans"/>
              </a:defRPr>
            </a:pPr>
            <a:r>
              <a:rPr sz="1000" b="1">
                <a:solidFill>
                  <a:srgbClr val="164A7B"/>
                </a:solidFill>
                <a:latin typeface="Noto Sans Hans"/>
                <a:ea typeface="Noto Sans Hans"/>
                <a:cs typeface="Noto Sans Hans"/>
              </a:rPr>
              <a:t>投资</a:t>
            </a:r>
            <a:endParaRPr sz="1000" b="1">
              <a:solidFill>
                <a:srgbClr val="164A7B"/>
              </a:solidFill>
              <a:latin typeface="Noto Sans Hans"/>
              <a:ea typeface="Noto Sans Hans"/>
              <a:cs typeface="Noto Sans Hans"/>
            </a:endParaRPr>
          </a:p>
        </p:txBody>
      </p:sp>
      <p:sp>
        <p:nvSpPr>
          <p:cNvPr id="75" name="矩形 74"/>
          <p:cNvSpPr>
            <a:spLocks noGrp="1"/>
          </p:cNvSpPr>
          <p:nvPr/>
        </p:nvSpPr>
        <p:spPr>
          <a:xfrm>
            <a:off x="9658350" y="5448300"/>
            <a:ext cx="1695450" cy="161925"/>
          </a:xfrm>
          <a:prstGeom prst="rect">
            <a:avLst/>
          </a:prstGeom>
          <a:noFill/>
          <a:ln w="0">
            <a:noFill/>
            <a:prstDash val="solid"/>
          </a:ln>
        </p:spPr>
        <p:txBody>
          <a:bodyPr wrap="square" lIns="47625" tIns="19050" rIns="47625" bIns="19050" anchor="ctr">
            <a:noAutofit/>
          </a:bodyPr>
          <a:lstStyle/>
          <a:p>
            <a:pPr algn="ctr">
              <a:defRPr sz="700" b="0">
                <a:solidFill>
                  <a:srgbClr val="403A38"/>
                </a:solidFill>
                <a:latin typeface="Noto Sans Hans"/>
                <a:ea typeface="Noto Sans Hans"/>
                <a:cs typeface="Noto Sans Hans"/>
              </a:defRPr>
            </a:pPr>
            <a:r>
              <a:rPr sz="800" b="0">
                <a:solidFill>
                  <a:srgbClr val="403A38"/>
                </a:solidFill>
                <a:latin typeface="Noto Sans Hans"/>
                <a:ea typeface="Noto Sans Hans"/>
                <a:cs typeface="Noto Sans Hans"/>
              </a:rPr>
              <a:t>收入可核、估值合理、退出可行</a:t>
            </a:r>
            <a:endParaRPr sz="800" b="0">
              <a:solidFill>
                <a:srgbClr val="403A38"/>
              </a:solidFill>
              <a:latin typeface="Noto Sans Hans"/>
              <a:ea typeface="Noto Sans Hans"/>
              <a:cs typeface="Noto Sans Hans"/>
            </a:endParaRPr>
          </a:p>
        </p:txBody>
      </p:sp>
      <p:sp>
        <p:nvSpPr>
          <p:cNvPr id="76" name="矩形 75"/>
          <p:cNvSpPr>
            <a:spLocks noGrp="1"/>
          </p:cNvSpPr>
          <p:nvPr/>
        </p:nvSpPr>
        <p:spPr>
          <a:xfrm>
            <a:off x="3857625" y="5734050"/>
            <a:ext cx="7696200" cy="257175"/>
          </a:xfrm>
          <a:prstGeom prst="rect">
            <a:avLst/>
          </a:prstGeom>
          <a:noFill/>
          <a:ln w="0">
            <a:noFill/>
            <a:prstDash val="solid"/>
          </a:ln>
        </p:spPr>
        <p:txBody>
          <a:bodyPr wrap="square" lIns="47625" tIns="19050" rIns="47625" bIns="19050" anchor="ctr">
            <a:normAutofit/>
          </a:bodyPr>
          <a:lstStyle/>
          <a:p>
            <a:pPr algn="ctr">
              <a:defRPr sz="780" b="1">
                <a:solidFill>
                  <a:srgbClr val="716B68"/>
                </a:solidFill>
                <a:latin typeface="Noto Sans Hans"/>
                <a:ea typeface="Noto Sans Hans"/>
                <a:cs typeface="Noto Sans Hans"/>
              </a:defRPr>
            </a:pPr>
            <a:r>
              <a:rPr sz="980" b="1">
                <a:solidFill>
                  <a:srgbClr val="716B68"/>
                </a:solidFill>
                <a:latin typeface="Noto Sans Hans"/>
                <a:ea typeface="Noto Sans Hans"/>
                <a:cs typeface="Noto Sans Hans"/>
              </a:rPr>
              <a:t>推进节奏：月度跟踪试点数据｜季度评审项目去留｜半年更新企业与问题清单｜未达标项目及时停止投入</a:t>
            </a:r>
            <a:endParaRPr sz="980" b="1">
              <a:solidFill>
                <a:srgbClr val="716B68"/>
              </a:solidFill>
              <a:latin typeface="Noto Sans Hans"/>
              <a:ea typeface="Noto Sans Hans"/>
              <a:cs typeface="Noto Sans Hans"/>
            </a:endParaRPr>
          </a:p>
        </p:txBody>
      </p:sp>
      <p:sp>
        <p:nvSpPr>
          <p:cNvPr id="77" name="矩形 76"/>
          <p:cNvSpPr>
            <a:spLocks noGrp="1"/>
          </p:cNvSpPr>
          <p:nvPr/>
        </p:nvSpPr>
        <p:spPr>
          <a:xfrm>
            <a:off x="476250" y="6553200"/>
            <a:ext cx="10715625" cy="190500"/>
          </a:xfrm>
          <a:prstGeom prst="rect">
            <a:avLst/>
          </a:prstGeom>
          <a:noFill/>
          <a:ln w="0">
            <a:noFill/>
            <a:prstDash val="solid"/>
          </a:ln>
        </p:spPr>
        <p:txBody>
          <a:bodyPr wrap="square" lIns="47625" tIns="19050" rIns="47625" bIns="19050" anchor="ctr">
            <a:normAutofit/>
          </a:bodyPr>
          <a:lstStyle/>
          <a:p>
            <a:pPr algn="l">
              <a:defRPr sz="715" b="0">
                <a:solidFill>
                  <a:srgbClr val="716B68"/>
                </a:solidFill>
                <a:latin typeface="Noto Sans Hans"/>
                <a:ea typeface="Noto Sans Hans"/>
                <a:cs typeface="Noto Sans Hans"/>
              </a:defRPr>
            </a:pPr>
            <a:r>
              <a:rPr sz="715" b="0">
                <a:solidFill>
                  <a:srgbClr val="716B68"/>
                </a:solidFill>
                <a:latin typeface="Noto Sans Hans"/>
                <a:ea typeface="Noto Sans Hans"/>
                <a:cs typeface="Noto Sans Hans"/>
              </a:rPr>
              <a:t>资料来源：养老机器人产业增强基础数据库（重点项目、产业问题、综合评分、场景ROI测算）；行动路径为研究建议。</a:t>
            </a:r>
            <a:endParaRPr sz="715" b="0">
              <a:solidFill>
                <a:srgbClr val="716B68"/>
              </a:solidFill>
              <a:latin typeface="Noto Sans Hans"/>
              <a:ea typeface="Noto Sans Hans"/>
              <a:cs typeface="Noto Sans Hans"/>
            </a:endParaRPr>
          </a:p>
        </p:txBody>
      </p:sp>
      <p:sp>
        <p:nvSpPr>
          <p:cNvPr id="78" name="矩形 77"/>
          <p:cNvSpPr>
            <a:spLocks noGrp="1"/>
          </p:cNvSpPr>
          <p:nvPr/>
        </p:nvSpPr>
        <p:spPr>
          <a:xfrm>
            <a:off x="11258550" y="6534150"/>
            <a:ext cx="457200" cy="200025"/>
          </a:xfrm>
          <a:prstGeom prst="rect">
            <a:avLst/>
          </a:prstGeom>
          <a:noFill/>
          <a:ln w="0">
            <a:noFill/>
            <a:prstDash val="solid"/>
          </a:ln>
        </p:spPr>
        <p:txBody>
          <a:bodyPr wrap="square" lIns="47625" tIns="19050" rIns="47625" bIns="19050" anchor="ctr">
            <a:normAutofit/>
          </a:bodyPr>
          <a:lstStyle/>
          <a:p>
            <a:pPr algn="r">
              <a:defRPr sz="900" b="1">
                <a:solidFill>
                  <a:srgbClr val="D00914"/>
                </a:solidFill>
                <a:latin typeface="Noto Sans Hans"/>
                <a:ea typeface="Noto Sans Hans"/>
                <a:cs typeface="Noto Sans Hans"/>
              </a:defRPr>
            </a:pPr>
            <a:r>
              <a:rPr lang="en-US" sz="900" b="1">
                <a:solidFill>
                  <a:srgbClr val="D00914"/>
                </a:solidFill>
                <a:latin typeface="Noto Sans Hans"/>
                <a:ea typeface="Noto Sans Hans"/>
                <a:cs typeface="Noto Sans Hans"/>
              </a:rPr>
              <a:t>21</a:t>
            </a:r>
            <a:endParaRPr lang="en-US" sz="900" b="1">
              <a:solidFill>
                <a:srgbClr val="D00914"/>
              </a:solidFill>
              <a:latin typeface="Noto Sans Hans"/>
              <a:ea typeface="Noto Sans Hans"/>
              <a:cs typeface="Noto Sans Han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16667</Words>
  <Application>WPS 文字</Application>
  <PresentationFormat>Converted Presentation</PresentationFormat>
  <Paragraphs>2645</Paragraphs>
  <Slides>25</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25</vt:i4>
      </vt:variant>
    </vt:vector>
  </HeadingPairs>
  <TitlesOfParts>
    <vt:vector size="43" baseType="lpstr">
      <vt:lpstr>Arial</vt:lpstr>
      <vt:lpstr>宋体</vt:lpstr>
      <vt:lpstr>Wingdings</vt:lpstr>
      <vt:lpstr>Noto Sans Hans</vt:lpstr>
      <vt:lpstr>Thonburi</vt:lpstr>
      <vt:lpstr>微软雅黑</vt:lpstr>
      <vt:lpstr>方正雅意黑 GB18030L2</vt:lpstr>
      <vt:lpstr>宋体</vt:lpstr>
      <vt:lpstr>汉仪书宋二KW</vt:lpstr>
      <vt:lpstr>微软雅黑</vt:lpstr>
      <vt:lpstr>Calibri</vt:lpstr>
      <vt:lpstr>Helvetica Neue</vt:lpstr>
      <vt:lpstr>Arial Unicode MS</vt:lpstr>
      <vt:lpstr>Noto Sans Hans</vt:lpstr>
      <vt:lpstr>微软雅黑</vt:lpstr>
      <vt:lpstr>苹方-简</vt:lpstr>
      <vt:lpstr>儷宋 Pro</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黄奕</cp:lastModifiedBy>
  <cp:revision>103</cp:revision>
  <dcterms:created xsi:type="dcterms:W3CDTF">2026-07-30T01:48:24Z</dcterms:created>
  <dcterms:modified xsi:type="dcterms:W3CDTF">2026-07-30T01:48:24Z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2052-12.1.26035.26035</vt:lpwstr>
  </property>
  <property fmtid="{D5CDD505-2E9C-101B-9397-08002B2CF9AE}" pid="3" name="ICV">
    <vt:lpwstr>CBE8FB9606FA5BD19B6E696A45557381_43</vt:lpwstr>
  </property>
</Properties>
</file>